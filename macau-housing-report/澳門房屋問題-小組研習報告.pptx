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7.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8.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每平方米實用面積平均價格（澳門元）</c:v>
                </c:pt>
              </c:strCache>
            </c:strRef>
          </c:tx>
          <c:spPr>
            <a:solidFill>
              <a:srgbClr val="CA0013"/>
            </a:solidFill>
            <a:effectLst/>
          </c:spPr>
          <c:invertIfNegative val="0"/>
          <c:dLbls>
            <c:numFmt formatCode="#,##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103859</c:v>
                </c:pt>
                <c:pt idx="1">
                  <c:v>93781</c:v>
                </c:pt>
                <c:pt idx="2">
                  <c:v>93500</c:v>
                </c:pt>
                <c:pt idx="3">
                  <c:v>85114</c:v>
                </c:pt>
                <c:pt idx="4">
                  <c:v>70935</c:v>
                </c:pt>
              </c:numCache>
            </c:numRef>
          </c:val>
        </c:ser>
        <c:dLbls>
          <c:numFmt formatCode="#,##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CA0013"/>
                </a:solidFill>
                <a:latin typeface="Microsoft JhengHei"/>
              </a:defRPr>
            </a:pPr>
            <a:endParaRPr lang="en-US"/>
          </a:p>
        </c:txPr>
        <c:crossAx val="2094734552"/>
        <c:crosses val="autoZero"/>
        <c:auto val="1"/>
        <c:lblAlgn val="ctr"/>
        <c:noMultiLvlLbl val="1"/>
      </c:catAx>
      <c:valAx>
        <c:axId val="2094734552"/>
        <c:scaling>
          <c:orientation val="minMax"/>
          <c:max val="125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EBE3"/>
        </a:solidFill>
        <a:ln>
          <a:noFill/>
        </a:ln>
        <a:effectLst/>
      </c:spPr>
    </c:plotArea>
    <c:plotVisOnly val="1"/>
    <c:dispBlanksAs val="span"/>
  </c:chart>
  <c:spPr>
    <a:solidFill>
      <a:srgbClr val="EEEBE3"/>
    </a:solidFill>
    <a:ln w="12700" cap="flat">
      <a:solidFill>
        <a:srgbClr val="EEEBE3"/>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本地就業居民</c:v>
                </c:pt>
              </c:strCache>
            </c:strRef>
          </c:tx>
          <c:spPr>
            <a:solidFill>
              <a:srgbClr val="CA0013"/>
            </a:solidFill>
            <a:ln w="38100" cap="flat">
              <a:solidFill>
                <a:srgbClr val="CA0013"/>
              </a:solidFill>
              <a:prstDash val="solid,dash"/>
              <a:round/>
            </a:ln>
            <a:effectLst/>
          </c:spPr>
          <c:invertIfNegative val="0"/>
          <c:dLbls>
            <c:numFmt formatCode="#,##0" sourceLinked="0"/>
            <c:txPr>
              <a:bodyPr/>
              <a:lstStyle/>
              <a:p>
                <a:pPr>
                  <a:defRPr b="1" i="0" strike="noStrike" sz="1200" u="none">
                    <a:solidFill>
                      <a:srgbClr val="CA0013"/>
                    </a:solidFill>
                    <a:latin typeface="Inter"/>
                  </a:defRPr>
                </a:pPr>
              </a:p>
            </c:txPr>
            <c:dLblPos val="t"/>
            <c:showLegendKey val="0"/>
            <c:showVal val="1"/>
            <c:showCatName val="0"/>
            <c:showSerName val="0"/>
            <c:showPercent val="0"/>
            <c:showBubbleSize val="0"/>
            <c:showLeaderLines val="0"/>
          </c:dLbls>
          <c:marker>
            <c:symbol val="circle"/>
            <c:size val="8"/>
            <c:spPr>
              <a:solidFill>
                <a:srgbClr val="CA0013"/>
              </a:solidFill>
              <a:ln w="9525" cap="flat">
                <a:solidFill>
                  <a:srgbClr val="CA0013"/>
                </a:solidFill>
                <a:prstDash val="solid"/>
                <a:round/>
              </a:ln>
              <a:effectLst/>
            </c:spPr>
          </c:marker>
          <c:cat>
            <c:multiLvlStrRef>
              <c:f>Sheet1!$A$2:$A$5</c:f>
              <c:multiLvlStrCache>
                <c:ptCount val="4"/>
                <c:lvl>
                  <c:pt idx="0">
                    <c:v>2022</c:v>
                  </c:pt>
                  <c:pt idx="1">
                    <c:v>2023</c:v>
                  </c:pt>
                  <c:pt idx="2">
                    <c:v>2024</c:v>
                  </c:pt>
                  <c:pt idx="3">
                    <c:v>2025</c:v>
                  </c:pt>
                </c:lvl>
              </c:multiLvlStrCache>
            </c:multiLvlStrRef>
          </c:cat>
          <c:val>
            <c:numRef>
              <c:f>Sheet1!$B$2:$B$5</c:f>
              <c:numCache>
                <c:formatCode>General</c:formatCode>
                <c:ptCount val="4"/>
                <c:pt idx="0">
                  <c:v>19000</c:v>
                </c:pt>
                <c:pt idx="1">
                  <c:v>20000</c:v>
                </c:pt>
                <c:pt idx="2">
                  <c:v>20500</c:v>
                </c:pt>
                <c:pt idx="3">
                  <c:v>20000</c:v>
                </c:pt>
              </c:numCache>
            </c:numRef>
          </c:val>
          <c:smooth val="0"/>
        </c:ser>
        <c:ser>
          <c:idx val="1"/>
          <c:order val="1"/>
          <c:tx>
            <c:strRef>
              <c:f>Sheet1!$C$1</c:f>
              <c:strCache>
                <c:ptCount val="1"/>
                <c:pt idx="0">
                  <c:v>就業人口</c:v>
                </c:pt>
              </c:strCache>
            </c:strRef>
          </c:tx>
          <c:spPr>
            <a:solidFill>
              <a:srgbClr val="CA0013"/>
            </a:solidFill>
            <a:ln w="38100" cap="flat">
              <a:solidFill>
                <a:srgbClr val="CA0013"/>
              </a:solidFill>
              <a:prstDash val="solid,dash"/>
              <a:round/>
            </a:ln>
            <a:effectLst/>
          </c:spPr>
          <c:invertIfNegative val="0"/>
          <c:dLbls>
            <c:numFmt formatCode="#,##0" sourceLinked="0"/>
            <c:txPr>
              <a:bodyPr/>
              <a:lstStyle/>
              <a:p>
                <a:pPr>
                  <a:defRPr b="1" i="0" strike="noStrike" sz="1200" u="none">
                    <a:solidFill>
                      <a:srgbClr val="CA0013"/>
                    </a:solidFill>
                    <a:latin typeface="Inter"/>
                  </a:defRPr>
                </a:pPr>
              </a:p>
            </c:txPr>
            <c:dLblPos val="t"/>
            <c:showLegendKey val="0"/>
            <c:showVal val="1"/>
            <c:showCatName val="0"/>
            <c:showSerName val="0"/>
            <c:showPercent val="0"/>
            <c:showBubbleSize val="0"/>
            <c:showLeaderLines val="0"/>
          </c:dLbls>
          <c:marker>
            <c:symbol val="circle"/>
            <c:size val="8"/>
            <c:spPr>
              <a:solidFill>
                <a:srgbClr val="CA0013"/>
              </a:solidFill>
              <a:ln w="9525" cap="flat">
                <a:solidFill>
                  <a:srgbClr val="CA0013"/>
                </a:solidFill>
                <a:prstDash val="solid"/>
                <a:round/>
              </a:ln>
              <a:effectLst/>
            </c:spPr>
          </c:marker>
          <c:cat>
            <c:multiLvlStrRef>
              <c:f>Sheet1!$A$2:$A$5</c:f>
              <c:multiLvlStrCache>
                <c:ptCount val="4"/>
                <c:lvl>
                  <c:pt idx="0">
                    <c:v>2022</c:v>
                  </c:pt>
                  <c:pt idx="1">
                    <c:v>2023</c:v>
                  </c:pt>
                  <c:pt idx="2">
                    <c:v>2024</c:v>
                  </c:pt>
                  <c:pt idx="3">
                    <c:v>2025</c:v>
                  </c:pt>
                </c:lvl>
              </c:multiLvlStrCache>
            </c:multiLvlStrRef>
          </c:cat>
          <c:val>
            <c:numRef>
              <c:f>Sheet1!$C$2:$C$5</c:f>
              <c:numCache>
                <c:formatCode>General</c:formatCode>
                <c:ptCount val="4"/>
                <c:pt idx="0">
                  <c:v>15600</c:v>
                </c:pt>
                <c:pt idx="1">
                  <c:v>17600</c:v>
                </c:pt>
                <c:pt idx="2">
                  <c:v>18000</c:v>
                </c:pt>
                <c:pt idx="3">
                  <c:v>17300</c:v>
                </c:pt>
              </c:numCache>
            </c:numRef>
          </c:val>
          <c:smooth val="0"/>
        </c:ser>
        <c:dLbls>
          <c:numFmt formatCode="#,##0" sourceLinked="0"/>
          <c:txPr>
            <a:bodyPr/>
            <a:lstStyle/>
            <a:p>
              <a:pPr>
                <a:defRPr b="1" i="0" strike="noStrike" sz="1200" u="none">
                  <a:solidFill>
                    <a:srgbClr val="CA0013"/>
                  </a:solidFill>
                  <a:latin typeface="Inter"/>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CA0013"/>
                </a:solidFill>
                <a:latin typeface="Microsoft JhengHei"/>
              </a:defRPr>
            </a:pPr>
            <a:endParaRPr lang="en-US"/>
          </a:p>
        </c:txPr>
        <c:crossAx val="2094734552"/>
        <c:crosses val="autoZero"/>
        <c:auto val="1"/>
        <c:lblAlgn val="ctr"/>
        <c:noMultiLvlLbl val="1"/>
      </c:catAx>
      <c:valAx>
        <c:axId val="2094734552"/>
        <c:scaling>
          <c:orientation val="minMax"/>
          <c:max val="23000"/>
          <c:min val="12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EBE3"/>
        </a:solidFill>
        <a:ln>
          <a:noFill/>
        </a:ln>
        <a:effectLst/>
      </c:spPr>
    </c:plotArea>
    <c:legend>
      <c:legendPos val="b"/>
      <c:overlay val="0"/>
      <c:txPr>
        <a:bodyPr/>
        <a:lstStyle/>
        <a:p>
          <a:pPr>
            <a:defRPr sz="1100">
              <a:solidFill>
                <a:srgbClr val="CA0013"/>
              </a:solidFill>
              <a:latin typeface="Microsoft JhengHei"/>
              <a:cs typeface="Microsoft JhengHei"/>
            </a:defRPr>
          </a:pPr>
          <a:endParaRPr lang="en-US"/>
        </a:p>
      </c:txPr>
    </c:legend>
    <c:plotVisOnly val="1"/>
    <c:dispBlanksAs val="span"/>
  </c:chart>
  <c:spPr>
    <a:solidFill>
      <a:srgbClr val="EEEBE3"/>
    </a:solidFill>
    <a:ln w="12700" cap="flat">
      <a:solidFill>
        <a:srgbClr val="EEEBE3"/>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樓價收入比（倍）</c:v>
                </c:pt>
              </c:strCache>
            </c:strRef>
          </c:tx>
          <c:spPr>
            <a:solidFill>
              <a:srgbClr val="CA0013"/>
            </a:solidFill>
            <a:effectLst/>
          </c:spPr>
          <c:invertIfNegative val="0"/>
          <c:dLbls>
            <c:numFmt formatCode="0.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cat>
            <c:multiLvlStrRef>
              <c:f>Sheet1!$A$2:$A$5</c:f>
              <c:multiLvlStrCache>
                <c:ptCount val="4"/>
                <c:lvl>
                  <c:pt idx="0">
                    <c:v>2022</c:v>
                  </c:pt>
                  <c:pt idx="1">
                    <c:v>2023</c:v>
                  </c:pt>
                  <c:pt idx="2">
                    <c:v>2024</c:v>
                  </c:pt>
                  <c:pt idx="3">
                    <c:v>2025</c:v>
                  </c:pt>
                </c:lvl>
              </c:multiLvlStrCache>
            </c:multiLvlStrRef>
          </c:cat>
          <c:val>
            <c:numRef>
              <c:f>Sheet1!$B$2:$B$5</c:f>
              <c:numCache>
                <c:formatCode>General</c:formatCode>
                <c:ptCount val="4"/>
                <c:pt idx="0">
                  <c:v>13.4</c:v>
                </c:pt>
                <c:pt idx="1">
                  <c:v>12.7</c:v>
                </c:pt>
                <c:pt idx="2">
                  <c:v>11.3</c:v>
                </c:pt>
                <c:pt idx="3">
                  <c:v>9.6</c:v>
                </c:pt>
              </c:numCache>
            </c:numRef>
          </c:val>
        </c:ser>
        <c:dLbls>
          <c:numFmt formatCode="0.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CA0013"/>
                </a:solidFill>
                <a:latin typeface="Microsoft JhengHei"/>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EBE3"/>
        </a:solidFill>
        <a:ln>
          <a:noFill/>
        </a:ln>
        <a:effectLst/>
      </c:spPr>
    </c:plotArea>
    <c:plotVisOnly val="1"/>
    <c:dispBlanksAs val="span"/>
  </c:chart>
  <c:spPr>
    <a:solidFill>
      <a:srgbClr val="EEEBE3"/>
    </a:solidFill>
    <a:ln w="12700" cap="flat">
      <a:solidFill>
        <a:srgbClr val="EEEBE3"/>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13–35 歲青年居住的房屋類別（%，可多選）</c:v>
                </c:pt>
              </c:strCache>
            </c:strRef>
          </c:tx>
          <c:spPr>
            <a:solidFill>
              <a:srgbClr val="CA0013"/>
            </a:solidFill>
            <a:effectLst/>
          </c:spPr>
          <c:invertIfNegative val="0"/>
          <c:dLbls>
            <c:numFmt formatCode="0.0&quot;%&quot;"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cat>
            <c:multiLvlStrRef>
              <c:f>Sheet1!$A$2:$A$6</c:f>
              <c:multiLvlStrCache>
                <c:ptCount val="5"/>
                <c:lvl>
                  <c:pt idx="0">
                    <c:v>購買之私人樓宇</c:v>
                  </c:pt>
                  <c:pt idx="1">
                    <c:v>租用之私人樓宇</c:v>
                  </c:pt>
                  <c:pt idx="2">
                    <c:v>經濟房屋</c:v>
                  </c:pt>
                  <c:pt idx="3">
                    <c:v>社會房屋</c:v>
                  </c:pt>
                  <c:pt idx="4">
                    <c:v>宿舍</c:v>
                  </c:pt>
                </c:lvl>
              </c:multiLvlStrCache>
            </c:multiLvlStrRef>
          </c:cat>
          <c:val>
            <c:numRef>
              <c:f>Sheet1!$B$2:$B$6</c:f>
              <c:numCache>
                <c:formatCode>General</c:formatCode>
                <c:ptCount val="5"/>
                <c:pt idx="0">
                  <c:v>64</c:v>
                </c:pt>
                <c:pt idx="1">
                  <c:v>23.1</c:v>
                </c:pt>
                <c:pt idx="2">
                  <c:v>9</c:v>
                </c:pt>
                <c:pt idx="3">
                  <c:v>4.4</c:v>
                </c:pt>
                <c:pt idx="4">
                  <c:v>4.3</c:v>
                </c:pt>
              </c:numCache>
            </c:numRef>
          </c:val>
        </c:ser>
        <c:dLbls>
          <c:numFmt formatCode="0.0&quot;%&quot;"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CA0013"/>
                </a:solidFill>
                <a:latin typeface="Microsoft JhengHei"/>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EBE3"/>
        </a:solidFill>
        <a:ln>
          <a:noFill/>
        </a:ln>
        <a:effectLst/>
      </c:spPr>
    </c:plotArea>
    <c:plotVisOnly val="1"/>
    <c:dispBlanksAs val="span"/>
  </c:chart>
  <c:spPr>
    <a:solidFill>
      <a:srgbClr val="EEEBE3"/>
    </a:solidFill>
    <a:ln w="12700" cap="flat">
      <a:solidFill>
        <a:srgbClr val="EEEBE3"/>
      </a:solid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樓價（每平方米均價）</c:v>
                </c:pt>
              </c:strCache>
            </c:strRef>
          </c:tx>
          <c:spPr>
            <a:solidFill>
              <a:srgbClr val="CA0013"/>
            </a:solidFill>
            <a:ln w="38100" cap="flat">
              <a:solidFill>
                <a:srgbClr val="CA0013"/>
              </a:solidFill>
              <a:prstDash val="solid,dash"/>
              <a:round/>
            </a:ln>
            <a:effectLst/>
          </c:spPr>
          <c:invertIfNegative val="0"/>
          <c:dLbls>
            <c:numFmt formatCode="0.0" sourceLinked="0"/>
            <c:txPr>
              <a:bodyPr/>
              <a:lstStyle/>
              <a:p>
                <a:pPr>
                  <a:defRPr b="1" i="0" strike="noStrike" sz="1200" u="none">
                    <a:solidFill>
                      <a:srgbClr val="CA0013"/>
                    </a:solidFill>
                    <a:latin typeface="Inter"/>
                  </a:defRPr>
                </a:pPr>
              </a:p>
            </c:txPr>
            <c:dLblPos val="t"/>
            <c:showLegendKey val="0"/>
            <c:showVal val="1"/>
            <c:showCatName val="0"/>
            <c:showSerName val="0"/>
            <c:showPercent val="0"/>
            <c:showBubbleSize val="0"/>
            <c:showLeaderLines val="0"/>
          </c:dLbls>
          <c:marker>
            <c:symbol val="circle"/>
            <c:size val="8"/>
            <c:spPr>
              <a:solidFill>
                <a:srgbClr val="CA0013"/>
              </a:solidFill>
              <a:ln w="9525" cap="flat">
                <a:solidFill>
                  <a:srgbClr val="CA0013"/>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100</c:v>
                </c:pt>
                <c:pt idx="1">
                  <c:v>91</c:v>
                </c:pt>
                <c:pt idx="2">
                  <c:v>75.9</c:v>
                </c:pt>
              </c:numCache>
            </c:numRef>
          </c:val>
          <c:smooth val="0"/>
        </c:ser>
        <c:ser>
          <c:idx val="1"/>
          <c:order val="1"/>
          <c:tx>
            <c:strRef>
              <c:f>Sheet1!$C$1</c:f>
              <c:strCache>
                <c:ptCount val="1"/>
                <c:pt idx="0">
                  <c:v>租金（每平方米平均租金）</c:v>
                </c:pt>
              </c:strCache>
            </c:strRef>
          </c:tx>
          <c:spPr>
            <a:solidFill>
              <a:srgbClr val="CA0013"/>
            </a:solidFill>
            <a:ln w="38100" cap="flat">
              <a:solidFill>
                <a:srgbClr val="CA0013"/>
              </a:solidFill>
              <a:prstDash val="solid,dash"/>
              <a:round/>
            </a:ln>
            <a:effectLst/>
          </c:spPr>
          <c:invertIfNegative val="0"/>
          <c:dLbls>
            <c:numFmt formatCode="0.0" sourceLinked="0"/>
            <c:txPr>
              <a:bodyPr/>
              <a:lstStyle/>
              <a:p>
                <a:pPr>
                  <a:defRPr b="1" i="0" strike="noStrike" sz="1200" u="none">
                    <a:solidFill>
                      <a:srgbClr val="CA0013"/>
                    </a:solidFill>
                    <a:latin typeface="Inter"/>
                  </a:defRPr>
                </a:pPr>
              </a:p>
            </c:txPr>
            <c:dLblPos val="t"/>
            <c:showLegendKey val="0"/>
            <c:showVal val="1"/>
            <c:showCatName val="0"/>
            <c:showSerName val="0"/>
            <c:showPercent val="0"/>
            <c:showBubbleSize val="0"/>
            <c:showLeaderLines val="0"/>
          </c:dLbls>
          <c:marker>
            <c:symbol val="circle"/>
            <c:size val="8"/>
            <c:spPr>
              <a:solidFill>
                <a:srgbClr val="CA0013"/>
              </a:solidFill>
              <a:ln w="9525" cap="flat">
                <a:solidFill>
                  <a:srgbClr val="CA0013"/>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100</c:v>
                </c:pt>
                <c:pt idx="1">
                  <c:v>103.9</c:v>
                </c:pt>
                <c:pt idx="2">
                  <c:v>106.1</c:v>
                </c:pt>
              </c:numCache>
            </c:numRef>
          </c:val>
          <c:smooth val="0"/>
        </c:ser>
        <c:dLbls>
          <c:numFmt formatCode="0.0" sourceLinked="0"/>
          <c:txPr>
            <a:bodyPr/>
            <a:lstStyle/>
            <a:p>
              <a:pPr>
                <a:defRPr b="1" i="0" strike="noStrike" sz="1200" u="none">
                  <a:solidFill>
                    <a:srgbClr val="CA0013"/>
                  </a:solidFill>
                  <a:latin typeface="Inter"/>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CA0013"/>
                </a:solidFill>
                <a:latin typeface="Microsoft JhengHei"/>
              </a:defRPr>
            </a:pPr>
            <a:endParaRPr lang="en-US"/>
          </a:p>
        </c:txPr>
        <c:crossAx val="2094734552"/>
        <c:crosses val="autoZero"/>
        <c:auto val="1"/>
        <c:lblAlgn val="ctr"/>
        <c:noMultiLvlLbl val="1"/>
      </c:catAx>
      <c:valAx>
        <c:axId val="2094734552"/>
        <c:scaling>
          <c:orientation val="minMax"/>
          <c:max val="118"/>
          <c:min val="6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EBE3"/>
        </a:solidFill>
        <a:ln>
          <a:noFill/>
        </a:ln>
        <a:effectLst/>
      </c:spPr>
    </c:plotArea>
    <c:legend>
      <c:legendPos val="b"/>
      <c:overlay val="0"/>
      <c:txPr>
        <a:bodyPr/>
        <a:lstStyle/>
        <a:p>
          <a:pPr>
            <a:defRPr sz="1100">
              <a:solidFill>
                <a:srgbClr val="CA0013"/>
              </a:solidFill>
              <a:latin typeface="Microsoft JhengHei"/>
              <a:cs typeface="Microsoft JhengHei"/>
            </a:defRPr>
          </a:pPr>
          <a:endParaRPr lang="en-US"/>
        </a:p>
      </c:txPr>
    </c:legend>
    <c:plotVisOnly val="1"/>
    <c:dispBlanksAs val="span"/>
  </c:chart>
  <c:spPr>
    <a:solidFill>
      <a:srgbClr val="EEEBE3"/>
    </a:solidFill>
    <a:ln w="12700" cap="flat">
      <a:solidFill>
        <a:srgbClr val="EEEBE3"/>
      </a:solid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每平方米平均租金（澳門元）</c:v>
                </c:pt>
              </c:strCache>
            </c:strRef>
          </c:tx>
          <c:spPr>
            <a:solidFill>
              <a:srgbClr val="CA0013"/>
            </a:solidFill>
            <a:effectLst/>
          </c:spPr>
          <c:invertIfNegative val="0"/>
          <c:dLbls>
            <c:numFmt formatCode="#,##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cat>
            <c:multiLvlStrRef>
              <c:f>Sheet1!$A$2:$A$6</c:f>
              <c:multiLvlStrCache>
                <c:ptCount val="5"/>
                <c:lvl>
                  <c:pt idx="0">
                    <c:v>5 年及以下</c:v>
                  </c:pt>
                  <c:pt idx="1">
                    <c:v>6 至 10 年</c:v>
                  </c:pt>
                  <c:pt idx="2">
                    <c:v>11 至 20 年</c:v>
                  </c:pt>
                  <c:pt idx="3">
                    <c:v>21 至 30 年</c:v>
                  </c:pt>
                  <c:pt idx="4">
                    <c:v>大於 30 年</c:v>
                  </c:pt>
                </c:lvl>
              </c:multiLvlStrCache>
            </c:multiLvlStrRef>
          </c:cat>
          <c:val>
            <c:numRef>
              <c:f>Sheet1!$B$2:$B$6</c:f>
              <c:numCache>
                <c:formatCode>General</c:formatCode>
                <c:ptCount val="5"/>
                <c:pt idx="0">
                  <c:v>182</c:v>
                </c:pt>
                <c:pt idx="1">
                  <c:v>166</c:v>
                </c:pt>
                <c:pt idx="2">
                  <c:v>143</c:v>
                </c:pt>
                <c:pt idx="3">
                  <c:v>121</c:v>
                </c:pt>
                <c:pt idx="4">
                  <c:v>119</c:v>
                </c:pt>
              </c:numCache>
            </c:numRef>
          </c:val>
        </c:ser>
        <c:dLbls>
          <c:numFmt formatCode="#,##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CA0013"/>
                </a:solidFill>
                <a:latin typeface="Microsoft JhengHei"/>
              </a:defRPr>
            </a:pPr>
            <a:endParaRPr lang="en-US"/>
          </a:p>
        </c:txPr>
        <c:crossAx val="2094734552"/>
        <c:crosses val="autoZero"/>
        <c:auto val="1"/>
        <c:lblAlgn val="ctr"/>
        <c:noMultiLvlLbl val="1"/>
      </c:catAx>
      <c:valAx>
        <c:axId val="2094734552"/>
        <c:scaling>
          <c:orientation val="minMax"/>
          <c:max val="2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EBE3"/>
        </a:solidFill>
        <a:ln>
          <a:noFill/>
        </a:ln>
        <a:effectLst/>
      </c:spPr>
    </c:plotArea>
    <c:plotVisOnly val="1"/>
    <c:dispBlanksAs val="span"/>
  </c:chart>
  <c:spPr>
    <a:solidFill>
      <a:srgbClr val="EEEBE3"/>
    </a:solidFill>
    <a:ln w="12700" cap="flat">
      <a:solidFill>
        <a:srgbClr val="EEEBE3"/>
      </a:solid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供應單位</c:v>
                </c:pt>
              </c:strCache>
            </c:strRef>
          </c:tx>
          <c:spPr>
            <a:solidFill>
              <a:srgbClr val="CA0013"/>
            </a:solidFill>
            <a:effectLst/>
          </c:spPr>
          <c:invertIfNegative val="0"/>
          <c:dLbls>
            <c:numFmt formatCode="#,##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cat>
            <c:multiLvlStrRef>
              <c:f>Sheet1!$A$2:$A$3</c:f>
              <c:multiLvlStrCache>
                <c:ptCount val="2"/>
                <c:lvl>
                  <c:pt idx="0">
                    <c:v>一房單位 對 個人申請</c:v>
                  </c:pt>
                  <c:pt idx="1">
                    <c:v>全部單位 對 獲接納申請</c:v>
                  </c:pt>
                </c:lvl>
              </c:multiLvlStrCache>
            </c:multiLvlStrRef>
          </c:cat>
          <c:val>
            <c:numRef>
              <c:f>Sheet1!$B$2:$B$3</c:f>
              <c:numCache>
                <c:formatCode>General</c:formatCode>
                <c:ptCount val="2"/>
                <c:pt idx="0">
                  <c:v>1657</c:v>
                </c:pt>
                <c:pt idx="1">
                  <c:v>5415</c:v>
                </c:pt>
              </c:numCache>
            </c:numRef>
          </c:val>
        </c:ser>
        <c:ser>
          <c:idx val="1"/>
          <c:order val="1"/>
          <c:tx>
            <c:strRef>
              <c:f>Sheet1!$C$1</c:f>
              <c:strCache>
                <c:ptCount val="1"/>
                <c:pt idx="0">
                  <c:v>申請（需求）</c:v>
                </c:pt>
              </c:strCache>
            </c:strRef>
          </c:tx>
          <c:spPr>
            <a:solidFill>
              <a:srgbClr val="E3B4AE"/>
            </a:solidFill>
            <a:effectLst/>
          </c:spPr>
          <c:invertIfNegative val="0"/>
          <c:dLbls>
            <c:numFmt formatCode="#,##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cat>
            <c:multiLvlStrRef>
              <c:f>Sheet1!$A$2:$A$3</c:f>
              <c:multiLvlStrCache>
                <c:ptCount val="2"/>
                <c:lvl>
                  <c:pt idx="0">
                    <c:v>一房單位 對 個人申請</c:v>
                  </c:pt>
                  <c:pt idx="1">
                    <c:v>全部單位 對 獲接納申請</c:v>
                  </c:pt>
                </c:lvl>
              </c:multiLvlStrCache>
            </c:multiLvlStrRef>
          </c:cat>
          <c:val>
            <c:numRef>
              <c:f>Sheet1!$C$2:$C$3</c:f>
              <c:numCache>
                <c:formatCode>General</c:formatCode>
                <c:ptCount val="2"/>
                <c:pt idx="0">
                  <c:v>2275</c:v>
                </c:pt>
                <c:pt idx="1">
                  <c:v>5076</c:v>
                </c:pt>
              </c:numCache>
            </c:numRef>
          </c:val>
        </c:ser>
        <c:dLbls>
          <c:numFmt formatCode="#,##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CA0013"/>
                </a:solidFill>
                <a:latin typeface="Microsoft JhengHei"/>
              </a:defRPr>
            </a:pPr>
            <a:endParaRPr lang="en-US"/>
          </a:p>
        </c:txPr>
        <c:crossAx val="2094734552"/>
        <c:crosses val="autoZero"/>
        <c:auto val="1"/>
        <c:lblAlgn val="ctr"/>
        <c:noMultiLvlLbl val="1"/>
      </c:catAx>
      <c:valAx>
        <c:axId val="2094734552"/>
        <c:scaling>
          <c:orientation val="minMax"/>
          <c:max val="65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EBE3"/>
        </a:solidFill>
        <a:ln>
          <a:noFill/>
        </a:ln>
        <a:effectLst/>
      </c:spPr>
    </c:plotArea>
    <c:legend>
      <c:legendPos val="b"/>
      <c:overlay val="0"/>
      <c:txPr>
        <a:bodyPr/>
        <a:lstStyle/>
        <a:p>
          <a:pPr>
            <a:defRPr sz="1100">
              <a:solidFill>
                <a:srgbClr val="CA0013"/>
              </a:solidFill>
              <a:latin typeface="Microsoft JhengHei"/>
              <a:cs typeface="Microsoft JhengHei"/>
            </a:defRPr>
          </a:pPr>
          <a:endParaRPr lang="en-US"/>
        </a:p>
      </c:txPr>
    </c:legend>
    <c:plotVisOnly val="1"/>
    <c:dispBlanksAs val="span"/>
  </c:chart>
  <c:spPr>
    <a:solidFill>
      <a:srgbClr val="EEEBE3"/>
    </a:solidFill>
    <a:ln w="12700" cap="flat">
      <a:solidFill>
        <a:srgbClr val="EEEBE3"/>
      </a:solid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價租比（年）</c:v>
                </c:pt>
              </c:strCache>
            </c:strRef>
          </c:tx>
          <c:spPr>
            <a:solidFill>
              <a:srgbClr val="CA0013"/>
            </a:solidFill>
            <a:effectLst/>
          </c:spPr>
          <c:invertIfNegative val="0"/>
          <c:dLbls>
            <c:numFmt formatCode="0.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59.1</c:v>
                </c:pt>
                <c:pt idx="1">
                  <c:v>51.8</c:v>
                </c:pt>
                <c:pt idx="2">
                  <c:v>42.5</c:v>
                </c:pt>
              </c:numCache>
            </c:numRef>
          </c:val>
        </c:ser>
        <c:dLbls>
          <c:numFmt formatCode="0.0" sourceLinked="0"/>
          <c:txPr>
            <a:bodyPr/>
            <a:lstStyle/>
            <a:p>
              <a:pPr>
                <a:defRPr b="1" i="0" strike="noStrike" sz="1200" u="none">
                  <a:solidFill>
                    <a:srgbClr val="CA0013"/>
                  </a:solidFill>
                  <a:latin typeface="Inter"/>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CA0013"/>
                </a:solidFill>
                <a:latin typeface="Microsoft JhengHei"/>
              </a:defRPr>
            </a:pPr>
            <a:endParaRPr lang="en-US"/>
          </a:p>
        </c:txPr>
        <c:crossAx val="2094734552"/>
        <c:crosses val="autoZero"/>
        <c:auto val="1"/>
        <c:lblAlgn val="ctr"/>
        <c:noMultiLvlLbl val="1"/>
      </c:catAx>
      <c:valAx>
        <c:axId val="2094734552"/>
        <c:scaling>
          <c:orientation val="minMax"/>
          <c:max val="7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EBE3"/>
        </a:solidFill>
        <a:ln>
          <a:noFill/>
        </a:ln>
        <a:effectLst/>
      </c:spPr>
    </c:plotArea>
    <c:plotVisOnly val="1"/>
    <c:dispBlanksAs val="span"/>
  </c:chart>
  <c:spPr>
    <a:solidFill>
      <a:srgbClr val="EEEBE3"/>
    </a:solidFill>
    <a:ln w="12700" cap="flat">
      <a:solidFill>
        <a:srgbClr val="EEEBE3"/>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開場（約 1 分鐘）。本組課題為房屋問題，按課程指引指定使用馬克思理論。
先講一句總論點：澳門住宅總量足夠，問題在分配 —— 房子按支付能力而非居住需要分配。
時間分配（共 45 分鐘）：開場 3、概念 4、問題一 8、問題二 5、問題三 8、社會因素 3、理論 6、措施 5、總結 2、答問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引言。交代三件事：為何選房屋（最大宗家庭開支）、澳門制度背景（五階梯）、全報告的問題意識。
這句官方引文是全報告的起點：政府自己承認總量足夠但結構失衡，所以我們的問題是『為何仍有人住不起』，而不是『房子夠不夠』。
注意：238,464 個單位是 2021 年 6 月底數字，202,700 戶是 2021 人口普查，兩者相差約 35,764。
『住屋及燃料為最大一項』出自統計暨普查局住戶收支調查 2023/24 新聞稿：住屋及燃料 25.0%，其次是食物及非酒精飲品 24.7%，只領先 0.3 個百分點，被問到要如實說明。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交代報告結構。三個問題的選定過程：老師課堂上列出私樓價格、舊區老化、公屋濫用三個方向，本組的措施也按這三個方向設計：私樓房價高昂、舊區樓宇老化、公屋社屋被濫用。
『濫用』沒有公開的彙總數據，所以問題三寫成公共房屋的分配、使用與監察，涵蓋輪候、規則、查核與資源錯配；措施三就是回應這個缺口。
每個問題對應一項措施（措施一至三），底部這條線就是老師要求的行文順序，全報告按此走。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全報告的骨幹，四個數字要記熟。
1) 單位多過住戶 35,764：2021 年數字。2) 樓價四年跌 31.7%：2021 年 103,859 → 2025 年 70,935。
3) 樓價收入比 6.5–9.6 倍：以 700 呎（65 平方米）計；9.6 倍用雙職本地居民中位收入，6.5 倍用住戶月平均收入 58,835 元，官方未公布中位數，所以列出區間。
4) 租金 +6% 是 2023 至 2025 年的累計（2024 年 +3.9%、2025 年 +2.1%），與同期樓價 −24.1% 比較。
切勿說樓價一路上升，也切勿把四年樓價跌幅與單年租金升幅並列。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概念部分共 4 分鐘，五個概念，每個只講三句：定義、與澳門的關係、報告怎樣用。這是老師的明確要求，不要展開。
樓價收入比要講清楚是全部收入不消費的年數；3.5–5 倍是高武洲 2017 引用的國際標準。
夾心階層有兩個官方版本，見問題三。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都市更新：老師特別點名要有。要講清楚它不只是拆樓：第 18/2022 號法律第 1 條第 2 款指明，除重建外，都市更新尚包括建築物的保養、維修和更改，以及公共基礎設施與公用設施的建設；第 2 條把『都市更新重建』界定為拆卸並興建新的分層建築物；第 3 條規定由所有權人決定是否重建。
樓宇老化：老師強調樓齡高不等於危樓，所以用三層梯度。第三層殘危的正式程序是土地工務局檢驗委員會證實，業權人須在限期內拆卸。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第五個概念是全報告的樞紐：政府文件本身用結構性失衡、資源錯配來描述房屋問題。
右邊的表說明每個概念在哪個問題、用哪個理論透鏡，這樣概念不是孤立的定義，而是後面分析的工具。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第一層證據：樓價。數字取自統計暨普查局各年年度報告：2021 年 103,859（−1.1%）、2023 年 93,500（−0.3%）、2024 年 85,114（−9.0%）、2025 年 70,935（−16.7%）；2022 年 93,781 由 2023 年數值及變動率反推，圖上標星號。
重點是不要說樓價一路上升。老師提醒過疫情前後有變化，數據顯示 2021 年起持續回落，2025 年跌幅最大。
2025 年各區：澳門半島 68,894、氹仔 72,971、路環 81,500 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第二層證據：收入。各年第 4 季月工作收入中位數（本地就業居民）：2022 年 19,000、2023 年 20,000、2024 年 20,500、2025 年 20,000。
名義收入近三年只升約 5%，同期樓價跌約 24%，所以樓價收入比改善主要來自樓價下跌，而不是收入上升。
2021 年第 4 季的數字未取得，所以序列由 2022 年起，這點在數據限制頁有交代。
老師要的是家庭收入。官方只公布住戶月平均收入 58,835 元（平均數），沒有中位數，所以下一頁用兩種口徑並列。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第三層：老師要求的實際例子。700 呎約 65 平方米，按 2025 年均價 70,935 元計，總價約 461 萬。
2026 年 1 月 1 日起，住宅按揭成數上限由七成升至八成（金管局公告），首期由約 138 萬降至約 92 萬，相當於雙職家庭年收入的 2.9 年降至 1.9 年。
但月供同時增加：以 30 年、年利率 4% 假設，由約 15,400 升至約 17,600 元。利率是假設值，不是官方數據，匯報前請用銀行實際報價替換，每升降 0.5 個百分點，月供約增減 900 至 1,000 元。
首置及不同價值住宅的成數細則我們未核實，被問到要如實說明。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第四層：樓價收入比。左圖是 700 呎單位在各年價格下對雙職本地居民中位收入（各年第 4 季）的倍數：2022 年 13.4、2023 年 12.7、2024 年 11.3、2025 年 9.6。
口徑二：官方住戶月平均收入 58,835 元（2023/24），計得約 6.5 倍。但平均數易被高收入拉高，所以真實的中位家庭比率大約在兩者之間。
老師口頭提過的 14.8 倍和 16 年，錄音沒有交代出處，Demographia 也不包含澳門，我們沒有使用。
高武洲 2017 的 22.89 倍是用平均每戶交易總價 824 萬對年收入 36 萬，分子不同，不可與本頁混用。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老師提醒過不能直接寫青年全部買不起樓，所以這頁用數據回答：誰真的受影響。
青年指標 2024（13–35 歲，N=2,348）：64.0% 居住在購買的私人樓宇，23.1% 租用私樓。注意這只是居住類別，沒有區分業權人，很可能是住在父母的物業。這反而是階級分析的線索：青年的居住結果取決於家庭資產，須用訪問驗證。
租用私樓比例 2018 年 10.6%，2024 年 23.1%，但各期承辦機構與問法不同（2018 問過去六個月），只能說方向。
住戶收支調查顯示住屋及燃料佔消費開支比例較 2017/18 減 1.9 個百分點，所以不宜說全體住戶的住屋負擔都在惡化；問題更可能集中在入場門檻與租戶（待訪問驗證）。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這頁取代了我們初稿的租金反轉說法。初稿把四年樓價跌幅與單年租金升幅並列，時段不一致，老師明確提醒過不能用單一年份說趨勢。
同一時段（2023 至 2025）才公平：樓價 −24.1%，租金 2024 年 +3.9%、2025 年 +2.1%，累計約 +6%。
2023 年前租金也曾隨樓價下跌（二手資料指 2020 年至 2023 年約跌 19%），官方 2021、2022 年全年租金未取得，所以標題寫『2023 年起』。
價租比：2025 年單位均價 70,935 元，年租 139×12 元，約 43 年租金；2023 年約 59 年。這個下降就是交換價值向使用價值靠攏，但仍高。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問題二第一頁，先講清楚老師要求的區分：樓齡高不等於危樓。用三層梯度。
第一層樓齡：約 4,800 幢樓齡 30 年以上，這個數字是報道引述，我們沒有取得官方出處；另有 2019 年 6 月底 5,173 幢的說法，兩者口徑不明，所以不並列作趨勢，只在數據限制頁交代。
第二層失修：土地工務局 2026 年首季因失修巡查 106 次，通知業權人檢查維修 84 宗（政府新聞稿，2026-05-03 公布）。
第三層殘危：2026 年 4 月清拆三幢殘危樓宇（老饕巷、關前正街、鍾家里），程序是檢驗委員會證實殘危，業權人逾期不拆，由局方代拆，費用及罰款由業權人承擔。
重點：三層數字性質不同（存量對單季個案），不能相除當成比率，只能說失修、殘危的個案遠少於舊樓總數。要老實承認：老師要求近五年的趨勢，這個問題我們找不到官方時間序列，這是一項數據缺口，也是措施三要求公開資料的理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這一頁的條文全部直接取自公報原文（第 18/2022 號法律），逐條核對過，可以放心引用。
門檻：第 6 條，樓齡 30 至 40 年 85%（少於 7 個獨立單位則 80%）；40 年以上 80%；殘破或危害公共衛生及人身安全、被命令全部拆卸的 60%。2019 年諮詢階段的說法是 90／80／60，最後版本不同，不要引用舊數字。
生效：公報 2022 年 12 月 28 日刊登，第 43 條規定 2023 年 6 月 1 日起生效，所以不能說法案仍待通過。
制度特點：第 3 條由所有權人決定重建，政府經都更公司提供支援；第 16 至 21 條，爭議走必要仲裁，仲裁庭要看方案對不同意者是否明顯不公平，包括負擔與臨時安置，裁決可取代其同意；第 34 條，為他人代墊重建負擔者，對重建後單位有優先受償權，順位優先於其他擔保。
這些是後面國家透鏡與階級透鏡要用的：法律保障的是業權人，而且重建費用要由業權人分攤。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祐漢七棟樓群是都市更新法下第一個示範項目，可以用來看門檻、安置與方案三件事。
官方新聞稿（都更公司，2024 年 9 月 20 日）：7 個地塊合共 46 幢已全數成立管理機關；都更公司與 2,000 多戶業主持續溝通；方案採『存量優化』，不增加住宅戶數及人口密度，各低層樓宇整合為 30 層高樓，原單位數量不變；暫住房 2,803 個單位，預計 2024 年底竣工。
『住商戶共 2,556 戶』出自研究報告轉述都更公司資料，我們沒有取得原頁，所以標明待核；官方新聞稿的說法是 2,000 多戶業主。
2026 年 7 月起先在祐漢七棟樓群進行結構及電力聯合巡查，並宣布建立殘舊樓宇資料庫。
這個項目的意義：如果連最有資源支援、最受關注的示範區都要花這麼多年，其他舊區更難。同時它引出階級問題：住在這裡的是誰（下一頁）。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左圖：每平方米平均租金按樓齡，5 年及以下 182 元、6 至 10 年 166 元、11 至 20 年 143 元、21 至 30 年 121 元、大於 30 年 119 元（統計暨普查局《租金統計》2025 全年）。舊樓約為新樓的 65%。
要小心：租金較低不是福利，是條件較差的價格；我們沒有樓宇條件（電梯、管理）的官方分項數字，所以只講租金，不講條件。
長者：長者住戶（所有成員均 65 歲以上）2012/13 年 10,989 戶升到 2017/18 年 18,223 戶（+65.8%）；65 歲以上比例 2021 年 12.1%，統計局 2016 年預測 2036 年 19.9%（均引自政策研究 2022 第 31 頁）。政策研究也記錄，近四成居於唐樓的長者希望即時入住長者公寓。
但長者是否集中住在舊區，我們沒有分區數字，所以這裡不寫『集中』，交給訪問去印證。右下角是訪問引用位，匯報前請填入受訪者原話。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把前面幾頁收成四個障礙，每個都有出處。
一、門檻：85／80% 已經很高，官方新聞稿也承認要聯絡海外業主；不同意者可經必要仲裁被強制參與，但仲裁要看負擔和臨時安置是否明顯不公平。
二、維修與管理：『三無大廈』（無業主會、無管理公司、無維修基金）是媒體與社會的俗稱，澳門政府文件沒有正式定義，所以我們寫『俗稱』。祐漢有都更公司協助成立管理機關，這是特例。
三、安置：暫住房 2,803 個單位（官方新聞稿）；置換房的數字（338 個完成購買、餘 1,700 多個）與資格說明來自議員高岸聲 2026 年 3 月書面質詢，是議員陳述，不是政府官方立場，講的時候要說明。
四、資料：政府 2026 年 7 月才宣布建立殘舊樓宇資料庫，說明之前沒有統一公開的分級資料，這是措施三的依據。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先看整條階梯，再逐段展開。
社會房屋：2021 年 6 月底 15,037 個，佔全澳住宅單位 6.3%（政策研究 2022）。社屋自 2020 年 8 月起改為恆常申請（第 17/2019 號法律第 9 條）；房屋局統計（2020-08-20 至 2025-03-19）：獲發申請編號 8,530，接納 5,978，輪候中 1,657 戶，其中一人家團 886、二人家團 562。舊資料（2017 年申請批次平均 420 日、最長 870 日上樓）屬恆常申請之前，不再使用。政府稱恆常申請後平均輪候約一年，議員則指一房單位有家團輪候逾兩年半（議員質詢，2025-04），兩種說法都要標明來源。
經濟房屋：2019 期 3,017 個、2021 期 5,254 個（新城 A 區 A1 至 A4、A12）、2023 期 5,415 個（B5、B7、B8、B11、B12），合共 13,686 個（本組加總）。第 13/2020 號法律（2020-08-17 公布）修改經屋法：單位不可轉讓，只可售予房屋局（重新公布本第 37、38 條），即所謂『永遠姓經』；『短期不設恆常申請』出自議員李良汪 2025 年 2 月書面質詢，是議員引述房屋局的說法。
夾心房屋：第 17/2023 號法律（2023-08-21 公布，2024-04-01 生效）已訂明申請、定價與轉售規則，2024 年亦訂出電子平台、計分表及申請表式樣；但仍未有單位供應。報道引述運輸工務司司長 2025 年 12 月稱夾屋需求供應不太迫切，原擬於祐漢順利樓北側興建夾屋的地塊重新思考用途；這是報道摘要，引用前請核對原文。
長者公寓：『2024 年 10 月投入服務』出自最初的研究報告，未核對政府原文，所以標待核；需求預測取自未來房屋需求研究：2025 年總需求 1,845–3,803 戶、2030 年 2,131–4,622 戶。
私人樓宇：238,464 個單位、空置 16,655 個是 2021 年 6 月底（政策研究 2022 第 2 頁）。
結論句是這頁的重點：有法例而沒單位，是夾屋這一級最大的問題。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這頁是問題三最有力的一頁：官方數字下，整體『夠』，但結構『不對』。
房屋局 2023 年期經屋：5,415 個單位（一房 1,657、兩房 3,216、三房 542），收到 6,562 份申請，獲接納 5,076 份，取消資格 1,486 份（22.6%）。整體單位 5,415 比獲接納申請 5,076 還多。
但議員李良汪 2025 年 2 月書面質詢指：個人申請 2,275 份（約 45%），一房單位只有 1,657 個，缺口逾 600；一人家團只能申請一房單位；也沒有置換制度。這個數字是議員引述，我們找不到房屋局原始數據，講的時候要說『議員質詢引述』。
取消資格的原因，房屋局只列出類別，沒有各類人數，所以不能推斷是哪一類最多。這也是措施四要求公開分項的原因。
2026 年施政報告已列明『為回應社會對經屋戶型調整的需求，制訂置換制度實施方案後送交立法會審議』，所以經屋戶型錯配政府也承認，方案仍在制訂中。
右下角訪問引用位：請用訪問中關於一人家團、輪候障礙的原話填入。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時間線用意是回應老師要求的『近五年趨勢』：公共房屋沒有連續的年度統計，但有連續的事件。
2019 期 3,017 個單位（2025 年 11 月報道，2,000 多個家團已選樓，近 1,000 個家團辦理上樓）；2021 期 5,254 個；2023 期 5,415 個；三期合共 13,686 個（本組加總）。
2020 年：社屋法（第 17/2019 號）2020 年 8 月起生效，社屋改為恆常申請；第 13/2020 號法律（2020-08-17 公布）修改經屋法，單位只可售予房屋局。2023 年 8 月公布夾屋法（第 17/2023 號），2024 年 4 月 1 日生效，2024 年的行政長官批示 45 至 48 號訂出電子平台、計分表、售樓許可書及申請表式樣。
『2024 年暫停新城 A 區 5 個地段經屋項目』出自議員質詢，是議員所述，不是政府文件。
2025 年 11 月房屋局局長表示 2021、2023 年期經屋售價將因溢價金調整而下調；2026 年 1 月置換房購買期屆滿，只有 338 個完成購買。
重點句：這是批次式供應，不定期開隊，申請人無法預期。政策研究也建議在供應充足時，參考社屋開放恆常申請或公布固定時間表。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這頁是問題三的收束，也是整份報告『總量足夠、結構失衡』的官方出處。
引文是政策研究和區域發展局 2022 年報告第 18 頁的原文：『目前，澳門住宅單位總量超出實際住戶數量，反映出澳門房屋問題主要源於結構與功能性分佈未能滿足居民的實際需求』。
右表四個證據：空置量 2010 年底 1.67 萬、2020 年底 1.58 萬，十年間幾乎不變（政策研究 2022）；置換房 338 對 1,700 多（議員高岸聲質詢，2026 年 3 月）；暫住房 2,803 個單位是都更公司 2024 年 9 月新聞稿的數字，『至今未作暫住用途』是議員的陳述；石排灣經屋空置率 38.9% 是 2015 年的資料，高武洲 2017 引述，只作歷史對照，不代表現況。
提醒：不同時點的空置數字口徑不同（2021 年 6 月 16,655 個與 2020 年底 1.58 萬不宜混用），且空置不等於可即時分配，所以只寫『旁證』。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夾心階層有兩個官方定義，順序要記清：定義一是收入超出經屋申請上限，或雖符合經屋資格但輪候排序靠後，又追不上私樓升幅的本地居民；定義二只涵蓋收入超出經屋申請上限者。2022 年政策研究的結論是，大部分意見認為對應人群為收入超出經屋上限者，並兼顧分流經屋排序靠後者（第 31 頁）。注意上限是經屋，不是『社屋與經屋』。諮詢結果顯示夾屋政策支持率約 92.6%（政策研究 2022 引述諮詢總結報告）。
法例：第 17/2023 號法律（2023-08-21 公布，第 56 條：2024 年 4 月 1 日起生效）。第 9、10 條：申請人及家團每月收入上限等於經屋上限加 10%，下限為經屋上限的一半；資產淨值上限等於經屋上限加 20%。第 28 條：售價 Pv ＝ Vmf ×（1 − Rc），Vmf 是房屋局按相鄰區域私人住宅價格評定的市價，Rc 為補價比率（即折讓），由行政長官批示訂定。第 33、38 條：16 年不可轉讓；期滿後首次出售須繳補價（補價 ＝ 稅務評定價 × Rc）、房屋局有優先權，且只可售予永久居民。以 2023 年經屋上限推算，兩人或以上家團的夾屋入息帶約為每月 35,655 至 78,441 元，一人家團約 17,825 至 39,215 元；這是本組按公式的推算，正式數字要待夾屋申請公告。
需求：《澳門未來房屋需求研究》以『價格 800 萬以下、按揭八成或以上』的樓宇交易佔比（78.3% × 14% ＝ 10.97%）作為夾屋需求的代理，折合每年新增需求 939 至 1,760 戶；2030 年總需求上限：悲觀 7,737、中性 10,093、樂觀 14,348 戶。注意 10.97% 是交易佔比，不是家庭佔比。同一研究對社屋（2030 年供應 21,187 戶對需求 18,166 至 22,708 戶）和經屋（供應 60,913 戶）都預期能滿足需求，唯獨夾屋沒有對應供應。
2025 年 12 月報道引述運輸工務司司長稱夾屋需求供應不太迫切，重新思考順利樓北側用途，引用前請核對原文。氹仔偉龍馬路原擬轉作夾屋，據報道 2023 年 11 月暫停，2025 年 11 月科技研發產業園初步選址包括該處（報道，待核）。這是評價，我們用一句話點出矛盾即可，不必替政府下結論。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這頁回答『公屋、社屋被濫用』：先看規則，再看公開了多少數字。
社屋（第 17/2019 號法律，2019-08-19 公布，2020 年 8 月起生效）：第 3 條界定自住為每年至少三分之二時間在單位內留宿；第 13 條要求承租人允許房屋局檢查、不得改作他用、不得讓未載明人士居住、家團成員連續超過 30 日或一年內不足三分之二時間不在須事先告知、收入或資產超出上限須在 30 日內告知；第 18 條：超出上限不超過一倍須付雙倍租金，超出一倍可訂不得續期的短期合同並付三倍租金；第 19 條：違反上述義務、虛假聲明、取得物業、無合理理由不居住等可解除合同；第 27 條：房屋局負責監察，人員享有公共當局權力；第 29 條：延誤或不履行告知義務可科 1,000 至 1,500 元罰款；第 32 條：可與其他公共實體資料互聯。
經屋（第 10/2011 號法律，2020 年重新公布本）：第 5 條自住；第 37、38 條不可轉讓、只可售予房屋局；第 50 條虛假聲明依刑法處罰，且預約或買賣合同無效；第 51 條：整個單位讓與他人居住或作非居住用途罰初售價 5% 至 20%，每年居住不足 183 日罰 5% 至 15%，部分出租罰 2% 至 5%；第 53 條：不在限期內終止違法，每逾期一日加罰原罰款 1%，並可解除預約合同。
夾屋（第 17/2023 號法律）：罰則與經屋相同，另設資料互聯條款。
已公開的數字：房屋局《社會房屋恆常性申請統計》（2020-08-20 至 2025-03-19）：申請編號 8,530，不合資格駁回 1,575（18.5%），放棄 268，接納 5,978；接納後輪候中 1,657，已完成處理 4,321（分配 3,479、不合資格取消 419、放棄 423）。注意：不合資格不等於虛報，只說明入口有把關。
『超出收入上限一倍的有 20 多戶』是房屋局局長 2020 年 8 月新法生效時的說法（報道），是當時的數字，不代表現況。
個案：終審法院院長辦公室 2026 年 8 月 5 日公布的中級法院案件（224/2025）：社屋租戶連續 406 日不在澳門，房屋局 2022 年 2 月解除合同，租戶稱到香港照顧臥床父親，法院維持解除；這只證明房屋局會查、法院會支持，不證明普遍程度。
廉署 2016-11-18 新聞稿：一對夫婦 2013 年申請經屋時隱瞞剛購入的珠海住宅，涉嫌偽造文件及詐騙，案件移交檢察院；是涉嫌個案，並非定罪。
缺口：我們的搜尋沒有找到房屋局按年公開的巡查次數、解除合同、加租、罰款或收回單位數字，這是『本組搜尋未見』，不等於不存在，可在訪問時向房屋局或議員查詢。2026 年施政報告已列明『加強公共房屋巡查監管，嚴格執行社會房屋退場機制』，措施三就是把這句話變成可以檢視的數字。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第二部分到此結束，用一頁總結三個問題的核心數據、來源與證據強度。
『證據強度』是我們自己的評估：問題一有連續五年官方序列，最強；問題二缺歷年序列，問題三有不少關鍵數字來自議員質詢，是陳述而非官方統計，所以只評『中』。老師強調不能以單一年份或單一來源說趨勢，我們願意把弱處攤開講。
過渡：三個問題有共同特徵，就是總量足夠、分配失衡。下一部分問：是哪些社會因素造成這種分配。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老師要求：3 至 4 個重要社會因素，每個因素都要同時影響三個問題，而且要用社會學的因素，不是單純的個人因素。這頁用矩陣一次講清楚，共 3 分鐘，不逐格唸。
四個因素取自課程指引的五類（經濟、政治與法律、社會文化、社會人口、地理與物理環境），我們選了四類；社會文化這次沒有足夠證據，所以不列。
橫向讀：每一行是同一因素怎樣影響三個問題；縱向讀：每一問題受哪些因素影響。
每格數字均可在前面對應頁找到出處：戶均人口與收入（問題一）、長者與唐樓（問題二）、個人申請（問題三）。
受訪者如果談到個人經歷，要先抽出其中的社會結構成分才放進來，不能把個人原因直接當社會因素。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因素一經濟：這裡講的是收入與資產的分配，不是『個人不夠努力』。數據：本地居民收入中位數 2023 年與 2025 年第 4 季都是 20,000 元，同期樓價跌 24.1%，所以可負擔性改善主要來自樓價跌，而非收入升。首期 92 至 138 萬元見問題一第 10 頁（70% 對 80% 成數）。
限制要老實講：官方新聞稿沒有公布住戶收入中位數，家庭收入我們以兩名本地居民中位收入推算，並列住戶平均收入作參考。
因素二政策與法律：這一類因素包括公共政策。按揭成數 2026 年 1 月 1 日起由七成升至八成（金管局公告）；都更門檻與仲裁制度見第 15 頁；經屋批次式供應見第 21 頁。
限制：首置及不同價值住宅的成數細則沒有核實，被問到要說明。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因素三社會人口：長者住戶（所有成員 65 歲以上）2012/13 年 10,989 戶升到 2017/18 年 18,223 戶（+65.8%）；戶均人口由 3.04 人降到 2.83 人（住戶收支調查 2017/18 對 2023/24）；統計局 2016 年預測 2036 年 65 歲以上佔 19.9%（引自政策研究 2022）。家庭縮小意味需要更多、更小的單位，對應一房單位不足。
限制：我們沒有長者按區分佈的數據，所以不寫『集中在舊區』，只寫近四成居於唐樓的長者希望即時入住長者公寓（政策研究 2022）。
因素四地理與物理：高武洲（2017）指澳門總陸地面積僅 30.5 平方公里，商住及住宅用地僅 2.9 平方公里；填海沉澱期 5 至 8 年。這是 2016 年前後的數字，現時面積已增加，只用來說明土地供應有時滯，不用來算現況。
石排灣經屋空置率 38.9% 是 2015 年何潤生議員引述房屋局的資料（高武洲 2017 第 77 頁），只作歷史對照。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理論部分共 6 分鐘。老師明確要求：不需要複述整套馬克思主義，重點是用它解釋澳門的問題。所以我們不用六個工具，只用三個透鏡，每個透鏡都同時解釋三個問題，也就是這個矩陣。
商品化：馬克思區分使用價值與交換價值；住宅的使用價值是居住，交換價值是它作為資產可以換取的貨幣。
階級：在住房上，界線是是否擁有物業；有物業者在升值中獲益，無物業者付租而不積累資產。
國家：國家提供住房以維持勞動力再生產，同時也維護資本積累的秩序，介入有邊界。
接下來每個透鏡一頁，講理論一句、澳門證據三到五條、以及我們能證明和不能證明的界線。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第一個透鏡：商品化。理論一句：馬克思區分使用價值與交換價值，住宅的使用價值是遮風擋雨，交換價值是它可以換取的貨幣量。
數據：價租比＝每平方米均價 ÷ 全年租金。2023 年均價 93,500 元，每平方米月租約 131.9 元，59.1 年；2024 年 85,114 元、137 元，51.8 年；2025 年 70,935 元、139 元，42.5 年。價租比下降，是交換價值向使用價值靠攏，但仍高。口徑提醒：價格是成交均價，租金是租約申報均價，不是同一批單位，所以只講方向。
問題二：都更公司新聞稿說方案是為『提升居民的生活質素及樓宇價值』，方案採存量優化、原單位數量不變；重建後價值由市場決定，這是分析，不是官方說法。
問題三：經屋法（第 10/2011 號，經第 13/2020 號法律修改）第 37、38 條：單位不可轉讓，只可售予房屋局，即去商品化；夾屋法（第 17/2023 號）第 33、37、38 條：16 年不可轉讓，期滿後出售須繳補價（補價 ＝ 稅務評定價 × 補價比率）、房屋局有優先權、買家須為永久居民，折讓不會變成業主的轉售利潤，屬於有限度的商品化。這是政策設計上的對比，不是評價好壞。
初稿曾用樓花溢價五成作論證，這個比較基礎較弱，已改用價租比。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第二個透鏡：階級。理論一句：馬克思以是否佔有生產資料界定階級；在住房上，這條界線是是否擁有物業這項資產。
2021 人口普查：自置居所 148,091 戶（73.4%），租住 39,148 戶（19.3%）。租戶付租，錢不會變成資產。
租金梯度：樓齡 30 年以上 119 元、5 年及以下 182 元；2025 年小單位（少於 50 平方米）每平方米售價最低（2025 年第 1 季 67,826 元），租金最高（168 元）——買不起首期而只能租小單位的家庭，按面積付出最高的居住成本。
法律面：第 18/2022 號法律的門檻、仲裁與回遷分配都以所有權人為對象，第 36 條規定承租人在租約失效後，可憑重建協議或仲裁裁決被強制遷出。置換房與暫住房資格另見第 8/2019 號法律，我們沒有核對原文，所以不下結論。
租隙（Smith, 1979）：當現時地租與潛在地租的差距夠大，資本便進場再開發。黑沙環及祐漢區每平方米租金 121 元，黑沙環新填海區 165 元，差 44 元約 36%。但這是租金的粗略代理，不是租隙的正式計算，更不能說祐漢重建是租隙驅動。
剝奪式積累（Harvey）：只作風險提示。祐漢方案原單位數量不變，本組沒有證據顯示原居民被置換，所以不作結論。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第三個透鏡：國家。理論一句：馬克思主義的國家理論認為，國家一方面要維持勞動力再生產（所以要提供住房），另一方面要維護資本積累的秩序（所以介入有邊界）。
提供：社屋 15,037 個（6.3%，2021 年 6 月）；經屋三期共 13,686 個；這說明國家確實在介入，不是不作為。
工具：2026 年 1 月 1 日起按揭成數上限由七成升至八成，配合印花稅豁免；措施首季新批核住宅按揭按年 +24.7%（金管局）。首期降低了，月供卻增加，所以它改變的是入場方式，不是負擔的總量（月供為假設值）。
把關：國家不只提供，也負責劃線與看守。社屋法第 18 條：收入或資產超出上限不超過一倍付雙倍租金，超出一倍可訂不得續期的短期合同並付三倍租金；第 19 條：虛報、不居住等可解除合同。2026 年施政報告列明『加強公共房屋巡查監管，嚴格執行社會房屋退場機制』。這正是措施三要處理的地方：把看守的結果公開。
資源：高武洲（2017 第 79 頁）引金管局數字，2016 年 4 月財政儲備資產 4,351.3 億元；2024 年底約 6,162.1 億元只見二手文章，待核，所以不放上投影片；說法是『政府有資源』，不是『政府不想做』。
右邊引文：這是議員高岸聲 2026 年 3 月質詢中記錄的說法，是議員陳述，不是政府官方文件，我們不把它寫成政府立場。它顯示的是政策討論裡兩種考慮同時存在：置換房的政策原意，和對私人市場的影響。
小結：三個透鏡都落在同一點——住房主要按支付能力分配。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措施部分 5 分鐘。老師的要求：3 至 4 項，要具體（建多少、哪一類、在哪裡、如何定價），不能只寫『增建公屋』，而且要與前面的發現一一對應。
本組自己揀的三個方向，剛好對應三個問題：私樓房價高昂、舊區樓宇老化、公屋社屋被濫用。每個方向一項措施，每項措施都有：具體做法、依據、先例、限制和成效指標，下面三頁逐項講。
設計原則：先用本地已有的先例和已生效的法例（2009 年利息補貼與信用擔保、第 17/2023 號夾屋法、社屋與經屋法的查核條文）；再對接政府已宣布的方向（2026 年施政報告：加強公共房屋巡查監管、嚴格執行社會房屋退場機制、研究擴大置換房及暫住房適用範圍、修訂樓宇維修基金）；最後才是新增的要求（公開統計、分級資料）。
考慮過、未採納：租金津貼。《社會房屋輪候家團住屋臨時補助發放計劃》2008 年起實施，2022 年 12 月 31 日結束，不適用於恆常申請的輪候家團；政府 2023 年回應（見議員質詢註釋）表示沒有考慮重新設立；2025 年 5 月報道標題為「社屋暫不恢復輪候臨時補助」（未取得全文）。理由：租金可能吸收津貼（租金 2023 至 2025 年約 +6%），且不增加供應。
下面是訪問引用位：請用受訪者對措施可行性的原話填入，並註明是誰說的。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措施一針對問題一（私樓房價高昂）。老師要求具體：建多少、哪一類、在哪裡、如何定價。
首置支援（需求端）：先例是 2009 年『自置居所貸款利息補貼制度』及『自置居所信用擔保計劃』，截至 2009 年底分別補貼 2,296 及 1,711 個家庭，每宗貸款補貼上限 100 萬元、擔保上限 40 萬元（王于漸等，2010）。樓價上限可參考未來房屋需求研究估算夾屋需求時採用的 800 萬元。為何要負擔指標：成數升到八成後，首期由約 138 萬降到約 92 萬，但月供多約 2,200 元（假設值），只看首期會誤判。限制：需求端補貼在供應受限時可能推高價格。
夾屋落地（供給端）：夾屋法（第 17/2023 號）2024 年 4 月 1 日生效，行政長官批示 45 至 48/2024 訂出電子平台、計分表、許可書及申請表式樣，但兩個擬建地點都未落實：祐漢順利樓北側（2025 年 12 月稱重新思考，報道）；氹仔偉龍馬路（報道稱 2023 年 11 月暫停，2025 年 11 月科技研發產業園初步選址包括該處，待核）。『首批約 2,000–3,500 個』是本組建議，邏輯是約兩年需求：研究估算每年新增需求 939–1,760 戶，乘以二是 1,878–3,520。哪一類：夾屋法附件按家團人數訂可選房型，比例要按申請結構決定。
定價：法例第 28 條公式 Pv ＝ Vmf ×（1 − Rc），Vmf 是房屋局按相鄰區域私人住宅價格評定的市價，Rc 為補價比率（折讓），由行政長官批示訂定。示範計算是本組假設：65 平方米，2025 年均價 70,935 元／平方米，市價約 461 萬元；八成按揭、30 年、年利率 4%。Rc 30%：售價約 323 萬元，首期約 65 萬元，月供約 12,300 元；以 2023 年經屋上限推算的夾屋入息下限（兩人或以上家團每月 35,655 元），月供佔 34.6%。Rc 40%：售價約 277 萬元，首期約 55 萬元，月供約 10,600 元，佔 29.6%。對照：不折讓的私樓月供約 17,600 元，佔 49%。月供佔收入約三成是本組採用的負擔參考線，不是官方標準。因公式以市價為基礎，樓價下跌時夾屋價同步下降，但樓價收入比仍在 6.5–9.6 倍，所以關鍵是折讓比率。
限制：Rc 愈大，單位愈便宜，財政負擔和排隊壓力愈大；入息帶按 2023 年經屋上限（兩人或以上 71,310 元、一人 35,650 元）及夾屋法『下限為經屋上限一半、上限為經屋上限加 10%』的公式推算，正式數字要待夾屋申請公告。
備選：租金津貼（2008 至 2022 年有先例）本組考慮過但不採納：政府 2025 年 5 月表示暫不恢復（報道）；租金可能吸收津貼；不增加供應。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措施二針對問題二（舊區樓宇老化）。政府已經在做幾件事，本組的措施是把它們變成可以檢視、可以排序的做法。
已有的動作：(1) 2026 年 7 月 14 日新聞稿：在祐漢七棟樓群展開結構及電力聯合巡查，並宣布建立殘舊樓宇資料庫；8 月 11 日運輸工務司司長視察北區，指示全面檢視殘舊樓宇維修（報道）。(2) 樓宇維修基金：行政會 2026 年 6 月 16 日完成討論修改第 4/2007 號行政法規，目標擴至更新工程，並提高維修資助及免息貸款、P 及 M 類樓宇共同部分維修資助兩個計劃的資助及貸款上限；行政法規於 2026 年 6 月 22 日公布（報道稱第 18/2026 號，待核）。(3) 2026 年施政報告：研究擴大已落成的置換房及暫住房的適用範圍，推進《樓宇維修基金》行政法規修訂。
分級公開：基線是 2026 年首季失修通知 84 宗（巡查 106 次）、2026 年 4 月清拆 3 幢殘危（土地工務局，2026-05-03）。我們缺少歷年序列，所以建議先建立。
維修優先：祐漢七棟樓群 46 幢已全數成立管理機關，都更公司協助設立共同儲備基金（2024-09-20 新聞稿），這是可複製的做法，但其他舊區未見同等協助的公開資料。『長者住戶多』作為排序條件，是本組的政策選擇，並非現行規定。
置換對得上：置換房資格與戶型問題來自議員高岸聲 2026 年 3 月質詢，是議員陳述；338／2,000+ 同出該質詢。暫住房 2,803 個單位是都更公司 2024 年 9 月新聞稿的數字。
限制：資料公開涉及私隱與樓價；資助不能取代重建，只能延緩老化；放寬置換房資格會增加公共資源負擔。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措施三針對問題三（公屋、社屋被濫用）。先講清楚：我們沒有找到按年公開的濫用統計，所以不能說濫用很嚴重，也不能說不嚴重；措施的邏輯是『先讓數字出來』。
法例其實已經有工具：社屋法（第 17/2019 號）第 13、18、19、27、32 條；經屋法（第 10/2011 號）第 50 至 53 條；夾屋法（第 17/2023 號）第 26、47、49 條（見上一部分的使用與監察頁）。2026 年施政報告也列明『加強公共房屋巡查監管，嚴格執行社會房屋退場機制』。所以措施不是新增處罰，而是讓執行情況可以被檢視。
公開統計：參考香港房屋署對立法會的答覆（立法會十二題，2024-11-20）：2022/23 及 2023/24 年度展開調查的個案約 15,000 及 16,100 宗（住用情況相關 6,800 及 8,400 宗，入息資產申報相關 8,200 及 7,700 宗），收回被濫用或違反租約的單位約 2,200 及 2,800 個，檢控 389 宗、344 宗罪成。香港約 80 萬公屋戶，調查個案約佔 2%。這是不同規模與制度的比較，只作『統計可以長什麼樣子』的參考。
風險查核：香港的做法包括每兩年申報居住情況及是否擁有香港住宅物業、與土地註冊處資料比對、向內地部門查詢、計劃 2025 年 1 月起設實名舉報獎勵（3,000 港元）。我們只引用資料互聯與抽查的部分；舉報獎勵可能引起鄰里不信任，本組不建議。澳門的線索：廉署 2016-11-18 新聞稿，夫婦 2013 年申請經屋時隱瞞珠海住宅，涉嫌偽造文件及詐騙（涉嫌個案，未必定罪）；中級法院 224/2025 號案件：社屋租戶連續 406 日不在澳，2022 年被解除合同，租戶稱在香港照顧臥床父親，法院維持——這提醒查核要有申訴及合理豁免，社工在此可以介入評估。
配得準：入口把關已有數字：房屋局統計（2020-08-20 至 2025-03-19）申請編號 8,530，駁回 1,575，接納後分配前再取消 419，合共 1,994 宗不合資格（約 23%）。輪候中 1,657 戶，一人家團 886、二人家團 562（87% 為一至二人）。議員質詢（2025-04）指新城 A 區 4,088 個社屋單位中 3,276 個為一房，預計 2026 至 2027 年落成。經屋方面，政策研究 2022 建議供應充足時開放恆常申請或公布固定時間表。
限制要講：按香港每年收回約 2,500 個單位、約 80 萬戶（約 0.3%）換算，澳門約 1.5 萬個社屋每年大約收回 50 個，遠少於輪候的 1,657 戶。所以監察是公平與公信力的措施，不能取代增加供應；這是量級示意，不是預測。部門：房屋局主責，配合持有相關資料的公共實體。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老師建議的收束：先把三個問題放在同一張圖，說明它們不是三件獨立的事。
問題一與問題二：舊樓租金低（119 元對 182 元），重建後單位的資產價值由市場決定，所以更新方案的價值分配值得關注（本組推論）。
問題一到問題三：買不起私樓的家庭轉向經屋與社屋，輪候壓力增加；收入超出經屋上限的夾心階層兩頭不到岸（本組推論，沒有專門的轉向數據）。
問題二到問題三：舊區居民需要置換房、社屋、長者公寓，而置換房、暫住房的錯配已有數據（338 對 2,000 多；2,803 個暫住房）。
所以，三個問題共同的根源是住房主要按支付能力分配。這句話是全報告的論點，開頭也講過，這裡用圖把它收回去。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總結 2 分鐘。三欄一次說完：社會因素四個、理論透鏡三個、措施三項（對應私樓房價高昂、舊區樓宇老化、公屋社屋被濫用）。
優先次序是本組判斷，不是研究結論。標準是成本與速度：措施三（公開統計、風險查核）與措施二的資料公開，用現有法例與基金就可以做，成本低、見效快；措施一的夾屋落地要選址、設計、招標，通常要數年，應該馬上定下時間表；首置補貼放在最後，因為在供應受限時容易被價格吸收。被問到時可以說明這是判斷，並非有實證比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結語。標題一句話：房子夠，未必住得到。
再把四個數字唸一次：單位多過住戶 35,764 個；樓價四年跌 31.7%（2021 至 2025）；樓價收入比 6.5 至 9.6 倍；租金 2023 至 2025 年約升 6%。
最後回到論點：三個問題共同的根源是住房按支付能力分配。留 1 分鐘答問。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課程指引要求訪問 1 至 2 位相關人士，內容當作文獻引用入正文，主要補充社會因素與措施部分。
匯報時要具名交代受訪者背景，證明訪問確實進行。這頁的空格在匯報前必須填好；簡報中每個『訪問引用位』要換成受訪者的原話，並註明是誰說的。
提醒：受訪者說的個人經驗，要先拆出其中的社會結構成分再用，不要把個人原因直接寫成社會因素。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參考文獻分兩頁：這一頁是法例與官方文件。法例全部開過公報原文（都更法、社屋法、經屋法及其重新公布本、夾屋法）；施政報告引自政府網站原文。
房屋局統計是官方 PDF，統計期間 2020-08-20 至 2025-03-19。議員質詢是議員陳述，不是政府統計，引用時要標明。報道類來源（2025-12 夾屋地塊、偉龍馬路、樓宇維修基金法規編號）已在備註標示待核，不列入核心文獻。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課程要求至少 10 份參考文獻；兩頁合計 27 個條目（部分條目合併多份同類文件，實際超過 30 份）。不必逐條唸。
指出三點：政府統計與法例原文為主；有《澳門研究》的本地學術文獻與 2010 年的公共房屋政策研究；有馬克思與恩格斯原典，以及哈維、史密斯的理論與 Kan、Wu 等人的應用研究。香港立法會答覆只用作『統計可以怎樣公開』的比較參考，制度與規模不同。
所有外文文獻的卷期頁碼已逐一核對。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這頁是加分項：把哪些數字核實了、哪些是議員陳述、哪些是假設與推算、哪些未核實、哪些根本缺，全部攤開。
老師最怕學生把查不到的數字硬填，或者用單一年份講趨勢；我們的處理是：官方序列用官方序列，議員陳述標明是議員陳述，假設標明是假設，缺口寫明缺口。
公屋、社屋『濫用』是最大的缺口：法例條文、入口審查統計、個案都有，但本組搜尋沒有找到按年公開的巡查、解除合同、加租、罰款或收回單位數字。『本組搜尋未見』不等於不存在，應在訪問房屋局或議員時查詢；措施三就是針對這個缺口。
與初稿相比的主要更正：租金改用同一時段（2023 至 2025 年）比較，不再把四年樓價跌幅與單年租金升幅並列；樓價收入比不再只用一個數，改列兩種收入口徑的區間 6.5 至 9.6 倍；夾屋已有法例（第 17/2023 號，2024-04-01 生效），不再說『轉售規則須先立法』；夾屋地塊是祐漢順利樓北側、說法時間是 2025 年 12 月；引文一律標明是議員陳述；都更法門檻改為 85／80／60，並確認已於 2023 年 6 月 1 日生效。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pic>
        <p:nvPicPr>
          <p:cNvPr id="3" name="Image 0" descr="img/image1.png">    </p:cNvPr>
          <p:cNvPicPr>
            <a:picLocks noChangeAspect="1"/>
          </p:cNvPicPr>
          <p:nvPr/>
        </p:nvPicPr>
        <p:blipFill>
          <a:blip r:embed="rId1"/>
          <a:srcRect l="0" r="0" t="0" b="0"/>
          <a:stretch/>
        </p:blipFill>
        <p:spPr>
          <a:xfrm>
            <a:off x="4069080" y="2057400"/>
            <a:ext cx="4069080" cy="4800600"/>
          </a:xfrm>
          <a:prstGeom prst="rect">
            <a:avLst/>
          </a:prstGeom>
        </p:spPr>
      </p:pic>
      <p:sp>
        <p:nvSpPr>
          <p:cNvPr id="4" name="Text 1"/>
          <p:cNvSpPr txBox="1"/>
          <p:nvPr/>
        </p:nvSpPr>
        <p:spPr>
          <a:xfrm>
            <a:off x="566928" y="475488"/>
            <a:ext cx="11064240" cy="1737360"/>
          </a:xfrm>
          <a:prstGeom prst="rect">
            <a:avLst/>
          </a:prstGeom>
          <a:noFill/>
          <a:ln/>
        </p:spPr>
        <p:txBody>
          <a:bodyPr wrap="square" lIns="0" tIns="0" rIns="0" bIns="0" rtlCol="0" anchor="ctr"/>
          <a:lstStyle/>
          <a:p>
            <a:pPr algn="ctr" indent="0" marL="0">
              <a:lnSpc>
                <a:spcPct val="92000"/>
              </a:lnSpc>
              <a:buNone/>
            </a:pPr>
            <a:r>
              <a:rPr lang="en-US" sz="9600" b="1" dirty="0">
                <a:solidFill>
                  <a:srgbClr val="CA0013"/>
                </a:solidFill>
                <a:latin typeface="Microsoft JhengHei" pitchFamily="34" charset="0"/>
                <a:ea typeface="Microsoft JhengHei" pitchFamily="34" charset="-122"/>
                <a:cs typeface="Microsoft JhengHei" pitchFamily="34" charset="-120"/>
              </a:rPr>
              <a:t>澳門房屋問題</a:t>
            </a:r>
            <a:endParaRPr lang="en-US" sz="9600" dirty="0"/>
          </a:p>
        </p:txBody>
      </p:sp>
      <p:sp>
        <p:nvSpPr>
          <p:cNvPr id="5" name="Text 2"/>
          <p:cNvSpPr txBox="1"/>
          <p:nvPr/>
        </p:nvSpPr>
        <p:spPr>
          <a:xfrm>
            <a:off x="566928" y="2139696"/>
            <a:ext cx="11064240" cy="1371600"/>
          </a:xfrm>
          <a:prstGeom prst="rect">
            <a:avLst/>
          </a:prstGeom>
          <a:noFill/>
          <a:ln/>
        </p:spPr>
        <p:txBody>
          <a:bodyPr wrap="square" lIns="0" tIns="0" rIns="0" bIns="0" rtlCol="0" anchor="ctr"/>
          <a:lstStyle/>
          <a:p>
            <a:pPr algn="ctr" indent="0" marL="0">
              <a:lnSpc>
                <a:spcPct val="92000"/>
              </a:lnSpc>
              <a:buNone/>
            </a:pPr>
            <a:r>
              <a:rPr lang="en-US" sz="7600" b="1" dirty="0">
                <a:solidFill>
                  <a:srgbClr val="CA0013"/>
                </a:solidFill>
                <a:latin typeface="Microsoft JhengHei" pitchFamily="34" charset="0"/>
                <a:ea typeface="Microsoft JhengHei" pitchFamily="34" charset="-122"/>
                <a:cs typeface="Microsoft JhengHei" pitchFamily="34" charset="-120"/>
              </a:rPr>
              <a:t>馬克思理論視角</a:t>
            </a:r>
            <a:endParaRPr lang="en-US" sz="7600" dirty="0"/>
          </a:p>
        </p:txBody>
      </p:sp>
      <p:sp>
        <p:nvSpPr>
          <p:cNvPr id="6" name="Text 3"/>
          <p:cNvSpPr txBox="1"/>
          <p:nvPr/>
        </p:nvSpPr>
        <p:spPr>
          <a:xfrm>
            <a:off x="566928" y="5376672"/>
            <a:ext cx="3291840" cy="777240"/>
          </a:xfrm>
          <a:prstGeom prst="rect">
            <a:avLst/>
          </a:prstGeom>
          <a:noFill/>
          <a:ln/>
        </p:spPr>
        <p:txBody>
          <a:bodyPr wrap="square" lIns="0" tIns="0" rIns="0" bIns="0" rtlCol="0" anchor="t"/>
          <a:lstStyle/>
          <a:p>
            <a:pPr algn="l" indent="0" marL="0">
              <a:lnSpc>
                <a:spcPct val="125000"/>
              </a:lnSpc>
              <a:buNone/>
            </a:pPr>
            <a:r>
              <a:rPr lang="en-US" sz="1150" b="1" spc="12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1150" dirty="0"/>
          </a:p>
          <a:p>
            <a:pPr algn="l" indent="0" marL="0">
              <a:lnSpc>
                <a:spcPct val="125000"/>
              </a:lnSpc>
              <a:buNone/>
            </a:pPr>
            <a:r>
              <a:rPr lang="en-US" sz="1150" b="1" spc="120" kern="0" dirty="0">
                <a:solidFill>
                  <a:srgbClr val="CA0013"/>
                </a:solidFill>
                <a:latin typeface="Microsoft JhengHei" pitchFamily="34" charset="0"/>
                <a:ea typeface="Microsoft JhengHei" pitchFamily="34" charset="-122"/>
                <a:cs typeface="Microsoft JhengHei" pitchFamily="34" charset="-120"/>
              </a:rPr>
              <a:t>小組研習報告</a:t>
            </a:r>
            <a:endParaRPr lang="en-US" sz="1150" dirty="0"/>
          </a:p>
          <a:p>
            <a:pPr algn="l" indent="0" marL="0">
              <a:lnSpc>
                <a:spcPct val="125000"/>
              </a:lnSpc>
              <a:buNone/>
            </a:pPr>
            <a:r>
              <a:rPr lang="en-US" sz="1150" b="1" spc="120" kern="0" dirty="0">
                <a:solidFill>
                  <a:srgbClr val="CA0013"/>
                </a:solidFill>
                <a:latin typeface="Microsoft JhengHei" pitchFamily="34" charset="0"/>
                <a:ea typeface="Microsoft JhengHei" pitchFamily="34" charset="-122"/>
                <a:cs typeface="Microsoft JhengHei" pitchFamily="34" charset="-120"/>
              </a:rPr>
              <a:t>組員：＿＿＿＿＿＿</a:t>
            </a:r>
            <a:endParaRPr lang="en-US" sz="1150" dirty="0"/>
          </a:p>
        </p:txBody>
      </p:sp>
      <p:sp>
        <p:nvSpPr>
          <p:cNvPr id="7" name="Text 4"/>
          <p:cNvSpPr txBox="1"/>
          <p:nvPr/>
        </p:nvSpPr>
        <p:spPr>
          <a:xfrm>
            <a:off x="8515807" y="5376672"/>
            <a:ext cx="3108960" cy="777240"/>
          </a:xfrm>
          <a:prstGeom prst="rect">
            <a:avLst/>
          </a:prstGeom>
          <a:noFill/>
          <a:ln/>
        </p:spPr>
        <p:txBody>
          <a:bodyPr wrap="square" lIns="0" tIns="0" rIns="0" bIns="0" rtlCol="0" anchor="t"/>
          <a:lstStyle/>
          <a:p>
            <a:pPr algn="r" indent="0" marL="0">
              <a:lnSpc>
                <a:spcPct val="125000"/>
              </a:lnSpc>
              <a:buNone/>
            </a:pPr>
            <a:r>
              <a:rPr lang="en-US" sz="1150" b="1" spc="120" kern="0" dirty="0">
                <a:solidFill>
                  <a:srgbClr val="CA0013"/>
                </a:solidFill>
                <a:latin typeface="Microsoft JhengHei" pitchFamily="34" charset="0"/>
                <a:ea typeface="Microsoft JhengHei" pitchFamily="34" charset="-122"/>
                <a:cs typeface="Microsoft JhengHei" pitchFamily="34" charset="-120"/>
              </a:rPr>
              <a:t>澳門理工大學</a:t>
            </a:r>
            <a:endParaRPr lang="en-US" sz="1150" dirty="0"/>
          </a:p>
          <a:p>
            <a:pPr algn="r" indent="0" marL="0">
              <a:lnSpc>
                <a:spcPct val="125000"/>
              </a:lnSpc>
              <a:buNone/>
            </a:pPr>
            <a:r>
              <a:rPr lang="en-US" sz="1150" b="1" spc="120" kern="0" dirty="0">
                <a:solidFill>
                  <a:srgbClr val="CA0013"/>
                </a:solidFill>
                <a:latin typeface="Microsoft JhengHei" pitchFamily="34" charset="0"/>
                <a:ea typeface="Microsoft JhengHei" pitchFamily="34" charset="-122"/>
                <a:cs typeface="Microsoft JhengHei" pitchFamily="34" charset="-120"/>
              </a:rPr>
              <a:t>人文及社會科學學院</a:t>
            </a:r>
            <a:endParaRPr lang="en-US" sz="1150" dirty="0"/>
          </a:p>
          <a:p>
            <a:pPr algn="r" indent="0" marL="0">
              <a:lnSpc>
                <a:spcPct val="125000"/>
              </a:lnSpc>
              <a:buNone/>
            </a:pPr>
            <a:r>
              <a:rPr lang="en-US" sz="1150" b="1" spc="120" kern="0" dirty="0">
                <a:solidFill>
                  <a:srgbClr val="CA0013"/>
                </a:solidFill>
                <a:latin typeface="Microsoft JhengHei" pitchFamily="34" charset="0"/>
                <a:ea typeface="Microsoft JhengHei" pitchFamily="34" charset="-122"/>
                <a:cs typeface="Microsoft JhengHei" pitchFamily="34" charset="-120"/>
              </a:rPr>
              <a:t>社會工作學課程</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(02)</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引言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為何是房屋問題</a:t>
            </a:r>
            <a:endParaRPr lang="en-US" sz="3400" dirty="0"/>
          </a:p>
        </p:txBody>
      </p:sp>
      <p:sp>
        <p:nvSpPr>
          <p:cNvPr id="8" name="Text 6"/>
          <p:cNvSpPr txBox="1"/>
          <p:nvPr/>
        </p:nvSpPr>
        <p:spPr>
          <a:xfrm>
            <a:off x="566928" y="1691640"/>
            <a:ext cx="1402690" cy="694944"/>
          </a:xfrm>
          <a:prstGeom prst="rect">
            <a:avLst/>
          </a:prstGeom>
          <a:noFill/>
          <a:ln/>
        </p:spPr>
        <p:txBody>
          <a:bodyPr wrap="square" lIns="0" tIns="0" rIns="0" bIns="0" rtlCol="0" anchor="t"/>
          <a:lstStyle/>
          <a:p>
            <a:pPr algn="l" indent="0" marL="0">
              <a:lnSpc>
                <a:spcPct val="125000"/>
              </a:lnSpc>
              <a:buNone/>
            </a:pPr>
            <a:r>
              <a:rPr lang="en-US" sz="1250" b="1" spc="160" kern="0" dirty="0">
                <a:solidFill>
                  <a:srgbClr val="CA0013"/>
                </a:solidFill>
                <a:latin typeface="Microsoft JhengHei" pitchFamily="34" charset="0"/>
                <a:ea typeface="Microsoft JhengHei" pitchFamily="34" charset="-122"/>
                <a:cs typeface="Microsoft JhengHei" pitchFamily="34" charset="-120"/>
              </a:rPr>
              <a:t>基本需要</a:t>
            </a:r>
            <a:endParaRPr lang="en-US" sz="1250" dirty="0"/>
          </a:p>
        </p:txBody>
      </p:sp>
      <p:sp>
        <p:nvSpPr>
          <p:cNvPr id="9" name="Text 7"/>
          <p:cNvSpPr txBox="1"/>
          <p:nvPr/>
        </p:nvSpPr>
        <p:spPr>
          <a:xfrm>
            <a:off x="2050542" y="1691640"/>
            <a:ext cx="3911346" cy="694944"/>
          </a:xfrm>
          <a:prstGeom prst="rect">
            <a:avLst/>
          </a:prstGeom>
          <a:noFill/>
          <a:ln/>
        </p:spPr>
        <p:txBody>
          <a:bodyPr wrap="square" lIns="0" tIns="0" rIns="0" bIns="0" rtlCol="0" anchor="t"/>
          <a:lstStyle/>
          <a:p>
            <a:pPr indent="0" marL="0">
              <a:lnSpc>
                <a:spcPct val="130000"/>
              </a:lnSpc>
              <a:buNone/>
            </a:pPr>
            <a:r>
              <a:rPr lang="en-US" sz="1250" dirty="0">
                <a:solidFill>
                  <a:srgbClr val="CA0013"/>
                </a:solidFill>
                <a:latin typeface="Microsoft JhengHei" pitchFamily="34" charset="0"/>
                <a:ea typeface="Microsoft JhengHei" pitchFamily="34" charset="-122"/>
                <a:cs typeface="Microsoft JhengHei" pitchFamily="34" charset="-120"/>
              </a:rPr>
              <a:t>住屋及燃料佔住戶消費開支 25.0%，為最大一項（2023/24）</a:t>
            </a:r>
            <a:endParaRPr lang="en-US" sz="1250" dirty="0"/>
          </a:p>
        </p:txBody>
      </p:sp>
      <p:sp>
        <p:nvSpPr>
          <p:cNvPr id="10" name="Shape 8"/>
          <p:cNvSpPr/>
          <p:nvPr/>
        </p:nvSpPr>
        <p:spPr>
          <a:xfrm>
            <a:off x="566928" y="2368296"/>
            <a:ext cx="5394960" cy="12802"/>
          </a:xfrm>
          <a:prstGeom prst="rect">
            <a:avLst/>
          </a:prstGeom>
          <a:solidFill>
            <a:srgbClr val="C72A09"/>
          </a:solidFill>
          <a:ln/>
        </p:spPr>
      </p:sp>
      <p:sp>
        <p:nvSpPr>
          <p:cNvPr id="11" name="Text 9"/>
          <p:cNvSpPr txBox="1"/>
          <p:nvPr/>
        </p:nvSpPr>
        <p:spPr>
          <a:xfrm>
            <a:off x="566928" y="2478024"/>
            <a:ext cx="1402690" cy="694944"/>
          </a:xfrm>
          <a:prstGeom prst="rect">
            <a:avLst/>
          </a:prstGeom>
          <a:noFill/>
          <a:ln/>
        </p:spPr>
        <p:txBody>
          <a:bodyPr wrap="square" lIns="0" tIns="0" rIns="0" bIns="0" rtlCol="0" anchor="t"/>
          <a:lstStyle/>
          <a:p>
            <a:pPr algn="l" indent="0" marL="0">
              <a:lnSpc>
                <a:spcPct val="125000"/>
              </a:lnSpc>
              <a:buNone/>
            </a:pPr>
            <a:r>
              <a:rPr lang="en-US" sz="1250" b="1" spc="160" kern="0" dirty="0">
                <a:solidFill>
                  <a:srgbClr val="CA0013"/>
                </a:solidFill>
                <a:latin typeface="Microsoft JhengHei" pitchFamily="34" charset="0"/>
                <a:ea typeface="Microsoft JhengHei" pitchFamily="34" charset="-122"/>
                <a:cs typeface="Microsoft JhengHei" pitchFamily="34" charset="-120"/>
              </a:rPr>
              <a:t>住宅存量</a:t>
            </a:r>
            <a:endParaRPr lang="en-US" sz="1250" dirty="0"/>
          </a:p>
        </p:txBody>
      </p:sp>
      <p:sp>
        <p:nvSpPr>
          <p:cNvPr id="12" name="Text 10"/>
          <p:cNvSpPr txBox="1"/>
          <p:nvPr/>
        </p:nvSpPr>
        <p:spPr>
          <a:xfrm>
            <a:off x="2050542" y="2478024"/>
            <a:ext cx="3911346" cy="694944"/>
          </a:xfrm>
          <a:prstGeom prst="rect">
            <a:avLst/>
          </a:prstGeom>
          <a:noFill/>
          <a:ln/>
        </p:spPr>
        <p:txBody>
          <a:bodyPr wrap="square" lIns="0" tIns="0" rIns="0" bIns="0" rtlCol="0" anchor="t"/>
          <a:lstStyle/>
          <a:p>
            <a:pPr indent="0" marL="0">
              <a:lnSpc>
                <a:spcPct val="130000"/>
              </a:lnSpc>
              <a:buNone/>
            </a:pPr>
            <a:r>
              <a:rPr lang="en-US" sz="1250" dirty="0">
                <a:solidFill>
                  <a:srgbClr val="CA0013"/>
                </a:solidFill>
                <a:latin typeface="Microsoft JhengHei" pitchFamily="34" charset="0"/>
                <a:ea typeface="Microsoft JhengHei" pitchFamily="34" charset="-122"/>
                <a:cs typeface="Microsoft JhengHei" pitchFamily="34" charset="-120"/>
              </a:rPr>
              <a:t>238,464 個住宅單位，對 202,700 戶（2021）</a:t>
            </a:r>
            <a:endParaRPr lang="en-US" sz="1250" dirty="0"/>
          </a:p>
        </p:txBody>
      </p:sp>
      <p:sp>
        <p:nvSpPr>
          <p:cNvPr id="13" name="Shape 11"/>
          <p:cNvSpPr/>
          <p:nvPr/>
        </p:nvSpPr>
        <p:spPr>
          <a:xfrm>
            <a:off x="566928" y="3154680"/>
            <a:ext cx="5394960" cy="12802"/>
          </a:xfrm>
          <a:prstGeom prst="rect">
            <a:avLst/>
          </a:prstGeom>
          <a:solidFill>
            <a:srgbClr val="C72A09"/>
          </a:solidFill>
          <a:ln/>
        </p:spPr>
      </p:sp>
      <p:sp>
        <p:nvSpPr>
          <p:cNvPr id="14" name="Text 12"/>
          <p:cNvSpPr txBox="1"/>
          <p:nvPr/>
        </p:nvSpPr>
        <p:spPr>
          <a:xfrm>
            <a:off x="566928" y="3264408"/>
            <a:ext cx="1402690" cy="694944"/>
          </a:xfrm>
          <a:prstGeom prst="rect">
            <a:avLst/>
          </a:prstGeom>
          <a:noFill/>
          <a:ln/>
        </p:spPr>
        <p:txBody>
          <a:bodyPr wrap="square" lIns="0" tIns="0" rIns="0" bIns="0" rtlCol="0" anchor="t"/>
          <a:lstStyle/>
          <a:p>
            <a:pPr algn="l" indent="0" marL="0">
              <a:lnSpc>
                <a:spcPct val="125000"/>
              </a:lnSpc>
              <a:buNone/>
            </a:pPr>
            <a:r>
              <a:rPr lang="en-US" sz="1250" b="1" spc="160" kern="0" dirty="0">
                <a:solidFill>
                  <a:srgbClr val="CA0013"/>
                </a:solidFill>
                <a:latin typeface="Microsoft JhengHei" pitchFamily="34" charset="0"/>
                <a:ea typeface="Microsoft JhengHei" pitchFamily="34" charset="-122"/>
                <a:cs typeface="Microsoft JhengHei" pitchFamily="34" charset="-120"/>
              </a:rPr>
              <a:t>自置與租住</a:t>
            </a:r>
            <a:endParaRPr lang="en-US" sz="1250" dirty="0"/>
          </a:p>
        </p:txBody>
      </p:sp>
      <p:sp>
        <p:nvSpPr>
          <p:cNvPr id="15" name="Text 13"/>
          <p:cNvSpPr txBox="1"/>
          <p:nvPr/>
        </p:nvSpPr>
        <p:spPr>
          <a:xfrm>
            <a:off x="2050542" y="3264408"/>
            <a:ext cx="3911346" cy="694944"/>
          </a:xfrm>
          <a:prstGeom prst="rect">
            <a:avLst/>
          </a:prstGeom>
          <a:noFill/>
          <a:ln/>
        </p:spPr>
        <p:txBody>
          <a:bodyPr wrap="square" lIns="0" tIns="0" rIns="0" bIns="0" rtlCol="0" anchor="t"/>
          <a:lstStyle/>
          <a:p>
            <a:pPr indent="0" marL="0">
              <a:lnSpc>
                <a:spcPct val="130000"/>
              </a:lnSpc>
              <a:buNone/>
            </a:pPr>
            <a:r>
              <a:rPr lang="en-US" sz="1250" dirty="0">
                <a:solidFill>
                  <a:srgbClr val="CA0013"/>
                </a:solidFill>
                <a:latin typeface="Microsoft JhengHei" pitchFamily="34" charset="0"/>
                <a:ea typeface="Microsoft JhengHei" pitchFamily="34" charset="-122"/>
                <a:cs typeface="Microsoft JhengHei" pitchFamily="34" charset="-120"/>
              </a:rPr>
              <a:t>自置 73.4%（148,091 戶）；租住 39,148 戶（2021 人口普查）</a:t>
            </a:r>
            <a:endParaRPr lang="en-US" sz="1250" dirty="0"/>
          </a:p>
        </p:txBody>
      </p:sp>
      <p:sp>
        <p:nvSpPr>
          <p:cNvPr id="16" name="Shape 14"/>
          <p:cNvSpPr/>
          <p:nvPr/>
        </p:nvSpPr>
        <p:spPr>
          <a:xfrm>
            <a:off x="566928" y="3941064"/>
            <a:ext cx="5394960" cy="12802"/>
          </a:xfrm>
          <a:prstGeom prst="rect">
            <a:avLst/>
          </a:prstGeom>
          <a:solidFill>
            <a:srgbClr val="C72A09"/>
          </a:solidFill>
          <a:ln/>
        </p:spPr>
      </p:sp>
      <p:sp>
        <p:nvSpPr>
          <p:cNvPr id="17" name="Text 15"/>
          <p:cNvSpPr txBox="1"/>
          <p:nvPr/>
        </p:nvSpPr>
        <p:spPr>
          <a:xfrm>
            <a:off x="566928" y="4050792"/>
            <a:ext cx="1402690" cy="694944"/>
          </a:xfrm>
          <a:prstGeom prst="rect">
            <a:avLst/>
          </a:prstGeom>
          <a:noFill/>
          <a:ln/>
        </p:spPr>
        <p:txBody>
          <a:bodyPr wrap="square" lIns="0" tIns="0" rIns="0" bIns="0" rtlCol="0" anchor="t"/>
          <a:lstStyle/>
          <a:p>
            <a:pPr algn="l" indent="0" marL="0">
              <a:lnSpc>
                <a:spcPct val="125000"/>
              </a:lnSpc>
              <a:buNone/>
            </a:pPr>
            <a:r>
              <a:rPr lang="en-US" sz="1250" b="1" spc="160" kern="0" dirty="0">
                <a:solidFill>
                  <a:srgbClr val="CA0013"/>
                </a:solidFill>
                <a:latin typeface="Microsoft JhengHei" pitchFamily="34" charset="0"/>
                <a:ea typeface="Microsoft JhengHei" pitchFamily="34" charset="-122"/>
                <a:cs typeface="Microsoft JhengHei" pitchFamily="34" charset="-120"/>
              </a:rPr>
              <a:t>制度框架</a:t>
            </a:r>
            <a:endParaRPr lang="en-US" sz="1250" dirty="0"/>
          </a:p>
        </p:txBody>
      </p:sp>
      <p:sp>
        <p:nvSpPr>
          <p:cNvPr id="18" name="Text 16"/>
          <p:cNvSpPr txBox="1"/>
          <p:nvPr/>
        </p:nvSpPr>
        <p:spPr>
          <a:xfrm>
            <a:off x="2050542" y="4050792"/>
            <a:ext cx="3911346" cy="694944"/>
          </a:xfrm>
          <a:prstGeom prst="rect">
            <a:avLst/>
          </a:prstGeom>
          <a:noFill/>
          <a:ln/>
        </p:spPr>
        <p:txBody>
          <a:bodyPr wrap="square" lIns="0" tIns="0" rIns="0" bIns="0" rtlCol="0" anchor="t"/>
          <a:lstStyle/>
          <a:p>
            <a:pPr indent="0" marL="0">
              <a:lnSpc>
                <a:spcPct val="130000"/>
              </a:lnSpc>
              <a:buNone/>
            </a:pPr>
            <a:r>
              <a:rPr lang="en-US" sz="1250" dirty="0">
                <a:solidFill>
                  <a:srgbClr val="CA0013"/>
                </a:solidFill>
                <a:latin typeface="Microsoft JhengHei" pitchFamily="34" charset="0"/>
                <a:ea typeface="Microsoft JhengHei" pitchFamily="34" charset="-122"/>
                <a:cs typeface="Microsoft JhengHei" pitchFamily="34" charset="-120"/>
              </a:rPr>
              <a:t>五階梯房屋：社會房屋、經濟房屋、夾心房屋、長者公寓、私人樓宇</a:t>
            </a:r>
            <a:endParaRPr lang="en-US" sz="1250" dirty="0"/>
          </a:p>
        </p:txBody>
      </p:sp>
      <p:sp>
        <p:nvSpPr>
          <p:cNvPr id="19" name="Shape 17"/>
          <p:cNvSpPr/>
          <p:nvPr/>
        </p:nvSpPr>
        <p:spPr>
          <a:xfrm>
            <a:off x="566928" y="4727448"/>
            <a:ext cx="5394960" cy="12802"/>
          </a:xfrm>
          <a:prstGeom prst="rect">
            <a:avLst/>
          </a:prstGeom>
          <a:solidFill>
            <a:srgbClr val="C72A09"/>
          </a:solidFill>
          <a:ln/>
        </p:spPr>
      </p:sp>
      <p:sp>
        <p:nvSpPr>
          <p:cNvPr id="20" name="Text 18"/>
          <p:cNvSpPr txBox="1"/>
          <p:nvPr/>
        </p:nvSpPr>
        <p:spPr>
          <a:xfrm>
            <a:off x="6583680" y="1691640"/>
            <a:ext cx="5029200" cy="2377440"/>
          </a:xfrm>
          <a:prstGeom prst="rect">
            <a:avLst/>
          </a:prstGeom>
          <a:noFill/>
          <a:ln/>
        </p:spPr>
        <p:txBody>
          <a:bodyPr wrap="square" lIns="0" tIns="0" rIns="0" bIns="0" rtlCol="0" anchor="t"/>
          <a:lstStyle/>
          <a:p>
            <a:pPr indent="0" marL="0">
              <a:lnSpc>
                <a:spcPct val="128000"/>
              </a:lnSpc>
              <a:buNone/>
            </a:pPr>
            <a:r>
              <a:rPr lang="en-US" sz="1900" b="1" dirty="0">
                <a:solidFill>
                  <a:srgbClr val="CA0013"/>
                </a:solidFill>
                <a:latin typeface="Microsoft JhengHei" pitchFamily="34" charset="0"/>
                <a:ea typeface="Microsoft JhengHei" pitchFamily="34" charset="-122"/>
                <a:cs typeface="Microsoft JhengHei" pitchFamily="34" charset="-120"/>
              </a:rPr>
              <a:t>「現時，澳門住宅單位的總體供應量足夠。然而……部分澳門居民仍存在基本住房問題，這主要是由於房屋供需的結構性失衡所致」</a:t>
            </a:r>
            <a:endParaRPr lang="en-US" sz="1900" dirty="0"/>
          </a:p>
        </p:txBody>
      </p:sp>
      <p:sp>
        <p:nvSpPr>
          <p:cNvPr id="21" name="Text 19"/>
          <p:cNvSpPr txBox="1"/>
          <p:nvPr/>
        </p:nvSpPr>
        <p:spPr>
          <a:xfrm>
            <a:off x="6583680" y="4160520"/>
            <a:ext cx="5029200" cy="566928"/>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政策研究和區域發展局（2022）《居住用途房屋政策研究》第 2 頁</a:t>
            </a:r>
            <a:endParaRPr lang="en-US" sz="1200" dirty="0"/>
          </a:p>
        </p:txBody>
      </p:sp>
      <p:sp>
        <p:nvSpPr>
          <p:cNvPr id="22" name="Shape 20"/>
          <p:cNvSpPr/>
          <p:nvPr/>
        </p:nvSpPr>
        <p:spPr>
          <a:xfrm>
            <a:off x="566928" y="5074920"/>
            <a:ext cx="11057839" cy="18288"/>
          </a:xfrm>
          <a:prstGeom prst="rect">
            <a:avLst/>
          </a:prstGeom>
          <a:solidFill>
            <a:srgbClr val="C72A09"/>
          </a:solidFill>
          <a:ln/>
        </p:spPr>
      </p:sp>
      <p:sp>
        <p:nvSpPr>
          <p:cNvPr id="23" name="Text 21"/>
          <p:cNvSpPr txBox="1"/>
          <p:nvPr/>
        </p:nvSpPr>
        <p:spPr>
          <a:xfrm>
            <a:off x="566928" y="5212080"/>
            <a:ext cx="11057839" cy="411480"/>
          </a:xfrm>
          <a:prstGeom prst="rect">
            <a:avLst/>
          </a:prstGeom>
          <a:noFill/>
          <a:ln/>
        </p:spPr>
        <p:txBody>
          <a:bodyPr wrap="square" lIns="0" tIns="0" rIns="0" bIns="0" rtlCol="0" anchor="ctr"/>
          <a:lstStyle/>
          <a:p>
            <a:pPr indent="0" marL="0">
              <a:buNone/>
            </a:pPr>
            <a:r>
              <a:rPr lang="en-US" sz="1600" b="1" dirty="0">
                <a:solidFill>
                  <a:srgbClr val="CA0013"/>
                </a:solidFill>
                <a:latin typeface="Microsoft JhengHei" pitchFamily="34" charset="0"/>
                <a:ea typeface="Microsoft JhengHei" pitchFamily="34" charset="-122"/>
                <a:cs typeface="Microsoft JhengHei" pitchFamily="34" charset="-120"/>
              </a:rPr>
              <a:t>問題意識：單位比住戶多，為何仍有人住不起、住不好、輪不到？</a:t>
            </a:r>
            <a:endParaRPr lang="en-US" sz="1600" dirty="0"/>
          </a:p>
        </p:txBody>
      </p:sp>
      <p:sp>
        <p:nvSpPr>
          <p:cNvPr id="24" name="Text 22"/>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資料來源：統計暨普查局；房屋政策研究 2022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(03)</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引言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三個問題，一套理論</a:t>
            </a:r>
            <a:endParaRPr lang="en-US" sz="3400" dirty="0"/>
          </a:p>
        </p:txBody>
      </p:sp>
      <p:sp>
        <p:nvSpPr>
          <p:cNvPr id="8" name="Text 6"/>
          <p:cNvSpPr txBox="1"/>
          <p:nvPr/>
        </p:nvSpPr>
        <p:spPr>
          <a:xfrm>
            <a:off x="566928" y="1691640"/>
            <a:ext cx="566928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三個具體問題</a:t>
            </a:r>
            <a:endParaRPr lang="en-US" sz="1200" dirty="0"/>
          </a:p>
        </p:txBody>
      </p:sp>
      <p:sp>
        <p:nvSpPr>
          <p:cNvPr id="9" name="Shape 7"/>
          <p:cNvSpPr/>
          <p:nvPr/>
        </p:nvSpPr>
        <p:spPr>
          <a:xfrm>
            <a:off x="566928" y="2093976"/>
            <a:ext cx="5669280" cy="12802"/>
          </a:xfrm>
          <a:prstGeom prst="rect">
            <a:avLst/>
          </a:prstGeom>
          <a:solidFill>
            <a:srgbClr val="C72A09"/>
          </a:solidFill>
          <a:ln/>
        </p:spPr>
      </p:sp>
      <p:sp>
        <p:nvSpPr>
          <p:cNvPr id="10" name="Text 8"/>
          <p:cNvSpPr txBox="1"/>
          <p:nvPr/>
        </p:nvSpPr>
        <p:spPr>
          <a:xfrm>
            <a:off x="566928" y="2221992"/>
            <a:ext cx="1133856" cy="749808"/>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問題一</a:t>
            </a:r>
            <a:endParaRPr lang="en-US" sz="1300" dirty="0"/>
          </a:p>
        </p:txBody>
      </p:sp>
      <p:sp>
        <p:nvSpPr>
          <p:cNvPr id="11" name="Text 9"/>
          <p:cNvSpPr txBox="1"/>
          <p:nvPr/>
        </p:nvSpPr>
        <p:spPr>
          <a:xfrm>
            <a:off x="1785823" y="2221992"/>
            <a:ext cx="4450385" cy="749808"/>
          </a:xfrm>
          <a:prstGeom prst="rect">
            <a:avLst/>
          </a:prstGeom>
          <a:noFill/>
          <a:ln/>
        </p:spPr>
        <p:txBody>
          <a:bodyPr wrap="square" lIns="0" tIns="0" rIns="0" bIns="0" rtlCol="0" anchor="t"/>
          <a:lstStyle/>
          <a:p>
            <a:pPr indent="0" marL="0">
              <a:lnSpc>
                <a:spcPct val="130000"/>
              </a:lnSpc>
              <a:buNone/>
            </a:pPr>
            <a:r>
              <a:rPr lang="en-US" sz="1300" dirty="0">
                <a:solidFill>
                  <a:srgbClr val="CA0013"/>
                </a:solidFill>
                <a:latin typeface="Microsoft JhengHei" pitchFamily="34" charset="0"/>
                <a:ea typeface="Microsoft JhengHei" pitchFamily="34" charset="-122"/>
                <a:cs typeface="Microsoft JhengHei" pitchFamily="34" charset="-120"/>
              </a:rPr>
              <a:t>私人住宅價格與住房負擔能力　→　措施一</a:t>
            </a:r>
            <a:endParaRPr lang="en-US" sz="1300" dirty="0"/>
          </a:p>
        </p:txBody>
      </p:sp>
      <p:sp>
        <p:nvSpPr>
          <p:cNvPr id="12" name="Shape 10"/>
          <p:cNvSpPr/>
          <p:nvPr/>
        </p:nvSpPr>
        <p:spPr>
          <a:xfrm>
            <a:off x="566928" y="2953512"/>
            <a:ext cx="5669280" cy="12802"/>
          </a:xfrm>
          <a:prstGeom prst="rect">
            <a:avLst/>
          </a:prstGeom>
          <a:solidFill>
            <a:srgbClr val="C72A09"/>
          </a:solidFill>
          <a:ln/>
        </p:spPr>
      </p:sp>
      <p:sp>
        <p:nvSpPr>
          <p:cNvPr id="13" name="Text 11"/>
          <p:cNvSpPr txBox="1"/>
          <p:nvPr/>
        </p:nvSpPr>
        <p:spPr>
          <a:xfrm>
            <a:off x="566928" y="3063240"/>
            <a:ext cx="1133856" cy="749808"/>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問題二</a:t>
            </a:r>
            <a:endParaRPr lang="en-US" sz="1300" dirty="0"/>
          </a:p>
        </p:txBody>
      </p:sp>
      <p:sp>
        <p:nvSpPr>
          <p:cNvPr id="14" name="Text 12"/>
          <p:cNvSpPr txBox="1"/>
          <p:nvPr/>
        </p:nvSpPr>
        <p:spPr>
          <a:xfrm>
            <a:off x="1785823" y="3063240"/>
            <a:ext cx="4450385" cy="749808"/>
          </a:xfrm>
          <a:prstGeom prst="rect">
            <a:avLst/>
          </a:prstGeom>
          <a:noFill/>
          <a:ln/>
        </p:spPr>
        <p:txBody>
          <a:bodyPr wrap="square" lIns="0" tIns="0" rIns="0" bIns="0" rtlCol="0" anchor="t"/>
          <a:lstStyle/>
          <a:p>
            <a:pPr indent="0" marL="0">
              <a:lnSpc>
                <a:spcPct val="130000"/>
              </a:lnSpc>
              <a:buNone/>
            </a:pPr>
            <a:r>
              <a:rPr lang="en-US" sz="1300" dirty="0">
                <a:solidFill>
                  <a:srgbClr val="CA0013"/>
                </a:solidFill>
                <a:latin typeface="Microsoft JhengHei" pitchFamily="34" charset="0"/>
                <a:ea typeface="Microsoft JhengHei" pitchFamily="34" charset="-122"/>
                <a:cs typeface="Microsoft JhengHei" pitchFamily="34" charset="-120"/>
              </a:rPr>
              <a:t>舊區樓宇老化與都市更新困難　→　措施二</a:t>
            </a:r>
            <a:endParaRPr lang="en-US" sz="1300" dirty="0"/>
          </a:p>
        </p:txBody>
      </p:sp>
      <p:sp>
        <p:nvSpPr>
          <p:cNvPr id="15" name="Shape 13"/>
          <p:cNvSpPr/>
          <p:nvPr/>
        </p:nvSpPr>
        <p:spPr>
          <a:xfrm>
            <a:off x="566928" y="3794760"/>
            <a:ext cx="5669280" cy="12802"/>
          </a:xfrm>
          <a:prstGeom prst="rect">
            <a:avLst/>
          </a:prstGeom>
          <a:solidFill>
            <a:srgbClr val="C72A09"/>
          </a:solidFill>
          <a:ln/>
        </p:spPr>
      </p:sp>
      <p:sp>
        <p:nvSpPr>
          <p:cNvPr id="16" name="Text 14"/>
          <p:cNvSpPr txBox="1"/>
          <p:nvPr/>
        </p:nvSpPr>
        <p:spPr>
          <a:xfrm>
            <a:off x="566928" y="3904488"/>
            <a:ext cx="1133856" cy="749808"/>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問題三</a:t>
            </a:r>
            <a:endParaRPr lang="en-US" sz="1300" dirty="0"/>
          </a:p>
        </p:txBody>
      </p:sp>
      <p:sp>
        <p:nvSpPr>
          <p:cNvPr id="17" name="Text 15"/>
          <p:cNvSpPr txBox="1"/>
          <p:nvPr/>
        </p:nvSpPr>
        <p:spPr>
          <a:xfrm>
            <a:off x="1785823" y="3904488"/>
            <a:ext cx="4450385" cy="749808"/>
          </a:xfrm>
          <a:prstGeom prst="rect">
            <a:avLst/>
          </a:prstGeom>
          <a:noFill/>
          <a:ln/>
        </p:spPr>
        <p:txBody>
          <a:bodyPr wrap="square" lIns="0" tIns="0" rIns="0" bIns="0" rtlCol="0" anchor="t"/>
          <a:lstStyle/>
          <a:p>
            <a:pPr indent="0" marL="0">
              <a:lnSpc>
                <a:spcPct val="130000"/>
              </a:lnSpc>
              <a:buNone/>
            </a:pPr>
            <a:r>
              <a:rPr lang="en-US" sz="1300" dirty="0">
                <a:solidFill>
                  <a:srgbClr val="CA0013"/>
                </a:solidFill>
                <a:latin typeface="Microsoft JhengHei" pitchFamily="34" charset="0"/>
                <a:ea typeface="Microsoft JhengHei" pitchFamily="34" charset="-122"/>
                <a:cs typeface="Microsoft JhengHei" pitchFamily="34" charset="-120"/>
              </a:rPr>
              <a:t>公共房屋的分配、使用與監察，及夾心階層　→　措施三</a:t>
            </a:r>
            <a:endParaRPr lang="en-US" sz="1300" dirty="0"/>
          </a:p>
        </p:txBody>
      </p:sp>
      <p:sp>
        <p:nvSpPr>
          <p:cNvPr id="18" name="Shape 16"/>
          <p:cNvSpPr/>
          <p:nvPr/>
        </p:nvSpPr>
        <p:spPr>
          <a:xfrm>
            <a:off x="566928" y="4636008"/>
            <a:ext cx="5669280" cy="12802"/>
          </a:xfrm>
          <a:prstGeom prst="rect">
            <a:avLst/>
          </a:prstGeom>
          <a:solidFill>
            <a:srgbClr val="C72A09"/>
          </a:solidFill>
          <a:ln/>
        </p:spPr>
      </p:sp>
      <p:sp>
        <p:nvSpPr>
          <p:cNvPr id="19" name="Text 17"/>
          <p:cNvSpPr txBox="1"/>
          <p:nvPr/>
        </p:nvSpPr>
        <p:spPr>
          <a:xfrm>
            <a:off x="6675120" y="1691640"/>
            <a:ext cx="493776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資料與方法</a:t>
            </a:r>
            <a:endParaRPr lang="en-US" sz="1200" dirty="0"/>
          </a:p>
        </p:txBody>
      </p:sp>
      <p:sp>
        <p:nvSpPr>
          <p:cNvPr id="20" name="Shape 18"/>
          <p:cNvSpPr/>
          <p:nvPr/>
        </p:nvSpPr>
        <p:spPr>
          <a:xfrm>
            <a:off x="6675120" y="2093976"/>
            <a:ext cx="4937760" cy="12802"/>
          </a:xfrm>
          <a:prstGeom prst="rect">
            <a:avLst/>
          </a:prstGeom>
          <a:solidFill>
            <a:srgbClr val="C72A09"/>
          </a:solidFill>
          <a:ln/>
        </p:spPr>
      </p:sp>
      <p:sp>
        <p:nvSpPr>
          <p:cNvPr id="21" name="Text 19"/>
          <p:cNvSpPr txBox="1"/>
          <p:nvPr/>
        </p:nvSpPr>
        <p:spPr>
          <a:xfrm>
            <a:off x="6675120" y="2221992"/>
            <a:ext cx="987552" cy="621792"/>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資料</a:t>
            </a:r>
            <a:endParaRPr lang="en-US" sz="1200" dirty="0"/>
          </a:p>
        </p:txBody>
      </p:sp>
      <p:sp>
        <p:nvSpPr>
          <p:cNvPr id="22" name="Text 20"/>
          <p:cNvSpPr txBox="1"/>
          <p:nvPr/>
        </p:nvSpPr>
        <p:spPr>
          <a:xfrm>
            <a:off x="7736738" y="2221992"/>
            <a:ext cx="3876142" cy="621792"/>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統計暨普查局、房屋局、土地工務局、金管局；政策研究、立法會質詢、青年指標</a:t>
            </a:r>
            <a:endParaRPr lang="en-US" sz="1200" dirty="0"/>
          </a:p>
        </p:txBody>
      </p:sp>
      <p:sp>
        <p:nvSpPr>
          <p:cNvPr id="23" name="Shape 21"/>
          <p:cNvSpPr/>
          <p:nvPr/>
        </p:nvSpPr>
        <p:spPr>
          <a:xfrm>
            <a:off x="6675120" y="2825496"/>
            <a:ext cx="4937760" cy="12802"/>
          </a:xfrm>
          <a:prstGeom prst="rect">
            <a:avLst/>
          </a:prstGeom>
          <a:solidFill>
            <a:srgbClr val="C72A09"/>
          </a:solidFill>
          <a:ln/>
        </p:spPr>
      </p:sp>
      <p:sp>
        <p:nvSpPr>
          <p:cNvPr id="24" name="Text 22"/>
          <p:cNvSpPr txBox="1"/>
          <p:nvPr/>
        </p:nvSpPr>
        <p:spPr>
          <a:xfrm>
            <a:off x="6675120" y="2935224"/>
            <a:ext cx="987552" cy="621792"/>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年期</a:t>
            </a:r>
            <a:endParaRPr lang="en-US" sz="1200" dirty="0"/>
          </a:p>
        </p:txBody>
      </p:sp>
      <p:sp>
        <p:nvSpPr>
          <p:cNvPr id="25" name="Text 23"/>
          <p:cNvSpPr txBox="1"/>
          <p:nvPr/>
        </p:nvSpPr>
        <p:spPr>
          <a:xfrm>
            <a:off x="7736738" y="2935224"/>
            <a:ext cx="3876142" cy="621792"/>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2021–2025 年；年份不足處會註明</a:t>
            </a:r>
            <a:endParaRPr lang="en-US" sz="1200" dirty="0"/>
          </a:p>
        </p:txBody>
      </p:sp>
      <p:sp>
        <p:nvSpPr>
          <p:cNvPr id="26" name="Shape 24"/>
          <p:cNvSpPr/>
          <p:nvPr/>
        </p:nvSpPr>
        <p:spPr>
          <a:xfrm>
            <a:off x="6675120" y="3538728"/>
            <a:ext cx="4937760" cy="12802"/>
          </a:xfrm>
          <a:prstGeom prst="rect">
            <a:avLst/>
          </a:prstGeom>
          <a:solidFill>
            <a:srgbClr val="C72A09"/>
          </a:solidFill>
          <a:ln/>
        </p:spPr>
      </p:sp>
      <p:sp>
        <p:nvSpPr>
          <p:cNvPr id="27" name="Text 25"/>
          <p:cNvSpPr txBox="1"/>
          <p:nvPr/>
        </p:nvSpPr>
        <p:spPr>
          <a:xfrm>
            <a:off x="6675120" y="3648456"/>
            <a:ext cx="987552" cy="621792"/>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訪問</a:t>
            </a:r>
            <a:endParaRPr lang="en-US" sz="1200" dirty="0"/>
          </a:p>
        </p:txBody>
      </p:sp>
      <p:sp>
        <p:nvSpPr>
          <p:cNvPr id="28" name="Text 26"/>
          <p:cNvSpPr txBox="1"/>
          <p:nvPr/>
        </p:nvSpPr>
        <p:spPr>
          <a:xfrm>
            <a:off x="7736738" y="3648456"/>
            <a:ext cx="3876142" cy="621792"/>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＿位受訪者，內容融入各部分</a:t>
            </a:r>
            <a:endParaRPr lang="en-US" sz="1200" dirty="0"/>
          </a:p>
        </p:txBody>
      </p:sp>
      <p:sp>
        <p:nvSpPr>
          <p:cNvPr id="29" name="Shape 27"/>
          <p:cNvSpPr/>
          <p:nvPr/>
        </p:nvSpPr>
        <p:spPr>
          <a:xfrm>
            <a:off x="6675120" y="4251960"/>
            <a:ext cx="4937760" cy="12802"/>
          </a:xfrm>
          <a:prstGeom prst="rect">
            <a:avLst/>
          </a:prstGeom>
          <a:solidFill>
            <a:srgbClr val="C72A09"/>
          </a:solidFill>
          <a:ln/>
        </p:spPr>
      </p:sp>
      <p:sp>
        <p:nvSpPr>
          <p:cNvPr id="30" name="Text 28"/>
          <p:cNvSpPr txBox="1"/>
          <p:nvPr/>
        </p:nvSpPr>
        <p:spPr>
          <a:xfrm>
            <a:off x="6675120" y="4361688"/>
            <a:ext cx="987552" cy="621792"/>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理論</a:t>
            </a:r>
            <a:endParaRPr lang="en-US" sz="1200" dirty="0"/>
          </a:p>
        </p:txBody>
      </p:sp>
      <p:sp>
        <p:nvSpPr>
          <p:cNvPr id="31" name="Text 29"/>
          <p:cNvSpPr txBox="1"/>
          <p:nvPr/>
        </p:nvSpPr>
        <p:spPr>
          <a:xfrm>
            <a:off x="7736738" y="4361688"/>
            <a:ext cx="3876142" cy="621792"/>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馬克思理論：商品化、階級、國家</a:t>
            </a:r>
            <a:endParaRPr lang="en-US" sz="1200" dirty="0"/>
          </a:p>
        </p:txBody>
      </p:sp>
      <p:sp>
        <p:nvSpPr>
          <p:cNvPr id="32" name="Shape 30"/>
          <p:cNvSpPr/>
          <p:nvPr/>
        </p:nvSpPr>
        <p:spPr>
          <a:xfrm>
            <a:off x="6675120" y="4965192"/>
            <a:ext cx="4937760" cy="12802"/>
          </a:xfrm>
          <a:prstGeom prst="rect">
            <a:avLst/>
          </a:prstGeom>
          <a:solidFill>
            <a:srgbClr val="C72A09"/>
          </a:solidFill>
          <a:ln/>
        </p:spPr>
      </p:sp>
      <p:sp>
        <p:nvSpPr>
          <p:cNvPr id="33" name="Shape 31"/>
          <p:cNvSpPr/>
          <p:nvPr/>
        </p:nvSpPr>
        <p:spPr>
          <a:xfrm>
            <a:off x="566928" y="5029200"/>
            <a:ext cx="11057839" cy="18288"/>
          </a:xfrm>
          <a:prstGeom prst="rect">
            <a:avLst/>
          </a:prstGeom>
          <a:solidFill>
            <a:srgbClr val="C72A09"/>
          </a:solidFill>
          <a:ln/>
        </p:spPr>
      </p:sp>
      <p:sp>
        <p:nvSpPr>
          <p:cNvPr id="34" name="Text 32"/>
          <p:cNvSpPr txBox="1"/>
          <p:nvPr/>
        </p:nvSpPr>
        <p:spPr>
          <a:xfrm>
            <a:off x="566928" y="5193792"/>
            <a:ext cx="11057839" cy="310896"/>
          </a:xfrm>
          <a:prstGeom prst="rect">
            <a:avLst/>
          </a:prstGeom>
          <a:noFill/>
          <a:ln/>
        </p:spPr>
        <p:txBody>
          <a:bodyPr wrap="square" lIns="0" tIns="0" rIns="0" bIns="0" rtlCol="0" anchor="t"/>
          <a:lstStyle/>
          <a:p>
            <a:pPr algn="l" indent="0" marL="0">
              <a:lnSpc>
                <a:spcPct val="125000"/>
              </a:lnSpc>
              <a:buNone/>
            </a:pPr>
            <a:r>
              <a:rPr lang="en-US" sz="1200" b="1" spc="80" kern="0" dirty="0">
                <a:solidFill>
                  <a:srgbClr val="CA0013"/>
                </a:solidFill>
                <a:latin typeface="Microsoft JhengHei" pitchFamily="34" charset="0"/>
                <a:ea typeface="Microsoft JhengHei" pitchFamily="34" charset="-122"/>
                <a:cs typeface="Microsoft JhengHei" pitchFamily="34" charset="-120"/>
              </a:rPr>
              <a:t>概念　→　三個問題　→　五年數據　→　受影響群體　→　共同社會因素　→　馬克思理論　→　措施　→　總結</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(04)</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核心論點</a:t>
            </a:r>
            <a:endParaRPr lang="en-US" sz="1200" dirty="0"/>
          </a:p>
        </p:txBody>
      </p:sp>
      <p:sp>
        <p:nvSpPr>
          <p:cNvPr id="7" name="Text 5"/>
          <p:cNvSpPr txBox="1"/>
          <p:nvPr/>
        </p:nvSpPr>
        <p:spPr>
          <a:xfrm>
            <a:off x="566928" y="749808"/>
            <a:ext cx="10607040" cy="914400"/>
          </a:xfrm>
          <a:prstGeom prst="rect">
            <a:avLst/>
          </a:prstGeom>
          <a:noFill/>
          <a:ln/>
        </p:spPr>
        <p:txBody>
          <a:bodyPr wrap="square" lIns="0" tIns="0" rIns="0" bIns="0" rtlCol="0" anchor="t"/>
          <a:lstStyle/>
          <a:p>
            <a:pPr algn="l" indent="0" marL="0">
              <a:lnSpc>
                <a:spcPct val="100000"/>
              </a:lnSpc>
              <a:buNone/>
            </a:pPr>
            <a:r>
              <a:rPr lang="en-US" sz="4600" b="1" dirty="0">
                <a:solidFill>
                  <a:srgbClr val="CA0013"/>
                </a:solidFill>
                <a:latin typeface="Microsoft JhengHei" pitchFamily="34" charset="0"/>
                <a:ea typeface="Microsoft JhengHei" pitchFamily="34" charset="-122"/>
                <a:cs typeface="Microsoft JhengHei" pitchFamily="34" charset="-120"/>
              </a:rPr>
              <a:t>總量足夠　分配失衡</a:t>
            </a:r>
            <a:endParaRPr lang="en-US" sz="4600" dirty="0"/>
          </a:p>
        </p:txBody>
      </p:sp>
      <p:sp>
        <p:nvSpPr>
          <p:cNvPr id="8" name="Text 6"/>
          <p:cNvSpPr txBox="1"/>
          <p:nvPr/>
        </p:nvSpPr>
        <p:spPr>
          <a:xfrm>
            <a:off x="566928" y="2194560"/>
            <a:ext cx="2606040" cy="932688"/>
          </a:xfrm>
          <a:prstGeom prst="rect">
            <a:avLst/>
          </a:prstGeom>
          <a:noFill/>
          <a:ln/>
        </p:spPr>
        <p:txBody>
          <a:bodyPr wrap="square" lIns="0" tIns="0" rIns="0" bIns="0" rtlCol="0" anchor="ctr"/>
          <a:lstStyle/>
          <a:p>
            <a:pPr indent="0" marL="0">
              <a:buNone/>
            </a:pPr>
            <a:r>
              <a:rPr lang="en-US" sz="3800" b="1" dirty="0">
                <a:solidFill>
                  <a:srgbClr val="CA0013"/>
                </a:solidFill>
                <a:latin typeface="Inter" pitchFamily="34" charset="0"/>
                <a:ea typeface="Inter" pitchFamily="34" charset="-122"/>
                <a:cs typeface="Inter" pitchFamily="34" charset="-120"/>
              </a:rPr>
              <a:t>35,764</a:t>
            </a:r>
            <a:pPr indent="0" marL="0">
              <a:buNone/>
            </a:pPr>
            <a:r>
              <a:rPr lang="en-US" sz="1596" b="1" dirty="0">
                <a:solidFill>
                  <a:srgbClr val="CA0013"/>
                </a:solidFill>
                <a:latin typeface="Microsoft JhengHei" pitchFamily="34" charset="0"/>
                <a:ea typeface="Microsoft JhengHei" pitchFamily="34" charset="-122"/>
                <a:cs typeface="Microsoft JhengHei" pitchFamily="34" charset="-120"/>
              </a:rPr>
              <a:t> 個</a:t>
            </a:r>
            <a:endParaRPr lang="en-US" sz="3800" dirty="0"/>
          </a:p>
        </p:txBody>
      </p:sp>
      <p:sp>
        <p:nvSpPr>
          <p:cNvPr id="9" name="Text 7"/>
          <p:cNvSpPr txBox="1"/>
          <p:nvPr/>
        </p:nvSpPr>
        <p:spPr>
          <a:xfrm>
            <a:off x="566928" y="3127248"/>
            <a:ext cx="260604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住宅單位多過住戶</a:t>
            </a:r>
            <a:endParaRPr lang="en-US" sz="1300" dirty="0"/>
          </a:p>
        </p:txBody>
      </p:sp>
      <p:sp>
        <p:nvSpPr>
          <p:cNvPr id="10" name="Text 8"/>
          <p:cNvSpPr txBox="1"/>
          <p:nvPr/>
        </p:nvSpPr>
        <p:spPr>
          <a:xfrm>
            <a:off x="566928" y="3493008"/>
            <a:ext cx="260604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2021 年：238,464 個單位，202,700 戶</a:t>
            </a:r>
            <a:endParaRPr lang="en-US" sz="1050" dirty="0"/>
          </a:p>
        </p:txBody>
      </p:sp>
      <p:sp>
        <p:nvSpPr>
          <p:cNvPr id="11" name="Text 9"/>
          <p:cNvSpPr txBox="1"/>
          <p:nvPr/>
        </p:nvSpPr>
        <p:spPr>
          <a:xfrm>
            <a:off x="3401568" y="2194560"/>
            <a:ext cx="2606040" cy="932688"/>
          </a:xfrm>
          <a:prstGeom prst="rect">
            <a:avLst/>
          </a:prstGeom>
          <a:noFill/>
          <a:ln/>
        </p:spPr>
        <p:txBody>
          <a:bodyPr wrap="square" lIns="0" tIns="0" rIns="0" bIns="0" rtlCol="0" anchor="ctr"/>
          <a:lstStyle/>
          <a:p>
            <a:pPr indent="0" marL="0">
              <a:buNone/>
            </a:pPr>
            <a:r>
              <a:rPr lang="en-US" sz="3800" b="1" dirty="0">
                <a:solidFill>
                  <a:srgbClr val="CA0013"/>
                </a:solidFill>
                <a:latin typeface="Inter" pitchFamily="34" charset="0"/>
                <a:ea typeface="Inter" pitchFamily="34" charset="-122"/>
                <a:cs typeface="Inter" pitchFamily="34" charset="-120"/>
              </a:rPr>
              <a:t>−31.7</a:t>
            </a:r>
            <a:pPr indent="0" marL="0">
              <a:buNone/>
            </a:pPr>
            <a:r>
              <a:rPr lang="en-US" sz="1596" b="1" dirty="0">
                <a:solidFill>
                  <a:srgbClr val="CA0013"/>
                </a:solidFill>
                <a:latin typeface="Microsoft JhengHei" pitchFamily="34" charset="0"/>
                <a:ea typeface="Microsoft JhengHei" pitchFamily="34" charset="-122"/>
                <a:cs typeface="Microsoft JhengHei" pitchFamily="34" charset="-120"/>
              </a:rPr>
              <a:t>%</a:t>
            </a:r>
            <a:endParaRPr lang="en-US" sz="3800" dirty="0"/>
          </a:p>
        </p:txBody>
      </p:sp>
      <p:sp>
        <p:nvSpPr>
          <p:cNvPr id="12" name="Text 10"/>
          <p:cNvSpPr txBox="1"/>
          <p:nvPr/>
        </p:nvSpPr>
        <p:spPr>
          <a:xfrm>
            <a:off x="3401568" y="3127248"/>
            <a:ext cx="260604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樓價四年累計跌幅</a:t>
            </a:r>
            <a:endParaRPr lang="en-US" sz="1300" dirty="0"/>
          </a:p>
        </p:txBody>
      </p:sp>
      <p:sp>
        <p:nvSpPr>
          <p:cNvPr id="13" name="Text 11"/>
          <p:cNvSpPr txBox="1"/>
          <p:nvPr/>
        </p:nvSpPr>
        <p:spPr>
          <a:xfrm>
            <a:off x="3401568" y="3493008"/>
            <a:ext cx="260604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每平方米 103,859 元（2021）→ 70,935 元（2025）</a:t>
            </a:r>
            <a:endParaRPr lang="en-US" sz="1050" dirty="0"/>
          </a:p>
        </p:txBody>
      </p:sp>
      <p:sp>
        <p:nvSpPr>
          <p:cNvPr id="14" name="Text 12"/>
          <p:cNvSpPr txBox="1"/>
          <p:nvPr/>
        </p:nvSpPr>
        <p:spPr>
          <a:xfrm>
            <a:off x="6236208" y="2194560"/>
            <a:ext cx="2606040" cy="932688"/>
          </a:xfrm>
          <a:prstGeom prst="rect">
            <a:avLst/>
          </a:prstGeom>
          <a:noFill/>
          <a:ln/>
        </p:spPr>
        <p:txBody>
          <a:bodyPr wrap="square" lIns="0" tIns="0" rIns="0" bIns="0" rtlCol="0" anchor="ctr"/>
          <a:lstStyle/>
          <a:p>
            <a:pPr indent="0" marL="0">
              <a:buNone/>
            </a:pPr>
            <a:r>
              <a:rPr lang="en-US" sz="3800" b="1" dirty="0">
                <a:solidFill>
                  <a:srgbClr val="CA0013"/>
                </a:solidFill>
                <a:latin typeface="Inter" pitchFamily="34" charset="0"/>
                <a:ea typeface="Inter" pitchFamily="34" charset="-122"/>
                <a:cs typeface="Inter" pitchFamily="34" charset="-120"/>
              </a:rPr>
              <a:t>6.5–9.6</a:t>
            </a:r>
            <a:pPr indent="0" marL="0">
              <a:buNone/>
            </a:pPr>
            <a:r>
              <a:rPr lang="en-US" sz="1596" b="1" dirty="0">
                <a:solidFill>
                  <a:srgbClr val="CA0013"/>
                </a:solidFill>
                <a:latin typeface="Microsoft JhengHei" pitchFamily="34" charset="0"/>
                <a:ea typeface="Microsoft JhengHei" pitchFamily="34" charset="-122"/>
                <a:cs typeface="Microsoft JhengHei" pitchFamily="34" charset="-120"/>
              </a:rPr>
              <a:t> 倍</a:t>
            </a:r>
            <a:endParaRPr lang="en-US" sz="3800" dirty="0"/>
          </a:p>
        </p:txBody>
      </p:sp>
      <p:sp>
        <p:nvSpPr>
          <p:cNvPr id="15" name="Text 13"/>
          <p:cNvSpPr txBox="1"/>
          <p:nvPr/>
        </p:nvSpPr>
        <p:spPr>
          <a:xfrm>
            <a:off x="6236208" y="3127248"/>
            <a:ext cx="260604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700 呎單位樓價收入比</a:t>
            </a:r>
            <a:endParaRPr lang="en-US" sz="1300" dirty="0"/>
          </a:p>
        </p:txBody>
      </p:sp>
      <p:sp>
        <p:nvSpPr>
          <p:cNvPr id="16" name="Text 14"/>
          <p:cNvSpPr txBox="1"/>
          <p:nvPr/>
        </p:nvSpPr>
        <p:spPr>
          <a:xfrm>
            <a:off x="6236208" y="3493008"/>
            <a:ext cx="260604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2025 年，兩種收入口徑；國際標準約 3.5–5 倍</a:t>
            </a:r>
            <a:endParaRPr lang="en-US" sz="1050" dirty="0"/>
          </a:p>
        </p:txBody>
      </p:sp>
      <p:sp>
        <p:nvSpPr>
          <p:cNvPr id="17" name="Text 15"/>
          <p:cNvSpPr txBox="1"/>
          <p:nvPr/>
        </p:nvSpPr>
        <p:spPr>
          <a:xfrm>
            <a:off x="9070848" y="2194560"/>
            <a:ext cx="2606040" cy="932688"/>
          </a:xfrm>
          <a:prstGeom prst="rect">
            <a:avLst/>
          </a:prstGeom>
          <a:noFill/>
          <a:ln/>
        </p:spPr>
        <p:txBody>
          <a:bodyPr wrap="square" lIns="0" tIns="0" rIns="0" bIns="0" rtlCol="0" anchor="ctr"/>
          <a:lstStyle/>
          <a:p>
            <a:pPr indent="0" marL="0">
              <a:buNone/>
            </a:pPr>
            <a:r>
              <a:rPr lang="en-US" sz="3800" b="1" dirty="0">
                <a:solidFill>
                  <a:srgbClr val="CA0013"/>
                </a:solidFill>
                <a:latin typeface="Inter" pitchFamily="34" charset="0"/>
                <a:ea typeface="Inter" pitchFamily="34" charset="-122"/>
                <a:cs typeface="Inter" pitchFamily="34" charset="-120"/>
              </a:rPr>
              <a:t>+6</a:t>
            </a:r>
            <a:pPr indent="0" marL="0">
              <a:buNone/>
            </a:pPr>
            <a:r>
              <a:rPr lang="en-US" sz="1596" b="1" dirty="0">
                <a:solidFill>
                  <a:srgbClr val="CA0013"/>
                </a:solidFill>
                <a:latin typeface="Microsoft JhengHei" pitchFamily="34" charset="0"/>
                <a:ea typeface="Microsoft JhengHei" pitchFamily="34" charset="-122"/>
                <a:cs typeface="Microsoft JhengHei" pitchFamily="34" charset="-120"/>
              </a:rPr>
              <a:t>%</a:t>
            </a:r>
            <a:endParaRPr lang="en-US" sz="3800" dirty="0"/>
          </a:p>
        </p:txBody>
      </p:sp>
      <p:sp>
        <p:nvSpPr>
          <p:cNvPr id="18" name="Text 16"/>
          <p:cNvSpPr txBox="1"/>
          <p:nvPr/>
        </p:nvSpPr>
        <p:spPr>
          <a:xfrm>
            <a:off x="9070848" y="3127248"/>
            <a:ext cx="260604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租金 2023–2025</a:t>
            </a:r>
            <a:endParaRPr lang="en-US" sz="1300" dirty="0"/>
          </a:p>
        </p:txBody>
      </p:sp>
      <p:sp>
        <p:nvSpPr>
          <p:cNvPr id="19" name="Text 17"/>
          <p:cNvSpPr txBox="1"/>
          <p:nvPr/>
        </p:nvSpPr>
        <p:spPr>
          <a:xfrm>
            <a:off x="9070848" y="3493008"/>
            <a:ext cx="260604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同期樓價 −24.1%</a:t>
            </a:r>
            <a:endParaRPr lang="en-US" sz="1050" dirty="0"/>
          </a:p>
        </p:txBody>
      </p:sp>
      <p:sp>
        <p:nvSpPr>
          <p:cNvPr id="20" name="Shape 18"/>
          <p:cNvSpPr/>
          <p:nvPr/>
        </p:nvSpPr>
        <p:spPr>
          <a:xfrm>
            <a:off x="566928" y="4709160"/>
            <a:ext cx="11057839" cy="18288"/>
          </a:xfrm>
          <a:prstGeom prst="rect">
            <a:avLst/>
          </a:prstGeom>
          <a:solidFill>
            <a:srgbClr val="C72A09"/>
          </a:solidFill>
          <a:ln/>
        </p:spPr>
      </p:sp>
      <p:sp>
        <p:nvSpPr>
          <p:cNvPr id="21" name="Text 19"/>
          <p:cNvSpPr txBox="1"/>
          <p:nvPr/>
        </p:nvSpPr>
        <p:spPr>
          <a:xfrm>
            <a:off x="566928" y="4892040"/>
            <a:ext cx="11057839" cy="457200"/>
          </a:xfrm>
          <a:prstGeom prst="rect">
            <a:avLst/>
          </a:prstGeom>
          <a:noFill/>
          <a:ln/>
        </p:spPr>
        <p:txBody>
          <a:bodyPr wrap="square" lIns="0" tIns="0" rIns="0" bIns="0" rtlCol="0" anchor="ctr"/>
          <a:lstStyle/>
          <a:p>
            <a:pPr indent="0" marL="0">
              <a:buNone/>
            </a:pPr>
            <a:r>
              <a:rPr lang="en-US" sz="1800" b="1" dirty="0">
                <a:solidFill>
                  <a:srgbClr val="CA0013"/>
                </a:solidFill>
                <a:latin typeface="Microsoft JhengHei" pitchFamily="34" charset="0"/>
                <a:ea typeface="Microsoft JhengHei" pitchFamily="34" charset="-122"/>
                <a:cs typeface="Microsoft JhengHei" pitchFamily="34" charset="-120"/>
              </a:rPr>
              <a:t>不是沒有房子，而是房子按支付能力，而不是按居住需要分配。</a:t>
            </a:r>
            <a:endParaRPr lang="en-US" sz="1800" dirty="0"/>
          </a:p>
        </p:txBody>
      </p:sp>
      <p:sp>
        <p:nvSpPr>
          <p:cNvPr id="22" name="Text 20"/>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統計暨普查局、住戶收支調查 2023/24；本組推算</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(05)</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第一部分　主要概念</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概念一與概念二</a:t>
            </a:r>
            <a:endParaRPr lang="en-US" sz="3400" dirty="0"/>
          </a:p>
        </p:txBody>
      </p:sp>
      <p:sp>
        <p:nvSpPr>
          <p:cNvPr id="8" name="Text 6"/>
          <p:cNvSpPr txBox="1"/>
          <p:nvPr/>
        </p:nvSpPr>
        <p:spPr>
          <a:xfrm>
            <a:off x="566928" y="1554480"/>
            <a:ext cx="534924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概念一</a:t>
            </a:r>
            <a:endParaRPr lang="en-US" sz="1150" dirty="0"/>
          </a:p>
        </p:txBody>
      </p:sp>
      <p:sp>
        <p:nvSpPr>
          <p:cNvPr id="9" name="Text 7"/>
          <p:cNvSpPr txBox="1"/>
          <p:nvPr/>
        </p:nvSpPr>
        <p:spPr>
          <a:xfrm>
            <a:off x="566928" y="1847088"/>
            <a:ext cx="5349240" cy="822960"/>
          </a:xfrm>
          <a:prstGeom prst="rect">
            <a:avLst/>
          </a:prstGeom>
          <a:noFill/>
          <a:ln/>
        </p:spPr>
        <p:txBody>
          <a:bodyPr wrap="square" lIns="0" tIns="0" rIns="0" bIns="0" rtlCol="0" anchor="t"/>
          <a:lstStyle/>
          <a:p>
            <a:pPr indent="0" marL="0">
              <a:lnSpc>
                <a:spcPct val="105000"/>
              </a:lnSpc>
              <a:buNone/>
            </a:pPr>
            <a:r>
              <a:rPr lang="en-US" sz="2200" b="1" dirty="0">
                <a:solidFill>
                  <a:srgbClr val="CA0013"/>
                </a:solidFill>
                <a:latin typeface="Microsoft JhengHei" pitchFamily="34" charset="0"/>
                <a:ea typeface="Microsoft JhengHei" pitchFamily="34" charset="-122"/>
                <a:cs typeface="Microsoft JhengHei" pitchFamily="34" charset="-120"/>
              </a:rPr>
              <a:t>住房可負擔性（樓價收入比）</a:t>
            </a:r>
            <a:endParaRPr lang="en-US" sz="2200" dirty="0"/>
          </a:p>
        </p:txBody>
      </p:sp>
      <p:sp>
        <p:nvSpPr>
          <p:cNvPr id="10" name="Shape 8"/>
          <p:cNvSpPr/>
          <p:nvPr/>
        </p:nvSpPr>
        <p:spPr>
          <a:xfrm>
            <a:off x="566928" y="2697480"/>
            <a:ext cx="5349240" cy="18288"/>
          </a:xfrm>
          <a:prstGeom prst="rect">
            <a:avLst/>
          </a:prstGeom>
          <a:solidFill>
            <a:srgbClr val="C72A09"/>
          </a:solidFill>
          <a:ln/>
        </p:spPr>
      </p:sp>
      <p:sp>
        <p:nvSpPr>
          <p:cNvPr id="11" name="Text 9"/>
          <p:cNvSpPr txBox="1"/>
          <p:nvPr/>
        </p:nvSpPr>
        <p:spPr>
          <a:xfrm>
            <a:off x="566928" y="2834640"/>
            <a:ext cx="1283818" cy="10058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定義</a:t>
            </a:r>
            <a:endParaRPr lang="en-US" sz="1150" dirty="0"/>
          </a:p>
        </p:txBody>
      </p:sp>
      <p:sp>
        <p:nvSpPr>
          <p:cNvPr id="12" name="Text 10"/>
          <p:cNvSpPr txBox="1"/>
          <p:nvPr/>
        </p:nvSpPr>
        <p:spPr>
          <a:xfrm>
            <a:off x="1930984" y="2834640"/>
            <a:ext cx="3985184" cy="10058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住房成本相對家庭收入的水平。樓價收入比＝住宅價格 ÷ 家庭年收入，即全部收入不消費需幾多年購入。國際標準約 3.5–5 倍（高武洲 2017）。</a:t>
            </a:r>
            <a:endParaRPr lang="en-US" sz="1150" dirty="0"/>
          </a:p>
        </p:txBody>
      </p:sp>
      <p:sp>
        <p:nvSpPr>
          <p:cNvPr id="13" name="Shape 11"/>
          <p:cNvSpPr/>
          <p:nvPr/>
        </p:nvSpPr>
        <p:spPr>
          <a:xfrm>
            <a:off x="566928" y="3822192"/>
            <a:ext cx="5349240" cy="12802"/>
          </a:xfrm>
          <a:prstGeom prst="rect">
            <a:avLst/>
          </a:prstGeom>
          <a:solidFill>
            <a:srgbClr val="C72A09"/>
          </a:solidFill>
          <a:ln/>
        </p:spPr>
      </p:sp>
      <p:sp>
        <p:nvSpPr>
          <p:cNvPr id="14" name="Text 12"/>
          <p:cNvSpPr txBox="1"/>
          <p:nvPr/>
        </p:nvSpPr>
        <p:spPr>
          <a:xfrm>
            <a:off x="566928" y="3931920"/>
            <a:ext cx="1283818" cy="694944"/>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與澳門的關係</a:t>
            </a:r>
            <a:endParaRPr lang="en-US" sz="1150" dirty="0"/>
          </a:p>
        </p:txBody>
      </p:sp>
      <p:sp>
        <p:nvSpPr>
          <p:cNvPr id="15" name="Text 13"/>
          <p:cNvSpPr txBox="1"/>
          <p:nvPr/>
        </p:nvSpPr>
        <p:spPr>
          <a:xfrm>
            <a:off x="1930984" y="3931920"/>
            <a:ext cx="3985184" cy="694944"/>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衡量私樓是否貴到負擔不起，避免只講樓價好貴。</a:t>
            </a:r>
            <a:endParaRPr lang="en-US" sz="1150" dirty="0"/>
          </a:p>
        </p:txBody>
      </p:sp>
      <p:sp>
        <p:nvSpPr>
          <p:cNvPr id="16" name="Shape 14"/>
          <p:cNvSpPr/>
          <p:nvPr/>
        </p:nvSpPr>
        <p:spPr>
          <a:xfrm>
            <a:off x="566928" y="4608576"/>
            <a:ext cx="5349240" cy="12802"/>
          </a:xfrm>
          <a:prstGeom prst="rect">
            <a:avLst/>
          </a:prstGeom>
          <a:solidFill>
            <a:srgbClr val="C72A09"/>
          </a:solidFill>
          <a:ln/>
        </p:spPr>
      </p:sp>
      <p:sp>
        <p:nvSpPr>
          <p:cNvPr id="17" name="Text 15"/>
          <p:cNvSpPr txBox="1"/>
          <p:nvPr/>
        </p:nvSpPr>
        <p:spPr>
          <a:xfrm>
            <a:off x="566928" y="4718304"/>
            <a:ext cx="1283818" cy="5486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報告用法</a:t>
            </a:r>
            <a:endParaRPr lang="en-US" sz="1150" dirty="0"/>
          </a:p>
        </p:txBody>
      </p:sp>
      <p:sp>
        <p:nvSpPr>
          <p:cNvPr id="18" name="Text 16"/>
          <p:cNvSpPr txBox="1"/>
          <p:nvPr/>
        </p:nvSpPr>
        <p:spPr>
          <a:xfrm>
            <a:off x="1930984" y="4718304"/>
            <a:ext cx="3985184" cy="5486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問題一：以 700 呎單位推算，並列兩種收入口徑。</a:t>
            </a:r>
            <a:endParaRPr lang="en-US" sz="1150" dirty="0"/>
          </a:p>
        </p:txBody>
      </p:sp>
      <p:sp>
        <p:nvSpPr>
          <p:cNvPr id="19" name="Shape 17"/>
          <p:cNvSpPr/>
          <p:nvPr/>
        </p:nvSpPr>
        <p:spPr>
          <a:xfrm>
            <a:off x="566928" y="5248656"/>
            <a:ext cx="5349240" cy="12802"/>
          </a:xfrm>
          <a:prstGeom prst="rect">
            <a:avLst/>
          </a:prstGeom>
          <a:solidFill>
            <a:srgbClr val="C72A09"/>
          </a:solidFill>
          <a:ln/>
        </p:spPr>
      </p:sp>
      <p:sp>
        <p:nvSpPr>
          <p:cNvPr id="20" name="Text 18"/>
          <p:cNvSpPr txBox="1"/>
          <p:nvPr/>
        </p:nvSpPr>
        <p:spPr>
          <a:xfrm>
            <a:off x="6281928" y="1554480"/>
            <a:ext cx="534924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概念二</a:t>
            </a:r>
            <a:endParaRPr lang="en-US" sz="1150" dirty="0"/>
          </a:p>
        </p:txBody>
      </p:sp>
      <p:sp>
        <p:nvSpPr>
          <p:cNvPr id="21" name="Text 19"/>
          <p:cNvSpPr txBox="1"/>
          <p:nvPr/>
        </p:nvSpPr>
        <p:spPr>
          <a:xfrm>
            <a:off x="6281928" y="1847088"/>
            <a:ext cx="5349240" cy="822960"/>
          </a:xfrm>
          <a:prstGeom prst="rect">
            <a:avLst/>
          </a:prstGeom>
          <a:noFill/>
          <a:ln/>
        </p:spPr>
        <p:txBody>
          <a:bodyPr wrap="square" lIns="0" tIns="0" rIns="0" bIns="0" rtlCol="0" anchor="t"/>
          <a:lstStyle/>
          <a:p>
            <a:pPr indent="0" marL="0">
              <a:lnSpc>
                <a:spcPct val="105000"/>
              </a:lnSpc>
              <a:buNone/>
            </a:pPr>
            <a:r>
              <a:rPr lang="en-US" sz="2200" b="1" dirty="0">
                <a:solidFill>
                  <a:srgbClr val="CA0013"/>
                </a:solidFill>
                <a:latin typeface="Microsoft JhengHei" pitchFamily="34" charset="0"/>
                <a:ea typeface="Microsoft JhengHei" pitchFamily="34" charset="-122"/>
                <a:cs typeface="Microsoft JhengHei" pitchFamily="34" charset="-120"/>
              </a:rPr>
              <a:t>五階梯房屋與夾心階層</a:t>
            </a:r>
            <a:endParaRPr lang="en-US" sz="2200" dirty="0"/>
          </a:p>
        </p:txBody>
      </p:sp>
      <p:sp>
        <p:nvSpPr>
          <p:cNvPr id="22" name="Shape 20"/>
          <p:cNvSpPr/>
          <p:nvPr/>
        </p:nvSpPr>
        <p:spPr>
          <a:xfrm>
            <a:off x="6281928" y="2697480"/>
            <a:ext cx="5349240" cy="18288"/>
          </a:xfrm>
          <a:prstGeom prst="rect">
            <a:avLst/>
          </a:prstGeom>
          <a:solidFill>
            <a:srgbClr val="C72A09"/>
          </a:solidFill>
          <a:ln/>
        </p:spPr>
      </p:sp>
      <p:sp>
        <p:nvSpPr>
          <p:cNvPr id="23" name="Text 21"/>
          <p:cNvSpPr txBox="1"/>
          <p:nvPr/>
        </p:nvSpPr>
        <p:spPr>
          <a:xfrm>
            <a:off x="6281928" y="2834640"/>
            <a:ext cx="1283818" cy="10058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定義</a:t>
            </a:r>
            <a:endParaRPr lang="en-US" sz="1150" dirty="0"/>
          </a:p>
        </p:txBody>
      </p:sp>
      <p:sp>
        <p:nvSpPr>
          <p:cNvPr id="24" name="Text 22"/>
          <p:cNvSpPr txBox="1"/>
          <p:nvPr/>
        </p:nvSpPr>
        <p:spPr>
          <a:xfrm>
            <a:off x="7645984" y="2834640"/>
            <a:ext cx="3985184" cy="10058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五階梯房屋＝社屋、經屋、夾屋、長者公寓、私人樓宇（政策研究 2022）。夾心階層＝收入超出經屋上限、又追不上私樓升幅的本地居民。</a:t>
            </a:r>
            <a:endParaRPr lang="en-US" sz="1150" dirty="0"/>
          </a:p>
        </p:txBody>
      </p:sp>
      <p:sp>
        <p:nvSpPr>
          <p:cNvPr id="25" name="Shape 23"/>
          <p:cNvSpPr/>
          <p:nvPr/>
        </p:nvSpPr>
        <p:spPr>
          <a:xfrm>
            <a:off x="6281928" y="3822192"/>
            <a:ext cx="5349240" cy="12802"/>
          </a:xfrm>
          <a:prstGeom prst="rect">
            <a:avLst/>
          </a:prstGeom>
          <a:solidFill>
            <a:srgbClr val="C72A09"/>
          </a:solidFill>
          <a:ln/>
        </p:spPr>
      </p:sp>
      <p:sp>
        <p:nvSpPr>
          <p:cNvPr id="26" name="Text 24"/>
          <p:cNvSpPr txBox="1"/>
          <p:nvPr/>
        </p:nvSpPr>
        <p:spPr>
          <a:xfrm>
            <a:off x="6281928" y="3931920"/>
            <a:ext cx="1283818" cy="694944"/>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與澳門的關係</a:t>
            </a:r>
            <a:endParaRPr lang="en-US" sz="1150" dirty="0"/>
          </a:p>
        </p:txBody>
      </p:sp>
      <p:sp>
        <p:nvSpPr>
          <p:cNvPr id="27" name="Text 25"/>
          <p:cNvSpPr txBox="1"/>
          <p:nvPr/>
        </p:nvSpPr>
        <p:spPr>
          <a:xfrm>
            <a:off x="7645984" y="3931920"/>
            <a:ext cx="3985184" cy="694944"/>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公共房屋按收入分層供應，夾心階層處於制度縫隙。</a:t>
            </a:r>
            <a:endParaRPr lang="en-US" sz="1150" dirty="0"/>
          </a:p>
        </p:txBody>
      </p:sp>
      <p:sp>
        <p:nvSpPr>
          <p:cNvPr id="28" name="Shape 26"/>
          <p:cNvSpPr/>
          <p:nvPr/>
        </p:nvSpPr>
        <p:spPr>
          <a:xfrm>
            <a:off x="6281928" y="4608576"/>
            <a:ext cx="5349240" cy="12802"/>
          </a:xfrm>
          <a:prstGeom prst="rect">
            <a:avLst/>
          </a:prstGeom>
          <a:solidFill>
            <a:srgbClr val="C72A09"/>
          </a:solidFill>
          <a:ln/>
        </p:spPr>
      </p:sp>
      <p:sp>
        <p:nvSpPr>
          <p:cNvPr id="29" name="Text 27"/>
          <p:cNvSpPr txBox="1"/>
          <p:nvPr/>
        </p:nvSpPr>
        <p:spPr>
          <a:xfrm>
            <a:off x="6281928" y="4718304"/>
            <a:ext cx="1283818" cy="5486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報告用法</a:t>
            </a:r>
            <a:endParaRPr lang="en-US" sz="1150" dirty="0"/>
          </a:p>
        </p:txBody>
      </p:sp>
      <p:sp>
        <p:nvSpPr>
          <p:cNvPr id="30" name="Text 28"/>
          <p:cNvSpPr txBox="1"/>
          <p:nvPr/>
        </p:nvSpPr>
        <p:spPr>
          <a:xfrm>
            <a:off x="7645984" y="4718304"/>
            <a:ext cx="3985184" cy="5486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問題三：逐階梯檢視供需，並分析夾屋。</a:t>
            </a:r>
            <a:endParaRPr lang="en-US" sz="1150" dirty="0"/>
          </a:p>
        </p:txBody>
      </p:sp>
      <p:sp>
        <p:nvSpPr>
          <p:cNvPr id="31" name="Shape 29"/>
          <p:cNvSpPr/>
          <p:nvPr/>
        </p:nvSpPr>
        <p:spPr>
          <a:xfrm>
            <a:off x="6281928" y="5248656"/>
            <a:ext cx="5349240" cy="12802"/>
          </a:xfrm>
          <a:prstGeom prst="rect">
            <a:avLst/>
          </a:prstGeom>
          <a:solidFill>
            <a:srgbClr val="C72A09"/>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(06)</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第一部分　主要概念</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概念三與概念四</a:t>
            </a:r>
            <a:endParaRPr lang="en-US" sz="3400" dirty="0"/>
          </a:p>
        </p:txBody>
      </p:sp>
      <p:sp>
        <p:nvSpPr>
          <p:cNvPr id="8" name="Text 6"/>
          <p:cNvSpPr txBox="1"/>
          <p:nvPr/>
        </p:nvSpPr>
        <p:spPr>
          <a:xfrm>
            <a:off x="566928" y="1554480"/>
            <a:ext cx="534924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概念三</a:t>
            </a:r>
            <a:endParaRPr lang="en-US" sz="1150" dirty="0"/>
          </a:p>
        </p:txBody>
      </p:sp>
      <p:sp>
        <p:nvSpPr>
          <p:cNvPr id="9" name="Text 7"/>
          <p:cNvSpPr txBox="1"/>
          <p:nvPr/>
        </p:nvSpPr>
        <p:spPr>
          <a:xfrm>
            <a:off x="566928" y="1847088"/>
            <a:ext cx="5349240" cy="822960"/>
          </a:xfrm>
          <a:prstGeom prst="rect">
            <a:avLst/>
          </a:prstGeom>
          <a:noFill/>
          <a:ln/>
        </p:spPr>
        <p:txBody>
          <a:bodyPr wrap="square" lIns="0" tIns="0" rIns="0" bIns="0" rtlCol="0" anchor="t"/>
          <a:lstStyle/>
          <a:p>
            <a:pPr indent="0" marL="0">
              <a:lnSpc>
                <a:spcPct val="105000"/>
              </a:lnSpc>
              <a:buNone/>
            </a:pPr>
            <a:r>
              <a:rPr lang="en-US" sz="2200" b="1" dirty="0">
                <a:solidFill>
                  <a:srgbClr val="CA0013"/>
                </a:solidFill>
                <a:latin typeface="Microsoft JhengHei" pitchFamily="34" charset="0"/>
                <a:ea typeface="Microsoft JhengHei" pitchFamily="34" charset="-122"/>
                <a:cs typeface="Microsoft JhengHei" pitchFamily="34" charset="-120"/>
              </a:rPr>
              <a:t>都市更新</a:t>
            </a:r>
            <a:endParaRPr lang="en-US" sz="2200" dirty="0"/>
          </a:p>
        </p:txBody>
      </p:sp>
      <p:sp>
        <p:nvSpPr>
          <p:cNvPr id="10" name="Shape 8"/>
          <p:cNvSpPr/>
          <p:nvPr/>
        </p:nvSpPr>
        <p:spPr>
          <a:xfrm>
            <a:off x="566928" y="2697480"/>
            <a:ext cx="5349240" cy="18288"/>
          </a:xfrm>
          <a:prstGeom prst="rect">
            <a:avLst/>
          </a:prstGeom>
          <a:solidFill>
            <a:srgbClr val="C72A09"/>
          </a:solidFill>
          <a:ln/>
        </p:spPr>
      </p:sp>
      <p:sp>
        <p:nvSpPr>
          <p:cNvPr id="11" name="Text 9"/>
          <p:cNvSpPr txBox="1"/>
          <p:nvPr/>
        </p:nvSpPr>
        <p:spPr>
          <a:xfrm>
            <a:off x="566928" y="2834640"/>
            <a:ext cx="1283818" cy="10058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定義</a:t>
            </a:r>
            <a:endParaRPr lang="en-US" sz="1150" dirty="0"/>
          </a:p>
        </p:txBody>
      </p:sp>
      <p:sp>
        <p:nvSpPr>
          <p:cNvPr id="12" name="Text 10"/>
          <p:cNvSpPr txBox="1"/>
          <p:nvPr/>
        </p:nvSpPr>
        <p:spPr>
          <a:xfrm>
            <a:off x="1930984" y="2834640"/>
            <a:ext cx="3985184" cy="10058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除重建（拆卸並興建新的分層建築物）外，都市更新尚包括建築物的保養、維修和更改，以及公共基礎設施與公用設施的建設（第 18/2022 號法律第 1 條）。</a:t>
            </a:r>
            <a:endParaRPr lang="en-US" sz="1150" dirty="0"/>
          </a:p>
        </p:txBody>
      </p:sp>
      <p:sp>
        <p:nvSpPr>
          <p:cNvPr id="13" name="Shape 11"/>
          <p:cNvSpPr/>
          <p:nvPr/>
        </p:nvSpPr>
        <p:spPr>
          <a:xfrm>
            <a:off x="566928" y="3822192"/>
            <a:ext cx="5349240" cy="12802"/>
          </a:xfrm>
          <a:prstGeom prst="rect">
            <a:avLst/>
          </a:prstGeom>
          <a:solidFill>
            <a:srgbClr val="C72A09"/>
          </a:solidFill>
          <a:ln/>
        </p:spPr>
      </p:sp>
      <p:sp>
        <p:nvSpPr>
          <p:cNvPr id="14" name="Text 12"/>
          <p:cNvSpPr txBox="1"/>
          <p:nvPr/>
        </p:nvSpPr>
        <p:spPr>
          <a:xfrm>
            <a:off x="566928" y="3931920"/>
            <a:ext cx="1283818" cy="694944"/>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與澳門的關係</a:t>
            </a:r>
            <a:endParaRPr lang="en-US" sz="1150" dirty="0"/>
          </a:p>
        </p:txBody>
      </p:sp>
      <p:sp>
        <p:nvSpPr>
          <p:cNvPr id="15" name="Text 13"/>
          <p:cNvSpPr txBox="1"/>
          <p:nvPr/>
        </p:nvSpPr>
        <p:spPr>
          <a:xfrm>
            <a:off x="1930984" y="3931920"/>
            <a:ext cx="3985184" cy="694944"/>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重建由所有權人決定（第 3 條），涉及業權比例、費用分攤與安置，是集體決策問題。</a:t>
            </a:r>
            <a:endParaRPr lang="en-US" sz="1150" dirty="0"/>
          </a:p>
        </p:txBody>
      </p:sp>
      <p:sp>
        <p:nvSpPr>
          <p:cNvPr id="16" name="Shape 14"/>
          <p:cNvSpPr/>
          <p:nvPr/>
        </p:nvSpPr>
        <p:spPr>
          <a:xfrm>
            <a:off x="566928" y="4608576"/>
            <a:ext cx="5349240" cy="12802"/>
          </a:xfrm>
          <a:prstGeom prst="rect">
            <a:avLst/>
          </a:prstGeom>
          <a:solidFill>
            <a:srgbClr val="C72A09"/>
          </a:solidFill>
          <a:ln/>
        </p:spPr>
      </p:sp>
      <p:sp>
        <p:nvSpPr>
          <p:cNvPr id="17" name="Text 15"/>
          <p:cNvSpPr txBox="1"/>
          <p:nvPr/>
        </p:nvSpPr>
        <p:spPr>
          <a:xfrm>
            <a:off x="566928" y="4718304"/>
            <a:ext cx="1283818" cy="5486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報告用法</a:t>
            </a:r>
            <a:endParaRPr lang="en-US" sz="1150" dirty="0"/>
          </a:p>
        </p:txBody>
      </p:sp>
      <p:sp>
        <p:nvSpPr>
          <p:cNvPr id="18" name="Text 16"/>
          <p:cNvSpPr txBox="1"/>
          <p:nvPr/>
        </p:nvSpPr>
        <p:spPr>
          <a:xfrm>
            <a:off x="1930984" y="4718304"/>
            <a:ext cx="3985184" cy="5486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問題二：分析業權門檻與更新配套。</a:t>
            </a:r>
            <a:endParaRPr lang="en-US" sz="1150" dirty="0"/>
          </a:p>
        </p:txBody>
      </p:sp>
      <p:sp>
        <p:nvSpPr>
          <p:cNvPr id="19" name="Shape 17"/>
          <p:cNvSpPr/>
          <p:nvPr/>
        </p:nvSpPr>
        <p:spPr>
          <a:xfrm>
            <a:off x="566928" y="5248656"/>
            <a:ext cx="5349240" cy="12802"/>
          </a:xfrm>
          <a:prstGeom prst="rect">
            <a:avLst/>
          </a:prstGeom>
          <a:solidFill>
            <a:srgbClr val="C72A09"/>
          </a:solidFill>
          <a:ln/>
        </p:spPr>
      </p:sp>
      <p:sp>
        <p:nvSpPr>
          <p:cNvPr id="20" name="Text 18"/>
          <p:cNvSpPr txBox="1"/>
          <p:nvPr/>
        </p:nvSpPr>
        <p:spPr>
          <a:xfrm>
            <a:off x="6281928" y="1554480"/>
            <a:ext cx="534924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概念四</a:t>
            </a:r>
            <a:endParaRPr lang="en-US" sz="1150" dirty="0"/>
          </a:p>
        </p:txBody>
      </p:sp>
      <p:sp>
        <p:nvSpPr>
          <p:cNvPr id="21" name="Text 19"/>
          <p:cNvSpPr txBox="1"/>
          <p:nvPr/>
        </p:nvSpPr>
        <p:spPr>
          <a:xfrm>
            <a:off x="6281928" y="1847088"/>
            <a:ext cx="5349240" cy="822960"/>
          </a:xfrm>
          <a:prstGeom prst="rect">
            <a:avLst/>
          </a:prstGeom>
          <a:noFill/>
          <a:ln/>
        </p:spPr>
        <p:txBody>
          <a:bodyPr wrap="square" lIns="0" tIns="0" rIns="0" bIns="0" rtlCol="0" anchor="t"/>
          <a:lstStyle/>
          <a:p>
            <a:pPr indent="0" marL="0">
              <a:lnSpc>
                <a:spcPct val="105000"/>
              </a:lnSpc>
              <a:buNone/>
            </a:pPr>
            <a:r>
              <a:rPr lang="en-US" sz="2200" b="1" dirty="0">
                <a:solidFill>
                  <a:srgbClr val="CA0013"/>
                </a:solidFill>
                <a:latin typeface="Microsoft JhengHei" pitchFamily="34" charset="0"/>
                <a:ea typeface="Microsoft JhengHei" pitchFamily="34" charset="-122"/>
                <a:cs typeface="Microsoft JhengHei" pitchFamily="34" charset="-120"/>
              </a:rPr>
              <a:t>樓宇老化：樓齡、失修、殘危</a:t>
            </a:r>
            <a:endParaRPr lang="en-US" sz="2200" dirty="0"/>
          </a:p>
        </p:txBody>
      </p:sp>
      <p:sp>
        <p:nvSpPr>
          <p:cNvPr id="22" name="Shape 20"/>
          <p:cNvSpPr/>
          <p:nvPr/>
        </p:nvSpPr>
        <p:spPr>
          <a:xfrm>
            <a:off x="6281928" y="2697480"/>
            <a:ext cx="5349240" cy="18288"/>
          </a:xfrm>
          <a:prstGeom prst="rect">
            <a:avLst/>
          </a:prstGeom>
          <a:solidFill>
            <a:srgbClr val="C72A09"/>
          </a:solidFill>
          <a:ln/>
        </p:spPr>
      </p:sp>
      <p:sp>
        <p:nvSpPr>
          <p:cNvPr id="23" name="Text 21"/>
          <p:cNvSpPr txBox="1"/>
          <p:nvPr/>
        </p:nvSpPr>
        <p:spPr>
          <a:xfrm>
            <a:off x="6281928" y="2834640"/>
            <a:ext cx="1283818" cy="10058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定義</a:t>
            </a:r>
            <a:endParaRPr lang="en-US" sz="1150" dirty="0"/>
          </a:p>
        </p:txBody>
      </p:sp>
      <p:sp>
        <p:nvSpPr>
          <p:cNvPr id="24" name="Text 22"/>
          <p:cNvSpPr txBox="1"/>
          <p:nvPr/>
        </p:nvSpPr>
        <p:spPr>
          <a:xfrm>
            <a:off x="7645984" y="2834640"/>
            <a:ext cx="3985184" cy="10058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三層梯度：樓齡 30 年以上 → 失修（巡查、通知維修）→ 殘危（檢驗委員會證實，須拆卸）。樓齡高不等於危樓。</a:t>
            </a:r>
            <a:endParaRPr lang="en-US" sz="1150" dirty="0"/>
          </a:p>
        </p:txBody>
      </p:sp>
      <p:sp>
        <p:nvSpPr>
          <p:cNvPr id="25" name="Shape 23"/>
          <p:cNvSpPr/>
          <p:nvPr/>
        </p:nvSpPr>
        <p:spPr>
          <a:xfrm>
            <a:off x="6281928" y="3822192"/>
            <a:ext cx="5349240" cy="12802"/>
          </a:xfrm>
          <a:prstGeom prst="rect">
            <a:avLst/>
          </a:prstGeom>
          <a:solidFill>
            <a:srgbClr val="C72A09"/>
          </a:solidFill>
          <a:ln/>
        </p:spPr>
      </p:sp>
      <p:sp>
        <p:nvSpPr>
          <p:cNvPr id="26" name="Text 24"/>
          <p:cNvSpPr txBox="1"/>
          <p:nvPr/>
        </p:nvSpPr>
        <p:spPr>
          <a:xfrm>
            <a:off x="6281928" y="3931920"/>
            <a:ext cx="1283818" cy="694944"/>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與澳門的關係</a:t>
            </a:r>
            <a:endParaRPr lang="en-US" sz="1150" dirty="0"/>
          </a:p>
        </p:txBody>
      </p:sp>
      <p:sp>
        <p:nvSpPr>
          <p:cNvPr id="27" name="Text 25"/>
          <p:cNvSpPr txBox="1"/>
          <p:nvPr/>
        </p:nvSpPr>
        <p:spPr>
          <a:xfrm>
            <a:off x="7645984" y="3931920"/>
            <a:ext cx="3985184" cy="694944"/>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以梯度而非單一樓齡判斷舊樓風險。</a:t>
            </a:r>
            <a:endParaRPr lang="en-US" sz="1150" dirty="0"/>
          </a:p>
        </p:txBody>
      </p:sp>
      <p:sp>
        <p:nvSpPr>
          <p:cNvPr id="28" name="Shape 26"/>
          <p:cNvSpPr/>
          <p:nvPr/>
        </p:nvSpPr>
        <p:spPr>
          <a:xfrm>
            <a:off x="6281928" y="4608576"/>
            <a:ext cx="5349240" cy="12802"/>
          </a:xfrm>
          <a:prstGeom prst="rect">
            <a:avLst/>
          </a:prstGeom>
          <a:solidFill>
            <a:srgbClr val="C72A09"/>
          </a:solidFill>
          <a:ln/>
        </p:spPr>
      </p:sp>
      <p:sp>
        <p:nvSpPr>
          <p:cNvPr id="29" name="Text 27"/>
          <p:cNvSpPr txBox="1"/>
          <p:nvPr/>
        </p:nvSpPr>
        <p:spPr>
          <a:xfrm>
            <a:off x="6281928" y="4718304"/>
            <a:ext cx="1283818" cy="5486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報告用法</a:t>
            </a:r>
            <a:endParaRPr lang="en-US" sz="1150" dirty="0"/>
          </a:p>
        </p:txBody>
      </p:sp>
      <p:sp>
        <p:nvSpPr>
          <p:cNvPr id="30" name="Text 28"/>
          <p:cNvSpPr txBox="1"/>
          <p:nvPr/>
        </p:nvSpPr>
        <p:spPr>
          <a:xfrm>
            <a:off x="7645984" y="4718304"/>
            <a:ext cx="3985184" cy="5486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問題二：以三層數字呈現現況。</a:t>
            </a:r>
            <a:endParaRPr lang="en-US" sz="1150" dirty="0"/>
          </a:p>
        </p:txBody>
      </p:sp>
      <p:sp>
        <p:nvSpPr>
          <p:cNvPr id="31" name="Shape 29"/>
          <p:cNvSpPr/>
          <p:nvPr/>
        </p:nvSpPr>
        <p:spPr>
          <a:xfrm>
            <a:off x="6281928" y="5248656"/>
            <a:ext cx="5349240" cy="12802"/>
          </a:xfrm>
          <a:prstGeom prst="rect">
            <a:avLst/>
          </a:prstGeom>
          <a:solidFill>
            <a:srgbClr val="C72A09"/>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(07)</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第一部分　主要概念</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概念五：結構性失衡</a:t>
            </a:r>
            <a:endParaRPr lang="en-US" sz="3400" dirty="0"/>
          </a:p>
        </p:txBody>
      </p:sp>
      <p:sp>
        <p:nvSpPr>
          <p:cNvPr id="8" name="Text 6"/>
          <p:cNvSpPr txBox="1"/>
          <p:nvPr/>
        </p:nvSpPr>
        <p:spPr>
          <a:xfrm>
            <a:off x="566928" y="1554480"/>
            <a:ext cx="534924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概念五</a:t>
            </a:r>
            <a:endParaRPr lang="en-US" sz="1150" dirty="0"/>
          </a:p>
        </p:txBody>
      </p:sp>
      <p:sp>
        <p:nvSpPr>
          <p:cNvPr id="9" name="Text 7"/>
          <p:cNvSpPr txBox="1"/>
          <p:nvPr/>
        </p:nvSpPr>
        <p:spPr>
          <a:xfrm>
            <a:off x="566928" y="1847088"/>
            <a:ext cx="5349240" cy="822960"/>
          </a:xfrm>
          <a:prstGeom prst="rect">
            <a:avLst/>
          </a:prstGeom>
          <a:noFill/>
          <a:ln/>
        </p:spPr>
        <p:txBody>
          <a:bodyPr wrap="square" lIns="0" tIns="0" rIns="0" bIns="0" rtlCol="0" anchor="t"/>
          <a:lstStyle/>
          <a:p>
            <a:pPr indent="0" marL="0">
              <a:lnSpc>
                <a:spcPct val="105000"/>
              </a:lnSpc>
              <a:buNone/>
            </a:pPr>
            <a:r>
              <a:rPr lang="en-US" sz="2200" b="1" dirty="0">
                <a:solidFill>
                  <a:srgbClr val="CA0013"/>
                </a:solidFill>
                <a:latin typeface="Microsoft JhengHei" pitchFamily="34" charset="0"/>
                <a:ea typeface="Microsoft JhengHei" pitchFamily="34" charset="-122"/>
                <a:cs typeface="Microsoft JhengHei" pitchFamily="34" charset="-120"/>
              </a:rPr>
              <a:t>結構性失衡（資源錯配）</a:t>
            </a:r>
            <a:endParaRPr lang="en-US" sz="2200" dirty="0"/>
          </a:p>
        </p:txBody>
      </p:sp>
      <p:sp>
        <p:nvSpPr>
          <p:cNvPr id="10" name="Shape 8"/>
          <p:cNvSpPr/>
          <p:nvPr/>
        </p:nvSpPr>
        <p:spPr>
          <a:xfrm>
            <a:off x="566928" y="2697480"/>
            <a:ext cx="5349240" cy="18288"/>
          </a:xfrm>
          <a:prstGeom prst="rect">
            <a:avLst/>
          </a:prstGeom>
          <a:solidFill>
            <a:srgbClr val="C72A09"/>
          </a:solidFill>
          <a:ln/>
        </p:spPr>
      </p:sp>
      <p:sp>
        <p:nvSpPr>
          <p:cNvPr id="11" name="Text 9"/>
          <p:cNvSpPr txBox="1"/>
          <p:nvPr/>
        </p:nvSpPr>
        <p:spPr>
          <a:xfrm>
            <a:off x="566928" y="2834640"/>
            <a:ext cx="1283818" cy="10058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定義</a:t>
            </a:r>
            <a:endParaRPr lang="en-US" sz="1150" dirty="0"/>
          </a:p>
        </p:txBody>
      </p:sp>
      <p:sp>
        <p:nvSpPr>
          <p:cNvPr id="12" name="Text 10"/>
          <p:cNvSpPr txBox="1"/>
          <p:nvPr/>
        </p:nvSpPr>
        <p:spPr>
          <a:xfrm>
            <a:off x="1930984" y="2834640"/>
            <a:ext cx="3985184" cy="10058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住宅總量足夠，但類型、位置、價格與資格未能配合實際需要（政策研究 2022；《未來房屋需求研究》稱之為資源錯配）。</a:t>
            </a:r>
            <a:endParaRPr lang="en-US" sz="1150" dirty="0"/>
          </a:p>
        </p:txBody>
      </p:sp>
      <p:sp>
        <p:nvSpPr>
          <p:cNvPr id="13" name="Shape 11"/>
          <p:cNvSpPr/>
          <p:nvPr/>
        </p:nvSpPr>
        <p:spPr>
          <a:xfrm>
            <a:off x="566928" y="3822192"/>
            <a:ext cx="5349240" cy="12802"/>
          </a:xfrm>
          <a:prstGeom prst="rect">
            <a:avLst/>
          </a:prstGeom>
          <a:solidFill>
            <a:srgbClr val="C72A09"/>
          </a:solidFill>
          <a:ln/>
        </p:spPr>
      </p:sp>
      <p:sp>
        <p:nvSpPr>
          <p:cNvPr id="14" name="Text 12"/>
          <p:cNvSpPr txBox="1"/>
          <p:nvPr/>
        </p:nvSpPr>
        <p:spPr>
          <a:xfrm>
            <a:off x="566928" y="3931920"/>
            <a:ext cx="1283818" cy="694944"/>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與澳門的關係</a:t>
            </a:r>
            <a:endParaRPr lang="en-US" sz="1150" dirty="0"/>
          </a:p>
        </p:txBody>
      </p:sp>
      <p:sp>
        <p:nvSpPr>
          <p:cNvPr id="15" name="Text 13"/>
          <p:cNvSpPr txBox="1"/>
          <p:nvPr/>
        </p:nvSpPr>
        <p:spPr>
          <a:xfrm>
            <a:off x="1930984" y="3931920"/>
            <a:ext cx="3985184" cy="694944"/>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貫穿三個問題：價格、舊區配套、經屋戶型都出現錯配。</a:t>
            </a:r>
            <a:endParaRPr lang="en-US" sz="1150" dirty="0"/>
          </a:p>
        </p:txBody>
      </p:sp>
      <p:sp>
        <p:nvSpPr>
          <p:cNvPr id="16" name="Shape 14"/>
          <p:cNvSpPr/>
          <p:nvPr/>
        </p:nvSpPr>
        <p:spPr>
          <a:xfrm>
            <a:off x="566928" y="4608576"/>
            <a:ext cx="5349240" cy="12802"/>
          </a:xfrm>
          <a:prstGeom prst="rect">
            <a:avLst/>
          </a:prstGeom>
          <a:solidFill>
            <a:srgbClr val="C72A09"/>
          </a:solidFill>
          <a:ln/>
        </p:spPr>
      </p:sp>
      <p:sp>
        <p:nvSpPr>
          <p:cNvPr id="17" name="Text 15"/>
          <p:cNvSpPr txBox="1"/>
          <p:nvPr/>
        </p:nvSpPr>
        <p:spPr>
          <a:xfrm>
            <a:off x="566928" y="4718304"/>
            <a:ext cx="1283818" cy="54864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報告用法</a:t>
            </a:r>
            <a:endParaRPr lang="en-US" sz="1150" dirty="0"/>
          </a:p>
        </p:txBody>
      </p:sp>
      <p:sp>
        <p:nvSpPr>
          <p:cNvPr id="18" name="Text 16"/>
          <p:cNvSpPr txBox="1"/>
          <p:nvPr/>
        </p:nvSpPr>
        <p:spPr>
          <a:xfrm>
            <a:off x="1930984" y="4718304"/>
            <a:ext cx="3985184" cy="54864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問題三及總結：以經屋、置換房為例。</a:t>
            </a:r>
            <a:endParaRPr lang="en-US" sz="1150" dirty="0"/>
          </a:p>
        </p:txBody>
      </p:sp>
      <p:sp>
        <p:nvSpPr>
          <p:cNvPr id="19" name="Shape 17"/>
          <p:cNvSpPr/>
          <p:nvPr/>
        </p:nvSpPr>
        <p:spPr>
          <a:xfrm>
            <a:off x="566928" y="5248656"/>
            <a:ext cx="5349240" cy="12802"/>
          </a:xfrm>
          <a:prstGeom prst="rect">
            <a:avLst/>
          </a:prstGeom>
          <a:solidFill>
            <a:srgbClr val="C72A09"/>
          </a:solidFill>
          <a:ln/>
        </p:spPr>
      </p:sp>
      <p:sp>
        <p:nvSpPr>
          <p:cNvPr id="20" name="Text 18"/>
          <p:cNvSpPr txBox="1"/>
          <p:nvPr/>
        </p:nvSpPr>
        <p:spPr>
          <a:xfrm>
            <a:off x="6281928" y="1600200"/>
            <a:ext cx="534924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概念如何被使用</a:t>
            </a:r>
            <a:endParaRPr lang="en-US" sz="1200" dirty="0"/>
          </a:p>
        </p:txBody>
      </p:sp>
      <p:sp>
        <p:nvSpPr>
          <p:cNvPr id="21" name="Text 19"/>
          <p:cNvSpPr txBox="1"/>
          <p:nvPr/>
        </p:nvSpPr>
        <p:spPr>
          <a:xfrm>
            <a:off x="6281928" y="1984248"/>
            <a:ext cx="238658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概念</a:t>
            </a:r>
            <a:endParaRPr lang="en-US" sz="1100" dirty="0"/>
          </a:p>
        </p:txBody>
      </p:sp>
      <p:sp>
        <p:nvSpPr>
          <p:cNvPr id="22" name="Text 20"/>
          <p:cNvSpPr txBox="1"/>
          <p:nvPr/>
        </p:nvSpPr>
        <p:spPr>
          <a:xfrm>
            <a:off x="8796528" y="1984248"/>
            <a:ext cx="78638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問題</a:t>
            </a:r>
            <a:endParaRPr lang="en-US" sz="1100" dirty="0"/>
          </a:p>
        </p:txBody>
      </p:sp>
      <p:sp>
        <p:nvSpPr>
          <p:cNvPr id="23" name="Text 21"/>
          <p:cNvSpPr txBox="1"/>
          <p:nvPr/>
        </p:nvSpPr>
        <p:spPr>
          <a:xfrm>
            <a:off x="9710928" y="1984248"/>
            <a:ext cx="1920240"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理論透鏡</a:t>
            </a:r>
            <a:endParaRPr lang="en-US" sz="1100" dirty="0"/>
          </a:p>
        </p:txBody>
      </p:sp>
      <p:sp>
        <p:nvSpPr>
          <p:cNvPr id="24" name="Shape 22"/>
          <p:cNvSpPr/>
          <p:nvPr/>
        </p:nvSpPr>
        <p:spPr>
          <a:xfrm>
            <a:off x="6281928" y="2331720"/>
            <a:ext cx="5349240" cy="18288"/>
          </a:xfrm>
          <a:prstGeom prst="rect">
            <a:avLst/>
          </a:prstGeom>
          <a:solidFill>
            <a:srgbClr val="C72A09"/>
          </a:solidFill>
          <a:ln/>
        </p:spPr>
      </p:sp>
      <p:sp>
        <p:nvSpPr>
          <p:cNvPr id="25" name="Text 23"/>
          <p:cNvSpPr txBox="1"/>
          <p:nvPr/>
        </p:nvSpPr>
        <p:spPr>
          <a:xfrm>
            <a:off x="6281928" y="2423160"/>
            <a:ext cx="23865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住房可負擔性</a:t>
            </a:r>
            <a:endParaRPr lang="en-US" sz="1200" dirty="0"/>
          </a:p>
        </p:txBody>
      </p:sp>
      <p:sp>
        <p:nvSpPr>
          <p:cNvPr id="26" name="Text 24"/>
          <p:cNvSpPr txBox="1"/>
          <p:nvPr/>
        </p:nvSpPr>
        <p:spPr>
          <a:xfrm>
            <a:off x="8796528" y="2423160"/>
            <a:ext cx="7863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一</a:t>
            </a:r>
            <a:endParaRPr lang="en-US" sz="1200" dirty="0"/>
          </a:p>
        </p:txBody>
      </p:sp>
      <p:sp>
        <p:nvSpPr>
          <p:cNvPr id="27" name="Text 25"/>
          <p:cNvSpPr txBox="1"/>
          <p:nvPr/>
        </p:nvSpPr>
        <p:spPr>
          <a:xfrm>
            <a:off x="9710928" y="2423160"/>
            <a:ext cx="1920240"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商品化、階級</a:t>
            </a:r>
            <a:endParaRPr lang="en-US" sz="1200" dirty="0"/>
          </a:p>
        </p:txBody>
      </p:sp>
      <p:sp>
        <p:nvSpPr>
          <p:cNvPr id="28" name="Shape 26"/>
          <p:cNvSpPr/>
          <p:nvPr/>
        </p:nvSpPr>
        <p:spPr>
          <a:xfrm>
            <a:off x="6281928" y="2825496"/>
            <a:ext cx="5349240" cy="12802"/>
          </a:xfrm>
          <a:prstGeom prst="rect">
            <a:avLst/>
          </a:prstGeom>
          <a:solidFill>
            <a:srgbClr val="C72A09"/>
          </a:solidFill>
          <a:ln/>
        </p:spPr>
      </p:sp>
      <p:sp>
        <p:nvSpPr>
          <p:cNvPr id="29" name="Text 27"/>
          <p:cNvSpPr txBox="1"/>
          <p:nvPr/>
        </p:nvSpPr>
        <p:spPr>
          <a:xfrm>
            <a:off x="6281928" y="2898648"/>
            <a:ext cx="23865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五階梯與夾心階層</a:t>
            </a:r>
            <a:endParaRPr lang="en-US" sz="1200" dirty="0"/>
          </a:p>
        </p:txBody>
      </p:sp>
      <p:sp>
        <p:nvSpPr>
          <p:cNvPr id="30" name="Text 28"/>
          <p:cNvSpPr txBox="1"/>
          <p:nvPr/>
        </p:nvSpPr>
        <p:spPr>
          <a:xfrm>
            <a:off x="8796528" y="2898648"/>
            <a:ext cx="7863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三</a:t>
            </a:r>
            <a:endParaRPr lang="en-US" sz="1200" dirty="0"/>
          </a:p>
        </p:txBody>
      </p:sp>
      <p:sp>
        <p:nvSpPr>
          <p:cNvPr id="31" name="Text 29"/>
          <p:cNvSpPr txBox="1"/>
          <p:nvPr/>
        </p:nvSpPr>
        <p:spPr>
          <a:xfrm>
            <a:off x="9710928" y="2898648"/>
            <a:ext cx="1920240"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階級、國家</a:t>
            </a:r>
            <a:endParaRPr lang="en-US" sz="1200" dirty="0"/>
          </a:p>
        </p:txBody>
      </p:sp>
      <p:sp>
        <p:nvSpPr>
          <p:cNvPr id="32" name="Shape 30"/>
          <p:cNvSpPr/>
          <p:nvPr/>
        </p:nvSpPr>
        <p:spPr>
          <a:xfrm>
            <a:off x="6281928" y="3300984"/>
            <a:ext cx="5349240" cy="12802"/>
          </a:xfrm>
          <a:prstGeom prst="rect">
            <a:avLst/>
          </a:prstGeom>
          <a:solidFill>
            <a:srgbClr val="C72A09"/>
          </a:solidFill>
          <a:ln/>
        </p:spPr>
      </p:sp>
      <p:sp>
        <p:nvSpPr>
          <p:cNvPr id="33" name="Text 31"/>
          <p:cNvSpPr txBox="1"/>
          <p:nvPr/>
        </p:nvSpPr>
        <p:spPr>
          <a:xfrm>
            <a:off x="6281928" y="3374136"/>
            <a:ext cx="23865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都市更新</a:t>
            </a:r>
            <a:endParaRPr lang="en-US" sz="1200" dirty="0"/>
          </a:p>
        </p:txBody>
      </p:sp>
      <p:sp>
        <p:nvSpPr>
          <p:cNvPr id="34" name="Text 32"/>
          <p:cNvSpPr txBox="1"/>
          <p:nvPr/>
        </p:nvSpPr>
        <p:spPr>
          <a:xfrm>
            <a:off x="8796528" y="3374136"/>
            <a:ext cx="7863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二</a:t>
            </a:r>
            <a:endParaRPr lang="en-US" sz="1200" dirty="0"/>
          </a:p>
        </p:txBody>
      </p:sp>
      <p:sp>
        <p:nvSpPr>
          <p:cNvPr id="35" name="Text 33"/>
          <p:cNvSpPr txBox="1"/>
          <p:nvPr/>
        </p:nvSpPr>
        <p:spPr>
          <a:xfrm>
            <a:off x="9710928" y="3374136"/>
            <a:ext cx="1920240"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商品化、國家</a:t>
            </a:r>
            <a:endParaRPr lang="en-US" sz="1200" dirty="0"/>
          </a:p>
        </p:txBody>
      </p:sp>
      <p:sp>
        <p:nvSpPr>
          <p:cNvPr id="36" name="Shape 34"/>
          <p:cNvSpPr/>
          <p:nvPr/>
        </p:nvSpPr>
        <p:spPr>
          <a:xfrm>
            <a:off x="6281928" y="3776472"/>
            <a:ext cx="5349240" cy="12802"/>
          </a:xfrm>
          <a:prstGeom prst="rect">
            <a:avLst/>
          </a:prstGeom>
          <a:solidFill>
            <a:srgbClr val="C72A09"/>
          </a:solidFill>
          <a:ln/>
        </p:spPr>
      </p:sp>
      <p:sp>
        <p:nvSpPr>
          <p:cNvPr id="37" name="Text 35"/>
          <p:cNvSpPr txBox="1"/>
          <p:nvPr/>
        </p:nvSpPr>
        <p:spPr>
          <a:xfrm>
            <a:off x="6281928" y="3849624"/>
            <a:ext cx="23865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樓宇老化</a:t>
            </a:r>
            <a:endParaRPr lang="en-US" sz="1200" dirty="0"/>
          </a:p>
        </p:txBody>
      </p:sp>
      <p:sp>
        <p:nvSpPr>
          <p:cNvPr id="38" name="Text 36"/>
          <p:cNvSpPr txBox="1"/>
          <p:nvPr/>
        </p:nvSpPr>
        <p:spPr>
          <a:xfrm>
            <a:off x="8796528" y="3849624"/>
            <a:ext cx="7863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二</a:t>
            </a:r>
            <a:endParaRPr lang="en-US" sz="1200" dirty="0"/>
          </a:p>
        </p:txBody>
      </p:sp>
      <p:sp>
        <p:nvSpPr>
          <p:cNvPr id="39" name="Text 37"/>
          <p:cNvSpPr txBox="1"/>
          <p:nvPr/>
        </p:nvSpPr>
        <p:spPr>
          <a:xfrm>
            <a:off x="9710928" y="3849624"/>
            <a:ext cx="1920240"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階級</a:t>
            </a:r>
            <a:endParaRPr lang="en-US" sz="1200" dirty="0"/>
          </a:p>
        </p:txBody>
      </p:sp>
      <p:sp>
        <p:nvSpPr>
          <p:cNvPr id="40" name="Shape 38"/>
          <p:cNvSpPr/>
          <p:nvPr/>
        </p:nvSpPr>
        <p:spPr>
          <a:xfrm>
            <a:off x="6281928" y="4251960"/>
            <a:ext cx="5349240" cy="12802"/>
          </a:xfrm>
          <a:prstGeom prst="rect">
            <a:avLst/>
          </a:prstGeom>
          <a:solidFill>
            <a:srgbClr val="C72A09"/>
          </a:solidFill>
          <a:ln/>
        </p:spPr>
      </p:sp>
      <p:sp>
        <p:nvSpPr>
          <p:cNvPr id="41" name="Text 39"/>
          <p:cNvSpPr txBox="1"/>
          <p:nvPr/>
        </p:nvSpPr>
        <p:spPr>
          <a:xfrm>
            <a:off x="6281928" y="4325112"/>
            <a:ext cx="23865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結構性失衡</a:t>
            </a:r>
            <a:endParaRPr lang="en-US" sz="1200" dirty="0"/>
          </a:p>
        </p:txBody>
      </p:sp>
      <p:sp>
        <p:nvSpPr>
          <p:cNvPr id="42" name="Text 40"/>
          <p:cNvSpPr txBox="1"/>
          <p:nvPr/>
        </p:nvSpPr>
        <p:spPr>
          <a:xfrm>
            <a:off x="8796528" y="4325112"/>
            <a:ext cx="78638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一二三</a:t>
            </a:r>
            <a:endParaRPr lang="en-US" sz="1200" dirty="0"/>
          </a:p>
        </p:txBody>
      </p:sp>
      <p:sp>
        <p:nvSpPr>
          <p:cNvPr id="43" name="Text 41"/>
          <p:cNvSpPr txBox="1"/>
          <p:nvPr/>
        </p:nvSpPr>
        <p:spPr>
          <a:xfrm>
            <a:off x="9710928" y="4325112"/>
            <a:ext cx="1920240"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國家</a:t>
            </a:r>
            <a:endParaRPr lang="en-US" sz="1200" dirty="0"/>
          </a:p>
        </p:txBody>
      </p:sp>
      <p:sp>
        <p:nvSpPr>
          <p:cNvPr id="44" name="Shape 42"/>
          <p:cNvSpPr/>
          <p:nvPr/>
        </p:nvSpPr>
        <p:spPr>
          <a:xfrm>
            <a:off x="6281928" y="4727448"/>
            <a:ext cx="5349240" cy="12802"/>
          </a:xfrm>
          <a:prstGeom prst="rect">
            <a:avLst/>
          </a:prstGeom>
          <a:solidFill>
            <a:srgbClr val="C72A09"/>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(08)</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樓價：四年回落 31.7%</a:t>
            </a:r>
            <a:endParaRPr lang="en-US" sz="3400" dirty="0"/>
          </a:p>
        </p:txBody>
      </p:sp>
      <p:graphicFrame>
        <p:nvGraphicFramePr>
          <p:cNvPr id="8" name="Chart 0" descr=""/>
          <p:cNvGraphicFramePr/>
          <p:nvPr/>
        </p:nvGraphicFramePr>
        <p:xfrm>
          <a:off x="566928" y="1645920"/>
          <a:ext cx="6675120" cy="39319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7680960" y="1691640"/>
            <a:ext cx="3931920" cy="932688"/>
          </a:xfrm>
          <a:prstGeom prst="rect">
            <a:avLst/>
          </a:prstGeom>
          <a:noFill/>
          <a:ln/>
        </p:spPr>
        <p:txBody>
          <a:bodyPr wrap="square" lIns="0" tIns="0" rIns="0" bIns="0" rtlCol="0" anchor="ctr"/>
          <a:lstStyle/>
          <a:p>
            <a:pPr indent="0" marL="0">
              <a:buNone/>
            </a:pPr>
            <a:r>
              <a:rPr lang="en-US" sz="4600" b="1" dirty="0">
                <a:solidFill>
                  <a:srgbClr val="CA0013"/>
                </a:solidFill>
                <a:latin typeface="Inter" pitchFamily="34" charset="0"/>
                <a:ea typeface="Inter" pitchFamily="34" charset="-122"/>
                <a:cs typeface="Inter" pitchFamily="34" charset="-120"/>
              </a:rPr>
              <a:t>−31.7</a:t>
            </a:r>
            <a:pPr indent="0" marL="0">
              <a:buNone/>
            </a:pPr>
            <a:r>
              <a:rPr lang="en-US" sz="1932" b="1" dirty="0">
                <a:solidFill>
                  <a:srgbClr val="CA0013"/>
                </a:solidFill>
                <a:latin typeface="Microsoft JhengHei" pitchFamily="34" charset="0"/>
                <a:ea typeface="Microsoft JhengHei" pitchFamily="34" charset="-122"/>
                <a:cs typeface="Microsoft JhengHei" pitchFamily="34" charset="-120"/>
              </a:rPr>
              <a:t>%</a:t>
            </a:r>
            <a:endParaRPr lang="en-US" sz="4600" dirty="0"/>
          </a:p>
        </p:txBody>
      </p:sp>
      <p:sp>
        <p:nvSpPr>
          <p:cNvPr id="10" name="Text 7"/>
          <p:cNvSpPr txBox="1"/>
          <p:nvPr/>
        </p:nvSpPr>
        <p:spPr>
          <a:xfrm>
            <a:off x="7680960" y="2624328"/>
            <a:ext cx="393192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2021 → 2025 累計跌幅</a:t>
            </a:r>
            <a:endParaRPr lang="en-US" sz="1300" dirty="0"/>
          </a:p>
        </p:txBody>
      </p:sp>
      <p:sp>
        <p:nvSpPr>
          <p:cNvPr id="11" name="Text 8"/>
          <p:cNvSpPr txBox="1"/>
          <p:nvPr/>
        </p:nvSpPr>
        <p:spPr>
          <a:xfrm>
            <a:off x="7680960" y="2990088"/>
            <a:ext cx="393192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按年：−1.1%、−9.7%、−0.3%、−9.0%、−16.7%</a:t>
            </a:r>
            <a:endParaRPr lang="en-US" sz="1050" dirty="0"/>
          </a:p>
        </p:txBody>
      </p:sp>
      <p:sp>
        <p:nvSpPr>
          <p:cNvPr id="12" name="Shape 9"/>
          <p:cNvSpPr/>
          <p:nvPr/>
        </p:nvSpPr>
        <p:spPr>
          <a:xfrm>
            <a:off x="7680960" y="3977640"/>
            <a:ext cx="3931920" cy="18288"/>
          </a:xfrm>
          <a:prstGeom prst="rect">
            <a:avLst/>
          </a:prstGeom>
          <a:solidFill>
            <a:srgbClr val="C72A09"/>
          </a:solidFill>
          <a:ln/>
        </p:spPr>
      </p:sp>
      <p:sp>
        <p:nvSpPr>
          <p:cNvPr id="13" name="Text 10"/>
          <p:cNvSpPr txBox="1"/>
          <p:nvPr/>
        </p:nvSpPr>
        <p:spPr>
          <a:xfrm>
            <a:off x="7680960" y="4114800"/>
            <a:ext cx="3931920" cy="932688"/>
          </a:xfrm>
          <a:prstGeom prst="rect">
            <a:avLst/>
          </a:prstGeom>
          <a:noFill/>
          <a:ln/>
        </p:spPr>
        <p:txBody>
          <a:bodyPr wrap="square" lIns="0" tIns="0" rIns="0" bIns="0" rtlCol="0" anchor="ctr"/>
          <a:lstStyle/>
          <a:p>
            <a:pPr indent="0" marL="0">
              <a:buNone/>
            </a:pPr>
            <a:r>
              <a:rPr lang="en-US" sz="3400" b="1" dirty="0">
                <a:solidFill>
                  <a:srgbClr val="CA0013"/>
                </a:solidFill>
                <a:latin typeface="Inter" pitchFamily="34" charset="0"/>
                <a:ea typeface="Inter" pitchFamily="34" charset="-122"/>
                <a:cs typeface="Inter" pitchFamily="34" charset="-120"/>
              </a:rPr>
              <a:t>−45.9</a:t>
            </a:r>
            <a:pPr indent="0" marL="0">
              <a:buNone/>
            </a:pPr>
            <a:r>
              <a:rPr lang="en-US" sz="1428" b="1" dirty="0">
                <a:solidFill>
                  <a:srgbClr val="CA0013"/>
                </a:solidFill>
                <a:latin typeface="Microsoft JhengHei" pitchFamily="34" charset="0"/>
                <a:ea typeface="Microsoft JhengHei" pitchFamily="34" charset="-122"/>
                <a:cs typeface="Microsoft JhengHei" pitchFamily="34" charset="-120"/>
              </a:rPr>
              <a:t>%</a:t>
            </a:r>
            <a:endParaRPr lang="en-US" sz="3400" dirty="0"/>
          </a:p>
        </p:txBody>
      </p:sp>
      <p:sp>
        <p:nvSpPr>
          <p:cNvPr id="14" name="Text 11"/>
          <p:cNvSpPr txBox="1"/>
          <p:nvPr/>
        </p:nvSpPr>
        <p:spPr>
          <a:xfrm>
            <a:off x="7680960" y="5047488"/>
            <a:ext cx="393192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成交量</a:t>
            </a:r>
            <a:endParaRPr lang="en-US" sz="1300" dirty="0"/>
          </a:p>
        </p:txBody>
      </p:sp>
      <p:sp>
        <p:nvSpPr>
          <p:cNvPr id="15" name="Text 12"/>
          <p:cNvSpPr txBox="1"/>
          <p:nvPr/>
        </p:nvSpPr>
        <p:spPr>
          <a:xfrm>
            <a:off x="7680960" y="5413248"/>
            <a:ext cx="393192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住宅買賣 6,001 宗（2021）→ 3,245 宗（2025）</a:t>
            </a:r>
            <a:endParaRPr lang="en-US" sz="1050" dirty="0"/>
          </a:p>
        </p:txBody>
      </p:sp>
      <p:sp>
        <p:nvSpPr>
          <p:cNvPr id="16" name="Text 13"/>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統計暨普查局《私人建築及不動產交易》；*2022 年由 2023 年數值反推</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(09)</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收入：近三年只升 5%</a:t>
            </a:r>
            <a:endParaRPr lang="en-US" sz="3400" dirty="0"/>
          </a:p>
        </p:txBody>
      </p:sp>
      <p:graphicFrame>
        <p:nvGraphicFramePr>
          <p:cNvPr id="8" name="Chart 0" descr=""/>
          <p:cNvGraphicFramePr/>
          <p:nvPr/>
        </p:nvGraphicFramePr>
        <p:xfrm>
          <a:off x="566928" y="164592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858000" y="1691640"/>
            <a:ext cx="1331366" cy="65836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月收入中位數</a:t>
            </a:r>
            <a:endParaRPr lang="en-US" sz="1150" dirty="0"/>
          </a:p>
        </p:txBody>
      </p:sp>
      <p:sp>
        <p:nvSpPr>
          <p:cNvPr id="10" name="Text 7"/>
          <p:cNvSpPr txBox="1"/>
          <p:nvPr/>
        </p:nvSpPr>
        <p:spPr>
          <a:xfrm>
            <a:off x="8260690" y="1691640"/>
            <a:ext cx="3352190" cy="65836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各年第 4 季，澳門元。本地居民 19,000 → 20,000 元（+5.3%）</a:t>
            </a:r>
            <a:endParaRPr lang="en-US" sz="1150" dirty="0"/>
          </a:p>
        </p:txBody>
      </p:sp>
      <p:sp>
        <p:nvSpPr>
          <p:cNvPr id="11" name="Shape 8"/>
          <p:cNvSpPr/>
          <p:nvPr/>
        </p:nvSpPr>
        <p:spPr>
          <a:xfrm>
            <a:off x="6858000" y="2331720"/>
            <a:ext cx="4754880" cy="12802"/>
          </a:xfrm>
          <a:prstGeom prst="rect">
            <a:avLst/>
          </a:prstGeom>
          <a:solidFill>
            <a:srgbClr val="C72A09"/>
          </a:solidFill>
          <a:ln/>
        </p:spPr>
      </p:sp>
      <p:sp>
        <p:nvSpPr>
          <p:cNvPr id="12" name="Text 9"/>
          <p:cNvSpPr txBox="1"/>
          <p:nvPr/>
        </p:nvSpPr>
        <p:spPr>
          <a:xfrm>
            <a:off x="6858000" y="2441448"/>
            <a:ext cx="1331366" cy="65836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住戶月平均收入</a:t>
            </a:r>
            <a:endParaRPr lang="en-US" sz="1150" dirty="0"/>
          </a:p>
        </p:txBody>
      </p:sp>
      <p:sp>
        <p:nvSpPr>
          <p:cNvPr id="13" name="Text 10"/>
          <p:cNvSpPr txBox="1"/>
          <p:nvPr/>
        </p:nvSpPr>
        <p:spPr>
          <a:xfrm>
            <a:off x="8260690" y="2441448"/>
            <a:ext cx="3352190" cy="65836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58,835 元（2023/24）；平均數，含資產與轉移收入，易被高收入拉高</a:t>
            </a:r>
            <a:endParaRPr lang="en-US" sz="1150" dirty="0"/>
          </a:p>
        </p:txBody>
      </p:sp>
      <p:sp>
        <p:nvSpPr>
          <p:cNvPr id="14" name="Shape 11"/>
          <p:cNvSpPr/>
          <p:nvPr/>
        </p:nvSpPr>
        <p:spPr>
          <a:xfrm>
            <a:off x="6858000" y="3081528"/>
            <a:ext cx="4754880" cy="12802"/>
          </a:xfrm>
          <a:prstGeom prst="rect">
            <a:avLst/>
          </a:prstGeom>
          <a:solidFill>
            <a:srgbClr val="C72A09"/>
          </a:solidFill>
          <a:ln/>
        </p:spPr>
      </p:sp>
      <p:sp>
        <p:nvSpPr>
          <p:cNvPr id="15" name="Text 12"/>
          <p:cNvSpPr txBox="1"/>
          <p:nvPr/>
        </p:nvSpPr>
        <p:spPr>
          <a:xfrm>
            <a:off x="6858000" y="3191256"/>
            <a:ext cx="1331366" cy="65836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每戶人數</a:t>
            </a:r>
            <a:endParaRPr lang="en-US" sz="1150" dirty="0"/>
          </a:p>
        </p:txBody>
      </p:sp>
      <p:sp>
        <p:nvSpPr>
          <p:cNvPr id="16" name="Text 13"/>
          <p:cNvSpPr txBox="1"/>
          <p:nvPr/>
        </p:nvSpPr>
        <p:spPr>
          <a:xfrm>
            <a:off x="8260690" y="3191256"/>
            <a:ext cx="3352190" cy="65836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2.83 人（2017/18：3.04 人）</a:t>
            </a:r>
            <a:endParaRPr lang="en-US" sz="1150" dirty="0"/>
          </a:p>
        </p:txBody>
      </p:sp>
      <p:sp>
        <p:nvSpPr>
          <p:cNvPr id="17" name="Shape 14"/>
          <p:cNvSpPr/>
          <p:nvPr/>
        </p:nvSpPr>
        <p:spPr>
          <a:xfrm>
            <a:off x="6858000" y="3831336"/>
            <a:ext cx="4754880" cy="12802"/>
          </a:xfrm>
          <a:prstGeom prst="rect">
            <a:avLst/>
          </a:prstGeom>
          <a:solidFill>
            <a:srgbClr val="C72A09"/>
          </a:solidFill>
          <a:ln/>
        </p:spPr>
      </p:sp>
      <p:sp>
        <p:nvSpPr>
          <p:cNvPr id="18" name="Text 15"/>
          <p:cNvSpPr txBox="1"/>
          <p:nvPr/>
        </p:nvSpPr>
        <p:spPr>
          <a:xfrm>
            <a:off x="6858000" y="3941064"/>
            <a:ext cx="1331366" cy="65836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失業率</a:t>
            </a:r>
            <a:endParaRPr lang="en-US" sz="1150" dirty="0"/>
          </a:p>
        </p:txBody>
      </p:sp>
      <p:sp>
        <p:nvSpPr>
          <p:cNvPr id="19" name="Text 16"/>
          <p:cNvSpPr txBox="1"/>
          <p:nvPr/>
        </p:nvSpPr>
        <p:spPr>
          <a:xfrm>
            <a:off x="8260690" y="3941064"/>
            <a:ext cx="3352190" cy="65836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2024 年第 4 季：總體 1.7%，本地居民 2.3%（就業調查）</a:t>
            </a:r>
            <a:endParaRPr lang="en-US" sz="1150" dirty="0"/>
          </a:p>
        </p:txBody>
      </p:sp>
      <p:sp>
        <p:nvSpPr>
          <p:cNvPr id="20" name="Shape 17"/>
          <p:cNvSpPr/>
          <p:nvPr/>
        </p:nvSpPr>
        <p:spPr>
          <a:xfrm>
            <a:off x="6858000" y="4581144"/>
            <a:ext cx="4754880" cy="12802"/>
          </a:xfrm>
          <a:prstGeom prst="rect">
            <a:avLst/>
          </a:prstGeom>
          <a:solidFill>
            <a:srgbClr val="C72A09"/>
          </a:solidFill>
          <a:ln/>
        </p:spPr>
      </p:sp>
      <p:sp>
        <p:nvSpPr>
          <p:cNvPr id="21" name="Text 18"/>
          <p:cNvSpPr txBox="1"/>
          <p:nvPr/>
        </p:nvSpPr>
        <p:spPr>
          <a:xfrm>
            <a:off x="6858000" y="4690872"/>
            <a:ext cx="1331366" cy="65836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注意</a:t>
            </a:r>
            <a:endParaRPr lang="en-US" sz="1150" dirty="0"/>
          </a:p>
        </p:txBody>
      </p:sp>
      <p:sp>
        <p:nvSpPr>
          <p:cNvPr id="22" name="Text 19"/>
          <p:cNvSpPr txBox="1"/>
          <p:nvPr/>
        </p:nvSpPr>
        <p:spPr>
          <a:xfrm>
            <a:off x="8260690" y="4690872"/>
            <a:ext cx="3352190" cy="65836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官方新聞稿未公布住戶收入中位數，下頁以兩種口徑推算</a:t>
            </a:r>
            <a:endParaRPr lang="en-US" sz="1150" dirty="0"/>
          </a:p>
        </p:txBody>
      </p:sp>
      <p:sp>
        <p:nvSpPr>
          <p:cNvPr id="23" name="Shape 20"/>
          <p:cNvSpPr/>
          <p:nvPr/>
        </p:nvSpPr>
        <p:spPr>
          <a:xfrm>
            <a:off x="6858000" y="5330952"/>
            <a:ext cx="4754880" cy="12802"/>
          </a:xfrm>
          <a:prstGeom prst="rect">
            <a:avLst/>
          </a:prstGeom>
          <a:solidFill>
            <a:srgbClr val="C72A09"/>
          </a:solidFill>
          <a:ln/>
        </p:spPr>
      </p:sp>
      <p:sp>
        <p:nvSpPr>
          <p:cNvPr id="24" name="Text 21"/>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統計暨普查局《就業調查》《住戶收支調查 2023/24》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(10)</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700 呎單位：首期與月供</a:t>
            </a:r>
            <a:endParaRPr lang="en-US" sz="3400" dirty="0"/>
          </a:p>
        </p:txBody>
      </p:sp>
      <p:sp>
        <p:nvSpPr>
          <p:cNvPr id="8" name="Text 6"/>
          <p:cNvSpPr txBox="1"/>
          <p:nvPr/>
        </p:nvSpPr>
        <p:spPr>
          <a:xfrm>
            <a:off x="566928" y="1572768"/>
            <a:ext cx="7680960" cy="365760"/>
          </a:xfrm>
          <a:prstGeom prst="rect">
            <a:avLst/>
          </a:prstGeom>
          <a:noFill/>
          <a:ln/>
        </p:spPr>
        <p:txBody>
          <a:bodyPr wrap="square" lIns="0" tIns="0" rIns="0" bIns="0" rtlCol="0" anchor="ctr"/>
          <a:lstStyle/>
          <a:p>
            <a:pPr indent="0" marL="0">
              <a:buNone/>
            </a:pPr>
            <a:r>
              <a:rPr lang="en-US" sz="1350" b="1" dirty="0">
                <a:solidFill>
                  <a:srgbClr val="CA0013"/>
                </a:solidFill>
                <a:latin typeface="Microsoft JhengHei" pitchFamily="34" charset="0"/>
                <a:ea typeface="Microsoft JhengHei" pitchFamily="34" charset="-122"/>
                <a:cs typeface="Microsoft JhengHei" pitchFamily="34" charset="-120"/>
              </a:rPr>
              <a:t>單位：700 呎 ≈ 65 平方米　·　2025 年均價 70,935 元／平方米　→　總價約 461 萬元</a:t>
            </a:r>
            <a:endParaRPr lang="en-US" sz="1350" dirty="0"/>
          </a:p>
        </p:txBody>
      </p:sp>
      <p:sp>
        <p:nvSpPr>
          <p:cNvPr id="9" name="Text 7"/>
          <p:cNvSpPr txBox="1"/>
          <p:nvPr/>
        </p:nvSpPr>
        <p:spPr>
          <a:xfrm>
            <a:off x="566928" y="2103120"/>
            <a:ext cx="2523744" cy="310896"/>
          </a:xfrm>
          <a:prstGeom prst="rect">
            <a:avLst/>
          </a:prstGeom>
          <a:noFill/>
          <a:ln/>
        </p:spPr>
        <p:txBody>
          <a:bodyPr wrap="square" lIns="0" tIns="0" rIns="0" bIns="0" rtlCol="0" anchor="ctr"/>
          <a:lstStyle/>
          <a:p>
            <a:pPr algn="l" indent="0" marL="0">
              <a:buNone/>
            </a:pPr>
            <a:endParaRPr lang="en-US" sz="1100" dirty="0"/>
          </a:p>
        </p:txBody>
      </p:sp>
      <p:sp>
        <p:nvSpPr>
          <p:cNvPr id="10" name="Text 8"/>
          <p:cNvSpPr txBox="1"/>
          <p:nvPr/>
        </p:nvSpPr>
        <p:spPr>
          <a:xfrm>
            <a:off x="3218688" y="2103120"/>
            <a:ext cx="2386584" cy="310896"/>
          </a:xfrm>
          <a:prstGeom prst="rect">
            <a:avLst/>
          </a:prstGeom>
          <a:noFill/>
          <a:ln/>
        </p:spPr>
        <p:txBody>
          <a:bodyPr wrap="square" lIns="0" tIns="0" rIns="0" bIns="0" rtlCol="0" anchor="ctr"/>
          <a:lstStyle/>
          <a:p>
            <a:pPr algn="r"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70% 成數（至 2025 年底）</a:t>
            </a:r>
            <a:endParaRPr lang="en-US" sz="1100" dirty="0"/>
          </a:p>
        </p:txBody>
      </p:sp>
      <p:sp>
        <p:nvSpPr>
          <p:cNvPr id="11" name="Text 9"/>
          <p:cNvSpPr txBox="1"/>
          <p:nvPr/>
        </p:nvSpPr>
        <p:spPr>
          <a:xfrm>
            <a:off x="5733288" y="2103120"/>
            <a:ext cx="2514600" cy="310896"/>
          </a:xfrm>
          <a:prstGeom prst="rect">
            <a:avLst/>
          </a:prstGeom>
          <a:noFill/>
          <a:ln/>
        </p:spPr>
        <p:txBody>
          <a:bodyPr wrap="square" lIns="0" tIns="0" rIns="0" bIns="0" rtlCol="0" anchor="ctr"/>
          <a:lstStyle/>
          <a:p>
            <a:pPr algn="r"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80% 成數（2026-01-01 起）</a:t>
            </a:r>
            <a:endParaRPr lang="en-US" sz="1100" dirty="0"/>
          </a:p>
        </p:txBody>
      </p:sp>
      <p:sp>
        <p:nvSpPr>
          <p:cNvPr id="12" name="Shape 10"/>
          <p:cNvSpPr/>
          <p:nvPr/>
        </p:nvSpPr>
        <p:spPr>
          <a:xfrm>
            <a:off x="566928" y="2450592"/>
            <a:ext cx="7680960" cy="18288"/>
          </a:xfrm>
          <a:prstGeom prst="rect">
            <a:avLst/>
          </a:prstGeom>
          <a:solidFill>
            <a:srgbClr val="C72A09"/>
          </a:solidFill>
          <a:ln/>
        </p:spPr>
      </p:sp>
      <p:sp>
        <p:nvSpPr>
          <p:cNvPr id="13" name="Text 11"/>
          <p:cNvSpPr txBox="1"/>
          <p:nvPr/>
        </p:nvSpPr>
        <p:spPr>
          <a:xfrm>
            <a:off x="566928" y="2542032"/>
            <a:ext cx="2523744" cy="3840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貸款額</a:t>
            </a:r>
            <a:endParaRPr lang="en-US" sz="1200" dirty="0"/>
          </a:p>
        </p:txBody>
      </p:sp>
      <p:sp>
        <p:nvSpPr>
          <p:cNvPr id="14" name="Text 12"/>
          <p:cNvSpPr txBox="1"/>
          <p:nvPr/>
        </p:nvSpPr>
        <p:spPr>
          <a:xfrm>
            <a:off x="3218688" y="2542032"/>
            <a:ext cx="2386584" cy="384048"/>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約 323 萬</a:t>
            </a:r>
            <a:endParaRPr lang="en-US" sz="1200" dirty="0"/>
          </a:p>
        </p:txBody>
      </p:sp>
      <p:sp>
        <p:nvSpPr>
          <p:cNvPr id="15" name="Text 13"/>
          <p:cNvSpPr txBox="1"/>
          <p:nvPr/>
        </p:nvSpPr>
        <p:spPr>
          <a:xfrm>
            <a:off x="5733288" y="2542032"/>
            <a:ext cx="2514600" cy="384048"/>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約 369 萬</a:t>
            </a:r>
            <a:endParaRPr lang="en-US" sz="1200" dirty="0"/>
          </a:p>
        </p:txBody>
      </p:sp>
      <p:sp>
        <p:nvSpPr>
          <p:cNvPr id="16" name="Shape 14"/>
          <p:cNvSpPr/>
          <p:nvPr/>
        </p:nvSpPr>
        <p:spPr>
          <a:xfrm>
            <a:off x="566928" y="2926080"/>
            <a:ext cx="7680960" cy="12802"/>
          </a:xfrm>
          <a:prstGeom prst="rect">
            <a:avLst/>
          </a:prstGeom>
          <a:solidFill>
            <a:srgbClr val="C72A09"/>
          </a:solidFill>
          <a:ln/>
        </p:spPr>
      </p:sp>
      <p:sp>
        <p:nvSpPr>
          <p:cNvPr id="17" name="Text 15"/>
          <p:cNvSpPr txBox="1"/>
          <p:nvPr/>
        </p:nvSpPr>
        <p:spPr>
          <a:xfrm>
            <a:off x="566928" y="2999232"/>
            <a:ext cx="2523744" cy="384048"/>
          </a:xfrm>
          <a:prstGeom prst="rect">
            <a:avLst/>
          </a:prstGeom>
          <a:noFill/>
          <a:ln/>
        </p:spPr>
        <p:txBody>
          <a:bodyPr wrap="square" lIns="0" tIns="0" rIns="0" bIns="0" rtlCol="0" anchor="ctr"/>
          <a:lstStyle/>
          <a:p>
            <a:pPr algn="l" indent="0" marL="0">
              <a:buNone/>
            </a:pPr>
            <a:r>
              <a:rPr lang="en-US" sz="1300" b="1" dirty="0">
                <a:solidFill>
                  <a:srgbClr val="CA0013"/>
                </a:solidFill>
                <a:latin typeface="Microsoft JhengHei" pitchFamily="34" charset="0"/>
                <a:ea typeface="Microsoft JhengHei" pitchFamily="34" charset="-122"/>
                <a:cs typeface="Microsoft JhengHei" pitchFamily="34" charset="-120"/>
              </a:rPr>
              <a:t>首期</a:t>
            </a:r>
            <a:endParaRPr lang="en-US" sz="1300" dirty="0"/>
          </a:p>
        </p:txBody>
      </p:sp>
      <p:sp>
        <p:nvSpPr>
          <p:cNvPr id="18" name="Text 16"/>
          <p:cNvSpPr txBox="1"/>
          <p:nvPr/>
        </p:nvSpPr>
        <p:spPr>
          <a:xfrm>
            <a:off x="3218688" y="2999232"/>
            <a:ext cx="2386584" cy="384048"/>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約 138 萬</a:t>
            </a:r>
            <a:endParaRPr lang="en-US" sz="1300" dirty="0"/>
          </a:p>
        </p:txBody>
      </p:sp>
      <p:sp>
        <p:nvSpPr>
          <p:cNvPr id="19" name="Text 17"/>
          <p:cNvSpPr txBox="1"/>
          <p:nvPr/>
        </p:nvSpPr>
        <p:spPr>
          <a:xfrm>
            <a:off x="5733288" y="2999232"/>
            <a:ext cx="2514600" cy="384048"/>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約 92 萬</a:t>
            </a:r>
            <a:endParaRPr lang="en-US" sz="1300" dirty="0"/>
          </a:p>
        </p:txBody>
      </p:sp>
      <p:sp>
        <p:nvSpPr>
          <p:cNvPr id="20" name="Shape 18"/>
          <p:cNvSpPr/>
          <p:nvPr/>
        </p:nvSpPr>
        <p:spPr>
          <a:xfrm>
            <a:off x="566928" y="3383280"/>
            <a:ext cx="7680960" cy="12802"/>
          </a:xfrm>
          <a:prstGeom prst="rect">
            <a:avLst/>
          </a:prstGeom>
          <a:solidFill>
            <a:srgbClr val="C72A09"/>
          </a:solidFill>
          <a:ln/>
        </p:spPr>
      </p:sp>
      <p:sp>
        <p:nvSpPr>
          <p:cNvPr id="21" name="Text 19"/>
          <p:cNvSpPr txBox="1"/>
          <p:nvPr/>
        </p:nvSpPr>
        <p:spPr>
          <a:xfrm>
            <a:off x="566928" y="3456432"/>
            <a:ext cx="2523744" cy="3840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首期 ÷ 雙職年收入 48 萬</a:t>
            </a:r>
            <a:endParaRPr lang="en-US" sz="1200" dirty="0"/>
          </a:p>
        </p:txBody>
      </p:sp>
      <p:sp>
        <p:nvSpPr>
          <p:cNvPr id="22" name="Text 20"/>
          <p:cNvSpPr txBox="1"/>
          <p:nvPr/>
        </p:nvSpPr>
        <p:spPr>
          <a:xfrm>
            <a:off x="3218688" y="3456432"/>
            <a:ext cx="2386584" cy="384048"/>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2.9 年</a:t>
            </a:r>
            <a:endParaRPr lang="en-US" sz="1200" dirty="0"/>
          </a:p>
        </p:txBody>
      </p:sp>
      <p:sp>
        <p:nvSpPr>
          <p:cNvPr id="23" name="Text 21"/>
          <p:cNvSpPr txBox="1"/>
          <p:nvPr/>
        </p:nvSpPr>
        <p:spPr>
          <a:xfrm>
            <a:off x="5733288" y="3456432"/>
            <a:ext cx="2514600" cy="384048"/>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1.9 年</a:t>
            </a:r>
            <a:endParaRPr lang="en-US" sz="1200" dirty="0"/>
          </a:p>
        </p:txBody>
      </p:sp>
      <p:sp>
        <p:nvSpPr>
          <p:cNvPr id="24" name="Shape 22"/>
          <p:cNvSpPr/>
          <p:nvPr/>
        </p:nvSpPr>
        <p:spPr>
          <a:xfrm>
            <a:off x="566928" y="3840480"/>
            <a:ext cx="7680960" cy="12802"/>
          </a:xfrm>
          <a:prstGeom prst="rect">
            <a:avLst/>
          </a:prstGeom>
          <a:solidFill>
            <a:srgbClr val="C72A09"/>
          </a:solidFill>
          <a:ln/>
        </p:spPr>
      </p:sp>
      <p:sp>
        <p:nvSpPr>
          <p:cNvPr id="25" name="Text 23"/>
          <p:cNvSpPr txBox="1"/>
          <p:nvPr/>
        </p:nvSpPr>
        <p:spPr>
          <a:xfrm>
            <a:off x="566928" y="3913632"/>
            <a:ext cx="2523744" cy="384048"/>
          </a:xfrm>
          <a:prstGeom prst="rect">
            <a:avLst/>
          </a:prstGeom>
          <a:noFill/>
          <a:ln/>
        </p:spPr>
        <p:txBody>
          <a:bodyPr wrap="square" lIns="0" tIns="0" rIns="0" bIns="0" rtlCol="0" anchor="ctr"/>
          <a:lstStyle/>
          <a:p>
            <a:pPr algn="l" indent="0" marL="0">
              <a:buNone/>
            </a:pPr>
            <a:r>
              <a:rPr lang="en-US" sz="1300" b="1" dirty="0">
                <a:solidFill>
                  <a:srgbClr val="CA0013"/>
                </a:solidFill>
                <a:latin typeface="Microsoft JhengHei" pitchFamily="34" charset="0"/>
                <a:ea typeface="Microsoft JhengHei" pitchFamily="34" charset="-122"/>
                <a:cs typeface="Microsoft JhengHei" pitchFamily="34" charset="-120"/>
              </a:rPr>
              <a:t>月供（假設 30 年、年利率 4%）</a:t>
            </a:r>
            <a:endParaRPr lang="en-US" sz="1300" dirty="0"/>
          </a:p>
        </p:txBody>
      </p:sp>
      <p:sp>
        <p:nvSpPr>
          <p:cNvPr id="26" name="Text 24"/>
          <p:cNvSpPr txBox="1"/>
          <p:nvPr/>
        </p:nvSpPr>
        <p:spPr>
          <a:xfrm>
            <a:off x="3218688" y="3913632"/>
            <a:ext cx="2386584" cy="384048"/>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約 15,400 元</a:t>
            </a:r>
            <a:endParaRPr lang="en-US" sz="1300" dirty="0"/>
          </a:p>
        </p:txBody>
      </p:sp>
      <p:sp>
        <p:nvSpPr>
          <p:cNvPr id="27" name="Text 25"/>
          <p:cNvSpPr txBox="1"/>
          <p:nvPr/>
        </p:nvSpPr>
        <p:spPr>
          <a:xfrm>
            <a:off x="5733288" y="3913632"/>
            <a:ext cx="2514600" cy="384048"/>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約 17,600 元</a:t>
            </a:r>
            <a:endParaRPr lang="en-US" sz="1300" dirty="0"/>
          </a:p>
        </p:txBody>
      </p:sp>
      <p:sp>
        <p:nvSpPr>
          <p:cNvPr id="28" name="Shape 26"/>
          <p:cNvSpPr/>
          <p:nvPr/>
        </p:nvSpPr>
        <p:spPr>
          <a:xfrm>
            <a:off x="566928" y="4297680"/>
            <a:ext cx="7680960" cy="12802"/>
          </a:xfrm>
          <a:prstGeom prst="rect">
            <a:avLst/>
          </a:prstGeom>
          <a:solidFill>
            <a:srgbClr val="C72A09"/>
          </a:solidFill>
          <a:ln/>
        </p:spPr>
      </p:sp>
      <p:sp>
        <p:nvSpPr>
          <p:cNvPr id="29" name="Text 27"/>
          <p:cNvSpPr txBox="1"/>
          <p:nvPr/>
        </p:nvSpPr>
        <p:spPr>
          <a:xfrm>
            <a:off x="566928" y="4370832"/>
            <a:ext cx="2523744" cy="3840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月供 ÷ 雙職月收入 4 萬</a:t>
            </a:r>
            <a:endParaRPr lang="en-US" sz="1200" dirty="0"/>
          </a:p>
        </p:txBody>
      </p:sp>
      <p:sp>
        <p:nvSpPr>
          <p:cNvPr id="30" name="Text 28"/>
          <p:cNvSpPr txBox="1"/>
          <p:nvPr/>
        </p:nvSpPr>
        <p:spPr>
          <a:xfrm>
            <a:off x="3218688" y="4370832"/>
            <a:ext cx="2386584" cy="384048"/>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38.5%</a:t>
            </a:r>
            <a:endParaRPr lang="en-US" sz="1200" dirty="0"/>
          </a:p>
        </p:txBody>
      </p:sp>
      <p:sp>
        <p:nvSpPr>
          <p:cNvPr id="31" name="Text 29"/>
          <p:cNvSpPr txBox="1"/>
          <p:nvPr/>
        </p:nvSpPr>
        <p:spPr>
          <a:xfrm>
            <a:off x="5733288" y="4370832"/>
            <a:ext cx="2514600" cy="384048"/>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44.0%</a:t>
            </a:r>
            <a:endParaRPr lang="en-US" sz="1200" dirty="0"/>
          </a:p>
        </p:txBody>
      </p:sp>
      <p:sp>
        <p:nvSpPr>
          <p:cNvPr id="32" name="Shape 30"/>
          <p:cNvSpPr/>
          <p:nvPr/>
        </p:nvSpPr>
        <p:spPr>
          <a:xfrm>
            <a:off x="566928" y="4754880"/>
            <a:ext cx="7680960" cy="12802"/>
          </a:xfrm>
          <a:prstGeom prst="rect">
            <a:avLst/>
          </a:prstGeom>
          <a:solidFill>
            <a:srgbClr val="C72A09"/>
          </a:solidFill>
          <a:ln/>
        </p:spPr>
      </p:sp>
      <p:sp>
        <p:nvSpPr>
          <p:cNvPr id="33" name="Text 31"/>
          <p:cNvSpPr txBox="1"/>
          <p:nvPr/>
        </p:nvSpPr>
        <p:spPr>
          <a:xfrm>
            <a:off x="566928" y="4828032"/>
            <a:ext cx="2523744" cy="3840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月供 ÷ 住戶月平均收入 58,835</a:t>
            </a:r>
            <a:endParaRPr lang="en-US" sz="1200" dirty="0"/>
          </a:p>
        </p:txBody>
      </p:sp>
      <p:sp>
        <p:nvSpPr>
          <p:cNvPr id="34" name="Text 32"/>
          <p:cNvSpPr txBox="1"/>
          <p:nvPr/>
        </p:nvSpPr>
        <p:spPr>
          <a:xfrm>
            <a:off x="3218688" y="4828032"/>
            <a:ext cx="2386584" cy="384048"/>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26%</a:t>
            </a:r>
            <a:endParaRPr lang="en-US" sz="1200" dirty="0"/>
          </a:p>
        </p:txBody>
      </p:sp>
      <p:sp>
        <p:nvSpPr>
          <p:cNvPr id="35" name="Text 33"/>
          <p:cNvSpPr txBox="1"/>
          <p:nvPr/>
        </p:nvSpPr>
        <p:spPr>
          <a:xfrm>
            <a:off x="5733288" y="4828032"/>
            <a:ext cx="2514600" cy="384048"/>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30%</a:t>
            </a:r>
            <a:endParaRPr lang="en-US" sz="1200" dirty="0"/>
          </a:p>
        </p:txBody>
      </p:sp>
      <p:sp>
        <p:nvSpPr>
          <p:cNvPr id="36" name="Shape 34"/>
          <p:cNvSpPr/>
          <p:nvPr/>
        </p:nvSpPr>
        <p:spPr>
          <a:xfrm>
            <a:off x="566928" y="5212080"/>
            <a:ext cx="7680960" cy="12802"/>
          </a:xfrm>
          <a:prstGeom prst="rect">
            <a:avLst/>
          </a:prstGeom>
          <a:solidFill>
            <a:srgbClr val="C72A09"/>
          </a:solidFill>
          <a:ln/>
        </p:spPr>
      </p:sp>
      <p:sp>
        <p:nvSpPr>
          <p:cNvPr id="37" name="Text 35"/>
          <p:cNvSpPr txBox="1"/>
          <p:nvPr/>
        </p:nvSpPr>
        <p:spPr>
          <a:xfrm>
            <a:off x="8686800" y="1691640"/>
            <a:ext cx="2926080" cy="932688"/>
          </a:xfrm>
          <a:prstGeom prst="rect">
            <a:avLst/>
          </a:prstGeom>
          <a:noFill/>
          <a:ln/>
        </p:spPr>
        <p:txBody>
          <a:bodyPr wrap="square" lIns="0" tIns="0" rIns="0" bIns="0" rtlCol="0" anchor="ctr"/>
          <a:lstStyle/>
          <a:p>
            <a:pPr indent="0" marL="0">
              <a:buNone/>
            </a:pPr>
            <a:r>
              <a:rPr lang="en-US" sz="4200" b="1" dirty="0">
                <a:solidFill>
                  <a:srgbClr val="CA0013"/>
                </a:solidFill>
                <a:latin typeface="Inter" pitchFamily="34" charset="0"/>
                <a:ea typeface="Inter" pitchFamily="34" charset="-122"/>
                <a:cs typeface="Inter" pitchFamily="34" charset="-120"/>
              </a:rPr>
              <a:t>+24.7</a:t>
            </a:r>
            <a:pPr indent="0" marL="0">
              <a:buNone/>
            </a:pPr>
            <a:r>
              <a:rPr lang="en-US" sz="1764" b="1" dirty="0">
                <a:solidFill>
                  <a:srgbClr val="CA0013"/>
                </a:solidFill>
                <a:latin typeface="Microsoft JhengHei" pitchFamily="34" charset="0"/>
                <a:ea typeface="Microsoft JhengHei" pitchFamily="34" charset="-122"/>
                <a:cs typeface="Microsoft JhengHei" pitchFamily="34" charset="-120"/>
              </a:rPr>
              <a:t>%</a:t>
            </a:r>
            <a:endParaRPr lang="en-US" sz="4200" dirty="0"/>
          </a:p>
        </p:txBody>
      </p:sp>
      <p:sp>
        <p:nvSpPr>
          <p:cNvPr id="38" name="Text 36"/>
          <p:cNvSpPr txBox="1"/>
          <p:nvPr/>
        </p:nvSpPr>
        <p:spPr>
          <a:xfrm>
            <a:off x="8686800" y="2624328"/>
            <a:ext cx="292608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新批核住宅按揭</a:t>
            </a:r>
            <a:endParaRPr lang="en-US" sz="1300" dirty="0"/>
          </a:p>
        </p:txBody>
      </p:sp>
      <p:sp>
        <p:nvSpPr>
          <p:cNvPr id="39" name="Text 37"/>
          <p:cNvSpPr txBox="1"/>
          <p:nvPr/>
        </p:nvSpPr>
        <p:spPr>
          <a:xfrm>
            <a:off x="8686800" y="2990088"/>
            <a:ext cx="292608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2026 年第一季按年升幅（金管局）；逾半為七成以上成數</a:t>
            </a:r>
            <a:endParaRPr lang="en-US" sz="1050" dirty="0"/>
          </a:p>
        </p:txBody>
      </p:sp>
      <p:sp>
        <p:nvSpPr>
          <p:cNvPr id="40" name="Shape 38"/>
          <p:cNvSpPr/>
          <p:nvPr/>
        </p:nvSpPr>
        <p:spPr>
          <a:xfrm>
            <a:off x="8686800" y="4160520"/>
            <a:ext cx="2926080" cy="18288"/>
          </a:xfrm>
          <a:prstGeom prst="rect">
            <a:avLst/>
          </a:prstGeom>
          <a:solidFill>
            <a:srgbClr val="C72A09"/>
          </a:solidFill>
          <a:ln/>
        </p:spPr>
      </p:sp>
      <p:sp>
        <p:nvSpPr>
          <p:cNvPr id="41" name="Text 39"/>
          <p:cNvSpPr txBox="1"/>
          <p:nvPr/>
        </p:nvSpPr>
        <p:spPr>
          <a:xfrm>
            <a:off x="8686800" y="4297680"/>
            <a:ext cx="2926080" cy="1371600"/>
          </a:xfrm>
          <a:prstGeom prst="rect">
            <a:avLst/>
          </a:prstGeom>
          <a:noFill/>
          <a:ln/>
        </p:spPr>
        <p:txBody>
          <a:bodyPr wrap="square" lIns="0" tIns="0" rIns="0" bIns="0" rtlCol="0" anchor="t"/>
          <a:lstStyle/>
          <a:p>
            <a:pPr indent="0" marL="0">
              <a:lnSpc>
                <a:spcPct val="152000"/>
              </a:lnSpc>
              <a:buNone/>
            </a:pPr>
            <a:r>
              <a:rPr lang="en-US" sz="1150" dirty="0">
                <a:solidFill>
                  <a:srgbClr val="CA0013"/>
                </a:solidFill>
                <a:latin typeface="Microsoft JhengHei" pitchFamily="34" charset="0"/>
                <a:ea typeface="Microsoft JhengHei" pitchFamily="34" charset="-122"/>
                <a:cs typeface="Microsoft JhengHei" pitchFamily="34" charset="-120"/>
              </a:rPr>
              <a:t>月供為假設值，須以銀行實際報價替換。首期減少約 46 萬，月供多約 2,200 元：門檻由首期轉為長期供款。</a:t>
            </a:r>
            <a:endParaRPr lang="en-US" sz="1150" dirty="0"/>
          </a:p>
        </p:txBody>
      </p:sp>
      <p:sp>
        <p:nvSpPr>
          <p:cNvPr id="42" name="Text 40"/>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金管局；統計暨普查局；本組推算（雙職＝兩名本地居民中位收入）</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(11)</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樓價收入比：13 倍降至 9.6 倍</a:t>
            </a:r>
            <a:endParaRPr lang="en-US" sz="3400" dirty="0"/>
          </a:p>
        </p:txBody>
      </p:sp>
      <p:graphicFrame>
        <p:nvGraphicFramePr>
          <p:cNvPr id="8" name="Chart 0" descr=""/>
          <p:cNvGraphicFramePr/>
          <p:nvPr/>
        </p:nvGraphicFramePr>
        <p:xfrm>
          <a:off x="566928" y="1645920"/>
          <a:ext cx="5120640" cy="39319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26480" y="1691640"/>
            <a:ext cx="1316736" cy="6400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國際標準</a:t>
            </a:r>
            <a:endParaRPr lang="en-US" sz="1150" dirty="0"/>
          </a:p>
        </p:txBody>
      </p:sp>
      <p:sp>
        <p:nvSpPr>
          <p:cNvPr id="10" name="Text 7"/>
          <p:cNvSpPr txBox="1"/>
          <p:nvPr/>
        </p:nvSpPr>
        <p:spPr>
          <a:xfrm>
            <a:off x="7525512" y="1691640"/>
            <a:ext cx="4087368" cy="6400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約 3.5–5 倍（高武洲 2017）</a:t>
            </a:r>
            <a:endParaRPr lang="en-US" sz="1150" dirty="0"/>
          </a:p>
        </p:txBody>
      </p:sp>
      <p:sp>
        <p:nvSpPr>
          <p:cNvPr id="11" name="Shape 8"/>
          <p:cNvSpPr/>
          <p:nvPr/>
        </p:nvSpPr>
        <p:spPr>
          <a:xfrm>
            <a:off x="6126480" y="2313432"/>
            <a:ext cx="5486400" cy="12802"/>
          </a:xfrm>
          <a:prstGeom prst="rect">
            <a:avLst/>
          </a:prstGeom>
          <a:solidFill>
            <a:srgbClr val="C72A09"/>
          </a:solidFill>
          <a:ln/>
        </p:spPr>
      </p:sp>
      <p:sp>
        <p:nvSpPr>
          <p:cNvPr id="12" name="Text 9"/>
          <p:cNvSpPr txBox="1"/>
          <p:nvPr/>
        </p:nvSpPr>
        <p:spPr>
          <a:xfrm>
            <a:off x="6126480" y="2423160"/>
            <a:ext cx="1316736" cy="6400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口徑一</a:t>
            </a:r>
            <a:endParaRPr lang="en-US" sz="1150" dirty="0"/>
          </a:p>
        </p:txBody>
      </p:sp>
      <p:sp>
        <p:nvSpPr>
          <p:cNvPr id="13" name="Text 10"/>
          <p:cNvSpPr txBox="1"/>
          <p:nvPr/>
        </p:nvSpPr>
        <p:spPr>
          <a:xfrm>
            <a:off x="7525512" y="2423160"/>
            <a:ext cx="4087368" cy="6400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雙職本地居民中位收入：2025 年 9.6 倍（左圖各年第 4 季收入）</a:t>
            </a:r>
            <a:endParaRPr lang="en-US" sz="1150" dirty="0"/>
          </a:p>
        </p:txBody>
      </p:sp>
      <p:sp>
        <p:nvSpPr>
          <p:cNvPr id="14" name="Shape 11"/>
          <p:cNvSpPr/>
          <p:nvPr/>
        </p:nvSpPr>
        <p:spPr>
          <a:xfrm>
            <a:off x="6126480" y="3044952"/>
            <a:ext cx="5486400" cy="12802"/>
          </a:xfrm>
          <a:prstGeom prst="rect">
            <a:avLst/>
          </a:prstGeom>
          <a:solidFill>
            <a:srgbClr val="C72A09"/>
          </a:solidFill>
          <a:ln/>
        </p:spPr>
      </p:sp>
      <p:sp>
        <p:nvSpPr>
          <p:cNvPr id="15" name="Text 12"/>
          <p:cNvSpPr txBox="1"/>
          <p:nvPr/>
        </p:nvSpPr>
        <p:spPr>
          <a:xfrm>
            <a:off x="6126480" y="3154680"/>
            <a:ext cx="1316736" cy="6400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口徑二</a:t>
            </a:r>
            <a:endParaRPr lang="en-US" sz="1150" dirty="0"/>
          </a:p>
        </p:txBody>
      </p:sp>
      <p:sp>
        <p:nvSpPr>
          <p:cNvPr id="16" name="Text 13"/>
          <p:cNvSpPr txBox="1"/>
          <p:nvPr/>
        </p:nvSpPr>
        <p:spPr>
          <a:xfrm>
            <a:off x="7525512" y="3154680"/>
            <a:ext cx="4087368" cy="6400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住戶月平均收入 58,835 元：2025 年約 6.5 倍，屬偏低估計</a:t>
            </a:r>
            <a:endParaRPr lang="en-US" sz="1150" dirty="0"/>
          </a:p>
        </p:txBody>
      </p:sp>
      <p:sp>
        <p:nvSpPr>
          <p:cNvPr id="17" name="Shape 14"/>
          <p:cNvSpPr/>
          <p:nvPr/>
        </p:nvSpPr>
        <p:spPr>
          <a:xfrm>
            <a:off x="6126480" y="3776472"/>
            <a:ext cx="5486400" cy="12802"/>
          </a:xfrm>
          <a:prstGeom prst="rect">
            <a:avLst/>
          </a:prstGeom>
          <a:solidFill>
            <a:srgbClr val="C72A09"/>
          </a:solidFill>
          <a:ln/>
        </p:spPr>
      </p:sp>
      <p:sp>
        <p:nvSpPr>
          <p:cNvPr id="18" name="Text 15"/>
          <p:cNvSpPr txBox="1"/>
          <p:nvPr/>
        </p:nvSpPr>
        <p:spPr>
          <a:xfrm>
            <a:off x="6126480" y="3886200"/>
            <a:ext cx="1316736" cy="6400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單一收入者</a:t>
            </a:r>
            <a:endParaRPr lang="en-US" sz="1150" dirty="0"/>
          </a:p>
        </p:txBody>
      </p:sp>
      <p:sp>
        <p:nvSpPr>
          <p:cNvPr id="19" name="Text 16"/>
          <p:cNvSpPr txBox="1"/>
          <p:nvPr/>
        </p:nvSpPr>
        <p:spPr>
          <a:xfrm>
            <a:off x="7525512" y="3886200"/>
            <a:ext cx="4087368" cy="6400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本地居民中位收入：約 19 倍</a:t>
            </a:r>
            <a:endParaRPr lang="en-US" sz="1150" dirty="0"/>
          </a:p>
        </p:txBody>
      </p:sp>
      <p:sp>
        <p:nvSpPr>
          <p:cNvPr id="20" name="Shape 17"/>
          <p:cNvSpPr/>
          <p:nvPr/>
        </p:nvSpPr>
        <p:spPr>
          <a:xfrm>
            <a:off x="6126480" y="4507992"/>
            <a:ext cx="5486400" cy="12802"/>
          </a:xfrm>
          <a:prstGeom prst="rect">
            <a:avLst/>
          </a:prstGeom>
          <a:solidFill>
            <a:srgbClr val="C72A09"/>
          </a:solidFill>
          <a:ln/>
        </p:spPr>
      </p:sp>
      <p:sp>
        <p:nvSpPr>
          <p:cNvPr id="21" name="Text 18"/>
          <p:cNvSpPr txBox="1"/>
          <p:nvPr/>
        </p:nvSpPr>
        <p:spPr>
          <a:xfrm>
            <a:off x="6126480" y="4617720"/>
            <a:ext cx="1316736" cy="6400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結論</a:t>
            </a:r>
            <a:endParaRPr lang="en-US" sz="1150" dirty="0"/>
          </a:p>
        </p:txBody>
      </p:sp>
      <p:sp>
        <p:nvSpPr>
          <p:cNvPr id="22" name="Text 19"/>
          <p:cNvSpPr txBox="1"/>
          <p:nvPr/>
        </p:nvSpPr>
        <p:spPr>
          <a:xfrm>
            <a:off x="7525512" y="4617720"/>
            <a:ext cx="4087368" cy="6400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兩種口徑都高於 5 倍；改善來自樓價下跌，而非收入上升</a:t>
            </a:r>
            <a:endParaRPr lang="en-US" sz="1150" dirty="0"/>
          </a:p>
        </p:txBody>
      </p:sp>
      <p:sp>
        <p:nvSpPr>
          <p:cNvPr id="23" name="Shape 20"/>
          <p:cNvSpPr/>
          <p:nvPr/>
        </p:nvSpPr>
        <p:spPr>
          <a:xfrm>
            <a:off x="6126480" y="5239512"/>
            <a:ext cx="5486400" cy="12802"/>
          </a:xfrm>
          <a:prstGeom prst="rect">
            <a:avLst/>
          </a:prstGeom>
          <a:solidFill>
            <a:srgbClr val="C72A09"/>
          </a:solidFill>
          <a:ln/>
        </p:spPr>
      </p:sp>
      <p:sp>
        <p:nvSpPr>
          <p:cNvPr id="24" name="Text 21"/>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統計暨普查局；住戶收支調查 2023/24；本組推算（700 呎＝65.03 平方米）</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(12)</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誰受影響：青年與租戶</a:t>
            </a:r>
            <a:endParaRPr lang="en-US" sz="3400" dirty="0"/>
          </a:p>
        </p:txBody>
      </p:sp>
      <p:graphicFrame>
        <p:nvGraphicFramePr>
          <p:cNvPr id="8" name="Chart 0" descr=""/>
          <p:cNvGraphicFramePr/>
          <p:nvPr/>
        </p:nvGraphicFramePr>
        <p:xfrm>
          <a:off x="566928" y="1645920"/>
          <a:ext cx="5120640" cy="31089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66928" y="4800600"/>
            <a:ext cx="5120640" cy="310896"/>
          </a:xfrm>
          <a:prstGeom prst="rect">
            <a:avLst/>
          </a:prstGeom>
          <a:noFill/>
          <a:ln/>
        </p:spPr>
        <p:txBody>
          <a:bodyPr wrap="square" lIns="0" tIns="0" rIns="0" bIns="0" rtlCol="0" anchor="t"/>
          <a:lstStyle/>
          <a:p>
            <a:pPr algn="l" indent="0" marL="0">
              <a:lnSpc>
                <a:spcPct val="125000"/>
              </a:lnSpc>
              <a:buNone/>
            </a:pPr>
            <a:r>
              <a:rPr lang="en-US" sz="1050" b="1" spc="60" kern="0" dirty="0">
                <a:solidFill>
                  <a:srgbClr val="CA0013"/>
                </a:solidFill>
                <a:latin typeface="Microsoft JhengHei" pitchFamily="34" charset="0"/>
                <a:ea typeface="Microsoft JhengHei" pitchFamily="34" charset="-122"/>
                <a:cs typeface="Microsoft JhengHei" pitchFamily="34" charset="-120"/>
              </a:rPr>
              <a:t>青年指標 2024 年社會調查（N=2,348）</a:t>
            </a:r>
            <a:endParaRPr lang="en-US" sz="1050" dirty="0"/>
          </a:p>
        </p:txBody>
      </p:sp>
      <p:sp>
        <p:nvSpPr>
          <p:cNvPr id="10" name="Text 7"/>
          <p:cNvSpPr txBox="1"/>
          <p:nvPr/>
        </p:nvSpPr>
        <p:spPr>
          <a:xfrm>
            <a:off x="6126480" y="1691640"/>
            <a:ext cx="1097280" cy="56692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自置與租住</a:t>
            </a:r>
            <a:endParaRPr lang="en-US" sz="1100" dirty="0"/>
          </a:p>
        </p:txBody>
      </p:sp>
      <p:sp>
        <p:nvSpPr>
          <p:cNvPr id="11" name="Text 8"/>
          <p:cNvSpPr txBox="1"/>
          <p:nvPr/>
        </p:nvSpPr>
        <p:spPr>
          <a:xfrm>
            <a:off x="7306056" y="1691640"/>
            <a:ext cx="4306824" cy="56692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自置 73.4%（148,091 戶）；租住 39,148 戶（19.3%）（2021 人口普查）</a:t>
            </a:r>
            <a:endParaRPr lang="en-US" sz="1100" dirty="0"/>
          </a:p>
        </p:txBody>
      </p:sp>
      <p:sp>
        <p:nvSpPr>
          <p:cNvPr id="12" name="Shape 9"/>
          <p:cNvSpPr/>
          <p:nvPr/>
        </p:nvSpPr>
        <p:spPr>
          <a:xfrm>
            <a:off x="6126480" y="2240280"/>
            <a:ext cx="5486400" cy="12802"/>
          </a:xfrm>
          <a:prstGeom prst="rect">
            <a:avLst/>
          </a:prstGeom>
          <a:solidFill>
            <a:srgbClr val="C72A09"/>
          </a:solidFill>
          <a:ln/>
        </p:spPr>
      </p:sp>
      <p:sp>
        <p:nvSpPr>
          <p:cNvPr id="13" name="Text 10"/>
          <p:cNvSpPr txBox="1"/>
          <p:nvPr/>
        </p:nvSpPr>
        <p:spPr>
          <a:xfrm>
            <a:off x="6126480" y="2350008"/>
            <a:ext cx="1097280" cy="56692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青年租住</a:t>
            </a:r>
            <a:endParaRPr lang="en-US" sz="1100" dirty="0"/>
          </a:p>
        </p:txBody>
      </p:sp>
      <p:sp>
        <p:nvSpPr>
          <p:cNvPr id="14" name="Text 11"/>
          <p:cNvSpPr txBox="1"/>
          <p:nvPr/>
        </p:nvSpPr>
        <p:spPr>
          <a:xfrm>
            <a:off x="7306056" y="2350008"/>
            <a:ext cx="4306824" cy="56692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租用私人樓宇 10.6%（2018）→ 23.1%（2024）；各期問卷口徑不同，只作方向參考</a:t>
            </a:r>
            <a:endParaRPr lang="en-US" sz="1100" dirty="0"/>
          </a:p>
        </p:txBody>
      </p:sp>
      <p:sp>
        <p:nvSpPr>
          <p:cNvPr id="15" name="Shape 12"/>
          <p:cNvSpPr/>
          <p:nvPr/>
        </p:nvSpPr>
        <p:spPr>
          <a:xfrm>
            <a:off x="6126480" y="2898648"/>
            <a:ext cx="5486400" cy="12802"/>
          </a:xfrm>
          <a:prstGeom prst="rect">
            <a:avLst/>
          </a:prstGeom>
          <a:solidFill>
            <a:srgbClr val="C72A09"/>
          </a:solidFill>
          <a:ln/>
        </p:spPr>
      </p:sp>
      <p:sp>
        <p:nvSpPr>
          <p:cNvPr id="16" name="Text 13"/>
          <p:cNvSpPr txBox="1"/>
          <p:nvPr/>
        </p:nvSpPr>
        <p:spPr>
          <a:xfrm>
            <a:off x="6126480" y="3008376"/>
            <a:ext cx="1097280" cy="56692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青年開支</a:t>
            </a:r>
            <a:endParaRPr lang="en-US" sz="1100" dirty="0"/>
          </a:p>
        </p:txBody>
      </p:sp>
      <p:sp>
        <p:nvSpPr>
          <p:cNvPr id="17" name="Text 14"/>
          <p:cNvSpPr txBox="1"/>
          <p:nvPr/>
        </p:nvSpPr>
        <p:spPr>
          <a:xfrm>
            <a:off x="7306056" y="3008376"/>
            <a:ext cx="4306824" cy="56692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已婚無子女青年 61.4% 以住屋為主要開支（未婚無子女 21.4%）</a:t>
            </a:r>
            <a:endParaRPr lang="en-US" sz="1100" dirty="0"/>
          </a:p>
        </p:txBody>
      </p:sp>
      <p:sp>
        <p:nvSpPr>
          <p:cNvPr id="18" name="Shape 15"/>
          <p:cNvSpPr/>
          <p:nvPr/>
        </p:nvSpPr>
        <p:spPr>
          <a:xfrm>
            <a:off x="6126480" y="3557016"/>
            <a:ext cx="5486400" cy="12802"/>
          </a:xfrm>
          <a:prstGeom prst="rect">
            <a:avLst/>
          </a:prstGeom>
          <a:solidFill>
            <a:srgbClr val="C72A09"/>
          </a:solidFill>
          <a:ln/>
        </p:spPr>
      </p:sp>
      <p:sp>
        <p:nvSpPr>
          <p:cNvPr id="19" name="Text 16"/>
          <p:cNvSpPr txBox="1"/>
          <p:nvPr/>
        </p:nvSpPr>
        <p:spPr>
          <a:xfrm>
            <a:off x="6126480" y="3666744"/>
            <a:ext cx="1097280" cy="56692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提醒</a:t>
            </a:r>
            <a:endParaRPr lang="en-US" sz="1100" dirty="0"/>
          </a:p>
        </p:txBody>
      </p:sp>
      <p:sp>
        <p:nvSpPr>
          <p:cNvPr id="20" name="Text 17"/>
          <p:cNvSpPr txBox="1"/>
          <p:nvPr/>
        </p:nvSpPr>
        <p:spPr>
          <a:xfrm>
            <a:off x="7306056" y="3666744"/>
            <a:ext cx="4306824" cy="56692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住在購買的私樓不等於自己買，可能是住父母的樓，有待訪問驗證</a:t>
            </a:r>
            <a:endParaRPr lang="en-US" sz="1100" dirty="0"/>
          </a:p>
        </p:txBody>
      </p:sp>
      <p:sp>
        <p:nvSpPr>
          <p:cNvPr id="21" name="Shape 18"/>
          <p:cNvSpPr/>
          <p:nvPr/>
        </p:nvSpPr>
        <p:spPr>
          <a:xfrm>
            <a:off x="6126480" y="4215384"/>
            <a:ext cx="5486400" cy="12802"/>
          </a:xfrm>
          <a:prstGeom prst="rect">
            <a:avLst/>
          </a:prstGeom>
          <a:solidFill>
            <a:srgbClr val="C72A09"/>
          </a:solidFill>
          <a:ln/>
        </p:spPr>
      </p:sp>
      <p:sp>
        <p:nvSpPr>
          <p:cNvPr id="22" name="Shape 19"/>
          <p:cNvSpPr/>
          <p:nvPr/>
        </p:nvSpPr>
        <p:spPr>
          <a:xfrm>
            <a:off x="6126480" y="4526280"/>
            <a:ext cx="5486400" cy="1097280"/>
          </a:xfrm>
          <a:prstGeom prst="rect">
            <a:avLst/>
          </a:prstGeom>
          <a:solidFill>
            <a:srgbClr val="EEEBE3"/>
          </a:solidFill>
          <a:ln w="12700">
            <a:solidFill>
              <a:srgbClr val="CA0013"/>
            </a:solidFill>
            <a:prstDash val="dash"/>
          </a:ln>
        </p:spPr>
      </p:sp>
      <p:sp>
        <p:nvSpPr>
          <p:cNvPr id="23" name="Text 20"/>
          <p:cNvSpPr txBox="1"/>
          <p:nvPr/>
        </p:nvSpPr>
        <p:spPr>
          <a:xfrm>
            <a:off x="6309360" y="4636008"/>
            <a:ext cx="5120640" cy="310896"/>
          </a:xfrm>
          <a:prstGeom prst="rect">
            <a:avLst/>
          </a:prstGeom>
          <a:noFill/>
          <a:ln/>
        </p:spPr>
        <p:txBody>
          <a:bodyPr wrap="square" lIns="0" tIns="0" rIns="0" bIns="0" rtlCol="0" anchor="t"/>
          <a:lstStyle/>
          <a:p>
            <a:pPr algn="l" indent="0" marL="0">
              <a:lnSpc>
                <a:spcPct val="125000"/>
              </a:lnSpc>
              <a:buNone/>
            </a:pPr>
            <a:r>
              <a:rPr lang="en-US" sz="1000" b="1" spc="200" kern="0" dirty="0">
                <a:solidFill>
                  <a:srgbClr val="CA0013"/>
                </a:solidFill>
                <a:latin typeface="Microsoft JhengHei" pitchFamily="34" charset="0"/>
                <a:ea typeface="Microsoft JhengHei" pitchFamily="34" charset="-122"/>
                <a:cs typeface="Microsoft JhengHei" pitchFamily="34" charset="-120"/>
              </a:rPr>
              <a:t>訪問引用位</a:t>
            </a:r>
            <a:endParaRPr lang="en-US" sz="1000" dirty="0"/>
          </a:p>
        </p:txBody>
      </p:sp>
      <p:sp>
        <p:nvSpPr>
          <p:cNvPr id="24" name="Text 21"/>
          <p:cNvSpPr txBox="1"/>
          <p:nvPr/>
        </p:nvSpPr>
        <p:spPr>
          <a:xfrm>
            <a:off x="6309360" y="4892040"/>
            <a:ext cx="5120640" cy="274320"/>
          </a:xfrm>
          <a:prstGeom prst="rect">
            <a:avLst/>
          </a:prstGeom>
          <a:noFill/>
          <a:ln/>
        </p:spPr>
        <p:txBody>
          <a:bodyPr wrap="square" lIns="0" tIns="0" rIns="0" bIns="0" rtlCol="0" anchor="t"/>
          <a:lstStyle/>
          <a:p>
            <a:pPr indent="0" marL="0">
              <a:buNone/>
            </a:pPr>
            <a:r>
              <a:rPr lang="en-US" sz="1150" b="1" dirty="0">
                <a:solidFill>
                  <a:srgbClr val="CA0013"/>
                </a:solidFill>
                <a:latin typeface="Microsoft JhengHei" pitchFamily="34" charset="0"/>
                <a:ea typeface="Microsoft JhengHei" pitchFamily="34" charset="-122"/>
                <a:cs typeface="Microsoft JhengHei" pitchFamily="34" charset="-120"/>
              </a:rPr>
              <a:t>受訪者＿＿（地產從業員／青年組織）</a:t>
            </a:r>
            <a:endParaRPr lang="en-US" sz="1150" dirty="0"/>
          </a:p>
        </p:txBody>
      </p:sp>
      <p:sp>
        <p:nvSpPr>
          <p:cNvPr id="25" name="Text 22"/>
          <p:cNvSpPr txBox="1"/>
          <p:nvPr/>
        </p:nvSpPr>
        <p:spPr>
          <a:xfrm>
            <a:off x="6309360" y="5148072"/>
            <a:ext cx="5120640" cy="438912"/>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追問：青年首置最大困難是首期、收入，還是家庭支援？租住比例上升的原因？</a:t>
            </a:r>
            <a:endParaRPr lang="en-US" sz="1050" dirty="0"/>
          </a:p>
        </p:txBody>
      </p:sp>
      <p:sp>
        <p:nvSpPr>
          <p:cNvPr id="26" name="Text 23"/>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 2021 人口普查；教青局《澳門青年指標》</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(13)</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2023 年起：樓價跌，租金升</a:t>
            </a:r>
            <a:endParaRPr lang="en-US" sz="3400" dirty="0"/>
          </a:p>
        </p:txBody>
      </p:sp>
      <p:graphicFrame>
        <p:nvGraphicFramePr>
          <p:cNvPr id="8" name="Chart 0" descr=""/>
          <p:cNvGraphicFramePr/>
          <p:nvPr/>
        </p:nvGraphicFramePr>
        <p:xfrm>
          <a:off x="566928" y="1645920"/>
          <a:ext cx="5852160" cy="3794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66928" y="5468112"/>
            <a:ext cx="5852160" cy="310896"/>
          </a:xfrm>
          <a:prstGeom prst="rect">
            <a:avLst/>
          </a:prstGeom>
          <a:noFill/>
          <a:ln/>
        </p:spPr>
        <p:txBody>
          <a:bodyPr wrap="square" lIns="0" tIns="0" rIns="0" bIns="0" rtlCol="0" anchor="t"/>
          <a:lstStyle/>
          <a:p>
            <a:pPr algn="l" indent="0" marL="0">
              <a:lnSpc>
                <a:spcPct val="125000"/>
              </a:lnSpc>
              <a:buNone/>
            </a:pPr>
            <a:r>
              <a:rPr lang="en-US" sz="1050" b="1" spc="60" kern="0" dirty="0">
                <a:solidFill>
                  <a:srgbClr val="CA0013"/>
                </a:solidFill>
                <a:latin typeface="Microsoft JhengHei" pitchFamily="34" charset="0"/>
                <a:ea typeface="Microsoft JhengHei" pitchFamily="34" charset="-122"/>
                <a:cs typeface="Microsoft JhengHei" pitchFamily="34" charset="-120"/>
              </a:rPr>
              <a:t>指數：2023 年＝100</a:t>
            </a:r>
            <a:endParaRPr lang="en-US" sz="1050" dirty="0"/>
          </a:p>
        </p:txBody>
      </p:sp>
      <p:sp>
        <p:nvSpPr>
          <p:cNvPr id="10" name="Text 7"/>
          <p:cNvSpPr txBox="1"/>
          <p:nvPr/>
        </p:nvSpPr>
        <p:spPr>
          <a:xfrm>
            <a:off x="6858000" y="1691640"/>
            <a:ext cx="4754880" cy="932688"/>
          </a:xfrm>
          <a:prstGeom prst="rect">
            <a:avLst/>
          </a:prstGeom>
          <a:noFill/>
          <a:ln/>
        </p:spPr>
        <p:txBody>
          <a:bodyPr wrap="square" lIns="0" tIns="0" rIns="0" bIns="0" rtlCol="0" anchor="ctr"/>
          <a:lstStyle/>
          <a:p>
            <a:pPr indent="0" marL="0">
              <a:buNone/>
            </a:pPr>
            <a:r>
              <a:rPr lang="en-US" sz="5000" b="1" dirty="0">
                <a:solidFill>
                  <a:srgbClr val="CA0013"/>
                </a:solidFill>
                <a:latin typeface="Inter" pitchFamily="34" charset="0"/>
                <a:ea typeface="Inter" pitchFamily="34" charset="-122"/>
                <a:cs typeface="Inter" pitchFamily="34" charset="-120"/>
              </a:rPr>
              <a:t>43</a:t>
            </a:r>
            <a:pPr indent="0" marL="0">
              <a:buNone/>
            </a:pPr>
            <a:r>
              <a:rPr lang="en-US" sz="2100" b="1" dirty="0">
                <a:solidFill>
                  <a:srgbClr val="CA0013"/>
                </a:solidFill>
                <a:latin typeface="Microsoft JhengHei" pitchFamily="34" charset="0"/>
                <a:ea typeface="Microsoft JhengHei" pitchFamily="34" charset="-122"/>
                <a:cs typeface="Microsoft JhengHei" pitchFamily="34" charset="-120"/>
              </a:rPr>
              <a:t> 年</a:t>
            </a:r>
            <a:endParaRPr lang="en-US" sz="5000" dirty="0"/>
          </a:p>
        </p:txBody>
      </p:sp>
      <p:sp>
        <p:nvSpPr>
          <p:cNvPr id="11" name="Text 8"/>
          <p:cNvSpPr txBox="1"/>
          <p:nvPr/>
        </p:nvSpPr>
        <p:spPr>
          <a:xfrm>
            <a:off x="6858000" y="2624328"/>
            <a:ext cx="475488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買一個單位＝約 43 年租金（2025）</a:t>
            </a:r>
            <a:endParaRPr lang="en-US" sz="1300" dirty="0"/>
          </a:p>
        </p:txBody>
      </p:sp>
      <p:sp>
        <p:nvSpPr>
          <p:cNvPr id="12" name="Text 9"/>
          <p:cNvSpPr txBox="1"/>
          <p:nvPr/>
        </p:nvSpPr>
        <p:spPr>
          <a:xfrm>
            <a:off x="6858000" y="2990088"/>
            <a:ext cx="475488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2023 年 59 年 → 2024 年 52 年；毛租金回報 1.7% → 2.4%</a:t>
            </a:r>
            <a:endParaRPr lang="en-US" sz="1050" dirty="0"/>
          </a:p>
        </p:txBody>
      </p:sp>
      <p:sp>
        <p:nvSpPr>
          <p:cNvPr id="13" name="Shape 10"/>
          <p:cNvSpPr/>
          <p:nvPr/>
        </p:nvSpPr>
        <p:spPr>
          <a:xfrm>
            <a:off x="6858000" y="3977640"/>
            <a:ext cx="4754880" cy="18288"/>
          </a:xfrm>
          <a:prstGeom prst="rect">
            <a:avLst/>
          </a:prstGeom>
          <a:solidFill>
            <a:srgbClr val="C72A09"/>
          </a:solidFill>
          <a:ln/>
        </p:spPr>
      </p:sp>
      <p:sp>
        <p:nvSpPr>
          <p:cNvPr id="14" name="Text 11"/>
          <p:cNvSpPr txBox="1"/>
          <p:nvPr/>
        </p:nvSpPr>
        <p:spPr>
          <a:xfrm>
            <a:off x="6858000" y="4114800"/>
            <a:ext cx="4754880" cy="1463040"/>
          </a:xfrm>
          <a:prstGeom prst="rect">
            <a:avLst/>
          </a:prstGeom>
          <a:noFill/>
          <a:ln/>
        </p:spPr>
        <p:txBody>
          <a:bodyPr wrap="square" lIns="0" tIns="0" rIns="0" bIns="0" rtlCol="0" anchor="t"/>
          <a:lstStyle/>
          <a:p>
            <a:pPr indent="0" marL="0">
              <a:lnSpc>
                <a:spcPct val="152000"/>
              </a:lnSpc>
              <a:buNone/>
            </a:pPr>
            <a:r>
              <a:rPr lang="en-US" sz="1150" dirty="0">
                <a:solidFill>
                  <a:srgbClr val="CA0013"/>
                </a:solidFill>
                <a:latin typeface="Microsoft JhengHei" pitchFamily="34" charset="0"/>
                <a:ea typeface="Microsoft JhengHei" pitchFamily="34" charset="-122"/>
                <a:cs typeface="Microsoft JhengHei" pitchFamily="34" charset="-120"/>
              </a:rPr>
              <a:t>價格與租金口徑不同（成交均價對租約申報均價），只作粗略指標。2025 年橫切面：小單位（少於 50 平方米）每平方米售價最低（67,826 元），租金卻最高（168 元）。</a:t>
            </a:r>
            <a:endParaRPr lang="en-US" sz="1150" dirty="0"/>
          </a:p>
        </p:txBody>
      </p:sp>
      <p:sp>
        <p:nvSpPr>
          <p:cNvPr id="15" name="Text 12"/>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統計暨普查局《私人建築及不動產交易》《租金統計》；2023 年前租金亦曾下跌（二手資料，待補）</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(14)</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問題二</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舊樓：樓齡高，未必危險</a:t>
            </a:r>
            <a:endParaRPr lang="en-US" sz="3400" dirty="0"/>
          </a:p>
        </p:txBody>
      </p:sp>
      <p:sp>
        <p:nvSpPr>
          <p:cNvPr id="8" name="Text 6"/>
          <p:cNvSpPr txBox="1"/>
          <p:nvPr/>
        </p:nvSpPr>
        <p:spPr>
          <a:xfrm>
            <a:off x="566928" y="1645920"/>
            <a:ext cx="3383280" cy="310896"/>
          </a:xfrm>
          <a:prstGeom prst="rect">
            <a:avLst/>
          </a:prstGeom>
          <a:noFill/>
          <a:ln/>
        </p:spPr>
        <p:txBody>
          <a:bodyPr wrap="square" lIns="0" tIns="0" rIns="0" bIns="0" rtlCol="0" anchor="t"/>
          <a:lstStyle/>
          <a:p>
            <a:pPr algn="l" indent="0" marL="0">
              <a:lnSpc>
                <a:spcPct val="125000"/>
              </a:lnSpc>
              <a:buNone/>
            </a:pPr>
            <a:r>
              <a:rPr lang="en-US" sz="1200" b="1" spc="200" kern="0" dirty="0">
                <a:solidFill>
                  <a:srgbClr val="CA0013"/>
                </a:solidFill>
                <a:latin typeface="Microsoft JhengHei" pitchFamily="34" charset="0"/>
                <a:ea typeface="Microsoft JhengHei" pitchFamily="34" charset="-122"/>
                <a:cs typeface="Microsoft JhengHei" pitchFamily="34" charset="-120"/>
              </a:rPr>
              <a:t>第一層　樓齡</a:t>
            </a:r>
            <a:endParaRPr lang="en-US" sz="1200" dirty="0"/>
          </a:p>
        </p:txBody>
      </p:sp>
      <p:sp>
        <p:nvSpPr>
          <p:cNvPr id="9" name="Shape 7"/>
          <p:cNvSpPr/>
          <p:nvPr/>
        </p:nvSpPr>
        <p:spPr>
          <a:xfrm>
            <a:off x="566928" y="2011680"/>
            <a:ext cx="3383280" cy="18288"/>
          </a:xfrm>
          <a:prstGeom prst="rect">
            <a:avLst/>
          </a:prstGeom>
          <a:solidFill>
            <a:srgbClr val="C72A09"/>
          </a:solidFill>
          <a:ln/>
        </p:spPr>
      </p:sp>
      <p:sp>
        <p:nvSpPr>
          <p:cNvPr id="10" name="Text 8"/>
          <p:cNvSpPr txBox="1"/>
          <p:nvPr/>
        </p:nvSpPr>
        <p:spPr>
          <a:xfrm>
            <a:off x="566928" y="2121408"/>
            <a:ext cx="3383280" cy="932688"/>
          </a:xfrm>
          <a:prstGeom prst="rect">
            <a:avLst/>
          </a:prstGeom>
          <a:noFill/>
          <a:ln/>
        </p:spPr>
        <p:txBody>
          <a:bodyPr wrap="square" lIns="0" tIns="0" rIns="0" bIns="0" rtlCol="0" anchor="ctr"/>
          <a:lstStyle/>
          <a:p>
            <a:pPr indent="0" marL="0">
              <a:buNone/>
            </a:pPr>
            <a:r>
              <a:rPr lang="en-US" sz="4600" b="1" dirty="0">
                <a:solidFill>
                  <a:srgbClr val="CA0013"/>
                </a:solidFill>
                <a:latin typeface="Inter" pitchFamily="34" charset="0"/>
                <a:ea typeface="Inter" pitchFamily="34" charset="-122"/>
                <a:cs typeface="Inter" pitchFamily="34" charset="-120"/>
              </a:rPr>
              <a:t>≈4,800</a:t>
            </a:r>
            <a:pPr indent="0" marL="0">
              <a:buNone/>
            </a:pPr>
            <a:r>
              <a:rPr lang="en-US" sz="1932" b="1" dirty="0">
                <a:solidFill>
                  <a:srgbClr val="CA0013"/>
                </a:solidFill>
                <a:latin typeface="Microsoft JhengHei" pitchFamily="34" charset="0"/>
                <a:ea typeface="Microsoft JhengHei" pitchFamily="34" charset="-122"/>
                <a:cs typeface="Microsoft JhengHei" pitchFamily="34" charset="-120"/>
              </a:rPr>
              <a:t> 幢</a:t>
            </a:r>
            <a:endParaRPr lang="en-US" sz="4600" dirty="0"/>
          </a:p>
        </p:txBody>
      </p:sp>
      <p:sp>
        <p:nvSpPr>
          <p:cNvPr id="11" name="Text 9"/>
          <p:cNvSpPr txBox="1"/>
          <p:nvPr/>
        </p:nvSpPr>
        <p:spPr>
          <a:xfrm>
            <a:off x="566928" y="3054096"/>
            <a:ext cx="338328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樓齡 30 年以上</a:t>
            </a:r>
            <a:endParaRPr lang="en-US" sz="1300" dirty="0"/>
          </a:p>
        </p:txBody>
      </p:sp>
      <p:sp>
        <p:nvSpPr>
          <p:cNvPr id="12" name="Text 10"/>
          <p:cNvSpPr txBox="1"/>
          <p:nvPr/>
        </p:nvSpPr>
        <p:spPr>
          <a:xfrm>
            <a:off x="566928" y="3419856"/>
            <a:ext cx="338328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報道數字；另有 5,173 幢（2019）之說，口徑與出處待核，不作趨勢比較</a:t>
            </a:r>
            <a:endParaRPr lang="en-US" sz="1050" dirty="0"/>
          </a:p>
        </p:txBody>
      </p:sp>
      <p:sp>
        <p:nvSpPr>
          <p:cNvPr id="13" name="Text 11"/>
          <p:cNvSpPr txBox="1"/>
          <p:nvPr/>
        </p:nvSpPr>
        <p:spPr>
          <a:xfrm>
            <a:off x="4407408" y="1645920"/>
            <a:ext cx="3383280" cy="310896"/>
          </a:xfrm>
          <a:prstGeom prst="rect">
            <a:avLst/>
          </a:prstGeom>
          <a:noFill/>
          <a:ln/>
        </p:spPr>
        <p:txBody>
          <a:bodyPr wrap="square" lIns="0" tIns="0" rIns="0" bIns="0" rtlCol="0" anchor="t"/>
          <a:lstStyle/>
          <a:p>
            <a:pPr algn="l" indent="0" marL="0">
              <a:lnSpc>
                <a:spcPct val="125000"/>
              </a:lnSpc>
              <a:buNone/>
            </a:pPr>
            <a:r>
              <a:rPr lang="en-US" sz="1200" b="1" spc="200" kern="0" dirty="0">
                <a:solidFill>
                  <a:srgbClr val="CA0013"/>
                </a:solidFill>
                <a:latin typeface="Microsoft JhengHei" pitchFamily="34" charset="0"/>
                <a:ea typeface="Microsoft JhengHei" pitchFamily="34" charset="-122"/>
                <a:cs typeface="Microsoft JhengHei" pitchFamily="34" charset="-120"/>
              </a:rPr>
              <a:t>第二層　失修</a:t>
            </a:r>
            <a:endParaRPr lang="en-US" sz="1200" dirty="0"/>
          </a:p>
        </p:txBody>
      </p:sp>
      <p:sp>
        <p:nvSpPr>
          <p:cNvPr id="14" name="Shape 12"/>
          <p:cNvSpPr/>
          <p:nvPr/>
        </p:nvSpPr>
        <p:spPr>
          <a:xfrm>
            <a:off x="4407408" y="2011680"/>
            <a:ext cx="3383280" cy="18288"/>
          </a:xfrm>
          <a:prstGeom prst="rect">
            <a:avLst/>
          </a:prstGeom>
          <a:solidFill>
            <a:srgbClr val="C72A09"/>
          </a:solidFill>
          <a:ln/>
        </p:spPr>
      </p:sp>
      <p:sp>
        <p:nvSpPr>
          <p:cNvPr id="15" name="Text 13"/>
          <p:cNvSpPr txBox="1"/>
          <p:nvPr/>
        </p:nvSpPr>
        <p:spPr>
          <a:xfrm>
            <a:off x="4407408" y="2121408"/>
            <a:ext cx="3383280" cy="932688"/>
          </a:xfrm>
          <a:prstGeom prst="rect">
            <a:avLst/>
          </a:prstGeom>
          <a:noFill/>
          <a:ln/>
        </p:spPr>
        <p:txBody>
          <a:bodyPr wrap="square" lIns="0" tIns="0" rIns="0" bIns="0" rtlCol="0" anchor="ctr"/>
          <a:lstStyle/>
          <a:p>
            <a:pPr indent="0" marL="0">
              <a:buNone/>
            </a:pPr>
            <a:r>
              <a:rPr lang="en-US" sz="4600" b="1" dirty="0">
                <a:solidFill>
                  <a:srgbClr val="CA0013"/>
                </a:solidFill>
                <a:latin typeface="Inter" pitchFamily="34" charset="0"/>
                <a:ea typeface="Inter" pitchFamily="34" charset="-122"/>
                <a:cs typeface="Inter" pitchFamily="34" charset="-120"/>
              </a:rPr>
              <a:t>84</a:t>
            </a:r>
            <a:pPr indent="0" marL="0">
              <a:buNone/>
            </a:pPr>
            <a:r>
              <a:rPr lang="en-US" sz="1932" b="1" dirty="0">
                <a:solidFill>
                  <a:srgbClr val="CA0013"/>
                </a:solidFill>
                <a:latin typeface="Microsoft JhengHei" pitchFamily="34" charset="0"/>
                <a:ea typeface="Microsoft JhengHei" pitchFamily="34" charset="-122"/>
                <a:cs typeface="Microsoft JhengHei" pitchFamily="34" charset="-120"/>
              </a:rPr>
              <a:t> 宗</a:t>
            </a:r>
            <a:endParaRPr lang="en-US" sz="4600" dirty="0"/>
          </a:p>
        </p:txBody>
      </p:sp>
      <p:sp>
        <p:nvSpPr>
          <p:cNvPr id="16" name="Text 14"/>
          <p:cNvSpPr txBox="1"/>
          <p:nvPr/>
        </p:nvSpPr>
        <p:spPr>
          <a:xfrm>
            <a:off x="4407408" y="3054096"/>
            <a:ext cx="338328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通知業權人檢查維修</a:t>
            </a:r>
            <a:endParaRPr lang="en-US" sz="1300" dirty="0"/>
          </a:p>
        </p:txBody>
      </p:sp>
      <p:sp>
        <p:nvSpPr>
          <p:cNvPr id="17" name="Text 15"/>
          <p:cNvSpPr txBox="1"/>
          <p:nvPr/>
        </p:nvSpPr>
        <p:spPr>
          <a:xfrm>
            <a:off x="4407408" y="3419856"/>
            <a:ext cx="338328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2026 年首季，土地工務局因失修巡查 106 次</a:t>
            </a:r>
            <a:endParaRPr lang="en-US" sz="1050" dirty="0"/>
          </a:p>
        </p:txBody>
      </p:sp>
      <p:sp>
        <p:nvSpPr>
          <p:cNvPr id="18" name="Text 16"/>
          <p:cNvSpPr txBox="1"/>
          <p:nvPr/>
        </p:nvSpPr>
        <p:spPr>
          <a:xfrm>
            <a:off x="8247888" y="1645920"/>
            <a:ext cx="3383280" cy="310896"/>
          </a:xfrm>
          <a:prstGeom prst="rect">
            <a:avLst/>
          </a:prstGeom>
          <a:noFill/>
          <a:ln/>
        </p:spPr>
        <p:txBody>
          <a:bodyPr wrap="square" lIns="0" tIns="0" rIns="0" bIns="0" rtlCol="0" anchor="t"/>
          <a:lstStyle/>
          <a:p>
            <a:pPr algn="l" indent="0" marL="0">
              <a:lnSpc>
                <a:spcPct val="125000"/>
              </a:lnSpc>
              <a:buNone/>
            </a:pPr>
            <a:r>
              <a:rPr lang="en-US" sz="1200" b="1" spc="200" kern="0" dirty="0">
                <a:solidFill>
                  <a:srgbClr val="CA0013"/>
                </a:solidFill>
                <a:latin typeface="Microsoft JhengHei" pitchFamily="34" charset="0"/>
                <a:ea typeface="Microsoft JhengHei" pitchFamily="34" charset="-122"/>
                <a:cs typeface="Microsoft JhengHei" pitchFamily="34" charset="-120"/>
              </a:rPr>
              <a:t>第三層　殘危</a:t>
            </a:r>
            <a:endParaRPr lang="en-US" sz="1200" dirty="0"/>
          </a:p>
        </p:txBody>
      </p:sp>
      <p:sp>
        <p:nvSpPr>
          <p:cNvPr id="19" name="Shape 17"/>
          <p:cNvSpPr/>
          <p:nvPr/>
        </p:nvSpPr>
        <p:spPr>
          <a:xfrm>
            <a:off x="8247888" y="2011680"/>
            <a:ext cx="3383280" cy="18288"/>
          </a:xfrm>
          <a:prstGeom prst="rect">
            <a:avLst/>
          </a:prstGeom>
          <a:solidFill>
            <a:srgbClr val="C72A09"/>
          </a:solidFill>
          <a:ln/>
        </p:spPr>
      </p:sp>
      <p:sp>
        <p:nvSpPr>
          <p:cNvPr id="20" name="Text 18"/>
          <p:cNvSpPr txBox="1"/>
          <p:nvPr/>
        </p:nvSpPr>
        <p:spPr>
          <a:xfrm>
            <a:off x="8247888" y="2121408"/>
            <a:ext cx="3383280" cy="932688"/>
          </a:xfrm>
          <a:prstGeom prst="rect">
            <a:avLst/>
          </a:prstGeom>
          <a:noFill/>
          <a:ln/>
        </p:spPr>
        <p:txBody>
          <a:bodyPr wrap="square" lIns="0" tIns="0" rIns="0" bIns="0" rtlCol="0" anchor="ctr"/>
          <a:lstStyle/>
          <a:p>
            <a:pPr indent="0" marL="0">
              <a:buNone/>
            </a:pPr>
            <a:r>
              <a:rPr lang="en-US" sz="4600" b="1" dirty="0">
                <a:solidFill>
                  <a:srgbClr val="CA0013"/>
                </a:solidFill>
                <a:latin typeface="Inter" pitchFamily="34" charset="0"/>
                <a:ea typeface="Inter" pitchFamily="34" charset="-122"/>
                <a:cs typeface="Inter" pitchFamily="34" charset="-120"/>
              </a:rPr>
              <a:t>3</a:t>
            </a:r>
            <a:pPr indent="0" marL="0">
              <a:buNone/>
            </a:pPr>
            <a:r>
              <a:rPr lang="en-US" sz="1932" b="1" dirty="0">
                <a:solidFill>
                  <a:srgbClr val="CA0013"/>
                </a:solidFill>
                <a:latin typeface="Microsoft JhengHei" pitchFamily="34" charset="0"/>
                <a:ea typeface="Microsoft JhengHei" pitchFamily="34" charset="-122"/>
                <a:cs typeface="Microsoft JhengHei" pitchFamily="34" charset="-120"/>
              </a:rPr>
              <a:t> 幢</a:t>
            </a:r>
            <a:endParaRPr lang="en-US" sz="4600" dirty="0"/>
          </a:p>
        </p:txBody>
      </p:sp>
      <p:sp>
        <p:nvSpPr>
          <p:cNvPr id="21" name="Text 19"/>
          <p:cNvSpPr txBox="1"/>
          <p:nvPr/>
        </p:nvSpPr>
        <p:spPr>
          <a:xfrm>
            <a:off x="8247888" y="3054096"/>
            <a:ext cx="338328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2026 年 4 月清拆</a:t>
            </a:r>
            <a:endParaRPr lang="en-US" sz="1300" dirty="0"/>
          </a:p>
        </p:txBody>
      </p:sp>
      <p:sp>
        <p:nvSpPr>
          <p:cNvPr id="22" name="Text 20"/>
          <p:cNvSpPr txBox="1"/>
          <p:nvPr/>
        </p:nvSpPr>
        <p:spPr>
          <a:xfrm>
            <a:off x="8247888" y="3419856"/>
            <a:ext cx="338328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老饕巷、關前正街、鍾家里；經檢驗委員會證實，業權人逾期不拆，由局方代拆</a:t>
            </a:r>
            <a:endParaRPr lang="en-US" sz="1050" dirty="0"/>
          </a:p>
        </p:txBody>
      </p:sp>
      <p:sp>
        <p:nvSpPr>
          <p:cNvPr id="23" name="Shape 21"/>
          <p:cNvSpPr/>
          <p:nvPr/>
        </p:nvSpPr>
        <p:spPr>
          <a:xfrm>
            <a:off x="4023360" y="2587752"/>
            <a:ext cx="310896" cy="0"/>
          </a:xfrm>
          <a:prstGeom prst="line">
            <a:avLst/>
          </a:prstGeom>
          <a:noFill/>
          <a:ln w="28575">
            <a:solidFill>
              <a:srgbClr val="CA0013"/>
            </a:solidFill>
            <a:prstDash val="solid"/>
            <a:tailEnd type="triangle"/>
          </a:ln>
        </p:spPr>
      </p:sp>
      <p:sp>
        <p:nvSpPr>
          <p:cNvPr id="24" name="Shape 22"/>
          <p:cNvSpPr/>
          <p:nvPr/>
        </p:nvSpPr>
        <p:spPr>
          <a:xfrm>
            <a:off x="7863840" y="2587752"/>
            <a:ext cx="310896" cy="0"/>
          </a:xfrm>
          <a:prstGeom prst="line">
            <a:avLst/>
          </a:prstGeom>
          <a:noFill/>
          <a:ln w="28575">
            <a:solidFill>
              <a:srgbClr val="CA0013"/>
            </a:solidFill>
            <a:prstDash val="solid"/>
            <a:tailEnd type="triangle"/>
          </a:ln>
        </p:spPr>
      </p:sp>
      <p:sp>
        <p:nvSpPr>
          <p:cNvPr id="25" name="Shape 23"/>
          <p:cNvSpPr/>
          <p:nvPr/>
        </p:nvSpPr>
        <p:spPr>
          <a:xfrm>
            <a:off x="566928" y="4343400"/>
            <a:ext cx="11057839" cy="18288"/>
          </a:xfrm>
          <a:prstGeom prst="rect">
            <a:avLst/>
          </a:prstGeom>
          <a:solidFill>
            <a:srgbClr val="C72A09"/>
          </a:solidFill>
          <a:ln/>
        </p:spPr>
      </p:sp>
      <p:sp>
        <p:nvSpPr>
          <p:cNvPr id="26" name="Text 24"/>
          <p:cNvSpPr txBox="1"/>
          <p:nvPr/>
        </p:nvSpPr>
        <p:spPr>
          <a:xfrm>
            <a:off x="566928" y="4526280"/>
            <a:ext cx="530352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怎樣讀這三層</a:t>
            </a:r>
            <a:endParaRPr lang="en-US" sz="1200" dirty="0"/>
          </a:p>
        </p:txBody>
      </p:sp>
      <p:sp>
        <p:nvSpPr>
          <p:cNvPr id="27" name="Text 25"/>
          <p:cNvSpPr txBox="1"/>
          <p:nvPr/>
        </p:nvSpPr>
        <p:spPr>
          <a:xfrm>
            <a:off x="566928" y="4846320"/>
            <a:ext cx="5303520" cy="86868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樓齡是背景，失修是過程，殘危是結果。樓齡高的樓宇是高風險群體，但樓齡本身不等於失修或殘危；不能以樓齡單獨判定危樓，也不能以三幢清拆推斷整體。</a:t>
            </a:r>
            <a:endParaRPr lang="en-US" sz="1150" dirty="0"/>
          </a:p>
        </p:txBody>
      </p:sp>
      <p:sp>
        <p:nvSpPr>
          <p:cNvPr id="28" name="Text 26"/>
          <p:cNvSpPr txBox="1"/>
          <p:nvPr/>
        </p:nvSpPr>
        <p:spPr>
          <a:xfrm>
            <a:off x="6400800" y="4526280"/>
            <a:ext cx="521208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資料缺口</a:t>
            </a:r>
            <a:endParaRPr lang="en-US" sz="1200" dirty="0"/>
          </a:p>
        </p:txBody>
      </p:sp>
      <p:sp>
        <p:nvSpPr>
          <p:cNvPr id="29" name="Text 27"/>
          <p:cNvSpPr txBox="1"/>
          <p:nvPr/>
        </p:nvSpPr>
        <p:spPr>
          <a:xfrm>
            <a:off x="6400800" y="4846320"/>
            <a:ext cx="5212080" cy="86868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官方未見按年公布的三層時間序列。本組沒有單一來源可支持「五年趨勢」，只呈現現況；措施三建議把分級資料公開。</a:t>
            </a:r>
            <a:endParaRPr lang="en-US" sz="1150" dirty="0"/>
          </a:p>
        </p:txBody>
      </p:sp>
      <p:sp>
        <p:nvSpPr>
          <p:cNvPr id="30" name="Text 28"/>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土地工務局新聞稿（2026-05-03）；樓齡幢數為報道數字</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(15)</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問題二</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都更法：業權門檻與程序</a:t>
            </a:r>
            <a:endParaRPr lang="en-US" sz="3400" dirty="0"/>
          </a:p>
        </p:txBody>
      </p:sp>
      <p:sp>
        <p:nvSpPr>
          <p:cNvPr id="8" name="Text 6"/>
          <p:cNvSpPr txBox="1"/>
          <p:nvPr/>
        </p:nvSpPr>
        <p:spPr>
          <a:xfrm>
            <a:off x="566928" y="1600200"/>
            <a:ext cx="566928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第 6 條：啟動強制參與重建所需業權比例</a:t>
            </a:r>
            <a:endParaRPr lang="en-US" sz="1200" dirty="0"/>
          </a:p>
        </p:txBody>
      </p:sp>
      <p:sp>
        <p:nvSpPr>
          <p:cNvPr id="9" name="Text 7"/>
          <p:cNvSpPr txBox="1"/>
          <p:nvPr/>
        </p:nvSpPr>
        <p:spPr>
          <a:xfrm>
            <a:off x="566928" y="1984248"/>
            <a:ext cx="416966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樓宇狀況</a:t>
            </a:r>
            <a:endParaRPr lang="en-US" sz="1100" dirty="0"/>
          </a:p>
        </p:txBody>
      </p:sp>
      <p:sp>
        <p:nvSpPr>
          <p:cNvPr id="10" name="Text 8"/>
          <p:cNvSpPr txBox="1"/>
          <p:nvPr/>
        </p:nvSpPr>
        <p:spPr>
          <a:xfrm>
            <a:off x="4864608" y="1984248"/>
            <a:ext cx="1371600" cy="310896"/>
          </a:xfrm>
          <a:prstGeom prst="rect">
            <a:avLst/>
          </a:prstGeom>
          <a:noFill/>
          <a:ln/>
        </p:spPr>
        <p:txBody>
          <a:bodyPr wrap="square" lIns="0" tIns="0" rIns="0" bIns="0" rtlCol="0" anchor="ctr"/>
          <a:lstStyle/>
          <a:p>
            <a:pPr algn="r"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所需業權</a:t>
            </a:r>
            <a:endParaRPr lang="en-US" sz="1100" dirty="0"/>
          </a:p>
        </p:txBody>
      </p:sp>
      <p:sp>
        <p:nvSpPr>
          <p:cNvPr id="11" name="Shape 9"/>
          <p:cNvSpPr/>
          <p:nvPr/>
        </p:nvSpPr>
        <p:spPr>
          <a:xfrm>
            <a:off x="566928" y="2331720"/>
            <a:ext cx="5669280" cy="18288"/>
          </a:xfrm>
          <a:prstGeom prst="rect">
            <a:avLst/>
          </a:prstGeom>
          <a:solidFill>
            <a:srgbClr val="C72A09"/>
          </a:solidFill>
          <a:ln/>
        </p:spPr>
      </p:sp>
      <p:sp>
        <p:nvSpPr>
          <p:cNvPr id="12" name="Text 10"/>
          <p:cNvSpPr txBox="1"/>
          <p:nvPr/>
        </p:nvSpPr>
        <p:spPr>
          <a:xfrm>
            <a:off x="566928" y="2423160"/>
            <a:ext cx="4169664" cy="402336"/>
          </a:xfrm>
          <a:prstGeom prst="rect">
            <a:avLst/>
          </a:prstGeom>
          <a:noFill/>
          <a:ln/>
        </p:spPr>
        <p:txBody>
          <a:bodyPr wrap="square" lIns="0" tIns="0" rIns="0" bIns="0" rtlCol="0" anchor="ctr"/>
          <a:lstStyle/>
          <a:p>
            <a:pPr algn="l" indent="0" marL="0">
              <a:buNone/>
            </a:pPr>
            <a:r>
              <a:rPr lang="en-US" sz="1300" b="1" dirty="0">
                <a:solidFill>
                  <a:srgbClr val="CA0013"/>
                </a:solidFill>
                <a:latin typeface="Microsoft JhengHei" pitchFamily="34" charset="0"/>
                <a:ea typeface="Microsoft JhengHei" pitchFamily="34" charset="-122"/>
                <a:cs typeface="Microsoft JhengHei" pitchFamily="34" charset="-120"/>
              </a:rPr>
              <a:t>樓齡 30 至 40 年</a:t>
            </a:r>
            <a:endParaRPr lang="en-US" sz="1300" dirty="0"/>
          </a:p>
        </p:txBody>
      </p:sp>
      <p:sp>
        <p:nvSpPr>
          <p:cNvPr id="13" name="Text 11"/>
          <p:cNvSpPr txBox="1"/>
          <p:nvPr/>
        </p:nvSpPr>
        <p:spPr>
          <a:xfrm>
            <a:off x="4864608" y="2423160"/>
            <a:ext cx="1371600" cy="402336"/>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85%</a:t>
            </a:r>
            <a:endParaRPr lang="en-US" sz="1300" dirty="0"/>
          </a:p>
        </p:txBody>
      </p:sp>
      <p:sp>
        <p:nvSpPr>
          <p:cNvPr id="14" name="Shape 12"/>
          <p:cNvSpPr/>
          <p:nvPr/>
        </p:nvSpPr>
        <p:spPr>
          <a:xfrm>
            <a:off x="566928" y="2825496"/>
            <a:ext cx="5669280" cy="12802"/>
          </a:xfrm>
          <a:prstGeom prst="rect">
            <a:avLst/>
          </a:prstGeom>
          <a:solidFill>
            <a:srgbClr val="C72A09"/>
          </a:solidFill>
          <a:ln/>
        </p:spPr>
      </p:sp>
      <p:sp>
        <p:nvSpPr>
          <p:cNvPr id="15" name="Text 13"/>
          <p:cNvSpPr txBox="1"/>
          <p:nvPr/>
        </p:nvSpPr>
        <p:spPr>
          <a:xfrm>
            <a:off x="566928" y="2898648"/>
            <a:ext cx="416966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樓齡 30 至 40 年，且少於 7 個獨立單位</a:t>
            </a:r>
            <a:endParaRPr lang="en-US" sz="1200" dirty="0"/>
          </a:p>
        </p:txBody>
      </p:sp>
      <p:sp>
        <p:nvSpPr>
          <p:cNvPr id="16" name="Text 14"/>
          <p:cNvSpPr txBox="1"/>
          <p:nvPr/>
        </p:nvSpPr>
        <p:spPr>
          <a:xfrm>
            <a:off x="4864608" y="2898648"/>
            <a:ext cx="1371600" cy="402336"/>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80%</a:t>
            </a:r>
            <a:endParaRPr lang="en-US" sz="1200" dirty="0"/>
          </a:p>
        </p:txBody>
      </p:sp>
      <p:sp>
        <p:nvSpPr>
          <p:cNvPr id="17" name="Shape 15"/>
          <p:cNvSpPr/>
          <p:nvPr/>
        </p:nvSpPr>
        <p:spPr>
          <a:xfrm>
            <a:off x="566928" y="3300984"/>
            <a:ext cx="5669280" cy="12802"/>
          </a:xfrm>
          <a:prstGeom prst="rect">
            <a:avLst/>
          </a:prstGeom>
          <a:solidFill>
            <a:srgbClr val="C72A09"/>
          </a:solidFill>
          <a:ln/>
        </p:spPr>
      </p:sp>
      <p:sp>
        <p:nvSpPr>
          <p:cNvPr id="18" name="Text 16"/>
          <p:cNvSpPr txBox="1"/>
          <p:nvPr/>
        </p:nvSpPr>
        <p:spPr>
          <a:xfrm>
            <a:off x="566928" y="3374136"/>
            <a:ext cx="416966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樓齡 40 年以上</a:t>
            </a:r>
            <a:endParaRPr lang="en-US" sz="1200" dirty="0"/>
          </a:p>
        </p:txBody>
      </p:sp>
      <p:sp>
        <p:nvSpPr>
          <p:cNvPr id="19" name="Text 17"/>
          <p:cNvSpPr txBox="1"/>
          <p:nvPr/>
        </p:nvSpPr>
        <p:spPr>
          <a:xfrm>
            <a:off x="4864608" y="3374136"/>
            <a:ext cx="1371600" cy="402336"/>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80%</a:t>
            </a:r>
            <a:endParaRPr lang="en-US" sz="1200" dirty="0"/>
          </a:p>
        </p:txBody>
      </p:sp>
      <p:sp>
        <p:nvSpPr>
          <p:cNvPr id="20" name="Shape 18"/>
          <p:cNvSpPr/>
          <p:nvPr/>
        </p:nvSpPr>
        <p:spPr>
          <a:xfrm>
            <a:off x="566928" y="3776472"/>
            <a:ext cx="5669280" cy="12802"/>
          </a:xfrm>
          <a:prstGeom prst="rect">
            <a:avLst/>
          </a:prstGeom>
          <a:solidFill>
            <a:srgbClr val="C72A09"/>
          </a:solidFill>
          <a:ln/>
        </p:spPr>
      </p:sp>
      <p:sp>
        <p:nvSpPr>
          <p:cNvPr id="21" name="Text 19"/>
          <p:cNvSpPr txBox="1"/>
          <p:nvPr/>
        </p:nvSpPr>
        <p:spPr>
          <a:xfrm>
            <a:off x="566928" y="3849624"/>
            <a:ext cx="4169664" cy="40233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殘破或危害公共衛生及人身安全，被命令全部拆卸</a:t>
            </a:r>
            <a:endParaRPr lang="en-US" sz="1200" dirty="0"/>
          </a:p>
        </p:txBody>
      </p:sp>
      <p:sp>
        <p:nvSpPr>
          <p:cNvPr id="22" name="Text 20"/>
          <p:cNvSpPr txBox="1"/>
          <p:nvPr/>
        </p:nvSpPr>
        <p:spPr>
          <a:xfrm>
            <a:off x="4864608" y="3849624"/>
            <a:ext cx="1371600" cy="402336"/>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60%</a:t>
            </a:r>
            <a:endParaRPr lang="en-US" sz="1200" dirty="0"/>
          </a:p>
        </p:txBody>
      </p:sp>
      <p:sp>
        <p:nvSpPr>
          <p:cNvPr id="23" name="Shape 21"/>
          <p:cNvSpPr/>
          <p:nvPr/>
        </p:nvSpPr>
        <p:spPr>
          <a:xfrm>
            <a:off x="566928" y="4251960"/>
            <a:ext cx="5669280" cy="12802"/>
          </a:xfrm>
          <a:prstGeom prst="rect">
            <a:avLst/>
          </a:prstGeom>
          <a:solidFill>
            <a:srgbClr val="C72A09"/>
          </a:solidFill>
          <a:ln/>
        </p:spPr>
      </p:sp>
      <p:sp>
        <p:nvSpPr>
          <p:cNvPr id="24" name="Text 22"/>
          <p:cNvSpPr txBox="1"/>
          <p:nvPr/>
        </p:nvSpPr>
        <p:spPr>
          <a:xfrm>
            <a:off x="566928" y="4526280"/>
            <a:ext cx="566928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門檻的兩面</a:t>
            </a:r>
            <a:endParaRPr lang="en-US" sz="1200" dirty="0"/>
          </a:p>
        </p:txBody>
      </p:sp>
      <p:sp>
        <p:nvSpPr>
          <p:cNvPr id="25" name="Text 23"/>
          <p:cNvSpPr txBox="1"/>
          <p:nvPr/>
        </p:nvSpPr>
        <p:spPr>
          <a:xfrm>
            <a:off x="566928" y="4846320"/>
            <a:ext cx="5669280" cy="86868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業權比例按分層所有權設定憑證所載份額計算，樓齡自使用准照日起計（第 7 條）。門檻不要求全體同意：不同意的業主可經仲裁裁決被強制參與（第 21 條）。</a:t>
            </a:r>
            <a:endParaRPr lang="en-US" sz="1150" dirty="0"/>
          </a:p>
        </p:txBody>
      </p:sp>
      <p:sp>
        <p:nvSpPr>
          <p:cNvPr id="26" name="Text 24"/>
          <p:cNvSpPr txBox="1"/>
          <p:nvPr/>
        </p:nvSpPr>
        <p:spPr>
          <a:xfrm>
            <a:off x="6766560" y="1645920"/>
            <a:ext cx="1163117" cy="64008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公佈與生效</a:t>
            </a:r>
            <a:endParaRPr lang="en-US" sz="1100" dirty="0"/>
          </a:p>
        </p:txBody>
      </p:sp>
      <p:sp>
        <p:nvSpPr>
          <p:cNvPr id="27" name="Text 25"/>
          <p:cNvSpPr txBox="1"/>
          <p:nvPr/>
        </p:nvSpPr>
        <p:spPr>
          <a:xfrm>
            <a:off x="8002372" y="1645920"/>
            <a:ext cx="3610508" cy="64008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2022-12-28 公佈（公報第 52 期）；2023-06-01 起生效（第 43 條）</a:t>
            </a:r>
            <a:endParaRPr lang="en-US" sz="1100" dirty="0"/>
          </a:p>
        </p:txBody>
      </p:sp>
      <p:sp>
        <p:nvSpPr>
          <p:cNvPr id="28" name="Shape 26"/>
          <p:cNvSpPr/>
          <p:nvPr/>
        </p:nvSpPr>
        <p:spPr>
          <a:xfrm>
            <a:off x="6766560" y="2267712"/>
            <a:ext cx="4846320" cy="12802"/>
          </a:xfrm>
          <a:prstGeom prst="rect">
            <a:avLst/>
          </a:prstGeom>
          <a:solidFill>
            <a:srgbClr val="C72A09"/>
          </a:solidFill>
          <a:ln/>
        </p:spPr>
      </p:sp>
      <p:sp>
        <p:nvSpPr>
          <p:cNvPr id="29" name="Text 27"/>
          <p:cNvSpPr txBox="1"/>
          <p:nvPr/>
        </p:nvSpPr>
        <p:spPr>
          <a:xfrm>
            <a:off x="6766560" y="2377440"/>
            <a:ext cx="1163117" cy="56692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決定者</a:t>
            </a:r>
            <a:endParaRPr lang="en-US" sz="1100" dirty="0"/>
          </a:p>
        </p:txBody>
      </p:sp>
      <p:sp>
        <p:nvSpPr>
          <p:cNvPr id="30" name="Text 28"/>
          <p:cNvSpPr txBox="1"/>
          <p:nvPr/>
        </p:nvSpPr>
        <p:spPr>
          <a:xfrm>
            <a:off x="8002372" y="2377440"/>
            <a:ext cx="3610508" cy="56692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由所有權人決定是否重建；都更公司提供支援（第 3、4 條）</a:t>
            </a:r>
            <a:endParaRPr lang="en-US" sz="1100" dirty="0"/>
          </a:p>
        </p:txBody>
      </p:sp>
      <p:sp>
        <p:nvSpPr>
          <p:cNvPr id="31" name="Shape 29"/>
          <p:cNvSpPr/>
          <p:nvPr/>
        </p:nvSpPr>
        <p:spPr>
          <a:xfrm>
            <a:off x="6766560" y="2926080"/>
            <a:ext cx="4846320" cy="12802"/>
          </a:xfrm>
          <a:prstGeom prst="rect">
            <a:avLst/>
          </a:prstGeom>
          <a:solidFill>
            <a:srgbClr val="C72A09"/>
          </a:solidFill>
          <a:ln/>
        </p:spPr>
      </p:sp>
      <p:sp>
        <p:nvSpPr>
          <p:cNvPr id="32" name="Text 30"/>
          <p:cNvSpPr txBox="1"/>
          <p:nvPr/>
        </p:nvSpPr>
        <p:spPr>
          <a:xfrm>
            <a:off x="6766560" y="3035808"/>
            <a:ext cx="1163117" cy="896112"/>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爭議</a:t>
            </a:r>
            <a:endParaRPr lang="en-US" sz="1100" dirty="0"/>
          </a:p>
        </p:txBody>
      </p:sp>
      <p:sp>
        <p:nvSpPr>
          <p:cNvPr id="33" name="Text 31"/>
          <p:cNvSpPr txBox="1"/>
          <p:nvPr/>
        </p:nvSpPr>
        <p:spPr>
          <a:xfrm>
            <a:off x="8002372" y="3035808"/>
            <a:ext cx="3610508" cy="896112"/>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強制參與重建的爭議須經必要仲裁；仲裁庭須考慮方案對被申請人有否明顯不公平，包括負擔與臨時安置（第 16、18 條）</a:t>
            </a:r>
            <a:endParaRPr lang="en-US" sz="1100" dirty="0"/>
          </a:p>
        </p:txBody>
      </p:sp>
      <p:sp>
        <p:nvSpPr>
          <p:cNvPr id="34" name="Shape 32"/>
          <p:cNvSpPr/>
          <p:nvPr/>
        </p:nvSpPr>
        <p:spPr>
          <a:xfrm>
            <a:off x="6766560" y="3913632"/>
            <a:ext cx="4846320" cy="12802"/>
          </a:xfrm>
          <a:prstGeom prst="rect">
            <a:avLst/>
          </a:prstGeom>
          <a:solidFill>
            <a:srgbClr val="C72A09"/>
          </a:solidFill>
          <a:ln/>
        </p:spPr>
      </p:sp>
      <p:sp>
        <p:nvSpPr>
          <p:cNvPr id="35" name="Text 33"/>
          <p:cNvSpPr txBox="1"/>
          <p:nvPr/>
        </p:nvSpPr>
        <p:spPr>
          <a:xfrm>
            <a:off x="6766560" y="4023360"/>
            <a:ext cx="1163117" cy="64008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費用</a:t>
            </a:r>
            <a:endParaRPr lang="en-US" sz="1100" dirty="0"/>
          </a:p>
        </p:txBody>
      </p:sp>
      <p:sp>
        <p:nvSpPr>
          <p:cNvPr id="36" name="Text 34"/>
          <p:cNvSpPr txBox="1"/>
          <p:nvPr/>
        </p:nvSpPr>
        <p:spPr>
          <a:xfrm>
            <a:off x="8002372" y="4023360"/>
            <a:ext cx="3610508" cy="64008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重建負擔按單位份額分攤；代墊者對重建後單位有優先受償權（第 34 條）</a:t>
            </a:r>
            <a:endParaRPr lang="en-US" sz="1100" dirty="0"/>
          </a:p>
        </p:txBody>
      </p:sp>
      <p:sp>
        <p:nvSpPr>
          <p:cNvPr id="37" name="Shape 35"/>
          <p:cNvSpPr/>
          <p:nvPr/>
        </p:nvSpPr>
        <p:spPr>
          <a:xfrm>
            <a:off x="6766560" y="4645152"/>
            <a:ext cx="4846320" cy="12802"/>
          </a:xfrm>
          <a:prstGeom prst="rect">
            <a:avLst/>
          </a:prstGeom>
          <a:solidFill>
            <a:srgbClr val="C72A09"/>
          </a:solidFill>
          <a:ln/>
        </p:spPr>
      </p:sp>
      <p:sp>
        <p:nvSpPr>
          <p:cNvPr id="38" name="Text 36"/>
          <p:cNvSpPr txBox="1"/>
          <p:nvPr/>
        </p:nvSpPr>
        <p:spPr>
          <a:xfrm>
            <a:off x="6766560" y="4754880"/>
            <a:ext cx="1163117" cy="64008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期限</a:t>
            </a:r>
            <a:endParaRPr lang="en-US" sz="1100" dirty="0"/>
          </a:p>
        </p:txBody>
      </p:sp>
      <p:sp>
        <p:nvSpPr>
          <p:cNvPr id="39" name="Text 37"/>
          <p:cNvSpPr txBox="1"/>
          <p:nvPr/>
        </p:nvSpPr>
        <p:spPr>
          <a:xfrm>
            <a:off x="8002372" y="4754880"/>
            <a:ext cx="3610508" cy="64008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重建協議 4 年內未取得全體同意或工程准照即失效（第 9 條）；生效滿 5 年後檢討（第 41 條）</a:t>
            </a:r>
            <a:endParaRPr lang="en-US" sz="1100" dirty="0"/>
          </a:p>
        </p:txBody>
      </p:sp>
      <p:sp>
        <p:nvSpPr>
          <p:cNvPr id="40" name="Shape 38"/>
          <p:cNvSpPr/>
          <p:nvPr/>
        </p:nvSpPr>
        <p:spPr>
          <a:xfrm>
            <a:off x="6766560" y="5376672"/>
            <a:ext cx="4846320" cy="12802"/>
          </a:xfrm>
          <a:prstGeom prst="rect">
            <a:avLst/>
          </a:prstGeom>
          <a:solidFill>
            <a:srgbClr val="C72A09"/>
          </a:solidFill>
          <a:ln/>
        </p:spPr>
      </p:sp>
      <p:sp>
        <p:nvSpPr>
          <p:cNvPr id="41" name="Text 39"/>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第 18/2022 號法律《都市更新法律制度》（公報原文）</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(16)</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pic>
        <p:nvPicPr>
          <p:cNvPr id="6" name="Image 0" descr="img/image6.jpeg">    </p:cNvPr>
          <p:cNvPicPr>
            <a:picLocks noChangeAspect="1"/>
          </p:cNvPicPr>
          <p:nvPr/>
        </p:nvPicPr>
        <p:blipFill>
          <a:blip r:embed="rId1"/>
          <a:srcRect l="0" r="0" t="0" b="0"/>
          <a:stretch/>
        </p:blipFill>
        <p:spPr>
          <a:xfrm>
            <a:off x="8549640" y="0"/>
            <a:ext cx="3642055" cy="5806440"/>
          </a:xfrm>
          <a:prstGeom prst="rect">
            <a:avLst/>
          </a:prstGeom>
        </p:spPr>
      </p:pic>
      <p:sp>
        <p:nvSpPr>
          <p:cNvPr id="7"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問題二</a:t>
            </a:r>
            <a:endParaRPr lang="en-US" sz="1200" dirty="0"/>
          </a:p>
        </p:txBody>
      </p:sp>
      <p:sp>
        <p:nvSpPr>
          <p:cNvPr id="8" name="Text 5"/>
          <p:cNvSpPr txBox="1"/>
          <p:nvPr/>
        </p:nvSpPr>
        <p:spPr>
          <a:xfrm>
            <a:off x="566928" y="749808"/>
            <a:ext cx="78638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祐漢七棟樓群：首個更新項目</a:t>
            </a:r>
            <a:endParaRPr lang="en-US" sz="3400" dirty="0"/>
          </a:p>
        </p:txBody>
      </p:sp>
      <p:sp>
        <p:nvSpPr>
          <p:cNvPr id="9" name="Text 6"/>
          <p:cNvSpPr txBox="1"/>
          <p:nvPr/>
        </p:nvSpPr>
        <p:spPr>
          <a:xfrm>
            <a:off x="566928" y="1600200"/>
            <a:ext cx="2423160" cy="932688"/>
          </a:xfrm>
          <a:prstGeom prst="rect">
            <a:avLst/>
          </a:prstGeom>
          <a:noFill/>
          <a:ln/>
        </p:spPr>
        <p:txBody>
          <a:bodyPr wrap="square" lIns="0" tIns="0" rIns="0" bIns="0" rtlCol="0" anchor="ctr"/>
          <a:lstStyle/>
          <a:p>
            <a:pPr indent="0" marL="0">
              <a:buNone/>
            </a:pPr>
            <a:r>
              <a:rPr lang="en-US" sz="3600" b="1" dirty="0">
                <a:solidFill>
                  <a:srgbClr val="CA0013"/>
                </a:solidFill>
                <a:latin typeface="Inter" pitchFamily="34" charset="0"/>
                <a:ea typeface="Inter" pitchFamily="34" charset="-122"/>
                <a:cs typeface="Inter" pitchFamily="34" charset="-120"/>
              </a:rPr>
              <a:t>46</a:t>
            </a:r>
            <a:pPr indent="0" marL="0">
              <a:buNone/>
            </a:pPr>
            <a:r>
              <a:rPr lang="en-US" sz="1512" b="1" dirty="0">
                <a:solidFill>
                  <a:srgbClr val="CA0013"/>
                </a:solidFill>
                <a:latin typeface="Microsoft JhengHei" pitchFamily="34" charset="0"/>
                <a:ea typeface="Microsoft JhengHei" pitchFamily="34" charset="-122"/>
                <a:cs typeface="Microsoft JhengHei" pitchFamily="34" charset="-120"/>
              </a:rPr>
              <a:t> 幢</a:t>
            </a:r>
            <a:endParaRPr lang="en-US" sz="3600" dirty="0"/>
          </a:p>
        </p:txBody>
      </p:sp>
      <p:sp>
        <p:nvSpPr>
          <p:cNvPr id="10" name="Text 7"/>
          <p:cNvSpPr txBox="1"/>
          <p:nvPr/>
        </p:nvSpPr>
        <p:spPr>
          <a:xfrm>
            <a:off x="566928" y="2532888"/>
            <a:ext cx="242316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7 個地塊</a:t>
            </a:r>
            <a:endParaRPr lang="en-US" sz="1300" dirty="0"/>
          </a:p>
        </p:txBody>
      </p:sp>
      <p:sp>
        <p:nvSpPr>
          <p:cNvPr id="11" name="Text 8"/>
          <p:cNvSpPr txBox="1"/>
          <p:nvPr/>
        </p:nvSpPr>
        <p:spPr>
          <a:xfrm>
            <a:off x="566928" y="2898648"/>
            <a:ext cx="242316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康泰、吉祥、順利、興隆、牡丹、萬壽、勝意</a:t>
            </a:r>
            <a:endParaRPr lang="en-US" sz="1050" dirty="0"/>
          </a:p>
        </p:txBody>
      </p:sp>
      <p:sp>
        <p:nvSpPr>
          <p:cNvPr id="12" name="Text 9"/>
          <p:cNvSpPr txBox="1"/>
          <p:nvPr/>
        </p:nvSpPr>
        <p:spPr>
          <a:xfrm>
            <a:off x="3172968" y="1600200"/>
            <a:ext cx="2423160" cy="932688"/>
          </a:xfrm>
          <a:prstGeom prst="rect">
            <a:avLst/>
          </a:prstGeom>
          <a:noFill/>
          <a:ln/>
        </p:spPr>
        <p:txBody>
          <a:bodyPr wrap="square" lIns="0" tIns="0" rIns="0" bIns="0" rtlCol="0" anchor="ctr"/>
          <a:lstStyle/>
          <a:p>
            <a:pPr indent="0" marL="0">
              <a:buNone/>
            </a:pPr>
            <a:r>
              <a:rPr lang="en-US" sz="3600" b="1" dirty="0">
                <a:solidFill>
                  <a:srgbClr val="CA0013"/>
                </a:solidFill>
                <a:latin typeface="Inter" pitchFamily="34" charset="0"/>
                <a:ea typeface="Inter" pitchFamily="34" charset="-122"/>
                <a:cs typeface="Inter" pitchFamily="34" charset="-120"/>
              </a:rPr>
              <a:t>2,000+</a:t>
            </a:r>
            <a:pPr indent="0" marL="0">
              <a:buNone/>
            </a:pPr>
            <a:r>
              <a:rPr lang="en-US" sz="1512" b="1" dirty="0">
                <a:solidFill>
                  <a:srgbClr val="CA0013"/>
                </a:solidFill>
                <a:latin typeface="Microsoft JhengHei" pitchFamily="34" charset="0"/>
                <a:ea typeface="Microsoft JhengHei" pitchFamily="34" charset="-122"/>
                <a:cs typeface="Microsoft JhengHei" pitchFamily="34" charset="-120"/>
              </a:rPr>
              <a:t> 戶</a:t>
            </a:r>
            <a:endParaRPr lang="en-US" sz="3600" dirty="0"/>
          </a:p>
        </p:txBody>
      </p:sp>
      <p:sp>
        <p:nvSpPr>
          <p:cNvPr id="13" name="Text 10"/>
          <p:cNvSpPr txBox="1"/>
          <p:nvPr/>
        </p:nvSpPr>
        <p:spPr>
          <a:xfrm>
            <a:off x="3172968" y="2532888"/>
            <a:ext cx="242316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業主已與都更公司溝通</a:t>
            </a:r>
            <a:endParaRPr lang="en-US" sz="1300" dirty="0"/>
          </a:p>
        </p:txBody>
      </p:sp>
      <p:sp>
        <p:nvSpPr>
          <p:cNvPr id="14" name="Text 11"/>
          <p:cNvSpPr txBox="1"/>
          <p:nvPr/>
        </p:nvSpPr>
        <p:spPr>
          <a:xfrm>
            <a:off x="3172968" y="2898648"/>
            <a:ext cx="242316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住商戶共 2,556 戶〔報道，待核〕</a:t>
            </a:r>
            <a:endParaRPr lang="en-US" sz="1050" dirty="0"/>
          </a:p>
        </p:txBody>
      </p:sp>
      <p:sp>
        <p:nvSpPr>
          <p:cNvPr id="15" name="Text 12"/>
          <p:cNvSpPr txBox="1"/>
          <p:nvPr/>
        </p:nvSpPr>
        <p:spPr>
          <a:xfrm>
            <a:off x="5779008" y="1600200"/>
            <a:ext cx="2423160" cy="932688"/>
          </a:xfrm>
          <a:prstGeom prst="rect">
            <a:avLst/>
          </a:prstGeom>
          <a:noFill/>
          <a:ln/>
        </p:spPr>
        <p:txBody>
          <a:bodyPr wrap="square" lIns="0" tIns="0" rIns="0" bIns="0" rtlCol="0" anchor="ctr"/>
          <a:lstStyle/>
          <a:p>
            <a:pPr indent="0" marL="0">
              <a:buNone/>
            </a:pPr>
            <a:r>
              <a:rPr lang="en-US" sz="3600" b="1" dirty="0">
                <a:solidFill>
                  <a:srgbClr val="CA0013"/>
                </a:solidFill>
                <a:latin typeface="Inter" pitchFamily="34" charset="0"/>
                <a:ea typeface="Inter" pitchFamily="34" charset="-122"/>
                <a:cs typeface="Inter" pitchFamily="34" charset="-120"/>
              </a:rPr>
              <a:t>2,803</a:t>
            </a:r>
            <a:pPr indent="0" marL="0">
              <a:buNone/>
            </a:pPr>
            <a:r>
              <a:rPr lang="en-US" sz="1512" b="1" dirty="0">
                <a:solidFill>
                  <a:srgbClr val="CA0013"/>
                </a:solidFill>
                <a:latin typeface="Microsoft JhengHei" pitchFamily="34" charset="0"/>
                <a:ea typeface="Microsoft JhengHei" pitchFamily="34" charset="-122"/>
                <a:cs typeface="Microsoft JhengHei" pitchFamily="34" charset="-120"/>
              </a:rPr>
              <a:t> 個</a:t>
            </a:r>
            <a:endParaRPr lang="en-US" sz="3600" dirty="0"/>
          </a:p>
        </p:txBody>
      </p:sp>
      <p:sp>
        <p:nvSpPr>
          <p:cNvPr id="16" name="Text 13"/>
          <p:cNvSpPr txBox="1"/>
          <p:nvPr/>
        </p:nvSpPr>
        <p:spPr>
          <a:xfrm>
            <a:off x="5779008" y="2532888"/>
            <a:ext cx="242316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暫住房單位</a:t>
            </a:r>
            <a:endParaRPr lang="en-US" sz="1300" dirty="0"/>
          </a:p>
        </p:txBody>
      </p:sp>
      <p:sp>
        <p:nvSpPr>
          <p:cNvPr id="17" name="Text 14"/>
          <p:cNvSpPr txBox="1"/>
          <p:nvPr/>
        </p:nvSpPr>
        <p:spPr>
          <a:xfrm>
            <a:off x="5779008" y="2898648"/>
            <a:ext cx="242316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供受都更影響的業權人過渡租住</a:t>
            </a:r>
            <a:endParaRPr lang="en-US" sz="1050" dirty="0"/>
          </a:p>
        </p:txBody>
      </p:sp>
      <p:sp>
        <p:nvSpPr>
          <p:cNvPr id="18" name="Shape 15"/>
          <p:cNvSpPr/>
          <p:nvPr/>
        </p:nvSpPr>
        <p:spPr>
          <a:xfrm>
            <a:off x="566928" y="3794760"/>
            <a:ext cx="7680960" cy="18288"/>
          </a:xfrm>
          <a:prstGeom prst="rect">
            <a:avLst/>
          </a:prstGeom>
          <a:solidFill>
            <a:srgbClr val="C72A09"/>
          </a:solidFill>
          <a:ln/>
        </p:spPr>
      </p:sp>
      <p:sp>
        <p:nvSpPr>
          <p:cNvPr id="19" name="Text 16"/>
          <p:cNvSpPr txBox="1"/>
          <p:nvPr/>
        </p:nvSpPr>
        <p:spPr>
          <a:xfrm>
            <a:off x="566928" y="3931920"/>
            <a:ext cx="921715" cy="45720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方案</a:t>
            </a:r>
            <a:endParaRPr lang="en-US" sz="1150" dirty="0"/>
          </a:p>
        </p:txBody>
      </p:sp>
      <p:sp>
        <p:nvSpPr>
          <p:cNvPr id="20" name="Text 17"/>
          <p:cNvSpPr txBox="1"/>
          <p:nvPr/>
        </p:nvSpPr>
        <p:spPr>
          <a:xfrm>
            <a:off x="1603858" y="3931920"/>
            <a:ext cx="6644030" cy="45720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存量優化：不增加住宅戶數；低層樓宇整合為 30 層高樓，原單位數量不變</a:t>
            </a:r>
            <a:endParaRPr lang="en-US" sz="1150" dirty="0"/>
          </a:p>
        </p:txBody>
      </p:sp>
      <p:sp>
        <p:nvSpPr>
          <p:cNvPr id="21" name="Shape 18"/>
          <p:cNvSpPr/>
          <p:nvPr/>
        </p:nvSpPr>
        <p:spPr>
          <a:xfrm>
            <a:off x="566928" y="4370832"/>
            <a:ext cx="7680960" cy="12802"/>
          </a:xfrm>
          <a:prstGeom prst="rect">
            <a:avLst/>
          </a:prstGeom>
          <a:solidFill>
            <a:srgbClr val="C72A09"/>
          </a:solidFill>
          <a:ln/>
        </p:spPr>
      </p:sp>
      <p:sp>
        <p:nvSpPr>
          <p:cNvPr id="22" name="Text 19"/>
          <p:cNvSpPr txBox="1"/>
          <p:nvPr/>
        </p:nvSpPr>
        <p:spPr>
          <a:xfrm>
            <a:off x="566928" y="4480560"/>
            <a:ext cx="921715" cy="45720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管理</a:t>
            </a:r>
            <a:endParaRPr lang="en-US" sz="1150" dirty="0"/>
          </a:p>
        </p:txBody>
      </p:sp>
      <p:sp>
        <p:nvSpPr>
          <p:cNvPr id="23" name="Text 20"/>
          <p:cNvSpPr txBox="1"/>
          <p:nvPr/>
        </p:nvSpPr>
        <p:spPr>
          <a:xfrm>
            <a:off x="1603858" y="4480560"/>
            <a:ext cx="6644030" cy="45720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7 個地塊 46 幢已全數成立管理機關（2024-09）；都更公司協助設立共同儲備基金</a:t>
            </a:r>
            <a:endParaRPr lang="en-US" sz="1150" dirty="0"/>
          </a:p>
        </p:txBody>
      </p:sp>
      <p:sp>
        <p:nvSpPr>
          <p:cNvPr id="24" name="Shape 21"/>
          <p:cNvSpPr/>
          <p:nvPr/>
        </p:nvSpPr>
        <p:spPr>
          <a:xfrm>
            <a:off x="566928" y="4919472"/>
            <a:ext cx="7680960" cy="12802"/>
          </a:xfrm>
          <a:prstGeom prst="rect">
            <a:avLst/>
          </a:prstGeom>
          <a:solidFill>
            <a:srgbClr val="C72A09"/>
          </a:solidFill>
          <a:ln/>
        </p:spPr>
      </p:sp>
      <p:sp>
        <p:nvSpPr>
          <p:cNvPr id="25" name="Text 22"/>
          <p:cNvSpPr txBox="1"/>
          <p:nvPr/>
        </p:nvSpPr>
        <p:spPr>
          <a:xfrm>
            <a:off x="566928" y="5029200"/>
            <a:ext cx="921715" cy="45720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進展</a:t>
            </a:r>
            <a:endParaRPr lang="en-US" sz="1150" dirty="0"/>
          </a:p>
        </p:txBody>
      </p:sp>
      <p:sp>
        <p:nvSpPr>
          <p:cNvPr id="26" name="Text 23"/>
          <p:cNvSpPr txBox="1"/>
          <p:nvPr/>
        </p:nvSpPr>
        <p:spPr>
          <a:xfrm>
            <a:off x="1603858" y="5029200"/>
            <a:ext cx="6644030" cy="45720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大部分業主已簽名申請規劃條件圖；2026-07 起結構及電力聯合巡查</a:t>
            </a:r>
            <a:endParaRPr lang="en-US" sz="1150" dirty="0"/>
          </a:p>
        </p:txBody>
      </p:sp>
      <p:sp>
        <p:nvSpPr>
          <p:cNvPr id="27" name="Shape 24"/>
          <p:cNvSpPr/>
          <p:nvPr/>
        </p:nvSpPr>
        <p:spPr>
          <a:xfrm>
            <a:off x="566928" y="5468112"/>
            <a:ext cx="7680960" cy="12802"/>
          </a:xfrm>
          <a:prstGeom prst="rect">
            <a:avLst/>
          </a:prstGeom>
          <a:solidFill>
            <a:srgbClr val="C72A09"/>
          </a:solidFill>
          <a:ln/>
        </p:spPr>
      </p:sp>
      <p:sp>
        <p:nvSpPr>
          <p:cNvPr id="28" name="Text 25"/>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澳門都市更新股份有限公司新聞稿（2024-09-20）；土地工務局（2026-07）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(17)</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問題二</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舊樓租金較低，長者住戶增加</a:t>
            </a:r>
            <a:endParaRPr lang="en-US" sz="3400" dirty="0"/>
          </a:p>
        </p:txBody>
      </p:sp>
      <p:graphicFrame>
        <p:nvGraphicFramePr>
          <p:cNvPr id="8" name="Chart 0" descr=""/>
          <p:cNvGraphicFramePr/>
          <p:nvPr/>
        </p:nvGraphicFramePr>
        <p:xfrm>
          <a:off x="566928" y="1600200"/>
          <a:ext cx="5212080" cy="30175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66928" y="4663440"/>
            <a:ext cx="5212080" cy="310896"/>
          </a:xfrm>
          <a:prstGeom prst="rect">
            <a:avLst/>
          </a:prstGeom>
          <a:noFill/>
          <a:ln/>
        </p:spPr>
        <p:txBody>
          <a:bodyPr wrap="square" lIns="0" tIns="0" rIns="0" bIns="0" rtlCol="0" anchor="t"/>
          <a:lstStyle/>
          <a:p>
            <a:pPr algn="l" indent="0" marL="0">
              <a:lnSpc>
                <a:spcPct val="125000"/>
              </a:lnSpc>
              <a:buNone/>
            </a:pPr>
            <a:r>
              <a:rPr lang="en-US" sz="1050" b="1" spc="60" kern="0" dirty="0">
                <a:solidFill>
                  <a:srgbClr val="CA0013"/>
                </a:solidFill>
                <a:latin typeface="Microsoft JhengHei" pitchFamily="34" charset="0"/>
                <a:ea typeface="Microsoft JhengHei" pitchFamily="34" charset="-122"/>
                <a:cs typeface="Microsoft JhengHei" pitchFamily="34" charset="-120"/>
              </a:rPr>
              <a:t>每平方米平均租金（澳門元），2025 全年，按樓齡</a:t>
            </a:r>
            <a:endParaRPr lang="en-US" sz="1050" dirty="0"/>
          </a:p>
        </p:txBody>
      </p:sp>
      <p:sp>
        <p:nvSpPr>
          <p:cNvPr id="10" name="Text 7"/>
          <p:cNvSpPr txBox="1"/>
          <p:nvPr/>
        </p:nvSpPr>
        <p:spPr>
          <a:xfrm>
            <a:off x="566928" y="5029200"/>
            <a:ext cx="5212080" cy="64008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舊樓租金較低，反映居住條件較差，是後面階級與租隙分析的線索。</a:t>
            </a:r>
            <a:endParaRPr lang="en-US" sz="1150" dirty="0"/>
          </a:p>
        </p:txBody>
      </p:sp>
      <p:sp>
        <p:nvSpPr>
          <p:cNvPr id="11" name="Text 8"/>
          <p:cNvSpPr txBox="1"/>
          <p:nvPr/>
        </p:nvSpPr>
        <p:spPr>
          <a:xfrm>
            <a:off x="6309360" y="1645920"/>
            <a:ext cx="1060704" cy="585216"/>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租金</a:t>
            </a:r>
            <a:endParaRPr lang="en-US" sz="1100" dirty="0"/>
          </a:p>
        </p:txBody>
      </p:sp>
      <p:sp>
        <p:nvSpPr>
          <p:cNvPr id="12" name="Text 9"/>
          <p:cNvSpPr txBox="1"/>
          <p:nvPr/>
        </p:nvSpPr>
        <p:spPr>
          <a:xfrm>
            <a:off x="7449617" y="1645920"/>
            <a:ext cx="4163263" cy="585216"/>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樓齡 30 年以上 119 元，約為 5 年及以下新樓（182 元）的 65%</a:t>
            </a:r>
            <a:endParaRPr lang="en-US" sz="1100" dirty="0"/>
          </a:p>
        </p:txBody>
      </p:sp>
      <p:sp>
        <p:nvSpPr>
          <p:cNvPr id="13" name="Shape 10"/>
          <p:cNvSpPr/>
          <p:nvPr/>
        </p:nvSpPr>
        <p:spPr>
          <a:xfrm>
            <a:off x="6309360" y="2212848"/>
            <a:ext cx="5303520" cy="12802"/>
          </a:xfrm>
          <a:prstGeom prst="rect">
            <a:avLst/>
          </a:prstGeom>
          <a:solidFill>
            <a:srgbClr val="C72A09"/>
          </a:solidFill>
          <a:ln/>
        </p:spPr>
      </p:sp>
      <p:sp>
        <p:nvSpPr>
          <p:cNvPr id="14" name="Text 11"/>
          <p:cNvSpPr txBox="1"/>
          <p:nvPr/>
        </p:nvSpPr>
        <p:spPr>
          <a:xfrm>
            <a:off x="6309360" y="2322576"/>
            <a:ext cx="1060704" cy="585216"/>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長者住戶</a:t>
            </a:r>
            <a:endParaRPr lang="en-US" sz="1100" dirty="0"/>
          </a:p>
        </p:txBody>
      </p:sp>
      <p:sp>
        <p:nvSpPr>
          <p:cNvPr id="15" name="Text 12"/>
          <p:cNvSpPr txBox="1"/>
          <p:nvPr/>
        </p:nvSpPr>
        <p:spPr>
          <a:xfrm>
            <a:off x="7449617" y="2322576"/>
            <a:ext cx="4163263" cy="585216"/>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10,989 戶（2012/13）→ 18,223 戶（2017/18），+65.8%；佔住戶 6.1% → 9.5%</a:t>
            </a:r>
            <a:endParaRPr lang="en-US" sz="1100" dirty="0"/>
          </a:p>
        </p:txBody>
      </p:sp>
      <p:sp>
        <p:nvSpPr>
          <p:cNvPr id="16" name="Shape 13"/>
          <p:cNvSpPr/>
          <p:nvPr/>
        </p:nvSpPr>
        <p:spPr>
          <a:xfrm>
            <a:off x="6309360" y="2889504"/>
            <a:ext cx="5303520" cy="12802"/>
          </a:xfrm>
          <a:prstGeom prst="rect">
            <a:avLst/>
          </a:prstGeom>
          <a:solidFill>
            <a:srgbClr val="C72A09"/>
          </a:solidFill>
          <a:ln/>
        </p:spPr>
      </p:sp>
      <p:sp>
        <p:nvSpPr>
          <p:cNvPr id="17" name="Text 14"/>
          <p:cNvSpPr txBox="1"/>
          <p:nvPr/>
        </p:nvSpPr>
        <p:spPr>
          <a:xfrm>
            <a:off x="6309360" y="2999232"/>
            <a:ext cx="1060704" cy="585216"/>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人口老化</a:t>
            </a:r>
            <a:endParaRPr lang="en-US" sz="1100" dirty="0"/>
          </a:p>
        </p:txBody>
      </p:sp>
      <p:sp>
        <p:nvSpPr>
          <p:cNvPr id="18" name="Text 15"/>
          <p:cNvSpPr txBox="1"/>
          <p:nvPr/>
        </p:nvSpPr>
        <p:spPr>
          <a:xfrm>
            <a:off x="7449617" y="2999232"/>
            <a:ext cx="4163263" cy="585216"/>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65 歲以上 12.1%（2021）；統計局 2016 年預測 2036 年 19.9%</a:t>
            </a:r>
            <a:endParaRPr lang="en-US" sz="1100" dirty="0"/>
          </a:p>
        </p:txBody>
      </p:sp>
      <p:sp>
        <p:nvSpPr>
          <p:cNvPr id="19" name="Shape 16"/>
          <p:cNvSpPr/>
          <p:nvPr/>
        </p:nvSpPr>
        <p:spPr>
          <a:xfrm>
            <a:off x="6309360" y="3566160"/>
            <a:ext cx="5303520" cy="12802"/>
          </a:xfrm>
          <a:prstGeom prst="rect">
            <a:avLst/>
          </a:prstGeom>
          <a:solidFill>
            <a:srgbClr val="C72A09"/>
          </a:solidFill>
          <a:ln/>
        </p:spPr>
      </p:sp>
      <p:sp>
        <p:nvSpPr>
          <p:cNvPr id="20" name="Text 17"/>
          <p:cNvSpPr txBox="1"/>
          <p:nvPr/>
        </p:nvSpPr>
        <p:spPr>
          <a:xfrm>
            <a:off x="6309360" y="3675888"/>
            <a:ext cx="1060704" cy="585216"/>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長者公寓</a:t>
            </a:r>
            <a:endParaRPr lang="en-US" sz="1100" dirty="0"/>
          </a:p>
        </p:txBody>
      </p:sp>
      <p:sp>
        <p:nvSpPr>
          <p:cNvPr id="21" name="Text 18"/>
          <p:cNvSpPr txBox="1"/>
          <p:nvPr/>
        </p:nvSpPr>
        <p:spPr>
          <a:xfrm>
            <a:off x="7449617" y="3675888"/>
            <a:ext cx="4163263" cy="585216"/>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近四成居於唐樓的長者希望即時入住長者公寓（政策研究 2022）</a:t>
            </a:r>
            <a:endParaRPr lang="en-US" sz="1100" dirty="0"/>
          </a:p>
        </p:txBody>
      </p:sp>
      <p:sp>
        <p:nvSpPr>
          <p:cNvPr id="22" name="Shape 19"/>
          <p:cNvSpPr/>
          <p:nvPr/>
        </p:nvSpPr>
        <p:spPr>
          <a:xfrm>
            <a:off x="6309360" y="4242816"/>
            <a:ext cx="5303520" cy="12802"/>
          </a:xfrm>
          <a:prstGeom prst="rect">
            <a:avLst/>
          </a:prstGeom>
          <a:solidFill>
            <a:srgbClr val="C72A09"/>
          </a:solidFill>
          <a:ln/>
        </p:spPr>
      </p:sp>
      <p:sp>
        <p:nvSpPr>
          <p:cNvPr id="23" name="Shape 20"/>
          <p:cNvSpPr/>
          <p:nvPr/>
        </p:nvSpPr>
        <p:spPr>
          <a:xfrm>
            <a:off x="6309360" y="4434840"/>
            <a:ext cx="5303520" cy="1234440"/>
          </a:xfrm>
          <a:prstGeom prst="rect">
            <a:avLst/>
          </a:prstGeom>
          <a:solidFill>
            <a:srgbClr val="EEEBE3"/>
          </a:solidFill>
          <a:ln w="12700">
            <a:solidFill>
              <a:srgbClr val="CA0013"/>
            </a:solidFill>
            <a:prstDash val="dash"/>
          </a:ln>
        </p:spPr>
      </p:sp>
      <p:sp>
        <p:nvSpPr>
          <p:cNvPr id="24" name="Text 21"/>
          <p:cNvSpPr txBox="1"/>
          <p:nvPr/>
        </p:nvSpPr>
        <p:spPr>
          <a:xfrm>
            <a:off x="6492240" y="4544568"/>
            <a:ext cx="4937760" cy="310896"/>
          </a:xfrm>
          <a:prstGeom prst="rect">
            <a:avLst/>
          </a:prstGeom>
          <a:noFill/>
          <a:ln/>
        </p:spPr>
        <p:txBody>
          <a:bodyPr wrap="square" lIns="0" tIns="0" rIns="0" bIns="0" rtlCol="0" anchor="t"/>
          <a:lstStyle/>
          <a:p>
            <a:pPr algn="l" indent="0" marL="0">
              <a:lnSpc>
                <a:spcPct val="125000"/>
              </a:lnSpc>
              <a:buNone/>
            </a:pPr>
            <a:r>
              <a:rPr lang="en-US" sz="1000" b="1" spc="200" kern="0" dirty="0">
                <a:solidFill>
                  <a:srgbClr val="CA0013"/>
                </a:solidFill>
                <a:latin typeface="Microsoft JhengHei" pitchFamily="34" charset="0"/>
                <a:ea typeface="Microsoft JhengHei" pitchFamily="34" charset="-122"/>
                <a:cs typeface="Microsoft JhengHei" pitchFamily="34" charset="-120"/>
              </a:rPr>
              <a:t>訪問引用位</a:t>
            </a:r>
            <a:endParaRPr lang="en-US" sz="1000" dirty="0"/>
          </a:p>
        </p:txBody>
      </p:sp>
      <p:sp>
        <p:nvSpPr>
          <p:cNvPr id="25" name="Text 22"/>
          <p:cNvSpPr txBox="1"/>
          <p:nvPr/>
        </p:nvSpPr>
        <p:spPr>
          <a:xfrm>
            <a:off x="6492240" y="4800600"/>
            <a:ext cx="4937760" cy="274320"/>
          </a:xfrm>
          <a:prstGeom prst="rect">
            <a:avLst/>
          </a:prstGeom>
          <a:noFill/>
          <a:ln/>
        </p:spPr>
        <p:txBody>
          <a:bodyPr wrap="square" lIns="0" tIns="0" rIns="0" bIns="0" rtlCol="0" anchor="t"/>
          <a:lstStyle/>
          <a:p>
            <a:pPr indent="0" marL="0">
              <a:buNone/>
            </a:pPr>
            <a:r>
              <a:rPr lang="en-US" sz="1150" b="1" dirty="0">
                <a:solidFill>
                  <a:srgbClr val="CA0013"/>
                </a:solidFill>
                <a:latin typeface="Microsoft JhengHei" pitchFamily="34" charset="0"/>
                <a:ea typeface="Microsoft JhengHei" pitchFamily="34" charset="-122"/>
                <a:cs typeface="Microsoft JhengHei" pitchFamily="34" charset="-120"/>
              </a:rPr>
              <a:t>受訪者＿＿（社團／都更公司／舊區居民）</a:t>
            </a:r>
            <a:endParaRPr lang="en-US" sz="1150" dirty="0"/>
          </a:p>
        </p:txBody>
      </p:sp>
      <p:sp>
        <p:nvSpPr>
          <p:cNvPr id="26" name="Text 23"/>
          <p:cNvSpPr txBox="1"/>
          <p:nvPr/>
        </p:nvSpPr>
        <p:spPr>
          <a:xfrm>
            <a:off x="6492240" y="5056632"/>
            <a:ext cx="4937760" cy="576072"/>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追問：舊區居民為何搬不走或不願搬？重建的租金、回遷、安置最擔心什麼？</a:t>
            </a:r>
            <a:endParaRPr lang="en-US" sz="1050" dirty="0"/>
          </a:p>
        </p:txBody>
      </p:sp>
      <p:sp>
        <p:nvSpPr>
          <p:cNvPr id="27" name="Text 24"/>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統計暨普查局《租金統計》2025；政策研究和區域發展局（2022）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(18)</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問題二</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重建的四重障礙</a:t>
            </a:r>
            <a:endParaRPr lang="en-US" sz="3400" dirty="0"/>
          </a:p>
        </p:txBody>
      </p:sp>
      <p:sp>
        <p:nvSpPr>
          <p:cNvPr id="8" name="Text 6"/>
          <p:cNvSpPr txBox="1"/>
          <p:nvPr/>
        </p:nvSpPr>
        <p:spPr>
          <a:xfrm>
            <a:off x="566928" y="1600200"/>
            <a:ext cx="530352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障礙一</a:t>
            </a:r>
            <a:endParaRPr lang="en-US" sz="1150" dirty="0"/>
          </a:p>
        </p:txBody>
      </p:sp>
      <p:sp>
        <p:nvSpPr>
          <p:cNvPr id="9" name="Text 7"/>
          <p:cNvSpPr txBox="1"/>
          <p:nvPr/>
        </p:nvSpPr>
        <p:spPr>
          <a:xfrm>
            <a:off x="566928" y="1892808"/>
            <a:ext cx="5303520" cy="411480"/>
          </a:xfrm>
          <a:prstGeom prst="rect">
            <a:avLst/>
          </a:prstGeom>
          <a:noFill/>
          <a:ln/>
        </p:spPr>
        <p:txBody>
          <a:bodyPr wrap="square" lIns="0" tIns="0" rIns="0" bIns="0" rtlCol="0" anchor="t"/>
          <a:lstStyle/>
          <a:p>
            <a:pPr indent="0" marL="0">
              <a:buNone/>
            </a:pPr>
            <a:r>
              <a:rPr lang="en-US" sz="2000" b="1" dirty="0">
                <a:solidFill>
                  <a:srgbClr val="CA0013"/>
                </a:solidFill>
                <a:latin typeface="Microsoft JhengHei" pitchFamily="34" charset="0"/>
                <a:ea typeface="Microsoft JhengHei" pitchFamily="34" charset="-122"/>
                <a:cs typeface="Microsoft JhengHei" pitchFamily="34" charset="-120"/>
              </a:rPr>
              <a:t>門檻與業主聯絡</a:t>
            </a:r>
            <a:endParaRPr lang="en-US" sz="2000" dirty="0"/>
          </a:p>
        </p:txBody>
      </p:sp>
      <p:sp>
        <p:nvSpPr>
          <p:cNvPr id="10" name="Shape 8"/>
          <p:cNvSpPr/>
          <p:nvPr/>
        </p:nvSpPr>
        <p:spPr>
          <a:xfrm>
            <a:off x="566928" y="2377440"/>
            <a:ext cx="5303520" cy="18288"/>
          </a:xfrm>
          <a:prstGeom prst="rect">
            <a:avLst/>
          </a:prstGeom>
          <a:solidFill>
            <a:srgbClr val="C72A09"/>
          </a:solidFill>
          <a:ln/>
        </p:spPr>
      </p:sp>
      <p:sp>
        <p:nvSpPr>
          <p:cNvPr id="11" name="Text 9"/>
          <p:cNvSpPr txBox="1"/>
          <p:nvPr/>
        </p:nvSpPr>
        <p:spPr>
          <a:xfrm>
            <a:off x="566928" y="2496312"/>
            <a:ext cx="5303520" cy="109728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85%／80% 仍要求絕大多數業主同意。官方稱祐漢仍需聯絡身處海外的業主；不同意者須經仲裁強制參與。</a:t>
            </a:r>
            <a:endParaRPr lang="en-US" sz="1150" dirty="0"/>
          </a:p>
        </p:txBody>
      </p:sp>
      <p:sp>
        <p:nvSpPr>
          <p:cNvPr id="12" name="Text 10"/>
          <p:cNvSpPr txBox="1"/>
          <p:nvPr/>
        </p:nvSpPr>
        <p:spPr>
          <a:xfrm>
            <a:off x="6327648" y="1600200"/>
            <a:ext cx="530352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障礙二</a:t>
            </a:r>
            <a:endParaRPr lang="en-US" sz="1150" dirty="0"/>
          </a:p>
        </p:txBody>
      </p:sp>
      <p:sp>
        <p:nvSpPr>
          <p:cNvPr id="13" name="Text 11"/>
          <p:cNvSpPr txBox="1"/>
          <p:nvPr/>
        </p:nvSpPr>
        <p:spPr>
          <a:xfrm>
            <a:off x="6327648" y="1892808"/>
            <a:ext cx="5303520" cy="411480"/>
          </a:xfrm>
          <a:prstGeom prst="rect">
            <a:avLst/>
          </a:prstGeom>
          <a:noFill/>
          <a:ln/>
        </p:spPr>
        <p:txBody>
          <a:bodyPr wrap="square" lIns="0" tIns="0" rIns="0" bIns="0" rtlCol="0" anchor="t"/>
          <a:lstStyle/>
          <a:p>
            <a:pPr indent="0" marL="0">
              <a:buNone/>
            </a:pPr>
            <a:r>
              <a:rPr lang="en-US" sz="2000" b="1" dirty="0">
                <a:solidFill>
                  <a:srgbClr val="CA0013"/>
                </a:solidFill>
                <a:latin typeface="Microsoft JhengHei" pitchFamily="34" charset="0"/>
                <a:ea typeface="Microsoft JhengHei" pitchFamily="34" charset="-122"/>
                <a:cs typeface="Microsoft JhengHei" pitchFamily="34" charset="-120"/>
              </a:rPr>
              <a:t>維修與管理</a:t>
            </a:r>
            <a:endParaRPr lang="en-US" sz="2000" dirty="0"/>
          </a:p>
        </p:txBody>
      </p:sp>
      <p:sp>
        <p:nvSpPr>
          <p:cNvPr id="14" name="Shape 12"/>
          <p:cNvSpPr/>
          <p:nvPr/>
        </p:nvSpPr>
        <p:spPr>
          <a:xfrm>
            <a:off x="6327648" y="2377440"/>
            <a:ext cx="5303520" cy="18288"/>
          </a:xfrm>
          <a:prstGeom prst="rect">
            <a:avLst/>
          </a:prstGeom>
          <a:solidFill>
            <a:srgbClr val="C72A09"/>
          </a:solidFill>
          <a:ln/>
        </p:spPr>
      </p:sp>
      <p:sp>
        <p:nvSpPr>
          <p:cNvPr id="15" name="Text 13"/>
          <p:cNvSpPr txBox="1"/>
          <p:nvPr/>
        </p:nvSpPr>
        <p:spPr>
          <a:xfrm>
            <a:off x="6327648" y="2496312"/>
            <a:ext cx="5303520" cy="109728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舊樓的管理機關與共同儲備基金並不普遍（俗稱「三無」，官方定義待核）。祐漢由都更公司協助成立管理機關及基金，其餘舊區未見同等公開資料。</a:t>
            </a:r>
            <a:endParaRPr lang="en-US" sz="1150" dirty="0"/>
          </a:p>
        </p:txBody>
      </p:sp>
      <p:sp>
        <p:nvSpPr>
          <p:cNvPr id="16" name="Text 14"/>
          <p:cNvSpPr txBox="1"/>
          <p:nvPr/>
        </p:nvSpPr>
        <p:spPr>
          <a:xfrm>
            <a:off x="566928" y="3657600"/>
            <a:ext cx="530352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障礙三</a:t>
            </a:r>
            <a:endParaRPr lang="en-US" sz="1150" dirty="0"/>
          </a:p>
        </p:txBody>
      </p:sp>
      <p:sp>
        <p:nvSpPr>
          <p:cNvPr id="17" name="Text 15"/>
          <p:cNvSpPr txBox="1"/>
          <p:nvPr/>
        </p:nvSpPr>
        <p:spPr>
          <a:xfrm>
            <a:off x="566928" y="3950208"/>
            <a:ext cx="5303520" cy="411480"/>
          </a:xfrm>
          <a:prstGeom prst="rect">
            <a:avLst/>
          </a:prstGeom>
          <a:noFill/>
          <a:ln/>
        </p:spPr>
        <p:txBody>
          <a:bodyPr wrap="square" lIns="0" tIns="0" rIns="0" bIns="0" rtlCol="0" anchor="t"/>
          <a:lstStyle/>
          <a:p>
            <a:pPr indent="0" marL="0">
              <a:buNone/>
            </a:pPr>
            <a:r>
              <a:rPr lang="en-US" sz="2000" b="1" dirty="0">
                <a:solidFill>
                  <a:srgbClr val="CA0013"/>
                </a:solidFill>
                <a:latin typeface="Microsoft JhengHei" pitchFamily="34" charset="0"/>
                <a:ea typeface="Microsoft JhengHei" pitchFamily="34" charset="-122"/>
                <a:cs typeface="Microsoft JhengHei" pitchFamily="34" charset="-120"/>
              </a:rPr>
              <a:t>安置與置換</a:t>
            </a:r>
            <a:endParaRPr lang="en-US" sz="2000" dirty="0"/>
          </a:p>
        </p:txBody>
      </p:sp>
      <p:sp>
        <p:nvSpPr>
          <p:cNvPr id="18" name="Shape 16"/>
          <p:cNvSpPr/>
          <p:nvPr/>
        </p:nvSpPr>
        <p:spPr>
          <a:xfrm>
            <a:off x="566928" y="4434840"/>
            <a:ext cx="5303520" cy="18288"/>
          </a:xfrm>
          <a:prstGeom prst="rect">
            <a:avLst/>
          </a:prstGeom>
          <a:solidFill>
            <a:srgbClr val="C72A09"/>
          </a:solidFill>
          <a:ln/>
        </p:spPr>
      </p:sp>
      <p:sp>
        <p:nvSpPr>
          <p:cNvPr id="19" name="Text 17"/>
          <p:cNvSpPr txBox="1"/>
          <p:nvPr/>
        </p:nvSpPr>
        <p:spPr>
          <a:xfrm>
            <a:off x="566928" y="4553712"/>
            <a:ext cx="5303520" cy="109728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暫住房 2,803 個單位（供受都更影響的業權人租住）；黑沙環「P」地段置換房購買期屆滿（2026-01）只有 338 個完成購買。議員指置換房資格限於「因都更被拆卸而無法回遷」的業權人，戶型亦不易對應舊樓（質詢，2026-03）。</a:t>
            </a:r>
            <a:endParaRPr lang="en-US" sz="1150" dirty="0"/>
          </a:p>
        </p:txBody>
      </p:sp>
      <p:sp>
        <p:nvSpPr>
          <p:cNvPr id="20" name="Text 18"/>
          <p:cNvSpPr txBox="1"/>
          <p:nvPr/>
        </p:nvSpPr>
        <p:spPr>
          <a:xfrm>
            <a:off x="6327648" y="3657600"/>
            <a:ext cx="530352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障礙四</a:t>
            </a:r>
            <a:endParaRPr lang="en-US" sz="1150" dirty="0"/>
          </a:p>
        </p:txBody>
      </p:sp>
      <p:sp>
        <p:nvSpPr>
          <p:cNvPr id="21" name="Text 19"/>
          <p:cNvSpPr txBox="1"/>
          <p:nvPr/>
        </p:nvSpPr>
        <p:spPr>
          <a:xfrm>
            <a:off x="6327648" y="3950208"/>
            <a:ext cx="5303520" cy="411480"/>
          </a:xfrm>
          <a:prstGeom prst="rect">
            <a:avLst/>
          </a:prstGeom>
          <a:noFill/>
          <a:ln/>
        </p:spPr>
        <p:txBody>
          <a:bodyPr wrap="square" lIns="0" tIns="0" rIns="0" bIns="0" rtlCol="0" anchor="t"/>
          <a:lstStyle/>
          <a:p>
            <a:pPr indent="0" marL="0">
              <a:buNone/>
            </a:pPr>
            <a:r>
              <a:rPr lang="en-US" sz="2000" b="1" dirty="0">
                <a:solidFill>
                  <a:srgbClr val="CA0013"/>
                </a:solidFill>
                <a:latin typeface="Microsoft JhengHei" pitchFamily="34" charset="0"/>
                <a:ea typeface="Microsoft JhengHei" pitchFamily="34" charset="-122"/>
                <a:cs typeface="Microsoft JhengHei" pitchFamily="34" charset="-120"/>
              </a:rPr>
              <a:t>資料與分級</a:t>
            </a:r>
            <a:endParaRPr lang="en-US" sz="2000" dirty="0"/>
          </a:p>
        </p:txBody>
      </p:sp>
      <p:sp>
        <p:nvSpPr>
          <p:cNvPr id="22" name="Shape 20"/>
          <p:cNvSpPr/>
          <p:nvPr/>
        </p:nvSpPr>
        <p:spPr>
          <a:xfrm>
            <a:off x="6327648" y="4434840"/>
            <a:ext cx="5303520" cy="18288"/>
          </a:xfrm>
          <a:prstGeom prst="rect">
            <a:avLst/>
          </a:prstGeom>
          <a:solidFill>
            <a:srgbClr val="C72A09"/>
          </a:solidFill>
          <a:ln/>
        </p:spPr>
      </p:sp>
      <p:sp>
        <p:nvSpPr>
          <p:cNvPr id="23" name="Text 21"/>
          <p:cNvSpPr txBox="1"/>
          <p:nvPr/>
        </p:nvSpPr>
        <p:spPr>
          <a:xfrm>
            <a:off x="6327648" y="4553712"/>
            <a:ext cx="5303520" cy="109728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三層梯度的資料零散；政府至 2026-07 才宣布建立殘舊樓宇資料庫。沒有公開、可比較的時間序列，維修與更新的先後次序難以檢視。</a:t>
            </a:r>
            <a:endParaRPr lang="en-US" sz="1150" dirty="0"/>
          </a:p>
        </p:txBody>
      </p:sp>
      <p:sp>
        <p:nvSpPr>
          <p:cNvPr id="24" name="Text 22"/>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都更公司（2024-09）；議員書面質詢（2026-03）；土地工務局（2026-07）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(19)</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問題三</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五階梯：各階段的供應</a:t>
            </a:r>
            <a:endParaRPr lang="en-US" sz="3400" dirty="0"/>
          </a:p>
        </p:txBody>
      </p:sp>
      <p:sp>
        <p:nvSpPr>
          <p:cNvPr id="8" name="Text 6"/>
          <p:cNvSpPr txBox="1"/>
          <p:nvPr/>
        </p:nvSpPr>
        <p:spPr>
          <a:xfrm>
            <a:off x="566928" y="1600200"/>
            <a:ext cx="160934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階梯</a:t>
            </a:r>
            <a:endParaRPr lang="en-US" sz="1100" dirty="0"/>
          </a:p>
        </p:txBody>
      </p:sp>
      <p:sp>
        <p:nvSpPr>
          <p:cNvPr id="9" name="Text 7"/>
          <p:cNvSpPr txBox="1"/>
          <p:nvPr/>
        </p:nvSpPr>
        <p:spPr>
          <a:xfrm>
            <a:off x="2304288" y="1600200"/>
            <a:ext cx="471830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供應數字</a:t>
            </a:r>
            <a:endParaRPr lang="en-US" sz="1100" dirty="0"/>
          </a:p>
        </p:txBody>
      </p:sp>
      <p:sp>
        <p:nvSpPr>
          <p:cNvPr id="10" name="Text 8"/>
          <p:cNvSpPr txBox="1"/>
          <p:nvPr/>
        </p:nvSpPr>
        <p:spPr>
          <a:xfrm>
            <a:off x="7150608" y="1600200"/>
            <a:ext cx="4471416"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狀況</a:t>
            </a:r>
            <a:endParaRPr lang="en-US" sz="1100" dirty="0"/>
          </a:p>
        </p:txBody>
      </p:sp>
      <p:sp>
        <p:nvSpPr>
          <p:cNvPr id="11" name="Shape 9"/>
          <p:cNvSpPr/>
          <p:nvPr/>
        </p:nvSpPr>
        <p:spPr>
          <a:xfrm>
            <a:off x="566928" y="1947672"/>
            <a:ext cx="11057839" cy="18288"/>
          </a:xfrm>
          <a:prstGeom prst="rect">
            <a:avLst/>
          </a:prstGeom>
          <a:solidFill>
            <a:srgbClr val="C72A09"/>
          </a:solidFill>
          <a:ln/>
        </p:spPr>
      </p:sp>
      <p:sp>
        <p:nvSpPr>
          <p:cNvPr id="12" name="Text 10"/>
          <p:cNvSpPr txBox="1"/>
          <p:nvPr/>
        </p:nvSpPr>
        <p:spPr>
          <a:xfrm>
            <a:off x="566928" y="2039112"/>
            <a:ext cx="1609344"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社會房屋</a:t>
            </a:r>
            <a:endParaRPr lang="en-US" sz="1200" dirty="0"/>
          </a:p>
        </p:txBody>
      </p:sp>
      <p:sp>
        <p:nvSpPr>
          <p:cNvPr id="13" name="Text 11"/>
          <p:cNvSpPr txBox="1"/>
          <p:nvPr/>
        </p:nvSpPr>
        <p:spPr>
          <a:xfrm>
            <a:off x="2304288" y="2039112"/>
            <a:ext cx="4718304"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15,037 個，佔住宅單位 6.3%（2021-06）</a:t>
            </a:r>
            <a:endParaRPr lang="en-US" sz="1200" dirty="0"/>
          </a:p>
        </p:txBody>
      </p:sp>
      <p:sp>
        <p:nvSpPr>
          <p:cNvPr id="14" name="Text 12"/>
          <p:cNvSpPr txBox="1"/>
          <p:nvPr/>
        </p:nvSpPr>
        <p:spPr>
          <a:xfrm>
            <a:off x="7150608" y="2039112"/>
            <a:ext cx="4471416"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恆常申請（2020-08 起）：至 2025-03 接納 5,978 份，輪候 1,657 戶</a:t>
            </a:r>
            <a:endParaRPr lang="en-US" sz="1200" dirty="0"/>
          </a:p>
        </p:txBody>
      </p:sp>
      <p:sp>
        <p:nvSpPr>
          <p:cNvPr id="15" name="Shape 13"/>
          <p:cNvSpPr/>
          <p:nvPr/>
        </p:nvSpPr>
        <p:spPr>
          <a:xfrm>
            <a:off x="566928" y="2606040"/>
            <a:ext cx="11057839" cy="12802"/>
          </a:xfrm>
          <a:prstGeom prst="rect">
            <a:avLst/>
          </a:prstGeom>
          <a:solidFill>
            <a:srgbClr val="C72A09"/>
          </a:solidFill>
          <a:ln/>
        </p:spPr>
      </p:sp>
      <p:sp>
        <p:nvSpPr>
          <p:cNvPr id="16" name="Text 14"/>
          <p:cNvSpPr txBox="1"/>
          <p:nvPr/>
        </p:nvSpPr>
        <p:spPr>
          <a:xfrm>
            <a:off x="566928" y="2679192"/>
            <a:ext cx="1609344"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經濟房屋</a:t>
            </a:r>
            <a:endParaRPr lang="en-US" sz="1200" dirty="0"/>
          </a:p>
        </p:txBody>
      </p:sp>
      <p:sp>
        <p:nvSpPr>
          <p:cNvPr id="17" name="Text 15"/>
          <p:cNvSpPr txBox="1"/>
          <p:nvPr/>
        </p:nvSpPr>
        <p:spPr>
          <a:xfrm>
            <a:off x="2304288" y="2679192"/>
            <a:ext cx="4718304"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2019 期 3,017、2021 期 5,254、2023 期 5,415 個，合共 13,686 個</a:t>
            </a:r>
            <a:endParaRPr lang="en-US" sz="1200" dirty="0"/>
          </a:p>
        </p:txBody>
      </p:sp>
      <p:sp>
        <p:nvSpPr>
          <p:cNvPr id="18" name="Text 16"/>
          <p:cNvSpPr txBox="1"/>
          <p:nvPr/>
        </p:nvSpPr>
        <p:spPr>
          <a:xfrm>
            <a:off x="7150608" y="2679192"/>
            <a:ext cx="4471416"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單位只可售予房屋局（第 13/2020 號法律）；恆常申請短期不設（議員所述）</a:t>
            </a:r>
            <a:endParaRPr lang="en-US" sz="1200" dirty="0"/>
          </a:p>
        </p:txBody>
      </p:sp>
      <p:sp>
        <p:nvSpPr>
          <p:cNvPr id="19" name="Shape 17"/>
          <p:cNvSpPr/>
          <p:nvPr/>
        </p:nvSpPr>
        <p:spPr>
          <a:xfrm>
            <a:off x="566928" y="3246120"/>
            <a:ext cx="11057839" cy="12802"/>
          </a:xfrm>
          <a:prstGeom prst="rect">
            <a:avLst/>
          </a:prstGeom>
          <a:solidFill>
            <a:srgbClr val="C72A09"/>
          </a:solidFill>
          <a:ln/>
        </p:spPr>
      </p:sp>
      <p:sp>
        <p:nvSpPr>
          <p:cNvPr id="20" name="Text 18"/>
          <p:cNvSpPr txBox="1"/>
          <p:nvPr/>
        </p:nvSpPr>
        <p:spPr>
          <a:xfrm>
            <a:off x="566928" y="3319272"/>
            <a:ext cx="1609344" cy="566928"/>
          </a:xfrm>
          <a:prstGeom prst="rect">
            <a:avLst/>
          </a:prstGeom>
          <a:noFill/>
          <a:ln/>
        </p:spPr>
        <p:txBody>
          <a:bodyPr wrap="square" lIns="0" tIns="0" rIns="0" bIns="0" rtlCol="0" anchor="ctr"/>
          <a:lstStyle/>
          <a:p>
            <a:pPr algn="l" indent="0" marL="0">
              <a:buNone/>
            </a:pPr>
            <a:r>
              <a:rPr lang="en-US" sz="1300" b="1" dirty="0">
                <a:solidFill>
                  <a:srgbClr val="CA0013"/>
                </a:solidFill>
                <a:latin typeface="Microsoft JhengHei" pitchFamily="34" charset="0"/>
                <a:ea typeface="Microsoft JhengHei" pitchFamily="34" charset="-122"/>
                <a:cs typeface="Microsoft JhengHei" pitchFamily="34" charset="-120"/>
              </a:rPr>
              <a:t>夾心房屋</a:t>
            </a:r>
            <a:endParaRPr lang="en-US" sz="1300" dirty="0"/>
          </a:p>
        </p:txBody>
      </p:sp>
      <p:sp>
        <p:nvSpPr>
          <p:cNvPr id="21" name="Text 19"/>
          <p:cNvSpPr txBox="1"/>
          <p:nvPr/>
        </p:nvSpPr>
        <p:spPr>
          <a:xfrm>
            <a:off x="2304288" y="3319272"/>
            <a:ext cx="4718304" cy="566928"/>
          </a:xfrm>
          <a:prstGeom prst="rect">
            <a:avLst/>
          </a:prstGeom>
          <a:noFill/>
          <a:ln/>
        </p:spPr>
        <p:txBody>
          <a:bodyPr wrap="square" lIns="0" tIns="0" rIns="0" bIns="0" rtlCol="0" anchor="ctr"/>
          <a:lstStyle/>
          <a:p>
            <a:pPr algn="l" indent="0" marL="0">
              <a:buNone/>
            </a:pPr>
            <a:r>
              <a:rPr lang="en-US" sz="1300" b="1" dirty="0">
                <a:solidFill>
                  <a:srgbClr val="CA0013"/>
                </a:solidFill>
                <a:latin typeface="Microsoft JhengHei" pitchFamily="34" charset="0"/>
                <a:ea typeface="Microsoft JhengHei" pitchFamily="34" charset="-122"/>
                <a:cs typeface="Microsoft JhengHei" pitchFamily="34" charset="-120"/>
              </a:rPr>
              <a:t>法例已立，尚未有單位供應</a:t>
            </a:r>
            <a:endParaRPr lang="en-US" sz="1300" dirty="0"/>
          </a:p>
        </p:txBody>
      </p:sp>
      <p:sp>
        <p:nvSpPr>
          <p:cNvPr id="22" name="Text 20"/>
          <p:cNvSpPr txBox="1"/>
          <p:nvPr/>
        </p:nvSpPr>
        <p:spPr>
          <a:xfrm>
            <a:off x="7150608" y="3319272"/>
            <a:ext cx="4471416" cy="566928"/>
          </a:xfrm>
          <a:prstGeom prst="rect">
            <a:avLst/>
          </a:prstGeom>
          <a:noFill/>
          <a:ln/>
        </p:spPr>
        <p:txBody>
          <a:bodyPr wrap="square" lIns="0" tIns="0" rIns="0" bIns="0" rtlCol="0" anchor="ctr"/>
          <a:lstStyle/>
          <a:p>
            <a:pPr algn="l" indent="0" marL="0">
              <a:buNone/>
            </a:pPr>
            <a:r>
              <a:rPr lang="en-US" sz="1300" b="1" dirty="0">
                <a:solidFill>
                  <a:srgbClr val="CA0013"/>
                </a:solidFill>
                <a:latin typeface="Microsoft JhengHei" pitchFamily="34" charset="0"/>
                <a:ea typeface="Microsoft JhengHei" pitchFamily="34" charset="-122"/>
                <a:cs typeface="Microsoft JhengHei" pitchFamily="34" charset="-120"/>
              </a:rPr>
              <a:t>法例 2024-04 生效；2025-12 報道：需求不太迫切，順利樓北側用途重新思考</a:t>
            </a:r>
            <a:endParaRPr lang="en-US" sz="1300" dirty="0"/>
          </a:p>
        </p:txBody>
      </p:sp>
      <p:sp>
        <p:nvSpPr>
          <p:cNvPr id="23" name="Shape 21"/>
          <p:cNvSpPr/>
          <p:nvPr/>
        </p:nvSpPr>
        <p:spPr>
          <a:xfrm>
            <a:off x="566928" y="3886200"/>
            <a:ext cx="11057839" cy="12802"/>
          </a:xfrm>
          <a:prstGeom prst="rect">
            <a:avLst/>
          </a:prstGeom>
          <a:solidFill>
            <a:srgbClr val="C72A09"/>
          </a:solidFill>
          <a:ln/>
        </p:spPr>
      </p:sp>
      <p:sp>
        <p:nvSpPr>
          <p:cNvPr id="24" name="Text 22"/>
          <p:cNvSpPr txBox="1"/>
          <p:nvPr/>
        </p:nvSpPr>
        <p:spPr>
          <a:xfrm>
            <a:off x="566928" y="3959352"/>
            <a:ext cx="1609344"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長者公寓</a:t>
            </a:r>
            <a:endParaRPr lang="en-US" sz="1200" dirty="0"/>
          </a:p>
        </p:txBody>
      </p:sp>
      <p:sp>
        <p:nvSpPr>
          <p:cNvPr id="25" name="Text 23"/>
          <p:cNvSpPr txBox="1"/>
          <p:nvPr/>
        </p:nvSpPr>
        <p:spPr>
          <a:xfrm>
            <a:off x="2304288" y="3959352"/>
            <a:ext cx="4718304"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首批已投入服務（研究報告稱 2024-10，待核）</a:t>
            </a:r>
            <a:endParaRPr lang="en-US" sz="1200" dirty="0"/>
          </a:p>
        </p:txBody>
      </p:sp>
      <p:sp>
        <p:nvSpPr>
          <p:cNvPr id="26" name="Text 24"/>
          <p:cNvSpPr txBox="1"/>
          <p:nvPr/>
        </p:nvSpPr>
        <p:spPr>
          <a:xfrm>
            <a:off x="7150608" y="3959352"/>
            <a:ext cx="4471416"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研究預測 2025 年總需求 1,845–3,803 戶</a:t>
            </a:r>
            <a:endParaRPr lang="en-US" sz="1200" dirty="0"/>
          </a:p>
        </p:txBody>
      </p:sp>
      <p:sp>
        <p:nvSpPr>
          <p:cNvPr id="27" name="Shape 25"/>
          <p:cNvSpPr/>
          <p:nvPr/>
        </p:nvSpPr>
        <p:spPr>
          <a:xfrm>
            <a:off x="566928" y="4526280"/>
            <a:ext cx="11057839" cy="12802"/>
          </a:xfrm>
          <a:prstGeom prst="rect">
            <a:avLst/>
          </a:prstGeom>
          <a:solidFill>
            <a:srgbClr val="C72A09"/>
          </a:solidFill>
          <a:ln/>
        </p:spPr>
      </p:sp>
      <p:sp>
        <p:nvSpPr>
          <p:cNvPr id="28" name="Text 26"/>
          <p:cNvSpPr txBox="1"/>
          <p:nvPr/>
        </p:nvSpPr>
        <p:spPr>
          <a:xfrm>
            <a:off x="566928" y="4599432"/>
            <a:ext cx="1609344"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私人樓宇</a:t>
            </a:r>
            <a:endParaRPr lang="en-US" sz="1200" dirty="0"/>
          </a:p>
        </p:txBody>
      </p:sp>
      <p:sp>
        <p:nvSpPr>
          <p:cNvPr id="29" name="Text 27"/>
          <p:cNvSpPr txBox="1"/>
          <p:nvPr/>
        </p:nvSpPr>
        <p:spPr>
          <a:xfrm>
            <a:off x="2304288" y="4599432"/>
            <a:ext cx="4718304"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238,464 個住宅單位，空置 16,655 個（2021-06）</a:t>
            </a:r>
            <a:endParaRPr lang="en-US" sz="1200" dirty="0"/>
          </a:p>
        </p:txBody>
      </p:sp>
      <p:sp>
        <p:nvSpPr>
          <p:cNvPr id="30" name="Text 28"/>
          <p:cNvSpPr txBox="1"/>
          <p:nvPr/>
        </p:nvSpPr>
        <p:spPr>
          <a:xfrm>
            <a:off x="7150608" y="4599432"/>
            <a:ext cx="4471416" cy="56692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住戶 202,700 戶；單位比住戶多 35,764 個</a:t>
            </a:r>
            <a:endParaRPr lang="en-US" sz="1200" dirty="0"/>
          </a:p>
        </p:txBody>
      </p:sp>
      <p:sp>
        <p:nvSpPr>
          <p:cNvPr id="31" name="Shape 29"/>
          <p:cNvSpPr/>
          <p:nvPr/>
        </p:nvSpPr>
        <p:spPr>
          <a:xfrm>
            <a:off x="566928" y="5166360"/>
            <a:ext cx="11057839" cy="12802"/>
          </a:xfrm>
          <a:prstGeom prst="rect">
            <a:avLst/>
          </a:prstGeom>
          <a:solidFill>
            <a:srgbClr val="C72A09"/>
          </a:solidFill>
          <a:ln/>
        </p:spPr>
      </p:sp>
      <p:sp>
        <p:nvSpPr>
          <p:cNvPr id="32" name="Shape 30"/>
          <p:cNvSpPr/>
          <p:nvPr/>
        </p:nvSpPr>
        <p:spPr>
          <a:xfrm>
            <a:off x="566928" y="5349240"/>
            <a:ext cx="11057839" cy="18288"/>
          </a:xfrm>
          <a:prstGeom prst="rect">
            <a:avLst/>
          </a:prstGeom>
          <a:solidFill>
            <a:srgbClr val="C72A09"/>
          </a:solidFill>
          <a:ln/>
        </p:spPr>
      </p:sp>
      <p:sp>
        <p:nvSpPr>
          <p:cNvPr id="33" name="Text 31"/>
          <p:cNvSpPr txBox="1"/>
          <p:nvPr/>
        </p:nvSpPr>
        <p:spPr>
          <a:xfrm>
            <a:off x="566928" y="5422392"/>
            <a:ext cx="11057839" cy="310896"/>
          </a:xfrm>
          <a:prstGeom prst="rect">
            <a:avLst/>
          </a:prstGeom>
          <a:noFill/>
          <a:ln/>
        </p:spPr>
        <p:txBody>
          <a:bodyPr wrap="square" lIns="0" tIns="0" rIns="0" bIns="0" rtlCol="0" anchor="ctr"/>
          <a:lstStyle/>
          <a:p>
            <a:pPr indent="0" marL="0">
              <a:buNone/>
            </a:pPr>
            <a:r>
              <a:rPr lang="en-US" sz="1400" b="1" dirty="0">
                <a:solidFill>
                  <a:srgbClr val="CA0013"/>
                </a:solidFill>
                <a:latin typeface="Microsoft JhengHei" pitchFamily="34" charset="0"/>
                <a:ea typeface="Microsoft JhengHei" pitchFamily="34" charset="-122"/>
                <a:cs typeface="Microsoft JhengHei" pitchFamily="34" charset="-120"/>
              </a:rPr>
              <a:t>五階梯不是一條連續的梯：夾屋有法例、沒單位，中間收入的家庭仍然沒有對應的階梯。</a:t>
            </a:r>
            <a:endParaRPr lang="en-US" sz="1400" dirty="0"/>
          </a:p>
        </p:txBody>
      </p:sp>
      <p:sp>
        <p:nvSpPr>
          <p:cNvPr id="34" name="Text 32"/>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政策研究 2022；房屋局統計；第 13/2020、17/2023 號法律</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(20)</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問題三</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經屋 2023 期：單位夠，戶型不對</a:t>
            </a:r>
            <a:endParaRPr lang="en-US" sz="3400" dirty="0"/>
          </a:p>
        </p:txBody>
      </p:sp>
      <p:graphicFrame>
        <p:nvGraphicFramePr>
          <p:cNvPr id="8" name="Chart 0" descr=""/>
          <p:cNvGraphicFramePr/>
          <p:nvPr/>
        </p:nvGraphicFramePr>
        <p:xfrm>
          <a:off x="566928" y="1600200"/>
          <a:ext cx="5760720" cy="32004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66928" y="4937760"/>
            <a:ext cx="5760720" cy="731520"/>
          </a:xfrm>
          <a:prstGeom prst="rect">
            <a:avLst/>
          </a:prstGeom>
          <a:noFill/>
          <a:ln/>
        </p:spPr>
        <p:txBody>
          <a:bodyPr wrap="square" lIns="0" tIns="0" rIns="0" bIns="0" rtlCol="0" anchor="t"/>
          <a:lstStyle/>
          <a:p>
            <a:pPr indent="0" marL="0">
              <a:lnSpc>
                <a:spcPct val="140000"/>
              </a:lnSpc>
              <a:buNone/>
            </a:pPr>
            <a:r>
              <a:rPr lang="en-US" sz="1100" dirty="0">
                <a:solidFill>
                  <a:srgbClr val="CA0013"/>
                </a:solidFill>
                <a:latin typeface="Microsoft JhengHei" pitchFamily="34" charset="0"/>
                <a:ea typeface="Microsoft JhengHei" pitchFamily="34" charset="-122"/>
                <a:cs typeface="Microsoft JhengHei" pitchFamily="34" charset="-120"/>
              </a:rPr>
              <a:t>個人申請 2,275 份（約 45%）為議員引述房屋局資料，原始數據未取得。一人家團只能申請一房單位。</a:t>
            </a:r>
            <a:endParaRPr lang="en-US" sz="1100" dirty="0"/>
          </a:p>
        </p:txBody>
      </p:sp>
      <p:sp>
        <p:nvSpPr>
          <p:cNvPr id="10" name="Text 7"/>
          <p:cNvSpPr txBox="1"/>
          <p:nvPr/>
        </p:nvSpPr>
        <p:spPr>
          <a:xfrm>
            <a:off x="6766560" y="1600200"/>
            <a:ext cx="316382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2023 年期</a:t>
            </a:r>
            <a:endParaRPr lang="en-US" sz="1100" dirty="0"/>
          </a:p>
        </p:txBody>
      </p:sp>
      <p:sp>
        <p:nvSpPr>
          <p:cNvPr id="11" name="Text 8"/>
          <p:cNvSpPr txBox="1"/>
          <p:nvPr/>
        </p:nvSpPr>
        <p:spPr>
          <a:xfrm>
            <a:off x="10058400" y="1600200"/>
            <a:ext cx="1554480" cy="310896"/>
          </a:xfrm>
          <a:prstGeom prst="rect">
            <a:avLst/>
          </a:prstGeom>
          <a:noFill/>
          <a:ln/>
        </p:spPr>
        <p:txBody>
          <a:bodyPr wrap="square" lIns="0" tIns="0" rIns="0" bIns="0" rtlCol="0" anchor="ctr"/>
          <a:lstStyle/>
          <a:p>
            <a:pPr algn="r"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數目</a:t>
            </a:r>
            <a:endParaRPr lang="en-US" sz="1100" dirty="0"/>
          </a:p>
        </p:txBody>
      </p:sp>
      <p:sp>
        <p:nvSpPr>
          <p:cNvPr id="12" name="Shape 9"/>
          <p:cNvSpPr/>
          <p:nvPr/>
        </p:nvSpPr>
        <p:spPr>
          <a:xfrm>
            <a:off x="6766560" y="1947672"/>
            <a:ext cx="4846320" cy="18288"/>
          </a:xfrm>
          <a:prstGeom prst="rect">
            <a:avLst/>
          </a:prstGeom>
          <a:solidFill>
            <a:srgbClr val="C72A09"/>
          </a:solidFill>
          <a:ln/>
        </p:spPr>
      </p:sp>
      <p:sp>
        <p:nvSpPr>
          <p:cNvPr id="13" name="Text 10"/>
          <p:cNvSpPr txBox="1"/>
          <p:nvPr/>
        </p:nvSpPr>
        <p:spPr>
          <a:xfrm>
            <a:off x="6766560" y="2039112"/>
            <a:ext cx="3163824" cy="329184"/>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供應單位</a:t>
            </a:r>
            <a:endParaRPr lang="en-US" sz="1200" dirty="0"/>
          </a:p>
        </p:txBody>
      </p:sp>
      <p:sp>
        <p:nvSpPr>
          <p:cNvPr id="14" name="Text 11"/>
          <p:cNvSpPr txBox="1"/>
          <p:nvPr/>
        </p:nvSpPr>
        <p:spPr>
          <a:xfrm>
            <a:off x="10058400" y="2039112"/>
            <a:ext cx="1554480" cy="329184"/>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5,415</a:t>
            </a:r>
            <a:endParaRPr lang="en-US" sz="1200" dirty="0"/>
          </a:p>
        </p:txBody>
      </p:sp>
      <p:sp>
        <p:nvSpPr>
          <p:cNvPr id="15" name="Shape 12"/>
          <p:cNvSpPr/>
          <p:nvPr/>
        </p:nvSpPr>
        <p:spPr>
          <a:xfrm>
            <a:off x="6766560" y="2368296"/>
            <a:ext cx="4846320" cy="12802"/>
          </a:xfrm>
          <a:prstGeom prst="rect">
            <a:avLst/>
          </a:prstGeom>
          <a:solidFill>
            <a:srgbClr val="C72A09"/>
          </a:solidFill>
          <a:ln/>
        </p:spPr>
      </p:sp>
      <p:sp>
        <p:nvSpPr>
          <p:cNvPr id="16" name="Text 13"/>
          <p:cNvSpPr txBox="1"/>
          <p:nvPr/>
        </p:nvSpPr>
        <p:spPr>
          <a:xfrm>
            <a:off x="6766560" y="2441448"/>
            <a:ext cx="3163824" cy="329184"/>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收到申請</a:t>
            </a:r>
            <a:endParaRPr lang="en-US" sz="1200" dirty="0"/>
          </a:p>
        </p:txBody>
      </p:sp>
      <p:sp>
        <p:nvSpPr>
          <p:cNvPr id="17" name="Text 14"/>
          <p:cNvSpPr txBox="1"/>
          <p:nvPr/>
        </p:nvSpPr>
        <p:spPr>
          <a:xfrm>
            <a:off x="10058400" y="2441448"/>
            <a:ext cx="1554480" cy="329184"/>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6,562</a:t>
            </a:r>
            <a:endParaRPr lang="en-US" sz="1200" dirty="0"/>
          </a:p>
        </p:txBody>
      </p:sp>
      <p:sp>
        <p:nvSpPr>
          <p:cNvPr id="18" name="Shape 15"/>
          <p:cNvSpPr/>
          <p:nvPr/>
        </p:nvSpPr>
        <p:spPr>
          <a:xfrm>
            <a:off x="6766560" y="2770632"/>
            <a:ext cx="4846320" cy="12802"/>
          </a:xfrm>
          <a:prstGeom prst="rect">
            <a:avLst/>
          </a:prstGeom>
          <a:solidFill>
            <a:srgbClr val="C72A09"/>
          </a:solidFill>
          <a:ln/>
        </p:spPr>
      </p:sp>
      <p:sp>
        <p:nvSpPr>
          <p:cNvPr id="19" name="Text 16"/>
          <p:cNvSpPr txBox="1"/>
          <p:nvPr/>
        </p:nvSpPr>
        <p:spPr>
          <a:xfrm>
            <a:off x="6766560" y="2843784"/>
            <a:ext cx="3163824" cy="329184"/>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獲接納申請</a:t>
            </a:r>
            <a:endParaRPr lang="en-US" sz="1200" dirty="0"/>
          </a:p>
        </p:txBody>
      </p:sp>
      <p:sp>
        <p:nvSpPr>
          <p:cNvPr id="20" name="Text 17"/>
          <p:cNvSpPr txBox="1"/>
          <p:nvPr/>
        </p:nvSpPr>
        <p:spPr>
          <a:xfrm>
            <a:off x="10058400" y="2843784"/>
            <a:ext cx="1554480" cy="329184"/>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5,076</a:t>
            </a:r>
            <a:endParaRPr lang="en-US" sz="1200" dirty="0"/>
          </a:p>
        </p:txBody>
      </p:sp>
      <p:sp>
        <p:nvSpPr>
          <p:cNvPr id="21" name="Shape 18"/>
          <p:cNvSpPr/>
          <p:nvPr/>
        </p:nvSpPr>
        <p:spPr>
          <a:xfrm>
            <a:off x="6766560" y="3172968"/>
            <a:ext cx="4846320" cy="12802"/>
          </a:xfrm>
          <a:prstGeom prst="rect">
            <a:avLst/>
          </a:prstGeom>
          <a:solidFill>
            <a:srgbClr val="C72A09"/>
          </a:solidFill>
          <a:ln/>
        </p:spPr>
      </p:sp>
      <p:sp>
        <p:nvSpPr>
          <p:cNvPr id="22" name="Text 19"/>
          <p:cNvSpPr txBox="1"/>
          <p:nvPr/>
        </p:nvSpPr>
        <p:spPr>
          <a:xfrm>
            <a:off x="6766560" y="3246120"/>
            <a:ext cx="3163824" cy="329184"/>
          </a:xfrm>
          <a:prstGeom prst="rect">
            <a:avLst/>
          </a:prstGeom>
          <a:noFill/>
          <a:ln/>
        </p:spPr>
        <p:txBody>
          <a:bodyPr wrap="square" lIns="0" tIns="0" rIns="0" bIns="0" rtlCol="0" anchor="ctr"/>
          <a:lstStyle/>
          <a:p>
            <a:pPr algn="l" indent="0" marL="0">
              <a:buNone/>
            </a:pPr>
            <a:r>
              <a:rPr lang="en-US" sz="1300" b="1" dirty="0">
                <a:solidFill>
                  <a:srgbClr val="CA0013"/>
                </a:solidFill>
                <a:latin typeface="Microsoft JhengHei" pitchFamily="34" charset="0"/>
                <a:ea typeface="Microsoft JhengHei" pitchFamily="34" charset="-122"/>
                <a:cs typeface="Microsoft JhengHei" pitchFamily="34" charset="-120"/>
              </a:rPr>
              <a:t>取消資格</a:t>
            </a:r>
            <a:endParaRPr lang="en-US" sz="1300" dirty="0"/>
          </a:p>
        </p:txBody>
      </p:sp>
      <p:sp>
        <p:nvSpPr>
          <p:cNvPr id="23" name="Text 20"/>
          <p:cNvSpPr txBox="1"/>
          <p:nvPr/>
        </p:nvSpPr>
        <p:spPr>
          <a:xfrm>
            <a:off x="10058400" y="3246120"/>
            <a:ext cx="1554480" cy="329184"/>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1,486（22.6%）</a:t>
            </a:r>
            <a:endParaRPr lang="en-US" sz="1300" dirty="0"/>
          </a:p>
        </p:txBody>
      </p:sp>
      <p:sp>
        <p:nvSpPr>
          <p:cNvPr id="24" name="Shape 21"/>
          <p:cNvSpPr/>
          <p:nvPr/>
        </p:nvSpPr>
        <p:spPr>
          <a:xfrm>
            <a:off x="6766560" y="3575304"/>
            <a:ext cx="4846320" cy="12802"/>
          </a:xfrm>
          <a:prstGeom prst="rect">
            <a:avLst/>
          </a:prstGeom>
          <a:solidFill>
            <a:srgbClr val="C72A09"/>
          </a:solidFill>
          <a:ln/>
        </p:spPr>
      </p:sp>
      <p:sp>
        <p:nvSpPr>
          <p:cNvPr id="25" name="Text 22"/>
          <p:cNvSpPr txBox="1"/>
          <p:nvPr/>
        </p:nvSpPr>
        <p:spPr>
          <a:xfrm>
            <a:off x="6766560" y="3794760"/>
            <a:ext cx="4846320" cy="640080"/>
          </a:xfrm>
          <a:prstGeom prst="rect">
            <a:avLst/>
          </a:prstGeom>
          <a:noFill/>
          <a:ln/>
        </p:spPr>
        <p:txBody>
          <a:bodyPr wrap="square" lIns="0" tIns="0" rIns="0" bIns="0" rtlCol="0" anchor="t"/>
          <a:lstStyle/>
          <a:p>
            <a:pPr indent="0" marL="0">
              <a:lnSpc>
                <a:spcPct val="140000"/>
              </a:lnSpc>
              <a:buNone/>
            </a:pPr>
            <a:r>
              <a:rPr lang="en-US" sz="1100" dirty="0">
                <a:solidFill>
                  <a:srgbClr val="CA0013"/>
                </a:solidFill>
                <a:latin typeface="Microsoft JhengHei" pitchFamily="34" charset="0"/>
                <a:ea typeface="Microsoft JhengHei" pitchFamily="34" charset="-122"/>
                <a:cs typeface="Microsoft JhengHei" pitchFamily="34" charset="-120"/>
              </a:rPr>
              <a:t>取消原因只有類別，沒有分項人數：收入低於或高於限額、逾期未遞交或未補齊文件、已列於另一份獲許可申請表。</a:t>
            </a:r>
            <a:endParaRPr lang="en-US" sz="1100" dirty="0"/>
          </a:p>
        </p:txBody>
      </p:sp>
      <p:sp>
        <p:nvSpPr>
          <p:cNvPr id="26" name="Shape 23"/>
          <p:cNvSpPr/>
          <p:nvPr/>
        </p:nvSpPr>
        <p:spPr>
          <a:xfrm>
            <a:off x="6766560" y="4526280"/>
            <a:ext cx="4846320" cy="1143000"/>
          </a:xfrm>
          <a:prstGeom prst="rect">
            <a:avLst/>
          </a:prstGeom>
          <a:solidFill>
            <a:srgbClr val="EEEBE3"/>
          </a:solidFill>
          <a:ln w="12700">
            <a:solidFill>
              <a:srgbClr val="CA0013"/>
            </a:solidFill>
            <a:prstDash val="dash"/>
          </a:ln>
        </p:spPr>
      </p:sp>
      <p:sp>
        <p:nvSpPr>
          <p:cNvPr id="27" name="Text 24"/>
          <p:cNvSpPr txBox="1"/>
          <p:nvPr/>
        </p:nvSpPr>
        <p:spPr>
          <a:xfrm>
            <a:off x="6949440" y="4636008"/>
            <a:ext cx="4480560" cy="310896"/>
          </a:xfrm>
          <a:prstGeom prst="rect">
            <a:avLst/>
          </a:prstGeom>
          <a:noFill/>
          <a:ln/>
        </p:spPr>
        <p:txBody>
          <a:bodyPr wrap="square" lIns="0" tIns="0" rIns="0" bIns="0" rtlCol="0" anchor="t"/>
          <a:lstStyle/>
          <a:p>
            <a:pPr algn="l" indent="0" marL="0">
              <a:lnSpc>
                <a:spcPct val="125000"/>
              </a:lnSpc>
              <a:buNone/>
            </a:pPr>
            <a:r>
              <a:rPr lang="en-US" sz="1000" b="1" spc="200" kern="0" dirty="0">
                <a:solidFill>
                  <a:srgbClr val="CA0013"/>
                </a:solidFill>
                <a:latin typeface="Microsoft JhengHei" pitchFamily="34" charset="0"/>
                <a:ea typeface="Microsoft JhengHei" pitchFamily="34" charset="-122"/>
                <a:cs typeface="Microsoft JhengHei" pitchFamily="34" charset="-120"/>
              </a:rPr>
              <a:t>訪問引用位</a:t>
            </a:r>
            <a:endParaRPr lang="en-US" sz="1000" dirty="0"/>
          </a:p>
        </p:txBody>
      </p:sp>
      <p:sp>
        <p:nvSpPr>
          <p:cNvPr id="28" name="Text 25"/>
          <p:cNvSpPr txBox="1"/>
          <p:nvPr/>
        </p:nvSpPr>
        <p:spPr>
          <a:xfrm>
            <a:off x="6949440" y="4892040"/>
            <a:ext cx="4480560" cy="274320"/>
          </a:xfrm>
          <a:prstGeom prst="rect">
            <a:avLst/>
          </a:prstGeom>
          <a:noFill/>
          <a:ln/>
        </p:spPr>
        <p:txBody>
          <a:bodyPr wrap="square" lIns="0" tIns="0" rIns="0" bIns="0" rtlCol="0" anchor="t"/>
          <a:lstStyle/>
          <a:p>
            <a:pPr indent="0" marL="0">
              <a:buNone/>
            </a:pPr>
            <a:r>
              <a:rPr lang="en-US" sz="1150" b="1" dirty="0">
                <a:solidFill>
                  <a:srgbClr val="CA0013"/>
                </a:solidFill>
                <a:latin typeface="Microsoft JhengHei" pitchFamily="34" charset="0"/>
                <a:ea typeface="Microsoft JhengHei" pitchFamily="34" charset="-122"/>
                <a:cs typeface="Microsoft JhengHei" pitchFamily="34" charset="-120"/>
              </a:rPr>
              <a:t>受訪者＿＿（房屋局／社工／輪候居民）</a:t>
            </a:r>
            <a:endParaRPr lang="en-US" sz="1150" dirty="0"/>
          </a:p>
        </p:txBody>
      </p:sp>
      <p:sp>
        <p:nvSpPr>
          <p:cNvPr id="29" name="Text 26"/>
          <p:cNvSpPr txBox="1"/>
          <p:nvPr/>
        </p:nvSpPr>
        <p:spPr>
          <a:xfrm>
            <a:off x="6949440" y="5148072"/>
            <a:ext cx="4480560" cy="484632"/>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追問：一人家團與小單位需求大，輪候時最大的障礙是什麼？</a:t>
            </a:r>
            <a:endParaRPr lang="en-US" sz="1050" dirty="0"/>
          </a:p>
        </p:txBody>
      </p:sp>
      <p:sp>
        <p:nvSpPr>
          <p:cNvPr id="30" name="Text 27"/>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房屋局公告；議員李良汪書面質詢（2025-02）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(21)</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問題三</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公共房屋大事：2019–2026</a:t>
            </a:r>
            <a:endParaRPr lang="en-US" sz="3400" dirty="0"/>
          </a:p>
        </p:txBody>
      </p:sp>
      <p:sp>
        <p:nvSpPr>
          <p:cNvPr id="8" name="Text 6"/>
          <p:cNvSpPr txBox="1"/>
          <p:nvPr/>
        </p:nvSpPr>
        <p:spPr>
          <a:xfrm>
            <a:off x="566928" y="1645920"/>
            <a:ext cx="1243584" cy="4114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2019 期</a:t>
            </a:r>
            <a:endParaRPr lang="en-US" sz="1150" dirty="0"/>
          </a:p>
        </p:txBody>
      </p:sp>
      <p:sp>
        <p:nvSpPr>
          <p:cNvPr id="9" name="Text 7"/>
          <p:cNvSpPr txBox="1"/>
          <p:nvPr/>
        </p:nvSpPr>
        <p:spPr>
          <a:xfrm>
            <a:off x="1920240" y="1645920"/>
            <a:ext cx="5961888" cy="4114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經屋 3,017 個單位；2025-11 報道：2,000 多個家團已選樓，近 1,000 個家團辦理上樓</a:t>
            </a:r>
            <a:endParaRPr lang="en-US" sz="1150" dirty="0"/>
          </a:p>
        </p:txBody>
      </p:sp>
      <p:sp>
        <p:nvSpPr>
          <p:cNvPr id="10" name="Shape 8"/>
          <p:cNvSpPr/>
          <p:nvPr/>
        </p:nvSpPr>
        <p:spPr>
          <a:xfrm>
            <a:off x="566928" y="2039112"/>
            <a:ext cx="7315200" cy="12802"/>
          </a:xfrm>
          <a:prstGeom prst="rect">
            <a:avLst/>
          </a:prstGeom>
          <a:solidFill>
            <a:srgbClr val="C72A09"/>
          </a:solidFill>
          <a:ln/>
        </p:spPr>
      </p:sp>
      <p:sp>
        <p:nvSpPr>
          <p:cNvPr id="11" name="Text 9"/>
          <p:cNvSpPr txBox="1"/>
          <p:nvPr/>
        </p:nvSpPr>
        <p:spPr>
          <a:xfrm>
            <a:off x="566928" y="2148840"/>
            <a:ext cx="1243584" cy="4114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2020</a:t>
            </a:r>
            <a:endParaRPr lang="en-US" sz="1150" dirty="0"/>
          </a:p>
        </p:txBody>
      </p:sp>
      <p:sp>
        <p:nvSpPr>
          <p:cNvPr id="12" name="Text 10"/>
          <p:cNvSpPr txBox="1"/>
          <p:nvPr/>
        </p:nvSpPr>
        <p:spPr>
          <a:xfrm>
            <a:off x="1920240" y="2148840"/>
            <a:ext cx="5961888" cy="4114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社屋改行恆常申請；經屋修法，只可售予房屋局（第 13/2020 號法律）</a:t>
            </a:r>
            <a:endParaRPr lang="en-US" sz="1150" dirty="0"/>
          </a:p>
        </p:txBody>
      </p:sp>
      <p:sp>
        <p:nvSpPr>
          <p:cNvPr id="13" name="Shape 11"/>
          <p:cNvSpPr/>
          <p:nvPr/>
        </p:nvSpPr>
        <p:spPr>
          <a:xfrm>
            <a:off x="566928" y="2542032"/>
            <a:ext cx="7315200" cy="12802"/>
          </a:xfrm>
          <a:prstGeom prst="rect">
            <a:avLst/>
          </a:prstGeom>
          <a:solidFill>
            <a:srgbClr val="C72A09"/>
          </a:solidFill>
          <a:ln/>
        </p:spPr>
      </p:sp>
      <p:sp>
        <p:nvSpPr>
          <p:cNvPr id="14" name="Text 12"/>
          <p:cNvSpPr txBox="1"/>
          <p:nvPr/>
        </p:nvSpPr>
        <p:spPr>
          <a:xfrm>
            <a:off x="566928" y="2651760"/>
            <a:ext cx="1243584" cy="4114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2021 期</a:t>
            </a:r>
            <a:endParaRPr lang="en-US" sz="1150" dirty="0"/>
          </a:p>
        </p:txBody>
      </p:sp>
      <p:sp>
        <p:nvSpPr>
          <p:cNvPr id="15" name="Text 13"/>
          <p:cNvSpPr txBox="1"/>
          <p:nvPr/>
        </p:nvSpPr>
        <p:spPr>
          <a:xfrm>
            <a:off x="1920240" y="2651760"/>
            <a:ext cx="5961888" cy="4114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經屋 5,254 個單位（新城 A 區 A1–A4、A12）</a:t>
            </a:r>
            <a:endParaRPr lang="en-US" sz="1150" dirty="0"/>
          </a:p>
        </p:txBody>
      </p:sp>
      <p:sp>
        <p:nvSpPr>
          <p:cNvPr id="16" name="Shape 14"/>
          <p:cNvSpPr/>
          <p:nvPr/>
        </p:nvSpPr>
        <p:spPr>
          <a:xfrm>
            <a:off x="566928" y="3044952"/>
            <a:ext cx="7315200" cy="12802"/>
          </a:xfrm>
          <a:prstGeom prst="rect">
            <a:avLst/>
          </a:prstGeom>
          <a:solidFill>
            <a:srgbClr val="C72A09"/>
          </a:solidFill>
          <a:ln/>
        </p:spPr>
      </p:sp>
      <p:sp>
        <p:nvSpPr>
          <p:cNvPr id="17" name="Text 15"/>
          <p:cNvSpPr txBox="1"/>
          <p:nvPr/>
        </p:nvSpPr>
        <p:spPr>
          <a:xfrm>
            <a:off x="566928" y="3154680"/>
            <a:ext cx="1243584" cy="4114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2023 期</a:t>
            </a:r>
            <a:endParaRPr lang="en-US" sz="1150" dirty="0"/>
          </a:p>
        </p:txBody>
      </p:sp>
      <p:sp>
        <p:nvSpPr>
          <p:cNvPr id="18" name="Text 16"/>
          <p:cNvSpPr txBox="1"/>
          <p:nvPr/>
        </p:nvSpPr>
        <p:spPr>
          <a:xfrm>
            <a:off x="1920240" y="3154680"/>
            <a:ext cx="5961888" cy="4114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經屋 5,415 個單位（B5、B7、B8、B11、B12）；收到 6,562 份申請</a:t>
            </a:r>
            <a:endParaRPr lang="en-US" sz="1150" dirty="0"/>
          </a:p>
        </p:txBody>
      </p:sp>
      <p:sp>
        <p:nvSpPr>
          <p:cNvPr id="19" name="Shape 17"/>
          <p:cNvSpPr/>
          <p:nvPr/>
        </p:nvSpPr>
        <p:spPr>
          <a:xfrm>
            <a:off x="566928" y="3547872"/>
            <a:ext cx="7315200" cy="12802"/>
          </a:xfrm>
          <a:prstGeom prst="rect">
            <a:avLst/>
          </a:prstGeom>
          <a:solidFill>
            <a:srgbClr val="C72A09"/>
          </a:solidFill>
          <a:ln/>
        </p:spPr>
      </p:sp>
      <p:sp>
        <p:nvSpPr>
          <p:cNvPr id="20" name="Text 18"/>
          <p:cNvSpPr txBox="1"/>
          <p:nvPr/>
        </p:nvSpPr>
        <p:spPr>
          <a:xfrm>
            <a:off x="566928" y="3657600"/>
            <a:ext cx="1243584" cy="4114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2023-08</a:t>
            </a:r>
            <a:endParaRPr lang="en-US" sz="1150" dirty="0"/>
          </a:p>
        </p:txBody>
      </p:sp>
      <p:sp>
        <p:nvSpPr>
          <p:cNvPr id="21" name="Text 19"/>
          <p:cNvSpPr txBox="1"/>
          <p:nvPr/>
        </p:nvSpPr>
        <p:spPr>
          <a:xfrm>
            <a:off x="1920240" y="3657600"/>
            <a:ext cx="5961888" cy="4114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公布《夾心房屋法律制度》；2024-04 生效，同年訂出申請平台、計分表</a:t>
            </a:r>
            <a:endParaRPr lang="en-US" sz="1150" dirty="0"/>
          </a:p>
        </p:txBody>
      </p:sp>
      <p:sp>
        <p:nvSpPr>
          <p:cNvPr id="22" name="Shape 20"/>
          <p:cNvSpPr/>
          <p:nvPr/>
        </p:nvSpPr>
        <p:spPr>
          <a:xfrm>
            <a:off x="566928" y="4050792"/>
            <a:ext cx="7315200" cy="12802"/>
          </a:xfrm>
          <a:prstGeom prst="rect">
            <a:avLst/>
          </a:prstGeom>
          <a:solidFill>
            <a:srgbClr val="C72A09"/>
          </a:solidFill>
          <a:ln/>
        </p:spPr>
      </p:sp>
      <p:sp>
        <p:nvSpPr>
          <p:cNvPr id="23" name="Text 21"/>
          <p:cNvSpPr txBox="1"/>
          <p:nvPr/>
        </p:nvSpPr>
        <p:spPr>
          <a:xfrm>
            <a:off x="566928" y="4160520"/>
            <a:ext cx="1243584" cy="4114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2024</a:t>
            </a:r>
            <a:endParaRPr lang="en-US" sz="1150" dirty="0"/>
          </a:p>
        </p:txBody>
      </p:sp>
      <p:sp>
        <p:nvSpPr>
          <p:cNvPr id="24" name="Text 22"/>
          <p:cNvSpPr txBox="1"/>
          <p:nvPr/>
        </p:nvSpPr>
        <p:spPr>
          <a:xfrm>
            <a:off x="1920240" y="4160520"/>
            <a:ext cx="5961888" cy="4114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暫停新城 A 區 5 個地段經屋項目（議員質詢所述）</a:t>
            </a:r>
            <a:endParaRPr lang="en-US" sz="1150" dirty="0"/>
          </a:p>
        </p:txBody>
      </p:sp>
      <p:sp>
        <p:nvSpPr>
          <p:cNvPr id="25" name="Shape 23"/>
          <p:cNvSpPr/>
          <p:nvPr/>
        </p:nvSpPr>
        <p:spPr>
          <a:xfrm>
            <a:off x="566928" y="4553712"/>
            <a:ext cx="7315200" cy="12802"/>
          </a:xfrm>
          <a:prstGeom prst="rect">
            <a:avLst/>
          </a:prstGeom>
          <a:solidFill>
            <a:srgbClr val="C72A09"/>
          </a:solidFill>
          <a:ln/>
        </p:spPr>
      </p:sp>
      <p:sp>
        <p:nvSpPr>
          <p:cNvPr id="26" name="Text 24"/>
          <p:cNvSpPr txBox="1"/>
          <p:nvPr/>
        </p:nvSpPr>
        <p:spPr>
          <a:xfrm>
            <a:off x="566928" y="4663440"/>
            <a:ext cx="1243584" cy="4114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2025-11</a:t>
            </a:r>
            <a:endParaRPr lang="en-US" sz="1150" dirty="0"/>
          </a:p>
        </p:txBody>
      </p:sp>
      <p:sp>
        <p:nvSpPr>
          <p:cNvPr id="27" name="Text 25"/>
          <p:cNvSpPr txBox="1"/>
          <p:nvPr/>
        </p:nvSpPr>
        <p:spPr>
          <a:xfrm>
            <a:off x="1920240" y="4663440"/>
            <a:ext cx="5961888" cy="4114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房屋局局長：2021、2023 年期經屋售價因溢價金調整將下調</a:t>
            </a:r>
            <a:endParaRPr lang="en-US" sz="1150" dirty="0"/>
          </a:p>
        </p:txBody>
      </p:sp>
      <p:sp>
        <p:nvSpPr>
          <p:cNvPr id="28" name="Shape 26"/>
          <p:cNvSpPr/>
          <p:nvPr/>
        </p:nvSpPr>
        <p:spPr>
          <a:xfrm>
            <a:off x="566928" y="5056632"/>
            <a:ext cx="7315200" cy="12802"/>
          </a:xfrm>
          <a:prstGeom prst="rect">
            <a:avLst/>
          </a:prstGeom>
          <a:solidFill>
            <a:srgbClr val="C72A09"/>
          </a:solidFill>
          <a:ln/>
        </p:spPr>
      </p:sp>
      <p:sp>
        <p:nvSpPr>
          <p:cNvPr id="29" name="Text 27"/>
          <p:cNvSpPr txBox="1"/>
          <p:nvPr/>
        </p:nvSpPr>
        <p:spPr>
          <a:xfrm>
            <a:off x="566928" y="5166360"/>
            <a:ext cx="1243584" cy="411480"/>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2026-01</a:t>
            </a:r>
            <a:endParaRPr lang="en-US" sz="1150" dirty="0"/>
          </a:p>
        </p:txBody>
      </p:sp>
      <p:sp>
        <p:nvSpPr>
          <p:cNvPr id="30" name="Text 28"/>
          <p:cNvSpPr txBox="1"/>
          <p:nvPr/>
        </p:nvSpPr>
        <p:spPr>
          <a:xfrm>
            <a:off x="1920240" y="5166360"/>
            <a:ext cx="5961888" cy="411480"/>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明珠都滙置換房購買期屆滿，只有 338 個完成購買</a:t>
            </a:r>
            <a:endParaRPr lang="en-US" sz="1150" dirty="0"/>
          </a:p>
        </p:txBody>
      </p:sp>
      <p:sp>
        <p:nvSpPr>
          <p:cNvPr id="31" name="Shape 29"/>
          <p:cNvSpPr/>
          <p:nvPr/>
        </p:nvSpPr>
        <p:spPr>
          <a:xfrm>
            <a:off x="566928" y="5559552"/>
            <a:ext cx="7315200" cy="12802"/>
          </a:xfrm>
          <a:prstGeom prst="rect">
            <a:avLst/>
          </a:prstGeom>
          <a:solidFill>
            <a:srgbClr val="C72A09"/>
          </a:solidFill>
          <a:ln/>
        </p:spPr>
      </p:sp>
      <p:sp>
        <p:nvSpPr>
          <p:cNvPr id="32" name="Text 30"/>
          <p:cNvSpPr txBox="1"/>
          <p:nvPr/>
        </p:nvSpPr>
        <p:spPr>
          <a:xfrm>
            <a:off x="8412480" y="1691640"/>
            <a:ext cx="3200400" cy="932688"/>
          </a:xfrm>
          <a:prstGeom prst="rect">
            <a:avLst/>
          </a:prstGeom>
          <a:noFill/>
          <a:ln/>
        </p:spPr>
        <p:txBody>
          <a:bodyPr wrap="square" lIns="0" tIns="0" rIns="0" bIns="0" rtlCol="0" anchor="ctr"/>
          <a:lstStyle/>
          <a:p>
            <a:pPr indent="0" marL="0">
              <a:buNone/>
            </a:pPr>
            <a:r>
              <a:rPr lang="en-US" sz="4400" b="1" dirty="0">
                <a:solidFill>
                  <a:srgbClr val="CA0013"/>
                </a:solidFill>
                <a:latin typeface="Inter" pitchFamily="34" charset="0"/>
                <a:ea typeface="Inter" pitchFamily="34" charset="-122"/>
                <a:cs typeface="Inter" pitchFamily="34" charset="-120"/>
              </a:rPr>
              <a:t>13,686</a:t>
            </a:r>
            <a:pPr indent="0" marL="0">
              <a:buNone/>
            </a:pPr>
            <a:r>
              <a:rPr lang="en-US" sz="1848" b="1" dirty="0">
                <a:solidFill>
                  <a:srgbClr val="CA0013"/>
                </a:solidFill>
                <a:latin typeface="Microsoft JhengHei" pitchFamily="34" charset="0"/>
                <a:ea typeface="Microsoft JhengHei" pitchFamily="34" charset="-122"/>
                <a:cs typeface="Microsoft JhengHei" pitchFamily="34" charset="-120"/>
              </a:rPr>
              <a:t> 個</a:t>
            </a:r>
            <a:endParaRPr lang="en-US" sz="4400" dirty="0"/>
          </a:p>
        </p:txBody>
      </p:sp>
      <p:sp>
        <p:nvSpPr>
          <p:cNvPr id="33" name="Text 31"/>
          <p:cNvSpPr txBox="1"/>
          <p:nvPr/>
        </p:nvSpPr>
        <p:spPr>
          <a:xfrm>
            <a:off x="8412480" y="2624328"/>
            <a:ext cx="320040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三期經屋單位合計</a:t>
            </a:r>
            <a:endParaRPr lang="en-US" sz="1300" dirty="0"/>
          </a:p>
        </p:txBody>
      </p:sp>
      <p:sp>
        <p:nvSpPr>
          <p:cNvPr id="34" name="Text 32"/>
          <p:cNvSpPr txBox="1"/>
          <p:nvPr/>
        </p:nvSpPr>
        <p:spPr>
          <a:xfrm>
            <a:off x="8412480" y="2990088"/>
            <a:ext cx="320040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2019、2021、2023 年期；本組加總</a:t>
            </a:r>
            <a:endParaRPr lang="en-US" sz="1050" dirty="0"/>
          </a:p>
        </p:txBody>
      </p:sp>
      <p:sp>
        <p:nvSpPr>
          <p:cNvPr id="35" name="Shape 33"/>
          <p:cNvSpPr/>
          <p:nvPr/>
        </p:nvSpPr>
        <p:spPr>
          <a:xfrm>
            <a:off x="8412480" y="3749040"/>
            <a:ext cx="3200400" cy="18288"/>
          </a:xfrm>
          <a:prstGeom prst="rect">
            <a:avLst/>
          </a:prstGeom>
          <a:solidFill>
            <a:srgbClr val="C72A09"/>
          </a:solidFill>
          <a:ln/>
        </p:spPr>
      </p:sp>
      <p:sp>
        <p:nvSpPr>
          <p:cNvPr id="36" name="Text 34"/>
          <p:cNvSpPr txBox="1"/>
          <p:nvPr/>
        </p:nvSpPr>
        <p:spPr>
          <a:xfrm>
            <a:off x="8412480" y="3931920"/>
            <a:ext cx="3200400" cy="1371600"/>
          </a:xfrm>
          <a:prstGeom prst="rect">
            <a:avLst/>
          </a:prstGeom>
          <a:noFill/>
          <a:ln/>
        </p:spPr>
        <p:txBody>
          <a:bodyPr wrap="square" lIns="0" tIns="0" rIns="0" bIns="0" rtlCol="0" anchor="t"/>
          <a:lstStyle/>
          <a:p>
            <a:pPr indent="0" marL="0">
              <a:lnSpc>
                <a:spcPct val="140000"/>
              </a:lnSpc>
              <a:buNone/>
            </a:pPr>
            <a:r>
              <a:rPr lang="en-US" sz="1200" b="1" dirty="0">
                <a:solidFill>
                  <a:srgbClr val="CA0013"/>
                </a:solidFill>
                <a:latin typeface="Microsoft JhengHei" pitchFamily="34" charset="0"/>
                <a:ea typeface="Microsoft JhengHei" pitchFamily="34" charset="-122"/>
                <a:cs typeface="Microsoft JhengHei" pitchFamily="34" charset="-120"/>
              </a:rPr>
              <a:t>時間線呈現「批次式」供應：不定期開隊、項目有暫停、售價有調整；下一期何時開始，申請人難以預期（本組解讀）。</a:t>
            </a:r>
            <a:endParaRPr lang="en-US" sz="1200" dirty="0"/>
          </a:p>
        </p:txBody>
      </p:sp>
      <p:sp>
        <p:nvSpPr>
          <p:cNvPr id="37" name="Text 35"/>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房屋局；法例原文；議員書面質詢（2025-02、2026-03）；報道</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(22)</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問題三</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錯配：政府自己怎樣說</a:t>
            </a:r>
            <a:endParaRPr lang="en-US" sz="3400" dirty="0"/>
          </a:p>
        </p:txBody>
      </p:sp>
      <p:sp>
        <p:nvSpPr>
          <p:cNvPr id="8" name="Text 6"/>
          <p:cNvSpPr txBox="1"/>
          <p:nvPr/>
        </p:nvSpPr>
        <p:spPr>
          <a:xfrm>
            <a:off x="566928" y="1645920"/>
            <a:ext cx="5394960" cy="2377440"/>
          </a:xfrm>
          <a:prstGeom prst="rect">
            <a:avLst/>
          </a:prstGeom>
          <a:noFill/>
          <a:ln/>
        </p:spPr>
        <p:txBody>
          <a:bodyPr wrap="square" lIns="0" tIns="0" rIns="0" bIns="0" rtlCol="0" anchor="t"/>
          <a:lstStyle/>
          <a:p>
            <a:pPr indent="0" marL="0">
              <a:lnSpc>
                <a:spcPct val="128000"/>
              </a:lnSpc>
              <a:buNone/>
            </a:pPr>
            <a:r>
              <a:rPr lang="en-US" sz="1900" b="1" dirty="0">
                <a:solidFill>
                  <a:srgbClr val="CA0013"/>
                </a:solidFill>
                <a:latin typeface="Microsoft JhengHei" pitchFamily="34" charset="0"/>
                <a:ea typeface="Microsoft JhengHei" pitchFamily="34" charset="-122"/>
                <a:cs typeface="Microsoft JhengHei" pitchFamily="34" charset="-120"/>
              </a:rPr>
              <a:t>「目前，澳門住宅單位總量超出實際住戶數量，反映出澳門房屋問題主要源於結構與功能性分佈未能滿足居民的實際需求」</a:t>
            </a:r>
            <a:endParaRPr lang="en-US" sz="1900" dirty="0"/>
          </a:p>
        </p:txBody>
      </p:sp>
      <p:sp>
        <p:nvSpPr>
          <p:cNvPr id="9" name="Text 7"/>
          <p:cNvSpPr txBox="1"/>
          <p:nvPr/>
        </p:nvSpPr>
        <p:spPr>
          <a:xfrm>
            <a:off x="566928" y="3246120"/>
            <a:ext cx="5394960" cy="566928"/>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政策研究和區域發展局（2022）《居住用途房屋政策研究》第 18 頁</a:t>
            </a:r>
            <a:endParaRPr lang="en-US" sz="1200" dirty="0"/>
          </a:p>
        </p:txBody>
      </p:sp>
      <p:sp>
        <p:nvSpPr>
          <p:cNvPr id="10" name="Text 8"/>
          <p:cNvSpPr txBox="1"/>
          <p:nvPr/>
        </p:nvSpPr>
        <p:spPr>
          <a:xfrm>
            <a:off x="6492240" y="1600200"/>
            <a:ext cx="512064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錯配的四個證據</a:t>
            </a:r>
            <a:endParaRPr lang="en-US" sz="1200" dirty="0"/>
          </a:p>
        </p:txBody>
      </p:sp>
      <p:sp>
        <p:nvSpPr>
          <p:cNvPr id="11" name="Text 9"/>
          <p:cNvSpPr txBox="1"/>
          <p:nvPr/>
        </p:nvSpPr>
        <p:spPr>
          <a:xfrm>
            <a:off x="6492240" y="1984248"/>
            <a:ext cx="133502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項目</a:t>
            </a:r>
            <a:endParaRPr lang="en-US" sz="1100" dirty="0"/>
          </a:p>
        </p:txBody>
      </p:sp>
      <p:sp>
        <p:nvSpPr>
          <p:cNvPr id="12" name="Text 10"/>
          <p:cNvSpPr txBox="1"/>
          <p:nvPr/>
        </p:nvSpPr>
        <p:spPr>
          <a:xfrm>
            <a:off x="7955280" y="1984248"/>
            <a:ext cx="3657600"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數字與出處</a:t>
            </a:r>
            <a:endParaRPr lang="en-US" sz="1100" dirty="0"/>
          </a:p>
        </p:txBody>
      </p:sp>
      <p:sp>
        <p:nvSpPr>
          <p:cNvPr id="13" name="Shape 11"/>
          <p:cNvSpPr/>
          <p:nvPr/>
        </p:nvSpPr>
        <p:spPr>
          <a:xfrm>
            <a:off x="6492240" y="2331720"/>
            <a:ext cx="5120640" cy="18288"/>
          </a:xfrm>
          <a:prstGeom prst="rect">
            <a:avLst/>
          </a:prstGeom>
          <a:solidFill>
            <a:srgbClr val="C72A09"/>
          </a:solidFill>
          <a:ln/>
        </p:spPr>
      </p:sp>
      <p:sp>
        <p:nvSpPr>
          <p:cNvPr id="14" name="Text 12"/>
          <p:cNvSpPr txBox="1"/>
          <p:nvPr/>
        </p:nvSpPr>
        <p:spPr>
          <a:xfrm>
            <a:off x="6492240" y="2423160"/>
            <a:ext cx="1335024" cy="58521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空置住宅</a:t>
            </a:r>
            <a:endParaRPr lang="en-US" sz="1200" dirty="0"/>
          </a:p>
        </p:txBody>
      </p:sp>
      <p:sp>
        <p:nvSpPr>
          <p:cNvPr id="15" name="Text 13"/>
          <p:cNvSpPr txBox="1"/>
          <p:nvPr/>
        </p:nvSpPr>
        <p:spPr>
          <a:xfrm>
            <a:off x="7955280" y="2423160"/>
            <a:ext cx="3657600" cy="58521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1.67 萬（2010 年底）、1.58 萬（2020 年底），十年間幾乎不變</a:t>
            </a:r>
            <a:endParaRPr lang="en-US" sz="1200" dirty="0"/>
          </a:p>
        </p:txBody>
      </p:sp>
      <p:sp>
        <p:nvSpPr>
          <p:cNvPr id="16" name="Shape 14"/>
          <p:cNvSpPr/>
          <p:nvPr/>
        </p:nvSpPr>
        <p:spPr>
          <a:xfrm>
            <a:off x="6492240" y="3008376"/>
            <a:ext cx="5120640" cy="12802"/>
          </a:xfrm>
          <a:prstGeom prst="rect">
            <a:avLst/>
          </a:prstGeom>
          <a:solidFill>
            <a:srgbClr val="C72A09"/>
          </a:solidFill>
          <a:ln/>
        </p:spPr>
      </p:sp>
      <p:sp>
        <p:nvSpPr>
          <p:cNvPr id="17" name="Text 15"/>
          <p:cNvSpPr txBox="1"/>
          <p:nvPr/>
        </p:nvSpPr>
        <p:spPr>
          <a:xfrm>
            <a:off x="6492240" y="3081528"/>
            <a:ext cx="1335024" cy="58521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置換房</a:t>
            </a:r>
            <a:endParaRPr lang="en-US" sz="1200" dirty="0"/>
          </a:p>
        </p:txBody>
      </p:sp>
      <p:sp>
        <p:nvSpPr>
          <p:cNvPr id="18" name="Text 16"/>
          <p:cNvSpPr txBox="1"/>
          <p:nvPr/>
        </p:nvSpPr>
        <p:spPr>
          <a:xfrm>
            <a:off x="7955280" y="3081528"/>
            <a:ext cx="3657600" cy="58521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購買期屆滿只有 338 個完成購買，餘 1,700 多個（議員質詢）</a:t>
            </a:r>
            <a:endParaRPr lang="en-US" sz="1200" dirty="0"/>
          </a:p>
        </p:txBody>
      </p:sp>
      <p:sp>
        <p:nvSpPr>
          <p:cNvPr id="19" name="Shape 17"/>
          <p:cNvSpPr/>
          <p:nvPr/>
        </p:nvSpPr>
        <p:spPr>
          <a:xfrm>
            <a:off x="6492240" y="3666744"/>
            <a:ext cx="5120640" cy="12802"/>
          </a:xfrm>
          <a:prstGeom prst="rect">
            <a:avLst/>
          </a:prstGeom>
          <a:solidFill>
            <a:srgbClr val="C72A09"/>
          </a:solidFill>
          <a:ln/>
        </p:spPr>
      </p:sp>
      <p:sp>
        <p:nvSpPr>
          <p:cNvPr id="20" name="Text 18"/>
          <p:cNvSpPr txBox="1"/>
          <p:nvPr/>
        </p:nvSpPr>
        <p:spPr>
          <a:xfrm>
            <a:off x="6492240" y="3739896"/>
            <a:ext cx="1335024" cy="58521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暫住房</a:t>
            </a:r>
            <a:endParaRPr lang="en-US" sz="1200" dirty="0"/>
          </a:p>
        </p:txBody>
      </p:sp>
      <p:sp>
        <p:nvSpPr>
          <p:cNvPr id="21" name="Text 19"/>
          <p:cNvSpPr txBox="1"/>
          <p:nvPr/>
        </p:nvSpPr>
        <p:spPr>
          <a:xfrm>
            <a:off x="7955280" y="3739896"/>
            <a:ext cx="3657600" cy="58521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2,803 個單位（都更公司，2024）；議員稱至今未作暫住用途</a:t>
            </a:r>
            <a:endParaRPr lang="en-US" sz="1200" dirty="0"/>
          </a:p>
        </p:txBody>
      </p:sp>
      <p:sp>
        <p:nvSpPr>
          <p:cNvPr id="22" name="Shape 20"/>
          <p:cNvSpPr/>
          <p:nvPr/>
        </p:nvSpPr>
        <p:spPr>
          <a:xfrm>
            <a:off x="6492240" y="4325112"/>
            <a:ext cx="5120640" cy="12802"/>
          </a:xfrm>
          <a:prstGeom prst="rect">
            <a:avLst/>
          </a:prstGeom>
          <a:solidFill>
            <a:srgbClr val="C72A09"/>
          </a:solidFill>
          <a:ln/>
        </p:spPr>
      </p:sp>
      <p:sp>
        <p:nvSpPr>
          <p:cNvPr id="23" name="Text 21"/>
          <p:cNvSpPr txBox="1"/>
          <p:nvPr/>
        </p:nvSpPr>
        <p:spPr>
          <a:xfrm>
            <a:off x="6492240" y="4398264"/>
            <a:ext cx="1335024" cy="58521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石排灣經屋</a:t>
            </a:r>
            <a:endParaRPr lang="en-US" sz="1200" dirty="0"/>
          </a:p>
        </p:txBody>
      </p:sp>
      <p:sp>
        <p:nvSpPr>
          <p:cNvPr id="24" name="Text 22"/>
          <p:cNvSpPr txBox="1"/>
          <p:nvPr/>
        </p:nvSpPr>
        <p:spPr>
          <a:xfrm>
            <a:off x="7955280" y="4398264"/>
            <a:ext cx="3657600" cy="58521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空置率 38.9%（2015；半島 4.9%、氹仔 6.8%），歷史對照</a:t>
            </a:r>
            <a:endParaRPr lang="en-US" sz="1200" dirty="0"/>
          </a:p>
        </p:txBody>
      </p:sp>
      <p:sp>
        <p:nvSpPr>
          <p:cNvPr id="25" name="Shape 23"/>
          <p:cNvSpPr/>
          <p:nvPr/>
        </p:nvSpPr>
        <p:spPr>
          <a:xfrm>
            <a:off x="6492240" y="4983480"/>
            <a:ext cx="5120640" cy="12802"/>
          </a:xfrm>
          <a:prstGeom prst="rect">
            <a:avLst/>
          </a:prstGeom>
          <a:solidFill>
            <a:srgbClr val="C72A09"/>
          </a:solidFill>
          <a:ln/>
        </p:spPr>
      </p:sp>
      <p:sp>
        <p:nvSpPr>
          <p:cNvPr id="26" name="Shape 24"/>
          <p:cNvSpPr/>
          <p:nvPr/>
        </p:nvSpPr>
        <p:spPr>
          <a:xfrm>
            <a:off x="566928" y="5257800"/>
            <a:ext cx="11057839" cy="18288"/>
          </a:xfrm>
          <a:prstGeom prst="rect">
            <a:avLst/>
          </a:prstGeom>
          <a:solidFill>
            <a:srgbClr val="C72A09"/>
          </a:solidFill>
          <a:ln/>
        </p:spPr>
      </p:sp>
      <p:sp>
        <p:nvSpPr>
          <p:cNvPr id="27" name="Text 25"/>
          <p:cNvSpPr txBox="1"/>
          <p:nvPr/>
        </p:nvSpPr>
        <p:spPr>
          <a:xfrm>
            <a:off x="566928" y="5349240"/>
            <a:ext cx="11057839" cy="347472"/>
          </a:xfrm>
          <a:prstGeom prst="rect">
            <a:avLst/>
          </a:prstGeom>
          <a:noFill/>
          <a:ln/>
        </p:spPr>
        <p:txBody>
          <a:bodyPr wrap="square" lIns="0" tIns="0" rIns="0" bIns="0" rtlCol="0" anchor="ctr"/>
          <a:lstStyle/>
          <a:p>
            <a:pPr indent="0" marL="0">
              <a:buNone/>
            </a:pPr>
            <a:r>
              <a:rPr lang="en-US" sz="1200" b="1" dirty="0">
                <a:solidFill>
                  <a:srgbClr val="CA0013"/>
                </a:solidFill>
                <a:latin typeface="Microsoft JhengHei" pitchFamily="34" charset="0"/>
                <a:ea typeface="Microsoft JhengHei" pitchFamily="34" charset="-122"/>
                <a:cs typeface="Microsoft JhengHei" pitchFamily="34" charset="-120"/>
              </a:rPr>
              <a:t>空置成因（待售、待租、投資持有等）官方統計未必分項，只作旁證，不作「可即時分配」的結論。</a:t>
            </a:r>
            <a:endParaRPr lang="en-US" sz="1200" dirty="0"/>
          </a:p>
        </p:txBody>
      </p:sp>
      <p:sp>
        <p:nvSpPr>
          <p:cNvPr id="28" name="Text 26"/>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政策研究 2022；議員質詢；都更公司；高武洲（2017）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(23)</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問題三</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夾心階層與夾屋：法例有了，單位未到</a:t>
            </a:r>
            <a:endParaRPr lang="en-US" sz="3400" dirty="0"/>
          </a:p>
        </p:txBody>
      </p:sp>
      <p:sp>
        <p:nvSpPr>
          <p:cNvPr id="8" name="Text 6"/>
          <p:cNvSpPr txBox="1"/>
          <p:nvPr/>
        </p:nvSpPr>
        <p:spPr>
          <a:xfrm>
            <a:off x="566928" y="1645920"/>
            <a:ext cx="1041502" cy="96012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兩個定義</a:t>
            </a:r>
            <a:endParaRPr lang="en-US" sz="1100" dirty="0"/>
          </a:p>
        </p:txBody>
      </p:sp>
      <p:sp>
        <p:nvSpPr>
          <p:cNvPr id="9" name="Text 7"/>
          <p:cNvSpPr txBox="1"/>
          <p:nvPr/>
        </p:nvSpPr>
        <p:spPr>
          <a:xfrm>
            <a:off x="1700327" y="1645920"/>
            <a:ext cx="4993081" cy="96012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一：收入超出經屋申請上限，或雖符合經屋資格但輪候靠後，又追不上私樓升幅；二：只涵蓋收入超出經屋上限者（2020 年諮詢文本）</a:t>
            </a:r>
            <a:endParaRPr lang="en-US" sz="1100" dirty="0"/>
          </a:p>
        </p:txBody>
      </p:sp>
      <p:sp>
        <p:nvSpPr>
          <p:cNvPr id="10" name="Shape 8"/>
          <p:cNvSpPr/>
          <p:nvPr/>
        </p:nvSpPr>
        <p:spPr>
          <a:xfrm>
            <a:off x="566928" y="2587752"/>
            <a:ext cx="6126480" cy="12802"/>
          </a:xfrm>
          <a:prstGeom prst="rect">
            <a:avLst/>
          </a:prstGeom>
          <a:solidFill>
            <a:srgbClr val="C72A09"/>
          </a:solidFill>
          <a:ln/>
        </p:spPr>
      </p:sp>
      <p:sp>
        <p:nvSpPr>
          <p:cNvPr id="11" name="Text 9"/>
          <p:cNvSpPr txBox="1"/>
          <p:nvPr/>
        </p:nvSpPr>
        <p:spPr>
          <a:xfrm>
            <a:off x="566928" y="2697480"/>
            <a:ext cx="1041502" cy="77724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政府結論</a:t>
            </a:r>
            <a:endParaRPr lang="en-US" sz="1100" dirty="0"/>
          </a:p>
        </p:txBody>
      </p:sp>
      <p:sp>
        <p:nvSpPr>
          <p:cNvPr id="12" name="Text 10"/>
          <p:cNvSpPr txBox="1"/>
          <p:nvPr/>
        </p:nvSpPr>
        <p:spPr>
          <a:xfrm>
            <a:off x="1700327" y="2697480"/>
            <a:ext cx="4993081" cy="77724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夾屋對應收入超出經屋上限者，並兼顧分流經屋排序靠後者；諮詢支持率約 92.6%（政策研究 2022，第 31 頁）</a:t>
            </a:r>
            <a:endParaRPr lang="en-US" sz="1100" dirty="0"/>
          </a:p>
        </p:txBody>
      </p:sp>
      <p:sp>
        <p:nvSpPr>
          <p:cNvPr id="13" name="Shape 11"/>
          <p:cNvSpPr/>
          <p:nvPr/>
        </p:nvSpPr>
        <p:spPr>
          <a:xfrm>
            <a:off x="566928" y="3456432"/>
            <a:ext cx="6126480" cy="12802"/>
          </a:xfrm>
          <a:prstGeom prst="rect">
            <a:avLst/>
          </a:prstGeom>
          <a:solidFill>
            <a:srgbClr val="C72A09"/>
          </a:solidFill>
          <a:ln/>
        </p:spPr>
      </p:sp>
      <p:sp>
        <p:nvSpPr>
          <p:cNvPr id="14" name="Text 12"/>
          <p:cNvSpPr txBox="1"/>
          <p:nvPr/>
        </p:nvSpPr>
        <p:spPr>
          <a:xfrm>
            <a:off x="566928" y="3566160"/>
            <a:ext cx="1041502" cy="91440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夾屋法</a:t>
            </a:r>
            <a:endParaRPr lang="en-US" sz="1100" dirty="0"/>
          </a:p>
        </p:txBody>
      </p:sp>
      <p:sp>
        <p:nvSpPr>
          <p:cNvPr id="15" name="Text 13"/>
          <p:cNvSpPr txBox="1"/>
          <p:nvPr/>
        </p:nvSpPr>
        <p:spPr>
          <a:xfrm>
            <a:off x="1700327" y="3566160"/>
            <a:ext cx="4993081" cy="91440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第 17/2023 號法律（2024-04-01 生效）：入息上限＝經屋上限 +10%、資產上限 +20%；售價＝相鄰私樓市價 ×（1 − 補價比率）；16 年不可轉讓，其後補價並只售予永久居民</a:t>
            </a:r>
            <a:endParaRPr lang="en-US" sz="1100" dirty="0"/>
          </a:p>
        </p:txBody>
      </p:sp>
      <p:sp>
        <p:nvSpPr>
          <p:cNvPr id="16" name="Shape 14"/>
          <p:cNvSpPr/>
          <p:nvPr/>
        </p:nvSpPr>
        <p:spPr>
          <a:xfrm>
            <a:off x="566928" y="4462272"/>
            <a:ext cx="6126480" cy="12802"/>
          </a:xfrm>
          <a:prstGeom prst="rect">
            <a:avLst/>
          </a:prstGeom>
          <a:solidFill>
            <a:srgbClr val="C72A09"/>
          </a:solidFill>
          <a:ln/>
        </p:spPr>
      </p:sp>
      <p:sp>
        <p:nvSpPr>
          <p:cNvPr id="17" name="Text 15"/>
          <p:cNvSpPr txBox="1"/>
          <p:nvPr/>
        </p:nvSpPr>
        <p:spPr>
          <a:xfrm>
            <a:off x="566928" y="4846320"/>
            <a:ext cx="6126480" cy="731520"/>
          </a:xfrm>
          <a:prstGeom prst="rect">
            <a:avLst/>
          </a:prstGeom>
          <a:noFill/>
          <a:ln/>
        </p:spPr>
        <p:txBody>
          <a:bodyPr wrap="square" lIns="0" tIns="0" rIns="0" bIns="0" rtlCol="0" anchor="t"/>
          <a:lstStyle/>
          <a:p>
            <a:pPr indent="0" marL="0">
              <a:lnSpc>
                <a:spcPct val="130000"/>
              </a:lnSpc>
              <a:buNone/>
            </a:pPr>
            <a:r>
              <a:rPr lang="en-US" sz="1250" b="1" dirty="0">
                <a:solidFill>
                  <a:srgbClr val="CA0013"/>
                </a:solidFill>
                <a:latin typeface="Microsoft JhengHei" pitchFamily="34" charset="0"/>
                <a:ea typeface="Microsoft JhengHei" pitchFamily="34" charset="-122"/>
                <a:cs typeface="Microsoft JhengHei" pitchFamily="34" charset="-120"/>
              </a:rPr>
              <a:t>同一研究預期社屋、經屋供應可滿足需求；夾屋法已生效，卻未有單位，官方 2025-12 亦稱需求不太迫切（報道）。</a:t>
            </a:r>
            <a:endParaRPr lang="en-US" sz="1250" dirty="0"/>
          </a:p>
        </p:txBody>
      </p:sp>
      <p:sp>
        <p:nvSpPr>
          <p:cNvPr id="18" name="Text 16"/>
          <p:cNvSpPr txBox="1"/>
          <p:nvPr/>
        </p:nvSpPr>
        <p:spPr>
          <a:xfrm>
            <a:off x="7223760" y="1600200"/>
            <a:ext cx="4389120" cy="932688"/>
          </a:xfrm>
          <a:prstGeom prst="rect">
            <a:avLst/>
          </a:prstGeom>
          <a:noFill/>
          <a:ln/>
        </p:spPr>
        <p:txBody>
          <a:bodyPr wrap="square" lIns="0" tIns="0" rIns="0" bIns="0" rtlCol="0" anchor="ctr"/>
          <a:lstStyle/>
          <a:p>
            <a:pPr indent="0" marL="0">
              <a:buNone/>
            </a:pPr>
            <a:r>
              <a:rPr lang="en-US" sz="4000" b="1" dirty="0">
                <a:solidFill>
                  <a:srgbClr val="CA0013"/>
                </a:solidFill>
                <a:latin typeface="Inter" pitchFamily="34" charset="0"/>
                <a:ea typeface="Inter" pitchFamily="34" charset="-122"/>
                <a:cs typeface="Inter" pitchFamily="34" charset="-120"/>
              </a:rPr>
              <a:t>939–1,760</a:t>
            </a:r>
            <a:pPr indent="0" marL="0">
              <a:buNone/>
            </a:pPr>
            <a:r>
              <a:rPr lang="en-US" sz="1680" b="1" dirty="0">
                <a:solidFill>
                  <a:srgbClr val="CA0013"/>
                </a:solidFill>
                <a:latin typeface="Microsoft JhengHei" pitchFamily="34" charset="0"/>
                <a:ea typeface="Microsoft JhengHei" pitchFamily="34" charset="-122"/>
                <a:cs typeface="Microsoft JhengHei" pitchFamily="34" charset="-120"/>
              </a:rPr>
              <a:t> 戶</a:t>
            </a:r>
            <a:endParaRPr lang="en-US" sz="4000" dirty="0"/>
          </a:p>
        </p:txBody>
      </p:sp>
      <p:sp>
        <p:nvSpPr>
          <p:cNvPr id="19" name="Text 17"/>
          <p:cNvSpPr txBox="1"/>
          <p:nvPr/>
        </p:nvSpPr>
        <p:spPr>
          <a:xfrm>
            <a:off x="7223760" y="2532888"/>
            <a:ext cx="438912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夾屋每年新增需求</a:t>
            </a:r>
            <a:endParaRPr lang="en-US" sz="1300" dirty="0"/>
          </a:p>
        </p:txBody>
      </p:sp>
      <p:sp>
        <p:nvSpPr>
          <p:cNvPr id="20" name="Text 18"/>
          <p:cNvSpPr txBox="1"/>
          <p:nvPr/>
        </p:nvSpPr>
        <p:spPr>
          <a:xfrm>
            <a:off x="7223760" y="2898648"/>
            <a:ext cx="438912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以「800 萬以下、按揭八成或以上」交易佔比 10.97% 作代理推算</a:t>
            </a:r>
            <a:endParaRPr lang="en-US" sz="1050" dirty="0"/>
          </a:p>
        </p:txBody>
      </p:sp>
      <p:sp>
        <p:nvSpPr>
          <p:cNvPr id="21" name="Shape 19"/>
          <p:cNvSpPr/>
          <p:nvPr/>
        </p:nvSpPr>
        <p:spPr>
          <a:xfrm>
            <a:off x="7223760" y="3657600"/>
            <a:ext cx="4389120" cy="18288"/>
          </a:xfrm>
          <a:prstGeom prst="rect">
            <a:avLst/>
          </a:prstGeom>
          <a:solidFill>
            <a:srgbClr val="C72A09"/>
          </a:solidFill>
          <a:ln/>
        </p:spPr>
      </p:sp>
      <p:sp>
        <p:nvSpPr>
          <p:cNvPr id="22" name="Text 20"/>
          <p:cNvSpPr txBox="1"/>
          <p:nvPr/>
        </p:nvSpPr>
        <p:spPr>
          <a:xfrm>
            <a:off x="7223760" y="3794760"/>
            <a:ext cx="4389120" cy="932688"/>
          </a:xfrm>
          <a:prstGeom prst="rect">
            <a:avLst/>
          </a:prstGeom>
          <a:noFill/>
          <a:ln/>
        </p:spPr>
        <p:txBody>
          <a:bodyPr wrap="square" lIns="0" tIns="0" rIns="0" bIns="0" rtlCol="0" anchor="ctr"/>
          <a:lstStyle/>
          <a:p>
            <a:pPr indent="0" marL="0">
              <a:buNone/>
            </a:pPr>
            <a:r>
              <a:rPr lang="en-US" sz="3400" b="1" dirty="0">
                <a:solidFill>
                  <a:srgbClr val="CA0013"/>
                </a:solidFill>
                <a:latin typeface="Inter" pitchFamily="34" charset="0"/>
                <a:ea typeface="Inter" pitchFamily="34" charset="-122"/>
                <a:cs typeface="Inter" pitchFamily="34" charset="-120"/>
              </a:rPr>
              <a:t>7,737–10,093</a:t>
            </a:r>
            <a:pPr indent="0" marL="0">
              <a:buNone/>
            </a:pPr>
            <a:r>
              <a:rPr lang="en-US" sz="1428" b="1" dirty="0">
                <a:solidFill>
                  <a:srgbClr val="CA0013"/>
                </a:solidFill>
                <a:latin typeface="Microsoft JhengHei" pitchFamily="34" charset="0"/>
                <a:ea typeface="Microsoft JhengHei" pitchFamily="34" charset="-122"/>
                <a:cs typeface="Microsoft JhengHei" pitchFamily="34" charset="-120"/>
              </a:rPr>
              <a:t> 戶</a:t>
            </a:r>
            <a:endParaRPr lang="en-US" sz="3400" dirty="0"/>
          </a:p>
        </p:txBody>
      </p:sp>
      <p:sp>
        <p:nvSpPr>
          <p:cNvPr id="23" name="Text 21"/>
          <p:cNvSpPr txBox="1"/>
          <p:nvPr/>
        </p:nvSpPr>
        <p:spPr>
          <a:xfrm>
            <a:off x="7223760" y="4727448"/>
            <a:ext cx="4389120" cy="310896"/>
          </a:xfrm>
          <a:prstGeom prst="rect">
            <a:avLst/>
          </a:prstGeom>
          <a:noFill/>
          <a:ln/>
        </p:spPr>
        <p:txBody>
          <a:bodyPr wrap="square" lIns="0" tIns="0" rIns="0" bIns="0" rtlCol="0" anchor="t"/>
          <a:lstStyle/>
          <a:p>
            <a:pPr algn="l" indent="0" marL="0">
              <a:lnSpc>
                <a:spcPct val="125000"/>
              </a:lnSpc>
              <a:buNone/>
            </a:pPr>
            <a:r>
              <a:rPr lang="en-US" sz="1300" b="1" spc="160" kern="0" dirty="0">
                <a:solidFill>
                  <a:srgbClr val="CA0013"/>
                </a:solidFill>
                <a:latin typeface="Microsoft JhengHei" pitchFamily="34" charset="0"/>
                <a:ea typeface="Microsoft JhengHei" pitchFamily="34" charset="-122"/>
                <a:cs typeface="Microsoft JhengHei" pitchFamily="34" charset="-120"/>
              </a:rPr>
              <a:t>2030 年總需求上限</a:t>
            </a:r>
            <a:endParaRPr lang="en-US" sz="1300" dirty="0"/>
          </a:p>
        </p:txBody>
      </p:sp>
      <p:sp>
        <p:nvSpPr>
          <p:cNvPr id="24" name="Text 22"/>
          <p:cNvSpPr txBox="1"/>
          <p:nvPr/>
        </p:nvSpPr>
        <p:spPr>
          <a:xfrm>
            <a:off x="7223760" y="5093208"/>
            <a:ext cx="4389120" cy="914400"/>
          </a:xfrm>
          <a:prstGeom prst="rect">
            <a:avLst/>
          </a:prstGeom>
          <a:noFill/>
          <a:ln/>
        </p:spPr>
        <p:txBody>
          <a:bodyPr wrap="square" lIns="0" tIns="0" rIns="0" bIns="0" rtlCol="0" anchor="t"/>
          <a:lstStyle/>
          <a:p>
            <a:pPr indent="0" marL="0">
              <a:lnSpc>
                <a:spcPct val="138000"/>
              </a:lnSpc>
              <a:buNone/>
            </a:pPr>
            <a:r>
              <a:rPr lang="en-US" sz="1050" dirty="0">
                <a:solidFill>
                  <a:srgbClr val="CA0013"/>
                </a:solidFill>
                <a:latin typeface="Microsoft JhengHei" pitchFamily="34" charset="0"/>
                <a:ea typeface="Microsoft JhengHei" pitchFamily="34" charset="-122"/>
                <a:cs typeface="Microsoft JhengHei" pitchFamily="34" charset="-120"/>
              </a:rPr>
              <a:t>悲觀 7,737、中性 10,093（樂觀 14,348）</a:t>
            </a:r>
            <a:endParaRPr lang="en-US" sz="1050" dirty="0"/>
          </a:p>
        </p:txBody>
      </p:sp>
      <p:sp>
        <p:nvSpPr>
          <p:cNvPr id="25" name="Text 23"/>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第 17/2023 號法律；政策研究 2022；未來房屋需求研究</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(24)</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　·　問題三</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公屋與社屋的使用：規則有，數字少</a:t>
            </a:r>
            <a:endParaRPr lang="en-US" sz="3400" dirty="0"/>
          </a:p>
        </p:txBody>
      </p:sp>
      <p:sp>
        <p:nvSpPr>
          <p:cNvPr id="8" name="Text 6"/>
          <p:cNvSpPr txBox="1"/>
          <p:nvPr/>
        </p:nvSpPr>
        <p:spPr>
          <a:xfrm>
            <a:off x="566928" y="1600200"/>
            <a:ext cx="786384" cy="310896"/>
          </a:xfrm>
          <a:prstGeom prst="rect">
            <a:avLst/>
          </a:prstGeom>
          <a:noFill/>
          <a:ln/>
        </p:spPr>
        <p:txBody>
          <a:bodyPr wrap="square" lIns="0" tIns="0" rIns="0" bIns="0" rtlCol="0" anchor="ctr"/>
          <a:lstStyle/>
          <a:p>
            <a:pPr algn="l" indent="0" marL="0">
              <a:buNone/>
            </a:pPr>
            <a:endParaRPr lang="en-US" sz="1100" dirty="0"/>
          </a:p>
        </p:txBody>
      </p:sp>
      <p:sp>
        <p:nvSpPr>
          <p:cNvPr id="9" name="Text 7"/>
          <p:cNvSpPr txBox="1"/>
          <p:nvPr/>
        </p:nvSpPr>
        <p:spPr>
          <a:xfrm>
            <a:off x="1481328" y="1600200"/>
            <a:ext cx="279806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使用規定</a:t>
            </a:r>
            <a:endParaRPr lang="en-US" sz="1100" dirty="0"/>
          </a:p>
        </p:txBody>
      </p:sp>
      <p:sp>
        <p:nvSpPr>
          <p:cNvPr id="10" name="Text 8"/>
          <p:cNvSpPr txBox="1"/>
          <p:nvPr/>
        </p:nvSpPr>
        <p:spPr>
          <a:xfrm>
            <a:off x="4407408" y="1600200"/>
            <a:ext cx="3017520"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查核與處罰</a:t>
            </a:r>
            <a:endParaRPr lang="en-US" sz="1100" dirty="0"/>
          </a:p>
        </p:txBody>
      </p:sp>
      <p:sp>
        <p:nvSpPr>
          <p:cNvPr id="11" name="Shape 9"/>
          <p:cNvSpPr/>
          <p:nvPr/>
        </p:nvSpPr>
        <p:spPr>
          <a:xfrm>
            <a:off x="566928" y="1947672"/>
            <a:ext cx="6858000" cy="18288"/>
          </a:xfrm>
          <a:prstGeom prst="rect">
            <a:avLst/>
          </a:prstGeom>
          <a:solidFill>
            <a:srgbClr val="C72A09"/>
          </a:solidFill>
          <a:ln/>
        </p:spPr>
      </p:sp>
      <p:sp>
        <p:nvSpPr>
          <p:cNvPr id="12" name="Text 10"/>
          <p:cNvSpPr txBox="1"/>
          <p:nvPr/>
        </p:nvSpPr>
        <p:spPr>
          <a:xfrm>
            <a:off x="566928" y="2039112"/>
            <a:ext cx="786384" cy="987552"/>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社屋</a:t>
            </a:r>
            <a:endParaRPr lang="en-US" sz="1200" dirty="0"/>
          </a:p>
        </p:txBody>
      </p:sp>
      <p:sp>
        <p:nvSpPr>
          <p:cNvPr id="13" name="Text 11"/>
          <p:cNvSpPr txBox="1"/>
          <p:nvPr/>
        </p:nvSpPr>
        <p:spPr>
          <a:xfrm>
            <a:off x="1481328" y="2039112"/>
            <a:ext cx="2798064" cy="987552"/>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自住：每年留宿至少三分之二時間；收入或資產超上限須 30 日內申報（第 17/2019 號法律第 3、13 條）</a:t>
            </a:r>
            <a:endParaRPr lang="en-US" sz="1200" dirty="0"/>
          </a:p>
        </p:txBody>
      </p:sp>
      <p:sp>
        <p:nvSpPr>
          <p:cNvPr id="14" name="Text 12"/>
          <p:cNvSpPr txBox="1"/>
          <p:nvPr/>
        </p:nvSpPr>
        <p:spPr>
          <a:xfrm>
            <a:off x="4407408" y="2039112"/>
            <a:ext cx="3017520" cy="987552"/>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超上限：雙倍租金；超一倍：三倍租金、不得續期；不居住、虛報可解除合同；房屋局可檢查（第 13、18、19 條）</a:t>
            </a:r>
            <a:endParaRPr lang="en-US" sz="1200" dirty="0"/>
          </a:p>
        </p:txBody>
      </p:sp>
      <p:sp>
        <p:nvSpPr>
          <p:cNvPr id="15" name="Shape 13"/>
          <p:cNvSpPr/>
          <p:nvPr/>
        </p:nvSpPr>
        <p:spPr>
          <a:xfrm>
            <a:off x="566928" y="3026664"/>
            <a:ext cx="6858000" cy="12802"/>
          </a:xfrm>
          <a:prstGeom prst="rect">
            <a:avLst/>
          </a:prstGeom>
          <a:solidFill>
            <a:srgbClr val="C72A09"/>
          </a:solidFill>
          <a:ln/>
        </p:spPr>
      </p:sp>
      <p:sp>
        <p:nvSpPr>
          <p:cNvPr id="16" name="Text 14"/>
          <p:cNvSpPr txBox="1"/>
          <p:nvPr/>
        </p:nvSpPr>
        <p:spPr>
          <a:xfrm>
            <a:off x="566928" y="3099816"/>
            <a:ext cx="786384" cy="987552"/>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經屋</a:t>
            </a:r>
            <a:endParaRPr lang="en-US" sz="1200" dirty="0"/>
          </a:p>
        </p:txBody>
      </p:sp>
      <p:sp>
        <p:nvSpPr>
          <p:cNvPr id="17" name="Text 15"/>
          <p:cNvSpPr txBox="1"/>
          <p:nvPr/>
        </p:nvSpPr>
        <p:spPr>
          <a:xfrm>
            <a:off x="1481328" y="3099816"/>
            <a:ext cx="2798064" cy="987552"/>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自住，每年居住不少於 183 日；單位只可售予房屋局（第 10/2011 號法律第 5、37、38 條）</a:t>
            </a:r>
            <a:endParaRPr lang="en-US" sz="1200" dirty="0"/>
          </a:p>
        </p:txBody>
      </p:sp>
      <p:sp>
        <p:nvSpPr>
          <p:cNvPr id="18" name="Text 16"/>
          <p:cNvSpPr txBox="1"/>
          <p:nvPr/>
        </p:nvSpPr>
        <p:spPr>
          <a:xfrm>
            <a:off x="4407408" y="3099816"/>
            <a:ext cx="3017520" cy="987552"/>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整個單位出租：罰初售價 5–20%；居住不足：5–15%；不終止可解除預約合同（第 51、53 條）</a:t>
            </a:r>
            <a:endParaRPr lang="en-US" sz="1200" dirty="0"/>
          </a:p>
        </p:txBody>
      </p:sp>
      <p:sp>
        <p:nvSpPr>
          <p:cNvPr id="19" name="Shape 17"/>
          <p:cNvSpPr/>
          <p:nvPr/>
        </p:nvSpPr>
        <p:spPr>
          <a:xfrm>
            <a:off x="566928" y="4087368"/>
            <a:ext cx="6858000" cy="12802"/>
          </a:xfrm>
          <a:prstGeom prst="rect">
            <a:avLst/>
          </a:prstGeom>
          <a:solidFill>
            <a:srgbClr val="C72A09"/>
          </a:solidFill>
          <a:ln/>
        </p:spPr>
      </p:sp>
      <p:sp>
        <p:nvSpPr>
          <p:cNvPr id="20" name="Text 18"/>
          <p:cNvSpPr txBox="1"/>
          <p:nvPr/>
        </p:nvSpPr>
        <p:spPr>
          <a:xfrm>
            <a:off x="566928" y="4160520"/>
            <a:ext cx="786384" cy="987552"/>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夾屋</a:t>
            </a:r>
            <a:endParaRPr lang="en-US" sz="1200" dirty="0"/>
          </a:p>
        </p:txBody>
      </p:sp>
      <p:sp>
        <p:nvSpPr>
          <p:cNvPr id="21" name="Text 19"/>
          <p:cNvSpPr txBox="1"/>
          <p:nvPr/>
        </p:nvSpPr>
        <p:spPr>
          <a:xfrm>
            <a:off x="1481328" y="4160520"/>
            <a:ext cx="2798064" cy="987552"/>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16 年不可轉讓，只供自住；其後補價，只售永久居民（第 17/2023 號法律第 33、38 條）</a:t>
            </a:r>
            <a:endParaRPr lang="en-US" sz="1200" dirty="0"/>
          </a:p>
        </p:txBody>
      </p:sp>
      <p:sp>
        <p:nvSpPr>
          <p:cNvPr id="22" name="Text 20"/>
          <p:cNvSpPr txBox="1"/>
          <p:nvPr/>
        </p:nvSpPr>
        <p:spPr>
          <a:xfrm>
            <a:off x="4407408" y="4160520"/>
            <a:ext cx="3017520" cy="987552"/>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罰則同經屋（第 47、49 條）；可與其他公共實體資料互聯（第 26 條）</a:t>
            </a:r>
            <a:endParaRPr lang="en-US" sz="1200" dirty="0"/>
          </a:p>
        </p:txBody>
      </p:sp>
      <p:sp>
        <p:nvSpPr>
          <p:cNvPr id="23" name="Shape 21"/>
          <p:cNvSpPr/>
          <p:nvPr/>
        </p:nvSpPr>
        <p:spPr>
          <a:xfrm>
            <a:off x="566928" y="5148072"/>
            <a:ext cx="6858000" cy="12802"/>
          </a:xfrm>
          <a:prstGeom prst="rect">
            <a:avLst/>
          </a:prstGeom>
          <a:solidFill>
            <a:srgbClr val="C72A09"/>
          </a:solidFill>
          <a:ln/>
        </p:spPr>
      </p:sp>
      <p:sp>
        <p:nvSpPr>
          <p:cNvPr id="24" name="Text 22"/>
          <p:cNvSpPr txBox="1"/>
          <p:nvPr/>
        </p:nvSpPr>
        <p:spPr>
          <a:xfrm>
            <a:off x="566928" y="5285232"/>
            <a:ext cx="6858000" cy="365760"/>
          </a:xfrm>
          <a:prstGeom prst="rect">
            <a:avLst/>
          </a:prstGeom>
          <a:noFill/>
          <a:ln/>
        </p:spPr>
        <p:txBody>
          <a:bodyPr wrap="square" lIns="0" tIns="0" rIns="0" bIns="0" rtlCol="0" anchor="ctr"/>
          <a:lstStyle/>
          <a:p>
            <a:pPr indent="0" marL="0">
              <a:buNone/>
            </a:pPr>
            <a:r>
              <a:rPr lang="en-US" sz="1250" b="1" dirty="0">
                <a:solidFill>
                  <a:srgbClr val="CA0013"/>
                </a:solidFill>
                <a:latin typeface="Microsoft JhengHei" pitchFamily="34" charset="0"/>
                <a:ea typeface="Microsoft JhengHei" pitchFamily="34" charset="-122"/>
                <a:cs typeface="Microsoft JhengHei" pitchFamily="34" charset="-120"/>
              </a:rPr>
              <a:t>2026 年施政報告：「加強公共房屋巡查監管，嚴格執行社會房屋退場機制」</a:t>
            </a:r>
            <a:endParaRPr lang="en-US" sz="1250" dirty="0"/>
          </a:p>
        </p:txBody>
      </p:sp>
      <p:sp>
        <p:nvSpPr>
          <p:cNvPr id="25" name="Text 23"/>
          <p:cNvSpPr txBox="1"/>
          <p:nvPr/>
        </p:nvSpPr>
        <p:spPr>
          <a:xfrm>
            <a:off x="7772400" y="1600200"/>
            <a:ext cx="384048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已公開的數字</a:t>
            </a:r>
            <a:endParaRPr lang="en-US" sz="1200" dirty="0"/>
          </a:p>
        </p:txBody>
      </p:sp>
      <p:sp>
        <p:nvSpPr>
          <p:cNvPr id="26" name="Shape 24"/>
          <p:cNvSpPr/>
          <p:nvPr/>
        </p:nvSpPr>
        <p:spPr>
          <a:xfrm>
            <a:off x="7772400" y="2002536"/>
            <a:ext cx="3840480" cy="12802"/>
          </a:xfrm>
          <a:prstGeom prst="rect">
            <a:avLst/>
          </a:prstGeom>
          <a:solidFill>
            <a:srgbClr val="C72A09"/>
          </a:solidFill>
          <a:ln/>
        </p:spPr>
      </p:sp>
      <p:sp>
        <p:nvSpPr>
          <p:cNvPr id="27" name="Text 25"/>
          <p:cNvSpPr txBox="1"/>
          <p:nvPr/>
        </p:nvSpPr>
        <p:spPr>
          <a:xfrm>
            <a:off x="7772400" y="2130552"/>
            <a:ext cx="768096" cy="777240"/>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入口把關</a:t>
            </a:r>
            <a:endParaRPr lang="en-US" sz="1050" dirty="0"/>
          </a:p>
        </p:txBody>
      </p:sp>
      <p:sp>
        <p:nvSpPr>
          <p:cNvPr id="28" name="Text 26"/>
          <p:cNvSpPr txBox="1"/>
          <p:nvPr/>
        </p:nvSpPr>
        <p:spPr>
          <a:xfrm>
            <a:off x="8598103" y="2130552"/>
            <a:ext cx="3014777" cy="77724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社屋恆常申請至 2025-03-19：申請編號 8,530；駁回 1,575；接納 5,978；分配前再取消 419</a:t>
            </a:r>
            <a:endParaRPr lang="en-US" sz="1050" dirty="0"/>
          </a:p>
        </p:txBody>
      </p:sp>
      <p:sp>
        <p:nvSpPr>
          <p:cNvPr id="29" name="Shape 27"/>
          <p:cNvSpPr/>
          <p:nvPr/>
        </p:nvSpPr>
        <p:spPr>
          <a:xfrm>
            <a:off x="7772400" y="2889504"/>
            <a:ext cx="3840480" cy="12802"/>
          </a:xfrm>
          <a:prstGeom prst="rect">
            <a:avLst/>
          </a:prstGeom>
          <a:solidFill>
            <a:srgbClr val="C72A09"/>
          </a:solidFill>
          <a:ln/>
        </p:spPr>
      </p:sp>
      <p:sp>
        <p:nvSpPr>
          <p:cNvPr id="30" name="Text 28"/>
          <p:cNvSpPr txBox="1"/>
          <p:nvPr/>
        </p:nvSpPr>
        <p:spPr>
          <a:xfrm>
            <a:off x="7772400" y="2999232"/>
            <a:ext cx="768096" cy="621792"/>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超收入</a:t>
            </a:r>
            <a:endParaRPr lang="en-US" sz="1050" dirty="0"/>
          </a:p>
        </p:txBody>
      </p:sp>
      <p:sp>
        <p:nvSpPr>
          <p:cNvPr id="31" name="Text 29"/>
          <p:cNvSpPr txBox="1"/>
          <p:nvPr/>
        </p:nvSpPr>
        <p:spPr>
          <a:xfrm>
            <a:off x="8598103" y="2999232"/>
            <a:ext cx="3014777" cy="621792"/>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超出上限一倍的社屋家團約 20 多戶（房屋局局長，2020-08，報道）</a:t>
            </a:r>
            <a:endParaRPr lang="en-US" sz="1050" dirty="0"/>
          </a:p>
        </p:txBody>
      </p:sp>
      <p:sp>
        <p:nvSpPr>
          <p:cNvPr id="32" name="Shape 30"/>
          <p:cNvSpPr/>
          <p:nvPr/>
        </p:nvSpPr>
        <p:spPr>
          <a:xfrm>
            <a:off x="7772400" y="3602736"/>
            <a:ext cx="3840480" cy="12802"/>
          </a:xfrm>
          <a:prstGeom prst="rect">
            <a:avLst/>
          </a:prstGeom>
          <a:solidFill>
            <a:srgbClr val="C72A09"/>
          </a:solidFill>
          <a:ln/>
        </p:spPr>
      </p:sp>
      <p:sp>
        <p:nvSpPr>
          <p:cNvPr id="33" name="Text 31"/>
          <p:cNvSpPr txBox="1"/>
          <p:nvPr/>
        </p:nvSpPr>
        <p:spPr>
          <a:xfrm>
            <a:off x="7772400" y="3712464"/>
            <a:ext cx="768096" cy="621792"/>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個案</a:t>
            </a:r>
            <a:endParaRPr lang="en-US" sz="1050" dirty="0"/>
          </a:p>
        </p:txBody>
      </p:sp>
      <p:sp>
        <p:nvSpPr>
          <p:cNvPr id="34" name="Text 32"/>
          <p:cNvSpPr txBox="1"/>
          <p:nvPr/>
        </p:nvSpPr>
        <p:spPr>
          <a:xfrm>
            <a:off x="8598103" y="3712464"/>
            <a:ext cx="3014777" cy="621792"/>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社屋租戶連續 406 日不在澳，2022 年被解除合同，中級法院維持（2026-08 公布）</a:t>
            </a:r>
            <a:endParaRPr lang="en-US" sz="1050" dirty="0"/>
          </a:p>
        </p:txBody>
      </p:sp>
      <p:sp>
        <p:nvSpPr>
          <p:cNvPr id="35" name="Shape 33"/>
          <p:cNvSpPr/>
          <p:nvPr/>
        </p:nvSpPr>
        <p:spPr>
          <a:xfrm>
            <a:off x="7772400" y="4315968"/>
            <a:ext cx="3840480" cy="12802"/>
          </a:xfrm>
          <a:prstGeom prst="rect">
            <a:avLst/>
          </a:prstGeom>
          <a:solidFill>
            <a:srgbClr val="C72A09"/>
          </a:solidFill>
          <a:ln/>
        </p:spPr>
      </p:sp>
      <p:sp>
        <p:nvSpPr>
          <p:cNvPr id="36" name="Text 34"/>
          <p:cNvSpPr txBox="1"/>
          <p:nvPr/>
        </p:nvSpPr>
        <p:spPr>
          <a:xfrm>
            <a:off x="7772400" y="4425696"/>
            <a:ext cx="768096" cy="475488"/>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廉署</a:t>
            </a:r>
            <a:endParaRPr lang="en-US" sz="1050" dirty="0"/>
          </a:p>
        </p:txBody>
      </p:sp>
      <p:sp>
        <p:nvSpPr>
          <p:cNvPr id="37" name="Text 35"/>
          <p:cNvSpPr txBox="1"/>
          <p:nvPr/>
        </p:nvSpPr>
        <p:spPr>
          <a:xfrm>
            <a:off x="8598103" y="4425696"/>
            <a:ext cx="3014777" cy="475488"/>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2016 年：夫婦申請經屋時隱瞞珠海物業，涉嫌偽造文件及詐騙</a:t>
            </a:r>
            <a:endParaRPr lang="en-US" sz="1050" dirty="0"/>
          </a:p>
        </p:txBody>
      </p:sp>
      <p:sp>
        <p:nvSpPr>
          <p:cNvPr id="38" name="Shape 36"/>
          <p:cNvSpPr/>
          <p:nvPr/>
        </p:nvSpPr>
        <p:spPr>
          <a:xfrm>
            <a:off x="7772400" y="4882896"/>
            <a:ext cx="3840480" cy="12802"/>
          </a:xfrm>
          <a:prstGeom prst="rect">
            <a:avLst/>
          </a:prstGeom>
          <a:solidFill>
            <a:srgbClr val="C72A09"/>
          </a:solidFill>
          <a:ln/>
        </p:spPr>
      </p:sp>
      <p:sp>
        <p:nvSpPr>
          <p:cNvPr id="39" name="Text 37"/>
          <p:cNvSpPr txBox="1"/>
          <p:nvPr/>
        </p:nvSpPr>
        <p:spPr>
          <a:xfrm>
            <a:off x="7772400" y="4992624"/>
            <a:ext cx="768096" cy="475488"/>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缺口</a:t>
            </a:r>
            <a:endParaRPr lang="en-US" sz="1050" dirty="0"/>
          </a:p>
        </p:txBody>
      </p:sp>
      <p:sp>
        <p:nvSpPr>
          <p:cNvPr id="40" name="Text 38"/>
          <p:cNvSpPr txBox="1"/>
          <p:nvPr/>
        </p:nvSpPr>
        <p:spPr>
          <a:xfrm>
            <a:off x="8598103" y="4992624"/>
            <a:ext cx="3014777" cy="475488"/>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本組搜尋未見按年公開的巡查、解除合同、加租及罰款統計</a:t>
            </a:r>
            <a:endParaRPr lang="en-US" sz="1050" dirty="0"/>
          </a:p>
        </p:txBody>
      </p:sp>
      <p:sp>
        <p:nvSpPr>
          <p:cNvPr id="41" name="Shape 39"/>
          <p:cNvSpPr/>
          <p:nvPr/>
        </p:nvSpPr>
        <p:spPr>
          <a:xfrm>
            <a:off x="7772400" y="5449824"/>
            <a:ext cx="3840480" cy="12802"/>
          </a:xfrm>
          <a:prstGeom prst="rect">
            <a:avLst/>
          </a:prstGeom>
          <a:solidFill>
            <a:srgbClr val="C72A09"/>
          </a:solidFill>
          <a:ln/>
        </p:spPr>
      </p:sp>
      <p:sp>
        <p:nvSpPr>
          <p:cNvPr id="42" name="Text 40"/>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房屋局；第 17/2019、10/2011、17/2023 號法律；廉署；中級法院；施政報告 2026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(25)</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第二部分　現況與趨勢</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三個問題的現況一覽</a:t>
            </a:r>
            <a:endParaRPr lang="en-US" sz="3400" dirty="0"/>
          </a:p>
        </p:txBody>
      </p:sp>
      <p:sp>
        <p:nvSpPr>
          <p:cNvPr id="8" name="Text 6"/>
          <p:cNvSpPr txBox="1"/>
          <p:nvPr/>
        </p:nvSpPr>
        <p:spPr>
          <a:xfrm>
            <a:off x="566928" y="1600200"/>
            <a:ext cx="224942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問題</a:t>
            </a:r>
            <a:endParaRPr lang="en-US" sz="1100" dirty="0"/>
          </a:p>
        </p:txBody>
      </p:sp>
      <p:sp>
        <p:nvSpPr>
          <p:cNvPr id="9" name="Text 7"/>
          <p:cNvSpPr txBox="1"/>
          <p:nvPr/>
        </p:nvSpPr>
        <p:spPr>
          <a:xfrm>
            <a:off x="2944368" y="1600200"/>
            <a:ext cx="480974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核心數據</a:t>
            </a:r>
            <a:endParaRPr lang="en-US" sz="1100" dirty="0"/>
          </a:p>
        </p:txBody>
      </p:sp>
      <p:sp>
        <p:nvSpPr>
          <p:cNvPr id="10" name="Text 8"/>
          <p:cNvSpPr txBox="1"/>
          <p:nvPr/>
        </p:nvSpPr>
        <p:spPr>
          <a:xfrm>
            <a:off x="7882128" y="1600200"/>
            <a:ext cx="206654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主要來源</a:t>
            </a:r>
            <a:endParaRPr lang="en-US" sz="1100" dirty="0"/>
          </a:p>
        </p:txBody>
      </p:sp>
      <p:sp>
        <p:nvSpPr>
          <p:cNvPr id="11" name="Text 9"/>
          <p:cNvSpPr txBox="1"/>
          <p:nvPr/>
        </p:nvSpPr>
        <p:spPr>
          <a:xfrm>
            <a:off x="10076688" y="1600200"/>
            <a:ext cx="1545336"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證據強度</a:t>
            </a:r>
            <a:endParaRPr lang="en-US" sz="1100" dirty="0"/>
          </a:p>
        </p:txBody>
      </p:sp>
      <p:sp>
        <p:nvSpPr>
          <p:cNvPr id="12" name="Shape 10"/>
          <p:cNvSpPr/>
          <p:nvPr/>
        </p:nvSpPr>
        <p:spPr>
          <a:xfrm>
            <a:off x="566928" y="1947672"/>
            <a:ext cx="11057839" cy="18288"/>
          </a:xfrm>
          <a:prstGeom prst="rect">
            <a:avLst/>
          </a:prstGeom>
          <a:solidFill>
            <a:srgbClr val="C72A09"/>
          </a:solidFill>
          <a:ln/>
        </p:spPr>
      </p:sp>
      <p:sp>
        <p:nvSpPr>
          <p:cNvPr id="13" name="Text 11"/>
          <p:cNvSpPr txBox="1"/>
          <p:nvPr/>
        </p:nvSpPr>
        <p:spPr>
          <a:xfrm>
            <a:off x="566928" y="2039112"/>
            <a:ext cx="2249424"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一　樓價與負擔能力</a:t>
            </a:r>
            <a:endParaRPr lang="en-US" sz="1200" dirty="0"/>
          </a:p>
        </p:txBody>
      </p:sp>
      <p:sp>
        <p:nvSpPr>
          <p:cNvPr id="14" name="Text 12"/>
          <p:cNvSpPr txBox="1"/>
          <p:nvPr/>
        </p:nvSpPr>
        <p:spPr>
          <a:xfrm>
            <a:off x="2944368" y="2039112"/>
            <a:ext cx="4809744"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樓價 −31.7%（2021–25）；樓價收入比 13.4 → 9.6 倍；租金 2023–25 約 +6%</a:t>
            </a:r>
            <a:endParaRPr lang="en-US" sz="1200" dirty="0"/>
          </a:p>
        </p:txBody>
      </p:sp>
      <p:sp>
        <p:nvSpPr>
          <p:cNvPr id="15" name="Text 13"/>
          <p:cNvSpPr txBox="1"/>
          <p:nvPr/>
        </p:nvSpPr>
        <p:spPr>
          <a:xfrm>
            <a:off x="7882128" y="2039112"/>
            <a:ext cx="2066544"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統計暨普查局；本組推算</a:t>
            </a:r>
            <a:endParaRPr lang="en-US" sz="1200" dirty="0"/>
          </a:p>
        </p:txBody>
      </p:sp>
      <p:sp>
        <p:nvSpPr>
          <p:cNvPr id="16" name="Text 14"/>
          <p:cNvSpPr txBox="1"/>
          <p:nvPr/>
        </p:nvSpPr>
        <p:spPr>
          <a:xfrm>
            <a:off x="10076688" y="2039112"/>
            <a:ext cx="1545336"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強：官方年度序列；月供為假設</a:t>
            </a:r>
            <a:endParaRPr lang="en-US" sz="1200" dirty="0"/>
          </a:p>
        </p:txBody>
      </p:sp>
      <p:sp>
        <p:nvSpPr>
          <p:cNvPr id="17" name="Shape 15"/>
          <p:cNvSpPr/>
          <p:nvPr/>
        </p:nvSpPr>
        <p:spPr>
          <a:xfrm>
            <a:off x="566928" y="2926080"/>
            <a:ext cx="11057839" cy="12802"/>
          </a:xfrm>
          <a:prstGeom prst="rect">
            <a:avLst/>
          </a:prstGeom>
          <a:solidFill>
            <a:srgbClr val="C72A09"/>
          </a:solidFill>
          <a:ln/>
        </p:spPr>
      </p:sp>
      <p:sp>
        <p:nvSpPr>
          <p:cNvPr id="18" name="Text 16"/>
          <p:cNvSpPr txBox="1"/>
          <p:nvPr/>
        </p:nvSpPr>
        <p:spPr>
          <a:xfrm>
            <a:off x="566928" y="2999232"/>
            <a:ext cx="2249424"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二　舊樓與都市更新</a:t>
            </a:r>
            <a:endParaRPr lang="en-US" sz="1200" dirty="0"/>
          </a:p>
        </p:txBody>
      </p:sp>
      <p:sp>
        <p:nvSpPr>
          <p:cNvPr id="19" name="Text 17"/>
          <p:cNvSpPr txBox="1"/>
          <p:nvPr/>
        </p:nvSpPr>
        <p:spPr>
          <a:xfrm>
            <a:off x="2944368" y="2999232"/>
            <a:ext cx="4809744"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樓齡 30 年以上約 4,800 幢；失修通知 84 宗、清拆殘危 3 幢（2026 首季）；祐漢 46 幢</a:t>
            </a:r>
            <a:endParaRPr lang="en-US" sz="1200" dirty="0"/>
          </a:p>
        </p:txBody>
      </p:sp>
      <p:sp>
        <p:nvSpPr>
          <p:cNvPr id="20" name="Text 18"/>
          <p:cNvSpPr txBox="1"/>
          <p:nvPr/>
        </p:nvSpPr>
        <p:spPr>
          <a:xfrm>
            <a:off x="7882128" y="2999232"/>
            <a:ext cx="2066544"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土地工務局；都更公司；報道</a:t>
            </a:r>
            <a:endParaRPr lang="en-US" sz="1200" dirty="0"/>
          </a:p>
        </p:txBody>
      </p:sp>
      <p:sp>
        <p:nvSpPr>
          <p:cNvPr id="21" name="Text 19"/>
          <p:cNvSpPr txBox="1"/>
          <p:nvPr/>
        </p:nvSpPr>
        <p:spPr>
          <a:xfrm>
            <a:off x="10076688" y="2999232"/>
            <a:ext cx="1545336"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中：缺歷年序列</a:t>
            </a:r>
            <a:endParaRPr lang="en-US" sz="1200" dirty="0"/>
          </a:p>
        </p:txBody>
      </p:sp>
      <p:sp>
        <p:nvSpPr>
          <p:cNvPr id="22" name="Shape 20"/>
          <p:cNvSpPr/>
          <p:nvPr/>
        </p:nvSpPr>
        <p:spPr>
          <a:xfrm>
            <a:off x="566928" y="3886200"/>
            <a:ext cx="11057839" cy="12802"/>
          </a:xfrm>
          <a:prstGeom prst="rect">
            <a:avLst/>
          </a:prstGeom>
          <a:solidFill>
            <a:srgbClr val="C72A09"/>
          </a:solidFill>
          <a:ln/>
        </p:spPr>
      </p:sp>
      <p:sp>
        <p:nvSpPr>
          <p:cNvPr id="23" name="Text 21"/>
          <p:cNvSpPr txBox="1"/>
          <p:nvPr/>
        </p:nvSpPr>
        <p:spPr>
          <a:xfrm>
            <a:off x="566928" y="3959352"/>
            <a:ext cx="2249424"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三　公共房屋與夾心階層</a:t>
            </a:r>
            <a:endParaRPr lang="en-US" sz="1200" dirty="0"/>
          </a:p>
        </p:txBody>
      </p:sp>
      <p:sp>
        <p:nvSpPr>
          <p:cNvPr id="24" name="Text 22"/>
          <p:cNvSpPr txBox="1"/>
          <p:nvPr/>
        </p:nvSpPr>
        <p:spPr>
          <a:xfrm>
            <a:off x="2944368" y="3959352"/>
            <a:ext cx="4809744"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社屋佔 6.3%；經屋 2023 期取消資格 22.6%；置換房 338／2,000+；夾屋法已立但未供應；使用與監察無按年統計</a:t>
            </a:r>
            <a:endParaRPr lang="en-US" sz="1200" dirty="0"/>
          </a:p>
        </p:txBody>
      </p:sp>
      <p:sp>
        <p:nvSpPr>
          <p:cNvPr id="25" name="Text 23"/>
          <p:cNvSpPr txBox="1"/>
          <p:nvPr/>
        </p:nvSpPr>
        <p:spPr>
          <a:xfrm>
            <a:off x="7882128" y="3959352"/>
            <a:ext cx="2066544"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房屋局；政策研究；議員質詢；法例</a:t>
            </a:r>
            <a:endParaRPr lang="en-US" sz="1200" dirty="0"/>
          </a:p>
        </p:txBody>
      </p:sp>
      <p:sp>
        <p:nvSpPr>
          <p:cNvPr id="26" name="Text 24"/>
          <p:cNvSpPr txBox="1"/>
          <p:nvPr/>
        </p:nvSpPr>
        <p:spPr>
          <a:xfrm>
            <a:off x="10076688" y="3959352"/>
            <a:ext cx="1545336" cy="8869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中：部分為議員引述；監察數字缺</a:t>
            </a:r>
            <a:endParaRPr lang="en-US" sz="1200" dirty="0"/>
          </a:p>
        </p:txBody>
      </p:sp>
      <p:sp>
        <p:nvSpPr>
          <p:cNvPr id="27" name="Shape 25"/>
          <p:cNvSpPr/>
          <p:nvPr/>
        </p:nvSpPr>
        <p:spPr>
          <a:xfrm>
            <a:off x="566928" y="4846320"/>
            <a:ext cx="11057839" cy="12802"/>
          </a:xfrm>
          <a:prstGeom prst="rect">
            <a:avLst/>
          </a:prstGeom>
          <a:solidFill>
            <a:srgbClr val="C72A09"/>
          </a:solidFill>
          <a:ln/>
        </p:spPr>
      </p:sp>
      <p:sp>
        <p:nvSpPr>
          <p:cNvPr id="28" name="Shape 26"/>
          <p:cNvSpPr/>
          <p:nvPr/>
        </p:nvSpPr>
        <p:spPr>
          <a:xfrm>
            <a:off x="566928" y="5074920"/>
            <a:ext cx="11057839" cy="18288"/>
          </a:xfrm>
          <a:prstGeom prst="rect">
            <a:avLst/>
          </a:prstGeom>
          <a:solidFill>
            <a:srgbClr val="C72A09"/>
          </a:solidFill>
          <a:ln/>
        </p:spPr>
      </p:sp>
      <p:sp>
        <p:nvSpPr>
          <p:cNvPr id="29" name="Text 27"/>
          <p:cNvSpPr txBox="1"/>
          <p:nvPr/>
        </p:nvSpPr>
        <p:spPr>
          <a:xfrm>
            <a:off x="566928" y="5193792"/>
            <a:ext cx="11057839" cy="365760"/>
          </a:xfrm>
          <a:prstGeom prst="rect">
            <a:avLst/>
          </a:prstGeom>
          <a:noFill/>
          <a:ln/>
        </p:spPr>
        <p:txBody>
          <a:bodyPr wrap="square" lIns="0" tIns="0" rIns="0" bIns="0" rtlCol="0" anchor="ctr"/>
          <a:lstStyle/>
          <a:p>
            <a:pPr indent="0" marL="0">
              <a:buNone/>
            </a:pPr>
            <a:r>
              <a:rPr lang="en-US" sz="1500" b="1" dirty="0">
                <a:solidFill>
                  <a:srgbClr val="CA0013"/>
                </a:solidFill>
                <a:latin typeface="Microsoft JhengHei" pitchFamily="34" charset="0"/>
                <a:ea typeface="Microsoft JhengHei" pitchFamily="34" charset="-122"/>
                <a:cs typeface="Microsoft JhengHei" pitchFamily="34" charset="-120"/>
              </a:rPr>
              <a:t>共同特徵：總量足夠，分配失衡。下一步：是哪些社會因素造成這種分配？</a:t>
            </a:r>
            <a:endParaRPr lang="en-US" sz="1500" dirty="0"/>
          </a:p>
        </p:txBody>
      </p:sp>
      <p:sp>
        <p:nvSpPr>
          <p:cNvPr id="30" name="Text 28"/>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本組整理</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(26)</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第三部分　社會因素</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四個因素，同時影響三個問題</a:t>
            </a:r>
            <a:endParaRPr lang="en-US" sz="3400" dirty="0"/>
          </a:p>
        </p:txBody>
      </p:sp>
      <p:sp>
        <p:nvSpPr>
          <p:cNvPr id="8" name="Text 6"/>
          <p:cNvSpPr txBox="1"/>
          <p:nvPr/>
        </p:nvSpPr>
        <p:spPr>
          <a:xfrm>
            <a:off x="566928" y="1600200"/>
            <a:ext cx="160934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因素</a:t>
            </a:r>
            <a:endParaRPr lang="en-US" sz="1100" dirty="0"/>
          </a:p>
        </p:txBody>
      </p:sp>
      <p:sp>
        <p:nvSpPr>
          <p:cNvPr id="9" name="Text 7"/>
          <p:cNvSpPr txBox="1"/>
          <p:nvPr/>
        </p:nvSpPr>
        <p:spPr>
          <a:xfrm>
            <a:off x="2304288" y="1600200"/>
            <a:ext cx="298094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問題一　樓價與負擔</a:t>
            </a:r>
            <a:endParaRPr lang="en-US" sz="1100" dirty="0"/>
          </a:p>
        </p:txBody>
      </p:sp>
      <p:sp>
        <p:nvSpPr>
          <p:cNvPr id="10" name="Text 8"/>
          <p:cNvSpPr txBox="1"/>
          <p:nvPr/>
        </p:nvSpPr>
        <p:spPr>
          <a:xfrm>
            <a:off x="5413248" y="1600200"/>
            <a:ext cx="298094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問題二　舊樓與更新</a:t>
            </a:r>
            <a:endParaRPr lang="en-US" sz="1100" dirty="0"/>
          </a:p>
        </p:txBody>
      </p:sp>
      <p:sp>
        <p:nvSpPr>
          <p:cNvPr id="11" name="Text 9"/>
          <p:cNvSpPr txBox="1"/>
          <p:nvPr/>
        </p:nvSpPr>
        <p:spPr>
          <a:xfrm>
            <a:off x="8522208" y="1600200"/>
            <a:ext cx="3099816"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問題三　公共房屋</a:t>
            </a:r>
            <a:endParaRPr lang="en-US" sz="1100" dirty="0"/>
          </a:p>
        </p:txBody>
      </p:sp>
      <p:sp>
        <p:nvSpPr>
          <p:cNvPr id="12" name="Shape 10"/>
          <p:cNvSpPr/>
          <p:nvPr/>
        </p:nvSpPr>
        <p:spPr>
          <a:xfrm>
            <a:off x="566928" y="1947672"/>
            <a:ext cx="11057839" cy="18288"/>
          </a:xfrm>
          <a:prstGeom prst="rect">
            <a:avLst/>
          </a:prstGeom>
          <a:solidFill>
            <a:srgbClr val="C72A09"/>
          </a:solidFill>
          <a:ln/>
        </p:spPr>
      </p:sp>
      <p:sp>
        <p:nvSpPr>
          <p:cNvPr id="13" name="Text 11"/>
          <p:cNvSpPr txBox="1"/>
          <p:nvPr/>
        </p:nvSpPr>
        <p:spPr>
          <a:xfrm>
            <a:off x="566928" y="2039112"/>
            <a:ext cx="16093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經濟</a:t>
            </a:r>
            <a:endParaRPr lang="en-US" sz="1200" dirty="0"/>
          </a:p>
        </p:txBody>
      </p:sp>
      <p:sp>
        <p:nvSpPr>
          <p:cNvPr id="14" name="Text 12"/>
          <p:cNvSpPr txBox="1"/>
          <p:nvPr/>
        </p:nvSpPr>
        <p:spPr>
          <a:xfrm>
            <a:off x="2304288" y="2039112"/>
            <a:ext cx="29809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收入近三年僅升 5%，樓價回落；首期與家庭資產決定能否入市</a:t>
            </a:r>
            <a:endParaRPr lang="en-US" sz="1200" dirty="0"/>
          </a:p>
        </p:txBody>
      </p:sp>
      <p:sp>
        <p:nvSpPr>
          <p:cNvPr id="15" name="Text 13"/>
          <p:cNvSpPr txBox="1"/>
          <p:nvPr/>
        </p:nvSpPr>
        <p:spPr>
          <a:xfrm>
            <a:off x="5413248" y="2039112"/>
            <a:ext cx="29809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業主按份額分擔重建負擔（第 8、34 條）；舊樓租金較低</a:t>
            </a:r>
            <a:endParaRPr lang="en-US" sz="1200" dirty="0"/>
          </a:p>
        </p:txBody>
      </p:sp>
      <p:sp>
        <p:nvSpPr>
          <p:cNvPr id="16" name="Text 14"/>
          <p:cNvSpPr txBox="1"/>
          <p:nvPr/>
        </p:nvSpPr>
        <p:spPr>
          <a:xfrm>
            <a:off x="8522208" y="2039112"/>
            <a:ext cx="3099816"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收入超出經屋上限、又買不起私樓，成為夾心階層</a:t>
            </a:r>
            <a:endParaRPr lang="en-US" sz="1200" dirty="0"/>
          </a:p>
        </p:txBody>
      </p:sp>
      <p:sp>
        <p:nvSpPr>
          <p:cNvPr id="17" name="Shape 15"/>
          <p:cNvSpPr/>
          <p:nvPr/>
        </p:nvSpPr>
        <p:spPr>
          <a:xfrm>
            <a:off x="566928" y="2880360"/>
            <a:ext cx="11057839" cy="12802"/>
          </a:xfrm>
          <a:prstGeom prst="rect">
            <a:avLst/>
          </a:prstGeom>
          <a:solidFill>
            <a:srgbClr val="C72A09"/>
          </a:solidFill>
          <a:ln/>
        </p:spPr>
      </p:sp>
      <p:sp>
        <p:nvSpPr>
          <p:cNvPr id="18" name="Text 16"/>
          <p:cNvSpPr txBox="1"/>
          <p:nvPr/>
        </p:nvSpPr>
        <p:spPr>
          <a:xfrm>
            <a:off x="566928" y="2953512"/>
            <a:ext cx="16093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政策與法律</a:t>
            </a:r>
            <a:endParaRPr lang="en-US" sz="1200" dirty="0"/>
          </a:p>
        </p:txBody>
      </p:sp>
      <p:sp>
        <p:nvSpPr>
          <p:cNvPr id="19" name="Text 17"/>
          <p:cNvSpPr txBox="1"/>
          <p:nvPr/>
        </p:nvSpPr>
        <p:spPr>
          <a:xfrm>
            <a:off x="2304288" y="2953512"/>
            <a:ext cx="29809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按揭成數 70% → 80%，配合印花稅豁免（2026-01-01）</a:t>
            </a:r>
            <a:endParaRPr lang="en-US" sz="1200" dirty="0"/>
          </a:p>
        </p:txBody>
      </p:sp>
      <p:sp>
        <p:nvSpPr>
          <p:cNvPr id="20" name="Text 18"/>
          <p:cNvSpPr txBox="1"/>
          <p:nvPr/>
        </p:nvSpPr>
        <p:spPr>
          <a:xfrm>
            <a:off x="5413248" y="2953512"/>
            <a:ext cx="29809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都更門檻 85／80／60%；不同意者經仲裁強制參與</a:t>
            </a:r>
            <a:endParaRPr lang="en-US" sz="1200" dirty="0"/>
          </a:p>
        </p:txBody>
      </p:sp>
      <p:sp>
        <p:nvSpPr>
          <p:cNvPr id="21" name="Text 19"/>
          <p:cNvSpPr txBox="1"/>
          <p:nvPr/>
        </p:nvSpPr>
        <p:spPr>
          <a:xfrm>
            <a:off x="8522208" y="2953512"/>
            <a:ext cx="3099816"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經屋批次式供應；夾屋尚未供應</a:t>
            </a:r>
            <a:endParaRPr lang="en-US" sz="1200" dirty="0"/>
          </a:p>
        </p:txBody>
      </p:sp>
      <p:sp>
        <p:nvSpPr>
          <p:cNvPr id="22" name="Shape 20"/>
          <p:cNvSpPr/>
          <p:nvPr/>
        </p:nvSpPr>
        <p:spPr>
          <a:xfrm>
            <a:off x="566928" y="3794760"/>
            <a:ext cx="11057839" cy="12802"/>
          </a:xfrm>
          <a:prstGeom prst="rect">
            <a:avLst/>
          </a:prstGeom>
          <a:solidFill>
            <a:srgbClr val="C72A09"/>
          </a:solidFill>
          <a:ln/>
        </p:spPr>
      </p:sp>
      <p:sp>
        <p:nvSpPr>
          <p:cNvPr id="23" name="Text 21"/>
          <p:cNvSpPr txBox="1"/>
          <p:nvPr/>
        </p:nvSpPr>
        <p:spPr>
          <a:xfrm>
            <a:off x="566928" y="3867912"/>
            <a:ext cx="16093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社會人口</a:t>
            </a:r>
            <a:endParaRPr lang="en-US" sz="1200" dirty="0"/>
          </a:p>
        </p:txBody>
      </p:sp>
      <p:sp>
        <p:nvSpPr>
          <p:cNvPr id="24" name="Text 22"/>
          <p:cNvSpPr txBox="1"/>
          <p:nvPr/>
        </p:nvSpPr>
        <p:spPr>
          <a:xfrm>
            <a:off x="2304288" y="3867912"/>
            <a:ext cx="29809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戶均人口 3.04 → 2.83；青年租住 10.6% → 23.1%（方向參考）</a:t>
            </a:r>
            <a:endParaRPr lang="en-US" sz="1200" dirty="0"/>
          </a:p>
        </p:txBody>
      </p:sp>
      <p:sp>
        <p:nvSpPr>
          <p:cNvPr id="25" name="Text 23"/>
          <p:cNvSpPr txBox="1"/>
          <p:nvPr/>
        </p:nvSpPr>
        <p:spPr>
          <a:xfrm>
            <a:off x="5413248" y="3867912"/>
            <a:ext cx="29809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長者住戶 +65.8%；近四成唐樓長者想入住長者公寓</a:t>
            </a:r>
            <a:endParaRPr lang="en-US" sz="1200" dirty="0"/>
          </a:p>
        </p:txBody>
      </p:sp>
      <p:sp>
        <p:nvSpPr>
          <p:cNvPr id="26" name="Text 24"/>
          <p:cNvSpPr txBox="1"/>
          <p:nvPr/>
        </p:nvSpPr>
        <p:spPr>
          <a:xfrm>
            <a:off x="8522208" y="3867912"/>
            <a:ext cx="3099816"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個人申請 2,275 份對一房 1,657 個（議員引述）</a:t>
            </a:r>
            <a:endParaRPr lang="en-US" sz="1200" dirty="0"/>
          </a:p>
        </p:txBody>
      </p:sp>
      <p:sp>
        <p:nvSpPr>
          <p:cNvPr id="27" name="Shape 25"/>
          <p:cNvSpPr/>
          <p:nvPr/>
        </p:nvSpPr>
        <p:spPr>
          <a:xfrm>
            <a:off x="566928" y="4709160"/>
            <a:ext cx="11057839" cy="12802"/>
          </a:xfrm>
          <a:prstGeom prst="rect">
            <a:avLst/>
          </a:prstGeom>
          <a:solidFill>
            <a:srgbClr val="C72A09"/>
          </a:solidFill>
          <a:ln/>
        </p:spPr>
      </p:sp>
      <p:sp>
        <p:nvSpPr>
          <p:cNvPr id="28" name="Text 26"/>
          <p:cNvSpPr txBox="1"/>
          <p:nvPr/>
        </p:nvSpPr>
        <p:spPr>
          <a:xfrm>
            <a:off x="566928" y="4782312"/>
            <a:ext cx="16093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地理與物理環境</a:t>
            </a:r>
            <a:endParaRPr lang="en-US" sz="1200" dirty="0"/>
          </a:p>
        </p:txBody>
      </p:sp>
      <p:sp>
        <p:nvSpPr>
          <p:cNvPr id="29" name="Text 27"/>
          <p:cNvSpPr txBox="1"/>
          <p:nvPr/>
        </p:nvSpPr>
        <p:spPr>
          <a:xfrm>
            <a:off x="2304288" y="4782312"/>
            <a:ext cx="29809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住宅用地約 2.9 平方公里，填海沉澱期 5–8 年，新供應有時滯</a:t>
            </a:r>
            <a:endParaRPr lang="en-US" sz="1200" dirty="0"/>
          </a:p>
        </p:txBody>
      </p:sp>
      <p:sp>
        <p:nvSpPr>
          <p:cNvPr id="30" name="Text 28"/>
          <p:cNvSpPr txBox="1"/>
          <p:nvPr/>
        </p:nvSpPr>
        <p:spPr>
          <a:xfrm>
            <a:off x="5413248" y="4782312"/>
            <a:ext cx="2980944"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樓齡 30 年以上約 4,800 幢；重建須另建暫住房</a:t>
            </a:r>
            <a:endParaRPr lang="en-US" sz="1200" dirty="0"/>
          </a:p>
        </p:txBody>
      </p:sp>
      <p:sp>
        <p:nvSpPr>
          <p:cNvPr id="31" name="Text 29"/>
          <p:cNvSpPr txBox="1"/>
          <p:nvPr/>
        </p:nvSpPr>
        <p:spPr>
          <a:xfrm>
            <a:off x="8522208" y="4782312"/>
            <a:ext cx="3099816" cy="84124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石排灣經屋空置率 38.9%（2015）：位置與配套不對應</a:t>
            </a:r>
            <a:endParaRPr lang="en-US" sz="1200" dirty="0"/>
          </a:p>
        </p:txBody>
      </p:sp>
      <p:sp>
        <p:nvSpPr>
          <p:cNvPr id="32" name="Shape 30"/>
          <p:cNvSpPr/>
          <p:nvPr/>
        </p:nvSpPr>
        <p:spPr>
          <a:xfrm>
            <a:off x="566928" y="5623560"/>
            <a:ext cx="11057839" cy="12802"/>
          </a:xfrm>
          <a:prstGeom prst="rect">
            <a:avLst/>
          </a:prstGeom>
          <a:solidFill>
            <a:srgbClr val="C72A09"/>
          </a:solidFill>
          <a:ln/>
        </p:spPr>
      </p:sp>
      <p:sp>
        <p:nvSpPr>
          <p:cNvPr id="33" name="Text 31"/>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本組整理；數據出處見前文各頁</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(27)</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第三部分　社會因素</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因素一與因素二</a:t>
            </a:r>
            <a:endParaRPr lang="en-US" sz="3400" dirty="0"/>
          </a:p>
        </p:txBody>
      </p:sp>
      <p:sp>
        <p:nvSpPr>
          <p:cNvPr id="8" name="Text 6"/>
          <p:cNvSpPr txBox="1"/>
          <p:nvPr/>
        </p:nvSpPr>
        <p:spPr>
          <a:xfrm>
            <a:off x="566928" y="1554480"/>
            <a:ext cx="534924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因素一</a:t>
            </a:r>
            <a:endParaRPr lang="en-US" sz="1150" dirty="0"/>
          </a:p>
        </p:txBody>
      </p:sp>
      <p:sp>
        <p:nvSpPr>
          <p:cNvPr id="9" name="Text 7"/>
          <p:cNvSpPr txBox="1"/>
          <p:nvPr/>
        </p:nvSpPr>
        <p:spPr>
          <a:xfrm>
            <a:off x="566928" y="1828800"/>
            <a:ext cx="5349240" cy="457200"/>
          </a:xfrm>
          <a:prstGeom prst="rect">
            <a:avLst/>
          </a:prstGeom>
          <a:noFill/>
          <a:ln/>
        </p:spPr>
        <p:txBody>
          <a:bodyPr wrap="square" lIns="0" tIns="0" rIns="0" bIns="0" rtlCol="0" anchor="t"/>
          <a:lstStyle/>
          <a:p>
            <a:pPr indent="0" marL="0">
              <a:buNone/>
            </a:pPr>
            <a:r>
              <a:rPr lang="en-US" sz="2200" b="1" dirty="0">
                <a:solidFill>
                  <a:srgbClr val="CA0013"/>
                </a:solidFill>
                <a:latin typeface="Microsoft JhengHei" pitchFamily="34" charset="0"/>
                <a:ea typeface="Microsoft JhengHei" pitchFamily="34" charset="-122"/>
                <a:cs typeface="Microsoft JhengHei" pitchFamily="34" charset="-120"/>
              </a:rPr>
              <a:t>經濟</a:t>
            </a:r>
            <a:endParaRPr lang="en-US" sz="2200" dirty="0"/>
          </a:p>
        </p:txBody>
      </p:sp>
      <p:sp>
        <p:nvSpPr>
          <p:cNvPr id="10" name="Text 8"/>
          <p:cNvSpPr txBox="1"/>
          <p:nvPr/>
        </p:nvSpPr>
        <p:spPr>
          <a:xfrm>
            <a:off x="566928" y="2331720"/>
            <a:ext cx="5349240" cy="310896"/>
          </a:xfrm>
          <a:prstGeom prst="rect">
            <a:avLst/>
          </a:prstGeom>
          <a:noFill/>
          <a:ln/>
        </p:spPr>
        <p:txBody>
          <a:bodyPr wrap="square" lIns="0" tIns="0" rIns="0" bIns="0" rtlCol="0" anchor="t"/>
          <a:lstStyle/>
          <a:p>
            <a:pPr algn="l" indent="0" marL="0">
              <a:lnSpc>
                <a:spcPct val="125000"/>
              </a:lnSpc>
              <a:buNone/>
            </a:pPr>
            <a:r>
              <a:rPr lang="en-US" sz="1150" b="1" spc="80" kern="0" dirty="0">
                <a:solidFill>
                  <a:srgbClr val="CA0013"/>
                </a:solidFill>
                <a:latin typeface="Microsoft JhengHei" pitchFamily="34" charset="0"/>
                <a:ea typeface="Microsoft JhengHei" pitchFamily="34" charset="-122"/>
                <a:cs typeface="Microsoft JhengHei" pitchFamily="34" charset="-120"/>
              </a:rPr>
              <a:t>收入與資產分配</a:t>
            </a:r>
            <a:endParaRPr lang="en-US" sz="1150" dirty="0"/>
          </a:p>
        </p:txBody>
      </p:sp>
      <p:sp>
        <p:nvSpPr>
          <p:cNvPr id="11" name="Shape 9"/>
          <p:cNvSpPr/>
          <p:nvPr/>
        </p:nvSpPr>
        <p:spPr>
          <a:xfrm>
            <a:off x="566928" y="2697480"/>
            <a:ext cx="5349240" cy="18288"/>
          </a:xfrm>
          <a:prstGeom prst="rect">
            <a:avLst/>
          </a:prstGeom>
          <a:solidFill>
            <a:srgbClr val="C72A09"/>
          </a:solidFill>
          <a:ln/>
        </p:spPr>
      </p:sp>
      <p:sp>
        <p:nvSpPr>
          <p:cNvPr id="12" name="Text 10"/>
          <p:cNvSpPr txBox="1"/>
          <p:nvPr/>
        </p:nvSpPr>
        <p:spPr>
          <a:xfrm>
            <a:off x="566928" y="28163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機制</a:t>
            </a:r>
            <a:endParaRPr lang="en-US" sz="1200" dirty="0"/>
          </a:p>
        </p:txBody>
      </p:sp>
      <p:sp>
        <p:nvSpPr>
          <p:cNvPr id="13" name="Text 11"/>
          <p:cNvSpPr txBox="1"/>
          <p:nvPr/>
        </p:nvSpPr>
        <p:spPr>
          <a:xfrm>
            <a:off x="1556537" y="28163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誰進得了市場，取決於收入與家庭資產；樓價下跌不等於人人受惠。</a:t>
            </a:r>
            <a:endParaRPr lang="en-US" sz="1200" dirty="0"/>
          </a:p>
        </p:txBody>
      </p:sp>
      <p:sp>
        <p:nvSpPr>
          <p:cNvPr id="14" name="Shape 12"/>
          <p:cNvSpPr/>
          <p:nvPr/>
        </p:nvSpPr>
        <p:spPr>
          <a:xfrm>
            <a:off x="566928" y="3621024"/>
            <a:ext cx="5349240" cy="12802"/>
          </a:xfrm>
          <a:prstGeom prst="rect">
            <a:avLst/>
          </a:prstGeom>
          <a:solidFill>
            <a:srgbClr val="C72A09"/>
          </a:solidFill>
          <a:ln/>
        </p:spPr>
      </p:sp>
      <p:sp>
        <p:nvSpPr>
          <p:cNvPr id="15" name="Text 13"/>
          <p:cNvSpPr txBox="1"/>
          <p:nvPr/>
        </p:nvSpPr>
        <p:spPr>
          <a:xfrm>
            <a:off x="566928" y="37307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證據</a:t>
            </a:r>
            <a:endParaRPr lang="en-US" sz="1200" dirty="0"/>
          </a:p>
        </p:txBody>
      </p:sp>
      <p:sp>
        <p:nvSpPr>
          <p:cNvPr id="16" name="Text 14"/>
          <p:cNvSpPr txBox="1"/>
          <p:nvPr/>
        </p:nvSpPr>
        <p:spPr>
          <a:xfrm>
            <a:off x="1556537" y="37307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本地居民收入中位數 2023 年 20,000 元、2025 年 20,000 元；樓價 −24.1%；首期約 92–138 萬元。</a:t>
            </a:r>
            <a:endParaRPr lang="en-US" sz="1200" dirty="0"/>
          </a:p>
        </p:txBody>
      </p:sp>
      <p:sp>
        <p:nvSpPr>
          <p:cNvPr id="17" name="Shape 15"/>
          <p:cNvSpPr/>
          <p:nvPr/>
        </p:nvSpPr>
        <p:spPr>
          <a:xfrm>
            <a:off x="566928" y="4535424"/>
            <a:ext cx="5349240" cy="12802"/>
          </a:xfrm>
          <a:prstGeom prst="rect">
            <a:avLst/>
          </a:prstGeom>
          <a:solidFill>
            <a:srgbClr val="C72A09"/>
          </a:solidFill>
          <a:ln/>
        </p:spPr>
      </p:sp>
      <p:sp>
        <p:nvSpPr>
          <p:cNvPr id="18" name="Text 16"/>
          <p:cNvSpPr txBox="1"/>
          <p:nvPr/>
        </p:nvSpPr>
        <p:spPr>
          <a:xfrm>
            <a:off x="566928" y="46451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限制</a:t>
            </a:r>
            <a:endParaRPr lang="en-US" sz="1200" dirty="0"/>
          </a:p>
        </p:txBody>
      </p:sp>
      <p:sp>
        <p:nvSpPr>
          <p:cNvPr id="19" name="Text 17"/>
          <p:cNvSpPr txBox="1"/>
          <p:nvPr/>
        </p:nvSpPr>
        <p:spPr>
          <a:xfrm>
            <a:off x="1556537" y="46451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官方未公布住戶收入中位數；家庭收入以兩名中位收入者推算。</a:t>
            </a:r>
            <a:endParaRPr lang="en-US" sz="1200" dirty="0"/>
          </a:p>
        </p:txBody>
      </p:sp>
      <p:sp>
        <p:nvSpPr>
          <p:cNvPr id="20" name="Shape 18"/>
          <p:cNvSpPr/>
          <p:nvPr/>
        </p:nvSpPr>
        <p:spPr>
          <a:xfrm>
            <a:off x="566928" y="5449824"/>
            <a:ext cx="5349240" cy="12802"/>
          </a:xfrm>
          <a:prstGeom prst="rect">
            <a:avLst/>
          </a:prstGeom>
          <a:solidFill>
            <a:srgbClr val="C72A09"/>
          </a:solidFill>
          <a:ln/>
        </p:spPr>
      </p:sp>
      <p:sp>
        <p:nvSpPr>
          <p:cNvPr id="21" name="Text 19"/>
          <p:cNvSpPr txBox="1"/>
          <p:nvPr/>
        </p:nvSpPr>
        <p:spPr>
          <a:xfrm>
            <a:off x="6281928" y="1554480"/>
            <a:ext cx="534924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因素二</a:t>
            </a:r>
            <a:endParaRPr lang="en-US" sz="1150" dirty="0"/>
          </a:p>
        </p:txBody>
      </p:sp>
      <p:sp>
        <p:nvSpPr>
          <p:cNvPr id="22" name="Text 20"/>
          <p:cNvSpPr txBox="1"/>
          <p:nvPr/>
        </p:nvSpPr>
        <p:spPr>
          <a:xfrm>
            <a:off x="6281928" y="1828800"/>
            <a:ext cx="5349240" cy="457200"/>
          </a:xfrm>
          <a:prstGeom prst="rect">
            <a:avLst/>
          </a:prstGeom>
          <a:noFill/>
          <a:ln/>
        </p:spPr>
        <p:txBody>
          <a:bodyPr wrap="square" lIns="0" tIns="0" rIns="0" bIns="0" rtlCol="0" anchor="t"/>
          <a:lstStyle/>
          <a:p>
            <a:pPr indent="0" marL="0">
              <a:buNone/>
            </a:pPr>
            <a:r>
              <a:rPr lang="en-US" sz="2200" b="1" dirty="0">
                <a:solidFill>
                  <a:srgbClr val="CA0013"/>
                </a:solidFill>
                <a:latin typeface="Microsoft JhengHei" pitchFamily="34" charset="0"/>
                <a:ea typeface="Microsoft JhengHei" pitchFamily="34" charset="-122"/>
                <a:cs typeface="Microsoft JhengHei" pitchFamily="34" charset="-120"/>
              </a:rPr>
              <a:t>政策與法律</a:t>
            </a:r>
            <a:endParaRPr lang="en-US" sz="2200" dirty="0"/>
          </a:p>
        </p:txBody>
      </p:sp>
      <p:sp>
        <p:nvSpPr>
          <p:cNvPr id="23" name="Text 21"/>
          <p:cNvSpPr txBox="1"/>
          <p:nvPr/>
        </p:nvSpPr>
        <p:spPr>
          <a:xfrm>
            <a:off x="6281928" y="2331720"/>
            <a:ext cx="5349240" cy="310896"/>
          </a:xfrm>
          <a:prstGeom prst="rect">
            <a:avLst/>
          </a:prstGeom>
          <a:noFill/>
          <a:ln/>
        </p:spPr>
        <p:txBody>
          <a:bodyPr wrap="square" lIns="0" tIns="0" rIns="0" bIns="0" rtlCol="0" anchor="t"/>
          <a:lstStyle/>
          <a:p>
            <a:pPr algn="l" indent="0" marL="0">
              <a:lnSpc>
                <a:spcPct val="125000"/>
              </a:lnSpc>
              <a:buNone/>
            </a:pPr>
            <a:r>
              <a:rPr lang="en-US" sz="1150" b="1" spc="80" kern="0" dirty="0">
                <a:solidFill>
                  <a:srgbClr val="CA0013"/>
                </a:solidFill>
                <a:latin typeface="Microsoft JhengHei" pitchFamily="34" charset="0"/>
                <a:ea typeface="Microsoft JhengHei" pitchFamily="34" charset="-122"/>
                <a:cs typeface="Microsoft JhengHei" pitchFamily="34" charset="-120"/>
              </a:rPr>
              <a:t>制度如何劃線</a:t>
            </a:r>
            <a:endParaRPr lang="en-US" sz="1150" dirty="0"/>
          </a:p>
        </p:txBody>
      </p:sp>
      <p:sp>
        <p:nvSpPr>
          <p:cNvPr id="24" name="Shape 22"/>
          <p:cNvSpPr/>
          <p:nvPr/>
        </p:nvSpPr>
        <p:spPr>
          <a:xfrm>
            <a:off x="6281928" y="2697480"/>
            <a:ext cx="5349240" cy="18288"/>
          </a:xfrm>
          <a:prstGeom prst="rect">
            <a:avLst/>
          </a:prstGeom>
          <a:solidFill>
            <a:srgbClr val="C72A09"/>
          </a:solidFill>
          <a:ln/>
        </p:spPr>
      </p:sp>
      <p:sp>
        <p:nvSpPr>
          <p:cNvPr id="25" name="Text 23"/>
          <p:cNvSpPr txBox="1"/>
          <p:nvPr/>
        </p:nvSpPr>
        <p:spPr>
          <a:xfrm>
            <a:off x="6281928" y="28163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機制</a:t>
            </a:r>
            <a:endParaRPr lang="en-US" sz="1200" dirty="0"/>
          </a:p>
        </p:txBody>
      </p:sp>
      <p:sp>
        <p:nvSpPr>
          <p:cNvPr id="26" name="Text 24"/>
          <p:cNvSpPr txBox="1"/>
          <p:nvPr/>
        </p:nvSpPr>
        <p:spPr>
          <a:xfrm>
            <a:off x="7271537" y="28163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入息限額、業權比例、按揭成數，決定誰能進哪一級、哪些樓能重建。</a:t>
            </a:r>
            <a:endParaRPr lang="en-US" sz="1200" dirty="0"/>
          </a:p>
        </p:txBody>
      </p:sp>
      <p:sp>
        <p:nvSpPr>
          <p:cNvPr id="27" name="Shape 25"/>
          <p:cNvSpPr/>
          <p:nvPr/>
        </p:nvSpPr>
        <p:spPr>
          <a:xfrm>
            <a:off x="6281928" y="3621024"/>
            <a:ext cx="5349240" cy="12802"/>
          </a:xfrm>
          <a:prstGeom prst="rect">
            <a:avLst/>
          </a:prstGeom>
          <a:solidFill>
            <a:srgbClr val="C72A09"/>
          </a:solidFill>
          <a:ln/>
        </p:spPr>
      </p:sp>
      <p:sp>
        <p:nvSpPr>
          <p:cNvPr id="28" name="Text 26"/>
          <p:cNvSpPr txBox="1"/>
          <p:nvPr/>
        </p:nvSpPr>
        <p:spPr>
          <a:xfrm>
            <a:off x="6281928" y="37307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證據</a:t>
            </a:r>
            <a:endParaRPr lang="en-US" sz="1200" dirty="0"/>
          </a:p>
        </p:txBody>
      </p:sp>
      <p:sp>
        <p:nvSpPr>
          <p:cNvPr id="29" name="Text 27"/>
          <p:cNvSpPr txBox="1"/>
          <p:nvPr/>
        </p:nvSpPr>
        <p:spPr>
          <a:xfrm>
            <a:off x="7271537" y="37307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成數上限 70% → 80%（2026-01-01）；都更門檻 85／80／60%；經屋批次式供應。</a:t>
            </a:r>
            <a:endParaRPr lang="en-US" sz="1200" dirty="0"/>
          </a:p>
        </p:txBody>
      </p:sp>
      <p:sp>
        <p:nvSpPr>
          <p:cNvPr id="30" name="Shape 28"/>
          <p:cNvSpPr/>
          <p:nvPr/>
        </p:nvSpPr>
        <p:spPr>
          <a:xfrm>
            <a:off x="6281928" y="4535424"/>
            <a:ext cx="5349240" cy="12802"/>
          </a:xfrm>
          <a:prstGeom prst="rect">
            <a:avLst/>
          </a:prstGeom>
          <a:solidFill>
            <a:srgbClr val="C72A09"/>
          </a:solidFill>
          <a:ln/>
        </p:spPr>
      </p:sp>
      <p:sp>
        <p:nvSpPr>
          <p:cNvPr id="31" name="Text 29"/>
          <p:cNvSpPr txBox="1"/>
          <p:nvPr/>
        </p:nvSpPr>
        <p:spPr>
          <a:xfrm>
            <a:off x="6281928" y="46451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限制</a:t>
            </a:r>
            <a:endParaRPr lang="en-US" sz="1200" dirty="0"/>
          </a:p>
        </p:txBody>
      </p:sp>
      <p:sp>
        <p:nvSpPr>
          <p:cNvPr id="32" name="Text 30"/>
          <p:cNvSpPr txBox="1"/>
          <p:nvPr/>
        </p:nvSpPr>
        <p:spPr>
          <a:xfrm>
            <a:off x="7271537" y="46451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首置及價格分段的成數細則未核實；「永遠姓經」等為議員所述。</a:t>
            </a:r>
            <a:endParaRPr lang="en-US" sz="1200" dirty="0"/>
          </a:p>
        </p:txBody>
      </p:sp>
      <p:sp>
        <p:nvSpPr>
          <p:cNvPr id="33" name="Shape 31"/>
          <p:cNvSpPr/>
          <p:nvPr/>
        </p:nvSpPr>
        <p:spPr>
          <a:xfrm>
            <a:off x="6281928" y="5449824"/>
            <a:ext cx="5349240" cy="12802"/>
          </a:xfrm>
          <a:prstGeom prst="rect">
            <a:avLst/>
          </a:prstGeom>
          <a:solidFill>
            <a:srgbClr val="C72A09"/>
          </a:solidFill>
          <a:ln/>
        </p:spPr>
      </p:sp>
      <p:sp>
        <p:nvSpPr>
          <p:cNvPr id="34" name="Text 32"/>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統計暨普查局；金管局；第 18/2022 號法律</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(28)</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第三部分　社會因素</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因素三與因素四</a:t>
            </a:r>
            <a:endParaRPr lang="en-US" sz="3400" dirty="0"/>
          </a:p>
        </p:txBody>
      </p:sp>
      <p:sp>
        <p:nvSpPr>
          <p:cNvPr id="8" name="Text 6"/>
          <p:cNvSpPr txBox="1"/>
          <p:nvPr/>
        </p:nvSpPr>
        <p:spPr>
          <a:xfrm>
            <a:off x="566928" y="1554480"/>
            <a:ext cx="534924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因素三</a:t>
            </a:r>
            <a:endParaRPr lang="en-US" sz="1150" dirty="0"/>
          </a:p>
        </p:txBody>
      </p:sp>
      <p:sp>
        <p:nvSpPr>
          <p:cNvPr id="9" name="Text 7"/>
          <p:cNvSpPr txBox="1"/>
          <p:nvPr/>
        </p:nvSpPr>
        <p:spPr>
          <a:xfrm>
            <a:off x="566928" y="1828800"/>
            <a:ext cx="5349240" cy="457200"/>
          </a:xfrm>
          <a:prstGeom prst="rect">
            <a:avLst/>
          </a:prstGeom>
          <a:noFill/>
          <a:ln/>
        </p:spPr>
        <p:txBody>
          <a:bodyPr wrap="square" lIns="0" tIns="0" rIns="0" bIns="0" rtlCol="0" anchor="t"/>
          <a:lstStyle/>
          <a:p>
            <a:pPr indent="0" marL="0">
              <a:buNone/>
            </a:pPr>
            <a:r>
              <a:rPr lang="en-US" sz="2200" b="1" dirty="0">
                <a:solidFill>
                  <a:srgbClr val="CA0013"/>
                </a:solidFill>
                <a:latin typeface="Microsoft JhengHei" pitchFamily="34" charset="0"/>
                <a:ea typeface="Microsoft JhengHei" pitchFamily="34" charset="-122"/>
                <a:cs typeface="Microsoft JhengHei" pitchFamily="34" charset="-120"/>
              </a:rPr>
              <a:t>社會人口</a:t>
            </a:r>
            <a:endParaRPr lang="en-US" sz="2200" dirty="0"/>
          </a:p>
        </p:txBody>
      </p:sp>
      <p:sp>
        <p:nvSpPr>
          <p:cNvPr id="10" name="Text 8"/>
          <p:cNvSpPr txBox="1"/>
          <p:nvPr/>
        </p:nvSpPr>
        <p:spPr>
          <a:xfrm>
            <a:off x="566928" y="2331720"/>
            <a:ext cx="5349240" cy="310896"/>
          </a:xfrm>
          <a:prstGeom prst="rect">
            <a:avLst/>
          </a:prstGeom>
          <a:noFill/>
          <a:ln/>
        </p:spPr>
        <p:txBody>
          <a:bodyPr wrap="square" lIns="0" tIns="0" rIns="0" bIns="0" rtlCol="0" anchor="t"/>
          <a:lstStyle/>
          <a:p>
            <a:pPr algn="l" indent="0" marL="0">
              <a:lnSpc>
                <a:spcPct val="125000"/>
              </a:lnSpc>
              <a:buNone/>
            </a:pPr>
            <a:r>
              <a:rPr lang="en-US" sz="1150" b="1" spc="80" kern="0" dirty="0">
                <a:solidFill>
                  <a:srgbClr val="CA0013"/>
                </a:solidFill>
                <a:latin typeface="Microsoft JhengHei" pitchFamily="34" charset="0"/>
                <a:ea typeface="Microsoft JhengHei" pitchFamily="34" charset="-122"/>
                <a:cs typeface="Microsoft JhengHei" pitchFamily="34" charset="-120"/>
              </a:rPr>
              <a:t>老化與家庭小型化</a:t>
            </a:r>
            <a:endParaRPr lang="en-US" sz="1150" dirty="0"/>
          </a:p>
        </p:txBody>
      </p:sp>
      <p:sp>
        <p:nvSpPr>
          <p:cNvPr id="11" name="Shape 9"/>
          <p:cNvSpPr/>
          <p:nvPr/>
        </p:nvSpPr>
        <p:spPr>
          <a:xfrm>
            <a:off x="566928" y="2697480"/>
            <a:ext cx="5349240" cy="18288"/>
          </a:xfrm>
          <a:prstGeom prst="rect">
            <a:avLst/>
          </a:prstGeom>
          <a:solidFill>
            <a:srgbClr val="C72A09"/>
          </a:solidFill>
          <a:ln/>
        </p:spPr>
      </p:sp>
      <p:sp>
        <p:nvSpPr>
          <p:cNvPr id="12" name="Text 10"/>
          <p:cNvSpPr txBox="1"/>
          <p:nvPr/>
        </p:nvSpPr>
        <p:spPr>
          <a:xfrm>
            <a:off x="566928" y="28163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機制</a:t>
            </a:r>
            <a:endParaRPr lang="en-US" sz="1200" dirty="0"/>
          </a:p>
        </p:txBody>
      </p:sp>
      <p:sp>
        <p:nvSpPr>
          <p:cNvPr id="13" name="Text 11"/>
          <p:cNvSpPr txBox="1"/>
          <p:nvPr/>
        </p:nvSpPr>
        <p:spPr>
          <a:xfrm>
            <a:off x="1556537" y="28163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長者增加、家庭縮小，改變誰需要什麼單位、住在什麼樓。</a:t>
            </a:r>
            <a:endParaRPr lang="en-US" sz="1200" dirty="0"/>
          </a:p>
        </p:txBody>
      </p:sp>
      <p:sp>
        <p:nvSpPr>
          <p:cNvPr id="14" name="Shape 12"/>
          <p:cNvSpPr/>
          <p:nvPr/>
        </p:nvSpPr>
        <p:spPr>
          <a:xfrm>
            <a:off x="566928" y="3621024"/>
            <a:ext cx="5349240" cy="12802"/>
          </a:xfrm>
          <a:prstGeom prst="rect">
            <a:avLst/>
          </a:prstGeom>
          <a:solidFill>
            <a:srgbClr val="C72A09"/>
          </a:solidFill>
          <a:ln/>
        </p:spPr>
      </p:sp>
      <p:sp>
        <p:nvSpPr>
          <p:cNvPr id="15" name="Text 13"/>
          <p:cNvSpPr txBox="1"/>
          <p:nvPr/>
        </p:nvSpPr>
        <p:spPr>
          <a:xfrm>
            <a:off x="566928" y="37307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證據</a:t>
            </a:r>
            <a:endParaRPr lang="en-US" sz="1200" dirty="0"/>
          </a:p>
        </p:txBody>
      </p:sp>
      <p:sp>
        <p:nvSpPr>
          <p:cNvPr id="16" name="Text 14"/>
          <p:cNvSpPr txBox="1"/>
          <p:nvPr/>
        </p:nvSpPr>
        <p:spPr>
          <a:xfrm>
            <a:off x="1556537" y="37307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長者住戶 +65.8%（2012/13→2017/18）；戶均人口 3.04 → 2.83；65 歲以上預測 2036 年 19.9%。</a:t>
            </a:r>
            <a:endParaRPr lang="en-US" sz="1200" dirty="0"/>
          </a:p>
        </p:txBody>
      </p:sp>
      <p:sp>
        <p:nvSpPr>
          <p:cNvPr id="17" name="Shape 15"/>
          <p:cNvSpPr/>
          <p:nvPr/>
        </p:nvSpPr>
        <p:spPr>
          <a:xfrm>
            <a:off x="566928" y="4535424"/>
            <a:ext cx="5349240" cy="12802"/>
          </a:xfrm>
          <a:prstGeom prst="rect">
            <a:avLst/>
          </a:prstGeom>
          <a:solidFill>
            <a:srgbClr val="C72A09"/>
          </a:solidFill>
          <a:ln/>
        </p:spPr>
      </p:sp>
      <p:sp>
        <p:nvSpPr>
          <p:cNvPr id="18" name="Text 16"/>
          <p:cNvSpPr txBox="1"/>
          <p:nvPr/>
        </p:nvSpPr>
        <p:spPr>
          <a:xfrm>
            <a:off x="566928" y="46451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限制</a:t>
            </a:r>
            <a:endParaRPr lang="en-US" sz="1200" dirty="0"/>
          </a:p>
        </p:txBody>
      </p:sp>
      <p:sp>
        <p:nvSpPr>
          <p:cNvPr id="19" name="Text 17"/>
          <p:cNvSpPr txBox="1"/>
          <p:nvPr/>
        </p:nvSpPr>
        <p:spPr>
          <a:xfrm>
            <a:off x="1556537" y="46451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長者是否集中於舊區、青年有否家庭支援，未有分區或訪問前數據。</a:t>
            </a:r>
            <a:endParaRPr lang="en-US" sz="1200" dirty="0"/>
          </a:p>
        </p:txBody>
      </p:sp>
      <p:sp>
        <p:nvSpPr>
          <p:cNvPr id="20" name="Shape 18"/>
          <p:cNvSpPr/>
          <p:nvPr/>
        </p:nvSpPr>
        <p:spPr>
          <a:xfrm>
            <a:off x="566928" y="5449824"/>
            <a:ext cx="5349240" cy="12802"/>
          </a:xfrm>
          <a:prstGeom prst="rect">
            <a:avLst/>
          </a:prstGeom>
          <a:solidFill>
            <a:srgbClr val="C72A09"/>
          </a:solidFill>
          <a:ln/>
        </p:spPr>
      </p:sp>
      <p:sp>
        <p:nvSpPr>
          <p:cNvPr id="21" name="Text 19"/>
          <p:cNvSpPr txBox="1"/>
          <p:nvPr/>
        </p:nvSpPr>
        <p:spPr>
          <a:xfrm>
            <a:off x="6281928" y="1554480"/>
            <a:ext cx="5349240" cy="310896"/>
          </a:xfrm>
          <a:prstGeom prst="rect">
            <a:avLst/>
          </a:prstGeom>
          <a:noFill/>
          <a:ln/>
        </p:spPr>
        <p:txBody>
          <a:bodyPr wrap="square" lIns="0" tIns="0" rIns="0" bIns="0" rtlCol="0" anchor="t"/>
          <a:lstStyle/>
          <a:p>
            <a:pPr algn="l" indent="0" marL="0">
              <a:lnSpc>
                <a:spcPct val="125000"/>
              </a:lnSpc>
              <a:buNone/>
            </a:pPr>
            <a:r>
              <a:rPr lang="en-US" sz="1150" b="1" spc="240" kern="0" dirty="0">
                <a:solidFill>
                  <a:srgbClr val="CA0013"/>
                </a:solidFill>
                <a:latin typeface="Microsoft JhengHei" pitchFamily="34" charset="0"/>
                <a:ea typeface="Microsoft JhengHei" pitchFamily="34" charset="-122"/>
                <a:cs typeface="Microsoft JhengHei" pitchFamily="34" charset="-120"/>
              </a:rPr>
              <a:t>因素四</a:t>
            </a:r>
            <a:endParaRPr lang="en-US" sz="1150" dirty="0"/>
          </a:p>
        </p:txBody>
      </p:sp>
      <p:sp>
        <p:nvSpPr>
          <p:cNvPr id="22" name="Text 20"/>
          <p:cNvSpPr txBox="1"/>
          <p:nvPr/>
        </p:nvSpPr>
        <p:spPr>
          <a:xfrm>
            <a:off x="6281928" y="1828800"/>
            <a:ext cx="5349240" cy="457200"/>
          </a:xfrm>
          <a:prstGeom prst="rect">
            <a:avLst/>
          </a:prstGeom>
          <a:noFill/>
          <a:ln/>
        </p:spPr>
        <p:txBody>
          <a:bodyPr wrap="square" lIns="0" tIns="0" rIns="0" bIns="0" rtlCol="0" anchor="t"/>
          <a:lstStyle/>
          <a:p>
            <a:pPr indent="0" marL="0">
              <a:buNone/>
            </a:pPr>
            <a:r>
              <a:rPr lang="en-US" sz="2200" b="1" dirty="0">
                <a:solidFill>
                  <a:srgbClr val="CA0013"/>
                </a:solidFill>
                <a:latin typeface="Microsoft JhengHei" pitchFamily="34" charset="0"/>
                <a:ea typeface="Microsoft JhengHei" pitchFamily="34" charset="-122"/>
                <a:cs typeface="Microsoft JhengHei" pitchFamily="34" charset="-120"/>
              </a:rPr>
              <a:t>地理與物理環境</a:t>
            </a:r>
            <a:endParaRPr lang="en-US" sz="2200" dirty="0"/>
          </a:p>
        </p:txBody>
      </p:sp>
      <p:sp>
        <p:nvSpPr>
          <p:cNvPr id="23" name="Text 21"/>
          <p:cNvSpPr txBox="1"/>
          <p:nvPr/>
        </p:nvSpPr>
        <p:spPr>
          <a:xfrm>
            <a:off x="6281928" y="2331720"/>
            <a:ext cx="5349240" cy="310896"/>
          </a:xfrm>
          <a:prstGeom prst="rect">
            <a:avLst/>
          </a:prstGeom>
          <a:noFill/>
          <a:ln/>
        </p:spPr>
        <p:txBody>
          <a:bodyPr wrap="square" lIns="0" tIns="0" rIns="0" bIns="0" rtlCol="0" anchor="t"/>
          <a:lstStyle/>
          <a:p>
            <a:pPr algn="l" indent="0" marL="0">
              <a:lnSpc>
                <a:spcPct val="125000"/>
              </a:lnSpc>
              <a:buNone/>
            </a:pPr>
            <a:r>
              <a:rPr lang="en-US" sz="1150" b="1" spc="80" kern="0" dirty="0">
                <a:solidFill>
                  <a:srgbClr val="CA0013"/>
                </a:solidFill>
                <a:latin typeface="Microsoft JhengHei" pitchFamily="34" charset="0"/>
                <a:ea typeface="Microsoft JhengHei" pitchFamily="34" charset="-122"/>
                <a:cs typeface="Microsoft JhengHei" pitchFamily="34" charset="-120"/>
              </a:rPr>
              <a:t>土地稀缺與存量老化</a:t>
            </a:r>
            <a:endParaRPr lang="en-US" sz="1150" dirty="0"/>
          </a:p>
        </p:txBody>
      </p:sp>
      <p:sp>
        <p:nvSpPr>
          <p:cNvPr id="24" name="Shape 22"/>
          <p:cNvSpPr/>
          <p:nvPr/>
        </p:nvSpPr>
        <p:spPr>
          <a:xfrm>
            <a:off x="6281928" y="2697480"/>
            <a:ext cx="5349240" cy="18288"/>
          </a:xfrm>
          <a:prstGeom prst="rect">
            <a:avLst/>
          </a:prstGeom>
          <a:solidFill>
            <a:srgbClr val="C72A09"/>
          </a:solidFill>
          <a:ln/>
        </p:spPr>
      </p:sp>
      <p:sp>
        <p:nvSpPr>
          <p:cNvPr id="25" name="Text 23"/>
          <p:cNvSpPr txBox="1"/>
          <p:nvPr/>
        </p:nvSpPr>
        <p:spPr>
          <a:xfrm>
            <a:off x="6281928" y="28163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機制</a:t>
            </a:r>
            <a:endParaRPr lang="en-US" sz="1200" dirty="0"/>
          </a:p>
        </p:txBody>
      </p:sp>
      <p:sp>
        <p:nvSpPr>
          <p:cNvPr id="26" name="Text 24"/>
          <p:cNvSpPr txBox="1"/>
          <p:nvPr/>
        </p:nvSpPr>
        <p:spPr>
          <a:xfrm>
            <a:off x="7271537" y="28163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可建土地有限、填海需時，新供應慢；存量逐年老化，維修更新需求上升。</a:t>
            </a:r>
            <a:endParaRPr lang="en-US" sz="1200" dirty="0"/>
          </a:p>
        </p:txBody>
      </p:sp>
      <p:sp>
        <p:nvSpPr>
          <p:cNvPr id="27" name="Shape 25"/>
          <p:cNvSpPr/>
          <p:nvPr/>
        </p:nvSpPr>
        <p:spPr>
          <a:xfrm>
            <a:off x="6281928" y="3621024"/>
            <a:ext cx="5349240" cy="12802"/>
          </a:xfrm>
          <a:prstGeom prst="rect">
            <a:avLst/>
          </a:prstGeom>
          <a:solidFill>
            <a:srgbClr val="C72A09"/>
          </a:solidFill>
          <a:ln/>
        </p:spPr>
      </p:sp>
      <p:sp>
        <p:nvSpPr>
          <p:cNvPr id="28" name="Text 26"/>
          <p:cNvSpPr txBox="1"/>
          <p:nvPr/>
        </p:nvSpPr>
        <p:spPr>
          <a:xfrm>
            <a:off x="6281928" y="37307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證據</a:t>
            </a:r>
            <a:endParaRPr lang="en-US" sz="1200" dirty="0"/>
          </a:p>
        </p:txBody>
      </p:sp>
      <p:sp>
        <p:nvSpPr>
          <p:cNvPr id="29" name="Text 27"/>
          <p:cNvSpPr txBox="1"/>
          <p:nvPr/>
        </p:nvSpPr>
        <p:spPr>
          <a:xfrm>
            <a:off x="7271537" y="37307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住宅用地約 2.9 平方公里、填海沉澱期 5–8 年（高武洲 2017，2016 年數字）；舊樓約 4,800 幢。</a:t>
            </a:r>
            <a:endParaRPr lang="en-US" sz="1200" dirty="0"/>
          </a:p>
        </p:txBody>
      </p:sp>
      <p:sp>
        <p:nvSpPr>
          <p:cNvPr id="30" name="Shape 28"/>
          <p:cNvSpPr/>
          <p:nvPr/>
        </p:nvSpPr>
        <p:spPr>
          <a:xfrm>
            <a:off x="6281928" y="4535424"/>
            <a:ext cx="5349240" cy="12802"/>
          </a:xfrm>
          <a:prstGeom prst="rect">
            <a:avLst/>
          </a:prstGeom>
          <a:solidFill>
            <a:srgbClr val="C72A09"/>
          </a:solidFill>
          <a:ln/>
        </p:spPr>
      </p:sp>
      <p:sp>
        <p:nvSpPr>
          <p:cNvPr id="31" name="Text 29"/>
          <p:cNvSpPr txBox="1"/>
          <p:nvPr/>
        </p:nvSpPr>
        <p:spPr>
          <a:xfrm>
            <a:off x="6281928" y="4645152"/>
            <a:ext cx="909371" cy="8229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限制</a:t>
            </a:r>
            <a:endParaRPr lang="en-US" sz="1200" dirty="0"/>
          </a:p>
        </p:txBody>
      </p:sp>
      <p:sp>
        <p:nvSpPr>
          <p:cNvPr id="32" name="Text 30"/>
          <p:cNvSpPr txBox="1"/>
          <p:nvPr/>
        </p:nvSpPr>
        <p:spPr>
          <a:xfrm>
            <a:off x="7271537" y="4645152"/>
            <a:ext cx="4359631" cy="8229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土地面積為 2016 年數字；空置成因官方未分項。</a:t>
            </a:r>
            <a:endParaRPr lang="en-US" sz="1200" dirty="0"/>
          </a:p>
        </p:txBody>
      </p:sp>
      <p:sp>
        <p:nvSpPr>
          <p:cNvPr id="33" name="Shape 31"/>
          <p:cNvSpPr/>
          <p:nvPr/>
        </p:nvSpPr>
        <p:spPr>
          <a:xfrm>
            <a:off x="6281928" y="5449824"/>
            <a:ext cx="5349240" cy="12802"/>
          </a:xfrm>
          <a:prstGeom prst="rect">
            <a:avLst/>
          </a:prstGeom>
          <a:solidFill>
            <a:srgbClr val="C72A09"/>
          </a:solidFill>
          <a:ln/>
        </p:spPr>
      </p:sp>
      <p:sp>
        <p:nvSpPr>
          <p:cNvPr id="34" name="Text 32"/>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高武洲（2017）；政策研究 2022；統計暨普查局</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(29)</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第四部分　馬克思理論</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三個透鏡，三個問題</a:t>
            </a:r>
            <a:endParaRPr lang="en-US" sz="3400" dirty="0"/>
          </a:p>
        </p:txBody>
      </p:sp>
      <p:sp>
        <p:nvSpPr>
          <p:cNvPr id="8" name="Text 6"/>
          <p:cNvSpPr txBox="1"/>
          <p:nvPr/>
        </p:nvSpPr>
        <p:spPr>
          <a:xfrm>
            <a:off x="566928" y="1600200"/>
            <a:ext cx="252374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透鏡</a:t>
            </a:r>
            <a:endParaRPr lang="en-US" sz="1100" dirty="0"/>
          </a:p>
        </p:txBody>
      </p:sp>
      <p:sp>
        <p:nvSpPr>
          <p:cNvPr id="9" name="Text 7"/>
          <p:cNvSpPr txBox="1"/>
          <p:nvPr/>
        </p:nvSpPr>
        <p:spPr>
          <a:xfrm>
            <a:off x="3218688" y="1600200"/>
            <a:ext cx="266090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問題一　樓價與負擔</a:t>
            </a:r>
            <a:endParaRPr lang="en-US" sz="1100" dirty="0"/>
          </a:p>
        </p:txBody>
      </p:sp>
      <p:sp>
        <p:nvSpPr>
          <p:cNvPr id="10" name="Text 8"/>
          <p:cNvSpPr txBox="1"/>
          <p:nvPr/>
        </p:nvSpPr>
        <p:spPr>
          <a:xfrm>
            <a:off x="6007608" y="1600200"/>
            <a:ext cx="266090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問題二　舊樓與更新</a:t>
            </a:r>
            <a:endParaRPr lang="en-US" sz="1100" dirty="0"/>
          </a:p>
        </p:txBody>
      </p:sp>
      <p:sp>
        <p:nvSpPr>
          <p:cNvPr id="11" name="Text 9"/>
          <p:cNvSpPr txBox="1"/>
          <p:nvPr/>
        </p:nvSpPr>
        <p:spPr>
          <a:xfrm>
            <a:off x="8796528" y="1600200"/>
            <a:ext cx="2825496"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問題三　公共房屋</a:t>
            </a:r>
            <a:endParaRPr lang="en-US" sz="1100" dirty="0"/>
          </a:p>
        </p:txBody>
      </p:sp>
      <p:sp>
        <p:nvSpPr>
          <p:cNvPr id="12" name="Shape 10"/>
          <p:cNvSpPr/>
          <p:nvPr/>
        </p:nvSpPr>
        <p:spPr>
          <a:xfrm>
            <a:off x="566928" y="1947672"/>
            <a:ext cx="11057839" cy="18288"/>
          </a:xfrm>
          <a:prstGeom prst="rect">
            <a:avLst/>
          </a:prstGeom>
          <a:solidFill>
            <a:srgbClr val="C72A09"/>
          </a:solidFill>
          <a:ln/>
        </p:spPr>
      </p:sp>
      <p:sp>
        <p:nvSpPr>
          <p:cNvPr id="13" name="Text 11"/>
          <p:cNvSpPr txBox="1"/>
          <p:nvPr/>
        </p:nvSpPr>
        <p:spPr>
          <a:xfrm>
            <a:off x="566928" y="2039112"/>
            <a:ext cx="2523744" cy="1115568"/>
          </a:xfrm>
          <a:prstGeom prst="rect">
            <a:avLst/>
          </a:prstGeom>
          <a:noFill/>
          <a:ln/>
        </p:spPr>
        <p:txBody>
          <a:bodyPr wrap="square" lIns="0" tIns="0" rIns="0" bIns="0" rtlCol="0" anchor="ctr"/>
          <a:lstStyle/>
          <a:p>
            <a:pPr algn="l" indent="0" marL="0">
              <a:buNone/>
            </a:pPr>
            <a:r>
              <a:rPr lang="en-US" sz="1500" b="1" dirty="0">
                <a:solidFill>
                  <a:srgbClr val="CA0013"/>
                </a:solidFill>
                <a:latin typeface="Microsoft JhengHei" pitchFamily="34" charset="0"/>
                <a:ea typeface="Microsoft JhengHei" pitchFamily="34" charset="-122"/>
                <a:cs typeface="Microsoft JhengHei" pitchFamily="34" charset="-120"/>
              </a:rPr>
              <a:t>商品化</a:t>
            </a:r>
            <a:endParaRPr lang="en-US" sz="1200" dirty="0"/>
          </a:p>
          <a:p>
            <a:pPr algn="l" indent="0" marL="0">
              <a:buNone/>
            </a:pPr>
            <a:r>
              <a:rPr lang="en-US" sz="1050" dirty="0">
                <a:solidFill>
                  <a:srgbClr val="CA0013"/>
                </a:solidFill>
                <a:latin typeface="Microsoft JhengHei" pitchFamily="34" charset="0"/>
                <a:ea typeface="Microsoft JhengHei" pitchFamily="34" charset="-122"/>
                <a:cs typeface="Microsoft JhengHei" pitchFamily="34" charset="-120"/>
              </a:rPr>
              <a:t>住宅既是居所，也是可買賣的資產</a:t>
            </a:r>
            <a:endParaRPr lang="en-US" sz="1200" dirty="0"/>
          </a:p>
        </p:txBody>
      </p:sp>
      <p:sp>
        <p:nvSpPr>
          <p:cNvPr id="14" name="Text 12"/>
          <p:cNvSpPr txBox="1"/>
          <p:nvPr/>
        </p:nvSpPr>
        <p:spPr>
          <a:xfrm>
            <a:off x="3218688" y="2039112"/>
            <a:ext cx="2660904" cy="11155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樓價按資產預期波動；價租比 59 → 43 年，仍高於居住租值</a:t>
            </a:r>
            <a:endParaRPr lang="en-US" sz="1200" dirty="0"/>
          </a:p>
        </p:txBody>
      </p:sp>
      <p:sp>
        <p:nvSpPr>
          <p:cNvPr id="15" name="Text 13"/>
          <p:cNvSpPr txBox="1"/>
          <p:nvPr/>
        </p:nvSpPr>
        <p:spPr>
          <a:xfrm>
            <a:off x="6007608" y="2039112"/>
            <a:ext cx="2660904" cy="11155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更新方案提升「樓宇價值」；重建後價值由市場決定</a:t>
            </a:r>
            <a:endParaRPr lang="en-US" sz="1200" dirty="0"/>
          </a:p>
        </p:txBody>
      </p:sp>
      <p:sp>
        <p:nvSpPr>
          <p:cNvPr id="16" name="Text 14"/>
          <p:cNvSpPr txBox="1"/>
          <p:nvPr/>
        </p:nvSpPr>
        <p:spPr>
          <a:xfrm>
            <a:off x="8796528" y="2039112"/>
            <a:ext cx="2825496" cy="11155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經屋只可售予房屋局；夾屋 16 年後須補價才可轉售</a:t>
            </a:r>
            <a:endParaRPr lang="en-US" sz="1200" dirty="0"/>
          </a:p>
        </p:txBody>
      </p:sp>
      <p:sp>
        <p:nvSpPr>
          <p:cNvPr id="17" name="Shape 15"/>
          <p:cNvSpPr/>
          <p:nvPr/>
        </p:nvSpPr>
        <p:spPr>
          <a:xfrm>
            <a:off x="566928" y="3154680"/>
            <a:ext cx="11057839" cy="12802"/>
          </a:xfrm>
          <a:prstGeom prst="rect">
            <a:avLst/>
          </a:prstGeom>
          <a:solidFill>
            <a:srgbClr val="C72A09"/>
          </a:solidFill>
          <a:ln/>
        </p:spPr>
      </p:sp>
      <p:sp>
        <p:nvSpPr>
          <p:cNvPr id="18" name="Text 16"/>
          <p:cNvSpPr txBox="1"/>
          <p:nvPr/>
        </p:nvSpPr>
        <p:spPr>
          <a:xfrm>
            <a:off x="566928" y="3227832"/>
            <a:ext cx="2523744" cy="1115568"/>
          </a:xfrm>
          <a:prstGeom prst="rect">
            <a:avLst/>
          </a:prstGeom>
          <a:noFill/>
          <a:ln/>
        </p:spPr>
        <p:txBody>
          <a:bodyPr wrap="square" lIns="0" tIns="0" rIns="0" bIns="0" rtlCol="0" anchor="ctr"/>
          <a:lstStyle/>
          <a:p>
            <a:pPr algn="l" indent="0" marL="0">
              <a:buNone/>
            </a:pPr>
            <a:r>
              <a:rPr lang="en-US" sz="1500" b="1" dirty="0">
                <a:solidFill>
                  <a:srgbClr val="CA0013"/>
                </a:solidFill>
                <a:latin typeface="Microsoft JhengHei" pitchFamily="34" charset="0"/>
                <a:ea typeface="Microsoft JhengHei" pitchFamily="34" charset="-122"/>
                <a:cs typeface="Microsoft JhengHei" pitchFamily="34" charset="-120"/>
              </a:rPr>
              <a:t>階級</a:t>
            </a:r>
            <a:endParaRPr lang="en-US" sz="1200" dirty="0"/>
          </a:p>
          <a:p>
            <a:pPr algn="l" indent="0" marL="0">
              <a:buNone/>
            </a:pPr>
            <a:r>
              <a:rPr lang="en-US" sz="1050" dirty="0">
                <a:solidFill>
                  <a:srgbClr val="CA0013"/>
                </a:solidFill>
                <a:latin typeface="Microsoft JhengHei" pitchFamily="34" charset="0"/>
                <a:ea typeface="Microsoft JhengHei" pitchFamily="34" charset="-122"/>
                <a:cs typeface="Microsoft JhengHei" pitchFamily="34" charset="-120"/>
              </a:rPr>
              <a:t>人因與物業的關係而處於不同位置</a:t>
            </a:r>
            <a:endParaRPr lang="en-US" sz="1200" dirty="0"/>
          </a:p>
        </p:txBody>
      </p:sp>
      <p:sp>
        <p:nvSpPr>
          <p:cNvPr id="19" name="Text 17"/>
          <p:cNvSpPr txBox="1"/>
          <p:nvPr/>
        </p:nvSpPr>
        <p:spPr>
          <a:xfrm>
            <a:off x="3218688" y="3227832"/>
            <a:ext cx="2660904" cy="11155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自置 73.4%，租住 19.3%；租戶付租而不積累資產</a:t>
            </a:r>
            <a:endParaRPr lang="en-US" sz="1200" dirty="0"/>
          </a:p>
        </p:txBody>
      </p:sp>
      <p:sp>
        <p:nvSpPr>
          <p:cNvPr id="20" name="Text 18"/>
          <p:cNvSpPr txBox="1"/>
          <p:nvPr/>
        </p:nvSpPr>
        <p:spPr>
          <a:xfrm>
            <a:off x="6007608" y="3227832"/>
            <a:ext cx="2660904" cy="11155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法律保障業權人；承租人於租約失效後可被強制遷出</a:t>
            </a:r>
            <a:endParaRPr lang="en-US" sz="1200" dirty="0"/>
          </a:p>
        </p:txBody>
      </p:sp>
      <p:sp>
        <p:nvSpPr>
          <p:cNvPr id="21" name="Text 19"/>
          <p:cNvSpPr txBox="1"/>
          <p:nvPr/>
        </p:nvSpPr>
        <p:spPr>
          <a:xfrm>
            <a:off x="8796528" y="3227832"/>
            <a:ext cx="2825496" cy="11155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夾心階層：收入超出上限、又買不起私樓</a:t>
            </a:r>
            <a:endParaRPr lang="en-US" sz="1200" dirty="0"/>
          </a:p>
        </p:txBody>
      </p:sp>
      <p:sp>
        <p:nvSpPr>
          <p:cNvPr id="22" name="Shape 20"/>
          <p:cNvSpPr/>
          <p:nvPr/>
        </p:nvSpPr>
        <p:spPr>
          <a:xfrm>
            <a:off x="566928" y="4343400"/>
            <a:ext cx="11057839" cy="12802"/>
          </a:xfrm>
          <a:prstGeom prst="rect">
            <a:avLst/>
          </a:prstGeom>
          <a:solidFill>
            <a:srgbClr val="C72A09"/>
          </a:solidFill>
          <a:ln/>
        </p:spPr>
      </p:sp>
      <p:sp>
        <p:nvSpPr>
          <p:cNvPr id="23" name="Text 21"/>
          <p:cNvSpPr txBox="1"/>
          <p:nvPr/>
        </p:nvSpPr>
        <p:spPr>
          <a:xfrm>
            <a:off x="566928" y="4416552"/>
            <a:ext cx="2523744" cy="1115568"/>
          </a:xfrm>
          <a:prstGeom prst="rect">
            <a:avLst/>
          </a:prstGeom>
          <a:noFill/>
          <a:ln/>
        </p:spPr>
        <p:txBody>
          <a:bodyPr wrap="square" lIns="0" tIns="0" rIns="0" bIns="0" rtlCol="0" anchor="ctr"/>
          <a:lstStyle/>
          <a:p>
            <a:pPr algn="l" indent="0" marL="0">
              <a:buNone/>
            </a:pPr>
            <a:r>
              <a:rPr lang="en-US" sz="1500" b="1" dirty="0">
                <a:solidFill>
                  <a:srgbClr val="CA0013"/>
                </a:solidFill>
                <a:latin typeface="Microsoft JhengHei" pitchFamily="34" charset="0"/>
                <a:ea typeface="Microsoft JhengHei" pitchFamily="34" charset="-122"/>
                <a:cs typeface="Microsoft JhengHei" pitchFamily="34" charset="-120"/>
              </a:rPr>
              <a:t>國家</a:t>
            </a:r>
            <a:endParaRPr lang="en-US" sz="1200" dirty="0"/>
          </a:p>
          <a:p>
            <a:pPr algn="l" indent="0" marL="0">
              <a:buNone/>
            </a:pPr>
            <a:r>
              <a:rPr lang="en-US" sz="1050" dirty="0">
                <a:solidFill>
                  <a:srgbClr val="CA0013"/>
                </a:solidFill>
                <a:latin typeface="Microsoft JhengHei" pitchFamily="34" charset="0"/>
                <a:ea typeface="Microsoft JhengHei" pitchFamily="34" charset="-122"/>
                <a:cs typeface="Microsoft JhengHei" pitchFamily="34" charset="-120"/>
              </a:rPr>
              <a:t>提供住房以維持再生產，並維護資本積累的秩序</a:t>
            </a:r>
            <a:endParaRPr lang="en-US" sz="1200" dirty="0"/>
          </a:p>
        </p:txBody>
      </p:sp>
      <p:sp>
        <p:nvSpPr>
          <p:cNvPr id="24" name="Text 22"/>
          <p:cNvSpPr txBox="1"/>
          <p:nvPr/>
        </p:nvSpPr>
        <p:spPr>
          <a:xfrm>
            <a:off x="3218688" y="4416552"/>
            <a:ext cx="2660904" cy="11155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成數 70% → 80% 降低首期、增加月供；新批按揭 +24.7%</a:t>
            </a:r>
            <a:endParaRPr lang="en-US" sz="1200" dirty="0"/>
          </a:p>
        </p:txBody>
      </p:sp>
      <p:sp>
        <p:nvSpPr>
          <p:cNvPr id="25" name="Text 23"/>
          <p:cNvSpPr txBox="1"/>
          <p:nvPr/>
        </p:nvSpPr>
        <p:spPr>
          <a:xfrm>
            <a:off x="6007608" y="4416552"/>
            <a:ext cx="2660904" cy="11155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都更由業主決定；暫住房 2,803 個，置換房餘 1,700 多個</a:t>
            </a:r>
            <a:endParaRPr lang="en-US" sz="1200" dirty="0"/>
          </a:p>
        </p:txBody>
      </p:sp>
      <p:sp>
        <p:nvSpPr>
          <p:cNvPr id="26" name="Text 24"/>
          <p:cNvSpPr txBox="1"/>
          <p:nvPr/>
        </p:nvSpPr>
        <p:spPr>
          <a:xfrm>
            <a:off x="8796528" y="4416552"/>
            <a:ext cx="2825496" cy="1115568"/>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社屋設入息資產上限與退場機制；夾屋法已立、單位未到</a:t>
            </a:r>
            <a:endParaRPr lang="en-US" sz="1200" dirty="0"/>
          </a:p>
        </p:txBody>
      </p:sp>
      <p:sp>
        <p:nvSpPr>
          <p:cNvPr id="27" name="Shape 25"/>
          <p:cNvSpPr/>
          <p:nvPr/>
        </p:nvSpPr>
        <p:spPr>
          <a:xfrm>
            <a:off x="566928" y="5532120"/>
            <a:ext cx="11057839" cy="12802"/>
          </a:xfrm>
          <a:prstGeom prst="rect">
            <a:avLst/>
          </a:prstGeom>
          <a:solidFill>
            <a:srgbClr val="C72A09"/>
          </a:solidFill>
          <a:ln/>
        </p:spPr>
      </p:sp>
      <p:sp>
        <p:nvSpPr>
          <p:cNvPr id="28" name="Text 26"/>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本組整理；數據出處見前文各頁</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(30)</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第四部分　馬克思理論　·　透鏡一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商品化：居所變成資產</a:t>
            </a:r>
            <a:endParaRPr lang="en-US" sz="3400" dirty="0"/>
          </a:p>
        </p:txBody>
      </p:sp>
      <p:graphicFrame>
        <p:nvGraphicFramePr>
          <p:cNvPr id="8" name="Chart 0" descr=""/>
          <p:cNvGraphicFramePr/>
          <p:nvPr/>
        </p:nvGraphicFramePr>
        <p:xfrm>
          <a:off x="566928" y="160020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66928" y="4754880"/>
            <a:ext cx="4754880" cy="310896"/>
          </a:xfrm>
          <a:prstGeom prst="rect">
            <a:avLst/>
          </a:prstGeom>
          <a:noFill/>
          <a:ln/>
        </p:spPr>
        <p:txBody>
          <a:bodyPr wrap="square" lIns="0" tIns="0" rIns="0" bIns="0" rtlCol="0" anchor="t"/>
          <a:lstStyle/>
          <a:p>
            <a:pPr algn="l" indent="0" marL="0">
              <a:lnSpc>
                <a:spcPct val="125000"/>
              </a:lnSpc>
              <a:buNone/>
            </a:pPr>
            <a:r>
              <a:rPr lang="en-US" sz="1050" b="1" spc="60" kern="0" dirty="0">
                <a:solidFill>
                  <a:srgbClr val="CA0013"/>
                </a:solidFill>
                <a:latin typeface="Microsoft JhengHei" pitchFamily="34" charset="0"/>
                <a:ea typeface="Microsoft JhengHei" pitchFamily="34" charset="-122"/>
                <a:cs typeface="Microsoft JhengHei" pitchFamily="34" charset="-120"/>
              </a:rPr>
              <a:t>價租比（年）＝每平方米均價 ÷ 全年租金</a:t>
            </a:r>
            <a:endParaRPr lang="en-US" sz="1050" dirty="0"/>
          </a:p>
        </p:txBody>
      </p:sp>
      <p:sp>
        <p:nvSpPr>
          <p:cNvPr id="10" name="Text 7"/>
          <p:cNvSpPr txBox="1"/>
          <p:nvPr/>
        </p:nvSpPr>
        <p:spPr>
          <a:xfrm>
            <a:off x="566928" y="5074920"/>
            <a:ext cx="4754880" cy="548640"/>
          </a:xfrm>
          <a:prstGeom prst="rect">
            <a:avLst/>
          </a:prstGeom>
          <a:noFill/>
          <a:ln/>
        </p:spPr>
        <p:txBody>
          <a:bodyPr wrap="square" lIns="0" tIns="0" rIns="0" bIns="0" rtlCol="0" anchor="t"/>
          <a:lstStyle/>
          <a:p>
            <a:pPr indent="0" marL="0">
              <a:lnSpc>
                <a:spcPct val="140000"/>
              </a:lnSpc>
              <a:buNone/>
            </a:pPr>
            <a:r>
              <a:rPr lang="en-US" sz="1100" dirty="0">
                <a:solidFill>
                  <a:srgbClr val="CA0013"/>
                </a:solidFill>
                <a:latin typeface="Microsoft JhengHei" pitchFamily="34" charset="0"/>
                <a:ea typeface="Microsoft JhengHei" pitchFamily="34" charset="-122"/>
                <a:cs typeface="Microsoft JhengHei" pitchFamily="34" charset="-120"/>
              </a:rPr>
              <a:t>價格為成交均價、租金為租約申報均價，口徑不同，只作粗略指標。</a:t>
            </a:r>
            <a:endParaRPr lang="en-US" sz="1100" dirty="0"/>
          </a:p>
        </p:txBody>
      </p:sp>
      <p:sp>
        <p:nvSpPr>
          <p:cNvPr id="11" name="Text 8"/>
          <p:cNvSpPr txBox="1"/>
          <p:nvPr/>
        </p:nvSpPr>
        <p:spPr>
          <a:xfrm>
            <a:off x="5852160" y="1645920"/>
            <a:ext cx="864108"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理論</a:t>
            </a:r>
            <a:endParaRPr lang="en-US" sz="1100" dirty="0"/>
          </a:p>
        </p:txBody>
      </p:sp>
      <p:sp>
        <p:nvSpPr>
          <p:cNvPr id="12" name="Text 9"/>
          <p:cNvSpPr txBox="1"/>
          <p:nvPr/>
        </p:nvSpPr>
        <p:spPr>
          <a:xfrm>
            <a:off x="6802679" y="1645920"/>
            <a:ext cx="4810201"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商品有使用價值，也有交換價值；當交換價值支配使用價值，住宅便按資產價值而非居住需要定價。</a:t>
            </a:r>
            <a:endParaRPr lang="en-US" sz="1100" dirty="0"/>
          </a:p>
        </p:txBody>
      </p:sp>
      <p:sp>
        <p:nvSpPr>
          <p:cNvPr id="13" name="Shape 10"/>
          <p:cNvSpPr/>
          <p:nvPr/>
        </p:nvSpPr>
        <p:spPr>
          <a:xfrm>
            <a:off x="5852160" y="2322576"/>
            <a:ext cx="5760720" cy="12802"/>
          </a:xfrm>
          <a:prstGeom prst="rect">
            <a:avLst/>
          </a:prstGeom>
          <a:solidFill>
            <a:srgbClr val="C72A09"/>
          </a:solidFill>
          <a:ln/>
        </p:spPr>
      </p:sp>
      <p:sp>
        <p:nvSpPr>
          <p:cNvPr id="14" name="Text 11"/>
          <p:cNvSpPr txBox="1"/>
          <p:nvPr/>
        </p:nvSpPr>
        <p:spPr>
          <a:xfrm>
            <a:off x="5852160" y="2432304"/>
            <a:ext cx="864108"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問題一</a:t>
            </a:r>
            <a:endParaRPr lang="en-US" sz="1100" dirty="0"/>
          </a:p>
        </p:txBody>
      </p:sp>
      <p:sp>
        <p:nvSpPr>
          <p:cNvPr id="15" name="Text 12"/>
          <p:cNvSpPr txBox="1"/>
          <p:nvPr/>
        </p:nvSpPr>
        <p:spPr>
          <a:xfrm>
            <a:off x="6802679" y="2432304"/>
            <a:ext cx="4810201"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價租比 59 → 43 年：買樓的價格仍遠高於同一單位的租住價值，可理解為價格含有資產預期（推論）。</a:t>
            </a:r>
            <a:endParaRPr lang="en-US" sz="1100" dirty="0"/>
          </a:p>
        </p:txBody>
      </p:sp>
      <p:sp>
        <p:nvSpPr>
          <p:cNvPr id="16" name="Shape 13"/>
          <p:cNvSpPr/>
          <p:nvPr/>
        </p:nvSpPr>
        <p:spPr>
          <a:xfrm>
            <a:off x="5852160" y="3108960"/>
            <a:ext cx="5760720" cy="12802"/>
          </a:xfrm>
          <a:prstGeom prst="rect">
            <a:avLst/>
          </a:prstGeom>
          <a:solidFill>
            <a:srgbClr val="C72A09"/>
          </a:solidFill>
          <a:ln/>
        </p:spPr>
      </p:sp>
      <p:sp>
        <p:nvSpPr>
          <p:cNvPr id="17" name="Text 14"/>
          <p:cNvSpPr txBox="1"/>
          <p:nvPr/>
        </p:nvSpPr>
        <p:spPr>
          <a:xfrm>
            <a:off x="5852160" y="3218688"/>
            <a:ext cx="864108"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問題二</a:t>
            </a:r>
            <a:endParaRPr lang="en-US" sz="1100" dirty="0"/>
          </a:p>
        </p:txBody>
      </p:sp>
      <p:sp>
        <p:nvSpPr>
          <p:cNvPr id="18" name="Text 15"/>
          <p:cNvSpPr txBox="1"/>
          <p:nvPr/>
        </p:nvSpPr>
        <p:spPr>
          <a:xfrm>
            <a:off x="6802679" y="3218688"/>
            <a:ext cx="4810201"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祐漢方案以「存量優化」提升「樓宇價值」；重建後單位的資產價值由市場決定（推論）。</a:t>
            </a:r>
            <a:endParaRPr lang="en-US" sz="1100" dirty="0"/>
          </a:p>
        </p:txBody>
      </p:sp>
      <p:sp>
        <p:nvSpPr>
          <p:cNvPr id="19" name="Shape 16"/>
          <p:cNvSpPr/>
          <p:nvPr/>
        </p:nvSpPr>
        <p:spPr>
          <a:xfrm>
            <a:off x="5852160" y="3895344"/>
            <a:ext cx="5760720" cy="12802"/>
          </a:xfrm>
          <a:prstGeom prst="rect">
            <a:avLst/>
          </a:prstGeom>
          <a:solidFill>
            <a:srgbClr val="C72A09"/>
          </a:solidFill>
          <a:ln/>
        </p:spPr>
      </p:sp>
      <p:sp>
        <p:nvSpPr>
          <p:cNvPr id="20" name="Text 17"/>
          <p:cNvSpPr txBox="1"/>
          <p:nvPr/>
        </p:nvSpPr>
        <p:spPr>
          <a:xfrm>
            <a:off x="5852160" y="4005072"/>
            <a:ext cx="864108"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問題三</a:t>
            </a:r>
            <a:endParaRPr lang="en-US" sz="1100" dirty="0"/>
          </a:p>
        </p:txBody>
      </p:sp>
      <p:sp>
        <p:nvSpPr>
          <p:cNvPr id="21" name="Text 18"/>
          <p:cNvSpPr txBox="1"/>
          <p:nvPr/>
        </p:nvSpPr>
        <p:spPr>
          <a:xfrm>
            <a:off x="6802679" y="4005072"/>
            <a:ext cx="4810201"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經屋只可售予房屋局（去商品化）；夾屋 16 年後須補回折讓才可轉售、只售永久居民（有限度商品化）。</a:t>
            </a:r>
            <a:endParaRPr lang="en-US" sz="1100" dirty="0"/>
          </a:p>
        </p:txBody>
      </p:sp>
      <p:sp>
        <p:nvSpPr>
          <p:cNvPr id="22" name="Shape 19"/>
          <p:cNvSpPr/>
          <p:nvPr/>
        </p:nvSpPr>
        <p:spPr>
          <a:xfrm>
            <a:off x="5852160" y="4681728"/>
            <a:ext cx="5760720" cy="12802"/>
          </a:xfrm>
          <a:prstGeom prst="rect">
            <a:avLst/>
          </a:prstGeom>
          <a:solidFill>
            <a:srgbClr val="C72A09"/>
          </a:solidFill>
          <a:ln/>
        </p:spPr>
      </p:sp>
      <p:sp>
        <p:nvSpPr>
          <p:cNvPr id="23" name="Text 20"/>
          <p:cNvSpPr txBox="1"/>
          <p:nvPr/>
        </p:nvSpPr>
        <p:spPr>
          <a:xfrm>
            <a:off x="5852160" y="4791456"/>
            <a:ext cx="864108"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界線</a:t>
            </a:r>
            <a:endParaRPr lang="en-US" sz="1100" dirty="0"/>
          </a:p>
        </p:txBody>
      </p:sp>
      <p:sp>
        <p:nvSpPr>
          <p:cNvPr id="24" name="Text 21"/>
          <p:cNvSpPr txBox="1"/>
          <p:nvPr/>
        </p:nvSpPr>
        <p:spPr>
          <a:xfrm>
            <a:off x="6802679" y="4791456"/>
            <a:ext cx="4810201"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可以證明的是價格與租值的距離，不能證明買家的動機；空置成因官方未分項，不作論證。</a:t>
            </a:r>
            <a:endParaRPr lang="en-US" sz="1100" dirty="0"/>
          </a:p>
        </p:txBody>
      </p:sp>
      <p:sp>
        <p:nvSpPr>
          <p:cNvPr id="25" name="Shape 22"/>
          <p:cNvSpPr/>
          <p:nvPr/>
        </p:nvSpPr>
        <p:spPr>
          <a:xfrm>
            <a:off x="5852160" y="5468112"/>
            <a:ext cx="5760720" cy="12802"/>
          </a:xfrm>
          <a:prstGeom prst="rect">
            <a:avLst/>
          </a:prstGeom>
          <a:solidFill>
            <a:srgbClr val="C72A09"/>
          </a:solidFill>
          <a:ln/>
        </p:spPr>
      </p:sp>
      <p:sp>
        <p:nvSpPr>
          <p:cNvPr id="26" name="Text 23"/>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統計暨普查局；都更公司；政策研究 2022；本組推算</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(31)</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pic>
        <p:nvPicPr>
          <p:cNvPr id="6" name="Image 0" descr="img/image12.jpeg">    </p:cNvPr>
          <p:cNvPicPr>
            <a:picLocks noChangeAspect="1"/>
          </p:cNvPicPr>
          <p:nvPr/>
        </p:nvPicPr>
        <p:blipFill>
          <a:blip r:embed="rId1"/>
          <a:srcRect l="0" r="0" t="0" b="0"/>
          <a:stretch/>
        </p:blipFill>
        <p:spPr>
          <a:xfrm>
            <a:off x="8869680" y="0"/>
            <a:ext cx="3322015" cy="5806440"/>
          </a:xfrm>
          <a:prstGeom prst="rect">
            <a:avLst/>
          </a:prstGeom>
        </p:spPr>
      </p:pic>
      <p:sp>
        <p:nvSpPr>
          <p:cNvPr id="7"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第四部分　馬克思理論　·　透鏡二</a:t>
            </a:r>
            <a:endParaRPr lang="en-US" sz="1200" dirty="0"/>
          </a:p>
        </p:txBody>
      </p:sp>
      <p:sp>
        <p:nvSpPr>
          <p:cNvPr id="8" name="Text 5"/>
          <p:cNvSpPr txBox="1"/>
          <p:nvPr/>
        </p:nvSpPr>
        <p:spPr>
          <a:xfrm>
            <a:off x="566928" y="749808"/>
            <a:ext cx="795528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階級：有物業與沒有物業</a:t>
            </a:r>
            <a:endParaRPr lang="en-US" sz="3400" dirty="0"/>
          </a:p>
        </p:txBody>
      </p:sp>
      <p:sp>
        <p:nvSpPr>
          <p:cNvPr id="9" name="Text 6"/>
          <p:cNvSpPr txBox="1"/>
          <p:nvPr/>
        </p:nvSpPr>
        <p:spPr>
          <a:xfrm>
            <a:off x="566928" y="1600200"/>
            <a:ext cx="1336853" cy="47548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理論</a:t>
            </a:r>
            <a:endParaRPr lang="en-US" sz="1100" dirty="0"/>
          </a:p>
        </p:txBody>
      </p:sp>
      <p:sp>
        <p:nvSpPr>
          <p:cNvPr id="10" name="Text 7"/>
          <p:cNvSpPr txBox="1"/>
          <p:nvPr/>
        </p:nvSpPr>
        <p:spPr>
          <a:xfrm>
            <a:off x="2021738" y="1600200"/>
            <a:ext cx="6409030" cy="47548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階級是人與資產的關係：有物業者在升值中獲益，無物業者付租而不積累資產。</a:t>
            </a:r>
            <a:endParaRPr lang="en-US" sz="1100" dirty="0"/>
          </a:p>
        </p:txBody>
      </p:sp>
      <p:sp>
        <p:nvSpPr>
          <p:cNvPr id="11" name="Shape 8"/>
          <p:cNvSpPr/>
          <p:nvPr/>
        </p:nvSpPr>
        <p:spPr>
          <a:xfrm>
            <a:off x="566928" y="2057400"/>
            <a:ext cx="7863840" cy="12802"/>
          </a:xfrm>
          <a:prstGeom prst="rect">
            <a:avLst/>
          </a:prstGeom>
          <a:solidFill>
            <a:srgbClr val="C72A09"/>
          </a:solidFill>
          <a:ln/>
        </p:spPr>
      </p:sp>
      <p:sp>
        <p:nvSpPr>
          <p:cNvPr id="12" name="Text 9"/>
          <p:cNvSpPr txBox="1"/>
          <p:nvPr/>
        </p:nvSpPr>
        <p:spPr>
          <a:xfrm>
            <a:off x="566928" y="2167128"/>
            <a:ext cx="1336853" cy="47548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自置與租住</a:t>
            </a:r>
            <a:endParaRPr lang="en-US" sz="1100" dirty="0"/>
          </a:p>
        </p:txBody>
      </p:sp>
      <p:sp>
        <p:nvSpPr>
          <p:cNvPr id="13" name="Text 10"/>
          <p:cNvSpPr txBox="1"/>
          <p:nvPr/>
        </p:nvSpPr>
        <p:spPr>
          <a:xfrm>
            <a:off x="2021738" y="2167128"/>
            <a:ext cx="6409030" cy="47548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自置 73.4%（148,091 戶），租住 39,148 戶（19.3%）（2021 人口普查）</a:t>
            </a:r>
            <a:endParaRPr lang="en-US" sz="1100" dirty="0"/>
          </a:p>
        </p:txBody>
      </p:sp>
      <p:sp>
        <p:nvSpPr>
          <p:cNvPr id="14" name="Shape 11"/>
          <p:cNvSpPr/>
          <p:nvPr/>
        </p:nvSpPr>
        <p:spPr>
          <a:xfrm>
            <a:off x="566928" y="2624328"/>
            <a:ext cx="7863840" cy="12802"/>
          </a:xfrm>
          <a:prstGeom prst="rect">
            <a:avLst/>
          </a:prstGeom>
          <a:solidFill>
            <a:srgbClr val="C72A09"/>
          </a:solidFill>
          <a:ln/>
        </p:spPr>
      </p:sp>
      <p:sp>
        <p:nvSpPr>
          <p:cNvPr id="15" name="Text 12"/>
          <p:cNvSpPr txBox="1"/>
          <p:nvPr/>
        </p:nvSpPr>
        <p:spPr>
          <a:xfrm>
            <a:off x="566928" y="2734056"/>
            <a:ext cx="1336853" cy="47548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租金梯度</a:t>
            </a:r>
            <a:endParaRPr lang="en-US" sz="1100" dirty="0"/>
          </a:p>
        </p:txBody>
      </p:sp>
      <p:sp>
        <p:nvSpPr>
          <p:cNvPr id="16" name="Text 13"/>
          <p:cNvSpPr txBox="1"/>
          <p:nvPr/>
        </p:nvSpPr>
        <p:spPr>
          <a:xfrm>
            <a:off x="2021738" y="2734056"/>
            <a:ext cx="6409030" cy="47548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舊樓租金 119 元、新樓 182 元；小單位（少於 50 平方米）售價最低而租金最高（168 元）</a:t>
            </a:r>
            <a:endParaRPr lang="en-US" sz="1100" dirty="0"/>
          </a:p>
        </p:txBody>
      </p:sp>
      <p:sp>
        <p:nvSpPr>
          <p:cNvPr id="17" name="Shape 14"/>
          <p:cNvSpPr/>
          <p:nvPr/>
        </p:nvSpPr>
        <p:spPr>
          <a:xfrm>
            <a:off x="566928" y="3191256"/>
            <a:ext cx="7863840" cy="12802"/>
          </a:xfrm>
          <a:prstGeom prst="rect">
            <a:avLst/>
          </a:prstGeom>
          <a:solidFill>
            <a:srgbClr val="C72A09"/>
          </a:solidFill>
          <a:ln/>
        </p:spPr>
      </p:sp>
      <p:sp>
        <p:nvSpPr>
          <p:cNvPr id="18" name="Text 15"/>
          <p:cNvSpPr txBox="1"/>
          <p:nvPr/>
        </p:nvSpPr>
        <p:spPr>
          <a:xfrm>
            <a:off x="566928" y="3300984"/>
            <a:ext cx="1336853" cy="47548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青年</a:t>
            </a:r>
            <a:endParaRPr lang="en-US" sz="1100" dirty="0"/>
          </a:p>
        </p:txBody>
      </p:sp>
      <p:sp>
        <p:nvSpPr>
          <p:cNvPr id="19" name="Text 16"/>
          <p:cNvSpPr txBox="1"/>
          <p:nvPr/>
        </p:nvSpPr>
        <p:spPr>
          <a:xfrm>
            <a:off x="2021738" y="3300984"/>
            <a:ext cx="6409030" cy="47548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租用私樓 10.6%（2018）→ 23.1%（2024）；住在購買的私樓不等於自己買，是否靠家庭資產待訪問驗證</a:t>
            </a:r>
            <a:endParaRPr lang="en-US" sz="1100" dirty="0"/>
          </a:p>
        </p:txBody>
      </p:sp>
      <p:sp>
        <p:nvSpPr>
          <p:cNvPr id="20" name="Shape 17"/>
          <p:cNvSpPr/>
          <p:nvPr/>
        </p:nvSpPr>
        <p:spPr>
          <a:xfrm>
            <a:off x="566928" y="3758184"/>
            <a:ext cx="7863840" cy="12802"/>
          </a:xfrm>
          <a:prstGeom prst="rect">
            <a:avLst/>
          </a:prstGeom>
          <a:solidFill>
            <a:srgbClr val="C72A09"/>
          </a:solidFill>
          <a:ln/>
        </p:spPr>
      </p:sp>
      <p:sp>
        <p:nvSpPr>
          <p:cNvPr id="21" name="Text 18"/>
          <p:cNvSpPr txBox="1"/>
          <p:nvPr/>
        </p:nvSpPr>
        <p:spPr>
          <a:xfrm>
            <a:off x="566928" y="3867912"/>
            <a:ext cx="1336853" cy="47548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業權人與租戶</a:t>
            </a:r>
            <a:endParaRPr lang="en-US" sz="1100" dirty="0"/>
          </a:p>
        </p:txBody>
      </p:sp>
      <p:sp>
        <p:nvSpPr>
          <p:cNvPr id="22" name="Text 19"/>
          <p:cNvSpPr txBox="1"/>
          <p:nvPr/>
        </p:nvSpPr>
        <p:spPr>
          <a:xfrm>
            <a:off x="2021738" y="3867912"/>
            <a:ext cx="6409030" cy="47548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都更法保障業權人（門檻、仲裁、回遷分配）；承租人於租約失效後可被強制遷出（第 36 條）</a:t>
            </a:r>
            <a:endParaRPr lang="en-US" sz="1100" dirty="0"/>
          </a:p>
        </p:txBody>
      </p:sp>
      <p:sp>
        <p:nvSpPr>
          <p:cNvPr id="23" name="Shape 20"/>
          <p:cNvSpPr/>
          <p:nvPr/>
        </p:nvSpPr>
        <p:spPr>
          <a:xfrm>
            <a:off x="566928" y="4325112"/>
            <a:ext cx="7863840" cy="12802"/>
          </a:xfrm>
          <a:prstGeom prst="rect">
            <a:avLst/>
          </a:prstGeom>
          <a:solidFill>
            <a:srgbClr val="C72A09"/>
          </a:solidFill>
          <a:ln/>
        </p:spPr>
      </p:sp>
      <p:sp>
        <p:nvSpPr>
          <p:cNvPr id="24" name="Text 21"/>
          <p:cNvSpPr txBox="1"/>
          <p:nvPr/>
        </p:nvSpPr>
        <p:spPr>
          <a:xfrm>
            <a:off x="566928" y="4434840"/>
            <a:ext cx="1336853" cy="47548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租隙提示</a:t>
            </a:r>
            <a:endParaRPr lang="en-US" sz="1100" dirty="0"/>
          </a:p>
        </p:txBody>
      </p:sp>
      <p:sp>
        <p:nvSpPr>
          <p:cNvPr id="25" name="Text 22"/>
          <p:cNvSpPr txBox="1"/>
          <p:nvPr/>
        </p:nvSpPr>
        <p:spPr>
          <a:xfrm>
            <a:off x="2021738" y="4434840"/>
            <a:ext cx="6409030" cy="47548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黑沙環及祐漢區租金 121 元、黑沙環新填海區 165 元，差約 36%；只作粗略代理，不是租隙的正式計算</a:t>
            </a:r>
            <a:endParaRPr lang="en-US" sz="1100" dirty="0"/>
          </a:p>
        </p:txBody>
      </p:sp>
      <p:sp>
        <p:nvSpPr>
          <p:cNvPr id="26" name="Shape 23"/>
          <p:cNvSpPr/>
          <p:nvPr/>
        </p:nvSpPr>
        <p:spPr>
          <a:xfrm>
            <a:off x="566928" y="4892040"/>
            <a:ext cx="7863840" cy="12802"/>
          </a:xfrm>
          <a:prstGeom prst="rect">
            <a:avLst/>
          </a:prstGeom>
          <a:solidFill>
            <a:srgbClr val="C72A09"/>
          </a:solidFill>
          <a:ln/>
        </p:spPr>
      </p:sp>
      <p:sp>
        <p:nvSpPr>
          <p:cNvPr id="27" name="Text 24"/>
          <p:cNvSpPr txBox="1"/>
          <p:nvPr/>
        </p:nvSpPr>
        <p:spPr>
          <a:xfrm>
            <a:off x="566928" y="5001768"/>
            <a:ext cx="1336853" cy="47548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風險提示</a:t>
            </a:r>
            <a:endParaRPr lang="en-US" sz="1100" dirty="0"/>
          </a:p>
        </p:txBody>
      </p:sp>
      <p:sp>
        <p:nvSpPr>
          <p:cNvPr id="28" name="Text 25"/>
          <p:cNvSpPr txBox="1"/>
          <p:nvPr/>
        </p:nvSpPr>
        <p:spPr>
          <a:xfrm>
            <a:off x="2021738" y="5001768"/>
            <a:ext cx="6409030" cy="47548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剝奪式積累（Harvey）：若補償或安置不足，更新的增值可能由資本取得；本組未有證據顯示已發生</a:t>
            </a:r>
            <a:endParaRPr lang="en-US" sz="1100" dirty="0"/>
          </a:p>
        </p:txBody>
      </p:sp>
      <p:sp>
        <p:nvSpPr>
          <p:cNvPr id="29" name="Shape 26"/>
          <p:cNvSpPr/>
          <p:nvPr/>
        </p:nvSpPr>
        <p:spPr>
          <a:xfrm>
            <a:off x="566928" y="5458968"/>
            <a:ext cx="7863840" cy="12802"/>
          </a:xfrm>
          <a:prstGeom prst="rect">
            <a:avLst/>
          </a:prstGeom>
          <a:solidFill>
            <a:srgbClr val="C72A09"/>
          </a:solidFill>
          <a:ln/>
        </p:spPr>
      </p:sp>
      <p:sp>
        <p:nvSpPr>
          <p:cNvPr id="30" name="Text 27"/>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統計暨普查局；教青局；第 18/2022 號法律；Harvey (1978)；Smith (1979)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(32)</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第四部分　馬克思理論　·　透鏡三</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國家：提供與調節，有邊界</a:t>
            </a:r>
            <a:endParaRPr lang="en-US" sz="3400" dirty="0"/>
          </a:p>
        </p:txBody>
      </p:sp>
      <p:sp>
        <p:nvSpPr>
          <p:cNvPr id="8" name="Text 6"/>
          <p:cNvSpPr txBox="1"/>
          <p:nvPr/>
        </p:nvSpPr>
        <p:spPr>
          <a:xfrm>
            <a:off x="566928" y="1645920"/>
            <a:ext cx="946404"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理論</a:t>
            </a:r>
            <a:endParaRPr lang="en-US" sz="1100" dirty="0"/>
          </a:p>
        </p:txBody>
      </p:sp>
      <p:sp>
        <p:nvSpPr>
          <p:cNvPr id="9" name="Text 7"/>
          <p:cNvSpPr txBox="1"/>
          <p:nvPr/>
        </p:nvSpPr>
        <p:spPr>
          <a:xfrm>
            <a:off x="1607972" y="1645920"/>
            <a:ext cx="5268316"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國家提供住房以維持勞動力再生產，同時維護資本積累的秩序，介入有雙重性。</a:t>
            </a:r>
            <a:endParaRPr lang="en-US" sz="1100" dirty="0"/>
          </a:p>
        </p:txBody>
      </p:sp>
      <p:sp>
        <p:nvSpPr>
          <p:cNvPr id="10" name="Shape 8"/>
          <p:cNvSpPr/>
          <p:nvPr/>
        </p:nvSpPr>
        <p:spPr>
          <a:xfrm>
            <a:off x="566928" y="2322576"/>
            <a:ext cx="6309360" cy="12802"/>
          </a:xfrm>
          <a:prstGeom prst="rect">
            <a:avLst/>
          </a:prstGeom>
          <a:solidFill>
            <a:srgbClr val="C72A09"/>
          </a:solidFill>
          <a:ln/>
        </p:spPr>
      </p:sp>
      <p:sp>
        <p:nvSpPr>
          <p:cNvPr id="11" name="Text 9"/>
          <p:cNvSpPr txBox="1"/>
          <p:nvPr/>
        </p:nvSpPr>
        <p:spPr>
          <a:xfrm>
            <a:off x="566928" y="2432304"/>
            <a:ext cx="946404"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提供</a:t>
            </a:r>
            <a:endParaRPr lang="en-US" sz="1100" dirty="0"/>
          </a:p>
        </p:txBody>
      </p:sp>
      <p:sp>
        <p:nvSpPr>
          <p:cNvPr id="12" name="Text 10"/>
          <p:cNvSpPr txBox="1"/>
          <p:nvPr/>
        </p:nvSpPr>
        <p:spPr>
          <a:xfrm>
            <a:off x="1607972" y="2432304"/>
            <a:ext cx="5268316"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社屋 15,037 個（6.3%）；經屋三期共 13,686 個；五階梯制度（政策研究 2022）</a:t>
            </a:r>
            <a:endParaRPr lang="en-US" sz="1100" dirty="0"/>
          </a:p>
        </p:txBody>
      </p:sp>
      <p:sp>
        <p:nvSpPr>
          <p:cNvPr id="13" name="Shape 11"/>
          <p:cNvSpPr/>
          <p:nvPr/>
        </p:nvSpPr>
        <p:spPr>
          <a:xfrm>
            <a:off x="566928" y="3108960"/>
            <a:ext cx="6309360" cy="12802"/>
          </a:xfrm>
          <a:prstGeom prst="rect">
            <a:avLst/>
          </a:prstGeom>
          <a:solidFill>
            <a:srgbClr val="C72A09"/>
          </a:solidFill>
          <a:ln/>
        </p:spPr>
      </p:sp>
      <p:sp>
        <p:nvSpPr>
          <p:cNvPr id="14" name="Text 12"/>
          <p:cNvSpPr txBox="1"/>
          <p:nvPr/>
        </p:nvSpPr>
        <p:spPr>
          <a:xfrm>
            <a:off x="566928" y="3218688"/>
            <a:ext cx="946404"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工具</a:t>
            </a:r>
            <a:endParaRPr lang="en-US" sz="1100" dirty="0"/>
          </a:p>
        </p:txBody>
      </p:sp>
      <p:sp>
        <p:nvSpPr>
          <p:cNvPr id="15" name="Text 13"/>
          <p:cNvSpPr txBox="1"/>
          <p:nvPr/>
        </p:nvSpPr>
        <p:spPr>
          <a:xfrm>
            <a:off x="1607972" y="3218688"/>
            <a:ext cx="5268316"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按揭成數 70% → 80%，配合印花稅豁免（2026-01-01）；新批核住宅按揭 2026 首季 +24.7%</a:t>
            </a:r>
            <a:endParaRPr lang="en-US" sz="1100" dirty="0"/>
          </a:p>
        </p:txBody>
      </p:sp>
      <p:sp>
        <p:nvSpPr>
          <p:cNvPr id="16" name="Shape 14"/>
          <p:cNvSpPr/>
          <p:nvPr/>
        </p:nvSpPr>
        <p:spPr>
          <a:xfrm>
            <a:off x="566928" y="3895344"/>
            <a:ext cx="6309360" cy="12802"/>
          </a:xfrm>
          <a:prstGeom prst="rect">
            <a:avLst/>
          </a:prstGeom>
          <a:solidFill>
            <a:srgbClr val="C72A09"/>
          </a:solidFill>
          <a:ln/>
        </p:spPr>
      </p:sp>
      <p:sp>
        <p:nvSpPr>
          <p:cNvPr id="17" name="Text 15"/>
          <p:cNvSpPr txBox="1"/>
          <p:nvPr/>
        </p:nvSpPr>
        <p:spPr>
          <a:xfrm>
            <a:off x="566928" y="4005072"/>
            <a:ext cx="946404"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把關</a:t>
            </a:r>
            <a:endParaRPr lang="en-US" sz="1100" dirty="0"/>
          </a:p>
        </p:txBody>
      </p:sp>
      <p:sp>
        <p:nvSpPr>
          <p:cNvPr id="18" name="Text 16"/>
          <p:cNvSpPr txBox="1"/>
          <p:nvPr/>
        </p:nvSpPr>
        <p:spPr>
          <a:xfrm>
            <a:off x="1607972" y="4005072"/>
            <a:ext cx="5268316"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社屋設入息資產上限，超出加收雙倍至三倍租金；2026 年施政報告：加強巡查監管、嚴格執行退場機制</a:t>
            </a:r>
            <a:endParaRPr lang="en-US" sz="1100" dirty="0"/>
          </a:p>
        </p:txBody>
      </p:sp>
      <p:sp>
        <p:nvSpPr>
          <p:cNvPr id="19" name="Shape 17"/>
          <p:cNvSpPr/>
          <p:nvPr/>
        </p:nvSpPr>
        <p:spPr>
          <a:xfrm>
            <a:off x="566928" y="4681728"/>
            <a:ext cx="6309360" cy="12802"/>
          </a:xfrm>
          <a:prstGeom prst="rect">
            <a:avLst/>
          </a:prstGeom>
          <a:solidFill>
            <a:srgbClr val="C72A09"/>
          </a:solidFill>
          <a:ln/>
        </p:spPr>
      </p:sp>
      <p:sp>
        <p:nvSpPr>
          <p:cNvPr id="20" name="Text 18"/>
          <p:cNvSpPr txBox="1"/>
          <p:nvPr/>
        </p:nvSpPr>
        <p:spPr>
          <a:xfrm>
            <a:off x="566928" y="4791456"/>
            <a:ext cx="946404" cy="694944"/>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界線</a:t>
            </a:r>
            <a:endParaRPr lang="en-US" sz="1100" dirty="0"/>
          </a:p>
        </p:txBody>
      </p:sp>
      <p:sp>
        <p:nvSpPr>
          <p:cNvPr id="21" name="Text 19"/>
          <p:cNvSpPr txBox="1"/>
          <p:nvPr/>
        </p:nvSpPr>
        <p:spPr>
          <a:xfrm>
            <a:off x="1607972" y="4791456"/>
            <a:ext cx="5268316" cy="694944"/>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夾屋 16 年後補價才可轉售；經屋只可售予房屋局：政策在商品化與去商品化之間取捨。</a:t>
            </a:r>
            <a:endParaRPr lang="en-US" sz="1100" dirty="0"/>
          </a:p>
        </p:txBody>
      </p:sp>
      <p:sp>
        <p:nvSpPr>
          <p:cNvPr id="22" name="Shape 20"/>
          <p:cNvSpPr/>
          <p:nvPr/>
        </p:nvSpPr>
        <p:spPr>
          <a:xfrm>
            <a:off x="566928" y="5468112"/>
            <a:ext cx="6309360" cy="12802"/>
          </a:xfrm>
          <a:prstGeom prst="rect">
            <a:avLst/>
          </a:prstGeom>
          <a:solidFill>
            <a:srgbClr val="C72A09"/>
          </a:solidFill>
          <a:ln/>
        </p:spPr>
      </p:sp>
      <p:sp>
        <p:nvSpPr>
          <p:cNvPr id="23" name="Text 21"/>
          <p:cNvSpPr txBox="1"/>
          <p:nvPr/>
        </p:nvSpPr>
        <p:spPr>
          <a:xfrm>
            <a:off x="7315200" y="1691640"/>
            <a:ext cx="4297680" cy="2377440"/>
          </a:xfrm>
          <a:prstGeom prst="rect">
            <a:avLst/>
          </a:prstGeom>
          <a:noFill/>
          <a:ln/>
        </p:spPr>
        <p:txBody>
          <a:bodyPr wrap="square" lIns="0" tIns="0" rIns="0" bIns="0" rtlCol="0" anchor="t"/>
          <a:lstStyle/>
          <a:p>
            <a:pPr indent="0" marL="0">
              <a:lnSpc>
                <a:spcPct val="128000"/>
              </a:lnSpc>
              <a:buNone/>
            </a:pPr>
            <a:r>
              <a:rPr lang="en-US" sz="1600" b="1" dirty="0">
                <a:solidFill>
                  <a:srgbClr val="CA0013"/>
                </a:solidFill>
                <a:latin typeface="Microsoft JhengHei" pitchFamily="34" charset="0"/>
                <a:ea typeface="Microsoft JhengHei" pitchFamily="34" charset="-122"/>
                <a:cs typeface="Microsoft JhengHei" pitchFamily="34" charset="-120"/>
              </a:rPr>
              <a:t>「如果直接轉為面向公眾出售，可能會失去當初作為都市更新用途的政策原意，同時也可能會影響到私人房地產市場」</a:t>
            </a:r>
            <a:endParaRPr lang="en-US" sz="1600" dirty="0"/>
          </a:p>
        </p:txBody>
      </p:sp>
      <p:sp>
        <p:nvSpPr>
          <p:cNvPr id="24" name="Text 22"/>
          <p:cNvSpPr txBox="1"/>
          <p:nvPr/>
        </p:nvSpPr>
        <p:spPr>
          <a:xfrm>
            <a:off x="7315200" y="3291840"/>
            <a:ext cx="4297680" cy="566928"/>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議員高岸聲書面質詢（2026-03）中的陳述，非政府官方立場</a:t>
            </a:r>
            <a:endParaRPr lang="en-US" sz="1200" dirty="0"/>
          </a:p>
        </p:txBody>
      </p:sp>
      <p:sp>
        <p:nvSpPr>
          <p:cNvPr id="25" name="Text 23"/>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政策研究 2022；金管局；三部房屋法例；施政報告 2026；議員質詢</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(33)</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第五部分　紓解措施</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三個方向，三項措施</a:t>
            </a:r>
            <a:endParaRPr lang="en-US" sz="3400" dirty="0"/>
          </a:p>
        </p:txBody>
      </p:sp>
      <p:sp>
        <p:nvSpPr>
          <p:cNvPr id="8" name="Text 6"/>
          <p:cNvSpPr txBox="1"/>
          <p:nvPr/>
        </p:nvSpPr>
        <p:spPr>
          <a:xfrm>
            <a:off x="566928" y="1600200"/>
            <a:ext cx="499262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發現</a:t>
            </a:r>
            <a:endParaRPr lang="en-US" sz="1100" dirty="0"/>
          </a:p>
        </p:txBody>
      </p:sp>
      <p:sp>
        <p:nvSpPr>
          <p:cNvPr id="9" name="Text 7"/>
          <p:cNvSpPr txBox="1"/>
          <p:nvPr/>
        </p:nvSpPr>
        <p:spPr>
          <a:xfrm>
            <a:off x="5687568" y="1600200"/>
            <a:ext cx="325526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對應措施</a:t>
            </a:r>
            <a:endParaRPr lang="en-US" sz="1100" dirty="0"/>
          </a:p>
        </p:txBody>
      </p:sp>
      <p:sp>
        <p:nvSpPr>
          <p:cNvPr id="10" name="Text 8"/>
          <p:cNvSpPr txBox="1"/>
          <p:nvPr/>
        </p:nvSpPr>
        <p:spPr>
          <a:xfrm>
            <a:off x="9070848" y="1600200"/>
            <a:ext cx="2551176"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依據</a:t>
            </a:r>
            <a:endParaRPr lang="en-US" sz="1100" dirty="0"/>
          </a:p>
        </p:txBody>
      </p:sp>
      <p:sp>
        <p:nvSpPr>
          <p:cNvPr id="11" name="Shape 9"/>
          <p:cNvSpPr/>
          <p:nvPr/>
        </p:nvSpPr>
        <p:spPr>
          <a:xfrm>
            <a:off x="566928" y="1947672"/>
            <a:ext cx="11057839" cy="18288"/>
          </a:xfrm>
          <a:prstGeom prst="rect">
            <a:avLst/>
          </a:prstGeom>
          <a:solidFill>
            <a:srgbClr val="C72A09"/>
          </a:solidFill>
          <a:ln/>
        </p:spPr>
      </p:sp>
      <p:sp>
        <p:nvSpPr>
          <p:cNvPr id="12" name="Text 10"/>
          <p:cNvSpPr txBox="1"/>
          <p:nvPr/>
        </p:nvSpPr>
        <p:spPr>
          <a:xfrm>
            <a:off x="566928" y="2039112"/>
            <a:ext cx="4992624" cy="640080"/>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私樓房價高昂：樓價收入比 6.5–9.6 倍；成數升至八成後月供增加；夾屋法已立卻未有單位（問題一、三）</a:t>
            </a:r>
            <a:endParaRPr lang="en-US" sz="1200" dirty="0"/>
          </a:p>
        </p:txBody>
      </p:sp>
      <p:sp>
        <p:nvSpPr>
          <p:cNvPr id="13" name="Text 11"/>
          <p:cNvSpPr txBox="1"/>
          <p:nvPr/>
        </p:nvSpPr>
        <p:spPr>
          <a:xfrm>
            <a:off x="5687568" y="2039112"/>
            <a:ext cx="3255264" cy="640080"/>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措施一　首置支援、夾屋落地與定價</a:t>
            </a:r>
            <a:endParaRPr lang="en-US" sz="1200" dirty="0"/>
          </a:p>
        </p:txBody>
      </p:sp>
      <p:sp>
        <p:nvSpPr>
          <p:cNvPr id="14" name="Text 12"/>
          <p:cNvSpPr txBox="1"/>
          <p:nvPr/>
        </p:nvSpPr>
        <p:spPr>
          <a:xfrm>
            <a:off x="9070848" y="2039112"/>
            <a:ext cx="2551176" cy="640080"/>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2009 年利息補貼與信用擔保；第 17/2023 號法律</a:t>
            </a:r>
            <a:endParaRPr lang="en-US" sz="1200" dirty="0"/>
          </a:p>
        </p:txBody>
      </p:sp>
      <p:sp>
        <p:nvSpPr>
          <p:cNvPr id="15" name="Shape 13"/>
          <p:cNvSpPr/>
          <p:nvPr/>
        </p:nvSpPr>
        <p:spPr>
          <a:xfrm>
            <a:off x="566928" y="2679192"/>
            <a:ext cx="11057839" cy="12802"/>
          </a:xfrm>
          <a:prstGeom prst="rect">
            <a:avLst/>
          </a:prstGeom>
          <a:solidFill>
            <a:srgbClr val="C72A09"/>
          </a:solidFill>
          <a:ln/>
        </p:spPr>
      </p:sp>
      <p:sp>
        <p:nvSpPr>
          <p:cNvPr id="16" name="Text 14"/>
          <p:cNvSpPr txBox="1"/>
          <p:nvPr/>
        </p:nvSpPr>
        <p:spPr>
          <a:xfrm>
            <a:off x="566928" y="2752344"/>
            <a:ext cx="4992624" cy="640080"/>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舊區樓宇老化：三層資料零散；暫住房 2,803 個、置換房 338／2,000+（問題二）</a:t>
            </a:r>
            <a:endParaRPr lang="en-US" sz="1200" dirty="0"/>
          </a:p>
        </p:txBody>
      </p:sp>
      <p:sp>
        <p:nvSpPr>
          <p:cNvPr id="17" name="Text 15"/>
          <p:cNvSpPr txBox="1"/>
          <p:nvPr/>
        </p:nvSpPr>
        <p:spPr>
          <a:xfrm>
            <a:off x="5687568" y="2752344"/>
            <a:ext cx="3255264" cy="640080"/>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措施二　分級公開、維修優先、置換對得上</a:t>
            </a:r>
            <a:endParaRPr lang="en-US" sz="1200" dirty="0"/>
          </a:p>
        </p:txBody>
      </p:sp>
      <p:sp>
        <p:nvSpPr>
          <p:cNvPr id="18" name="Text 16"/>
          <p:cNvSpPr txBox="1"/>
          <p:nvPr/>
        </p:nvSpPr>
        <p:spPr>
          <a:xfrm>
            <a:off x="9070848" y="2752344"/>
            <a:ext cx="2551176" cy="640080"/>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樓宇維修基金修訂（2026-06）；施政報告 2026</a:t>
            </a:r>
            <a:endParaRPr lang="en-US" sz="1200" dirty="0"/>
          </a:p>
        </p:txBody>
      </p:sp>
      <p:sp>
        <p:nvSpPr>
          <p:cNvPr id="19" name="Shape 17"/>
          <p:cNvSpPr/>
          <p:nvPr/>
        </p:nvSpPr>
        <p:spPr>
          <a:xfrm>
            <a:off x="566928" y="3392424"/>
            <a:ext cx="11057839" cy="12802"/>
          </a:xfrm>
          <a:prstGeom prst="rect">
            <a:avLst/>
          </a:prstGeom>
          <a:solidFill>
            <a:srgbClr val="C72A09"/>
          </a:solidFill>
          <a:ln/>
        </p:spPr>
      </p:sp>
      <p:sp>
        <p:nvSpPr>
          <p:cNvPr id="20" name="Text 18"/>
          <p:cNvSpPr txBox="1"/>
          <p:nvPr/>
        </p:nvSpPr>
        <p:spPr>
          <a:xfrm>
            <a:off x="566928" y="3465576"/>
            <a:ext cx="4992624" cy="640080"/>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公屋、社屋被濫用？規則已有，按年公開的查核數字未見；一人家團佔輪候多數（問題三）</a:t>
            </a:r>
            <a:endParaRPr lang="en-US" sz="1200" dirty="0"/>
          </a:p>
        </p:txBody>
      </p:sp>
      <p:sp>
        <p:nvSpPr>
          <p:cNvPr id="21" name="Text 19"/>
          <p:cNvSpPr txBox="1"/>
          <p:nvPr/>
        </p:nvSpPr>
        <p:spPr>
          <a:xfrm>
            <a:off x="5687568" y="3465576"/>
            <a:ext cx="3255264" cy="640080"/>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措施三　公開統計、風險查核、配對分配</a:t>
            </a:r>
            <a:endParaRPr lang="en-US" sz="1200" dirty="0"/>
          </a:p>
        </p:txBody>
      </p:sp>
      <p:sp>
        <p:nvSpPr>
          <p:cNvPr id="22" name="Text 20"/>
          <p:cNvSpPr txBox="1"/>
          <p:nvPr/>
        </p:nvSpPr>
        <p:spPr>
          <a:xfrm>
            <a:off x="9070848" y="3465576"/>
            <a:ext cx="2551176" cy="640080"/>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三部房屋法例；香港房署做法；施政報告 2026</a:t>
            </a:r>
            <a:endParaRPr lang="en-US" sz="1200" dirty="0"/>
          </a:p>
        </p:txBody>
      </p:sp>
      <p:sp>
        <p:nvSpPr>
          <p:cNvPr id="23" name="Shape 21"/>
          <p:cNvSpPr/>
          <p:nvPr/>
        </p:nvSpPr>
        <p:spPr>
          <a:xfrm>
            <a:off x="566928" y="4105656"/>
            <a:ext cx="11057839" cy="12802"/>
          </a:xfrm>
          <a:prstGeom prst="rect">
            <a:avLst/>
          </a:prstGeom>
          <a:solidFill>
            <a:srgbClr val="C72A09"/>
          </a:solidFill>
          <a:ln/>
        </p:spPr>
      </p:sp>
      <p:sp>
        <p:nvSpPr>
          <p:cNvPr id="24" name="Text 22"/>
          <p:cNvSpPr txBox="1"/>
          <p:nvPr/>
        </p:nvSpPr>
        <p:spPr>
          <a:xfrm>
            <a:off x="566928" y="4279392"/>
            <a:ext cx="11057839" cy="411480"/>
          </a:xfrm>
          <a:prstGeom prst="rect">
            <a:avLst/>
          </a:prstGeom>
          <a:noFill/>
          <a:ln/>
        </p:spPr>
        <p:txBody>
          <a:bodyPr wrap="square" lIns="0" tIns="0" rIns="0" bIns="0" rtlCol="0" anchor="ctr"/>
          <a:lstStyle/>
          <a:p>
            <a:pPr indent="0" marL="0">
              <a:buNone/>
            </a:pPr>
            <a:r>
              <a:rPr lang="en-US" sz="1150" b="1" dirty="0">
                <a:solidFill>
                  <a:srgbClr val="CA0013"/>
                </a:solidFill>
                <a:latin typeface="Microsoft JhengHei" pitchFamily="34" charset="0"/>
                <a:ea typeface="Microsoft JhengHei" pitchFamily="34" charset="-122"/>
                <a:cs typeface="Microsoft JhengHei" pitchFamily="34" charset="-120"/>
              </a:rPr>
              <a:t>考慮過、未採納：租金津貼。2008–2022 年有先例；政府回應（2023；2025-05 報道）暫不恢復；租金可能吸收津貼，且不增加供應。</a:t>
            </a:r>
            <a:endParaRPr lang="en-US" sz="1150" dirty="0"/>
          </a:p>
        </p:txBody>
      </p:sp>
      <p:sp>
        <p:nvSpPr>
          <p:cNvPr id="25" name="Shape 23"/>
          <p:cNvSpPr/>
          <p:nvPr/>
        </p:nvSpPr>
        <p:spPr>
          <a:xfrm>
            <a:off x="566928" y="4754880"/>
            <a:ext cx="11057839" cy="914400"/>
          </a:xfrm>
          <a:prstGeom prst="rect">
            <a:avLst/>
          </a:prstGeom>
          <a:solidFill>
            <a:srgbClr val="EEEBE3"/>
          </a:solidFill>
          <a:ln w="12700">
            <a:solidFill>
              <a:srgbClr val="CA0013"/>
            </a:solidFill>
            <a:prstDash val="dash"/>
          </a:ln>
        </p:spPr>
      </p:sp>
      <p:sp>
        <p:nvSpPr>
          <p:cNvPr id="26" name="Text 24"/>
          <p:cNvSpPr txBox="1"/>
          <p:nvPr/>
        </p:nvSpPr>
        <p:spPr>
          <a:xfrm>
            <a:off x="749808" y="4864608"/>
            <a:ext cx="10692079" cy="310896"/>
          </a:xfrm>
          <a:prstGeom prst="rect">
            <a:avLst/>
          </a:prstGeom>
          <a:noFill/>
          <a:ln/>
        </p:spPr>
        <p:txBody>
          <a:bodyPr wrap="square" lIns="0" tIns="0" rIns="0" bIns="0" rtlCol="0" anchor="t"/>
          <a:lstStyle/>
          <a:p>
            <a:pPr algn="l" indent="0" marL="0">
              <a:lnSpc>
                <a:spcPct val="125000"/>
              </a:lnSpc>
              <a:buNone/>
            </a:pPr>
            <a:r>
              <a:rPr lang="en-US" sz="1000" b="1" spc="200" kern="0" dirty="0">
                <a:solidFill>
                  <a:srgbClr val="CA0013"/>
                </a:solidFill>
                <a:latin typeface="Microsoft JhengHei" pitchFamily="34" charset="0"/>
                <a:ea typeface="Microsoft JhengHei" pitchFamily="34" charset="-122"/>
                <a:cs typeface="Microsoft JhengHei" pitchFamily="34" charset="-120"/>
              </a:rPr>
              <a:t>訪問引用位</a:t>
            </a:r>
            <a:endParaRPr lang="en-US" sz="1000" dirty="0"/>
          </a:p>
        </p:txBody>
      </p:sp>
      <p:sp>
        <p:nvSpPr>
          <p:cNvPr id="27" name="Text 25"/>
          <p:cNvSpPr txBox="1"/>
          <p:nvPr/>
        </p:nvSpPr>
        <p:spPr>
          <a:xfrm>
            <a:off x="749808" y="5120640"/>
            <a:ext cx="10692079" cy="274320"/>
          </a:xfrm>
          <a:prstGeom prst="rect">
            <a:avLst/>
          </a:prstGeom>
          <a:noFill/>
          <a:ln/>
        </p:spPr>
        <p:txBody>
          <a:bodyPr wrap="square" lIns="0" tIns="0" rIns="0" bIns="0" rtlCol="0" anchor="t"/>
          <a:lstStyle/>
          <a:p>
            <a:pPr indent="0" marL="0">
              <a:buNone/>
            </a:pPr>
            <a:r>
              <a:rPr lang="en-US" sz="1150" b="1" dirty="0">
                <a:solidFill>
                  <a:srgbClr val="CA0013"/>
                </a:solidFill>
                <a:latin typeface="Microsoft JhengHei" pitchFamily="34" charset="0"/>
                <a:ea typeface="Microsoft JhengHei" pitchFamily="34" charset="-122"/>
                <a:cs typeface="Microsoft JhengHei" pitchFamily="34" charset="-120"/>
              </a:rPr>
              <a:t>受訪者＿＿（政策／社福／地產）</a:t>
            </a:r>
            <a:endParaRPr lang="en-US" sz="1150" dirty="0"/>
          </a:p>
        </p:txBody>
      </p:sp>
      <p:sp>
        <p:nvSpPr>
          <p:cNvPr id="28" name="Text 26"/>
          <p:cNvSpPr txBox="1"/>
          <p:nvPr/>
        </p:nvSpPr>
        <p:spPr>
          <a:xfrm>
            <a:off x="749808" y="5376672"/>
            <a:ext cx="10692079" cy="256032"/>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追問：三項措施哪一項最可行？誰會反對？政府最缺的是資源、資料還是決心？</a:t>
            </a:r>
            <a:endParaRPr lang="en-US" sz="1050" dirty="0"/>
          </a:p>
        </p:txBody>
      </p:sp>
      <p:sp>
        <p:nvSpPr>
          <p:cNvPr id="29" name="Text 27"/>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本組整理</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(34)</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第五部分　紓解措施　·　措施一　針對問題一</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私樓房價高昂：讓中等收入家庭入得到場</a:t>
            </a:r>
            <a:endParaRPr lang="en-US" sz="3400" dirty="0"/>
          </a:p>
        </p:txBody>
      </p:sp>
      <p:sp>
        <p:nvSpPr>
          <p:cNvPr id="8" name="Text 6"/>
          <p:cNvSpPr txBox="1"/>
          <p:nvPr/>
        </p:nvSpPr>
        <p:spPr>
          <a:xfrm>
            <a:off x="566928" y="1600200"/>
            <a:ext cx="690372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具體做法</a:t>
            </a:r>
            <a:endParaRPr lang="en-US" sz="1200" dirty="0"/>
          </a:p>
        </p:txBody>
      </p:sp>
      <p:sp>
        <p:nvSpPr>
          <p:cNvPr id="9" name="Shape 7"/>
          <p:cNvSpPr/>
          <p:nvPr/>
        </p:nvSpPr>
        <p:spPr>
          <a:xfrm>
            <a:off x="566928" y="2002536"/>
            <a:ext cx="6903720" cy="12802"/>
          </a:xfrm>
          <a:prstGeom prst="rect">
            <a:avLst/>
          </a:prstGeom>
          <a:solidFill>
            <a:srgbClr val="C72A09"/>
          </a:solidFill>
          <a:ln/>
        </p:spPr>
      </p:sp>
      <p:sp>
        <p:nvSpPr>
          <p:cNvPr id="10" name="Text 8"/>
          <p:cNvSpPr txBox="1"/>
          <p:nvPr/>
        </p:nvSpPr>
        <p:spPr>
          <a:xfrm>
            <a:off x="566928" y="2130552"/>
            <a:ext cx="1035558" cy="65836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首置支援</a:t>
            </a:r>
            <a:endParaRPr lang="en-US" sz="1100" dirty="0"/>
          </a:p>
        </p:txBody>
      </p:sp>
      <p:sp>
        <p:nvSpPr>
          <p:cNvPr id="11" name="Text 9"/>
          <p:cNvSpPr txBox="1"/>
          <p:nvPr/>
        </p:nvSpPr>
        <p:spPr>
          <a:xfrm>
            <a:off x="1706042" y="2130552"/>
            <a:ext cx="5764606" cy="65836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對象：首次置業、自住的澳門居民家庭，樓價設上限（參考研究採用的 800 萬元）。做法：恢復利息補貼與信用擔保；逐季公布「首期＋月供佔家庭收入比」。</a:t>
            </a:r>
            <a:endParaRPr lang="en-US" sz="1100" dirty="0"/>
          </a:p>
        </p:txBody>
      </p:sp>
      <p:sp>
        <p:nvSpPr>
          <p:cNvPr id="12" name="Shape 10"/>
          <p:cNvSpPr/>
          <p:nvPr/>
        </p:nvSpPr>
        <p:spPr>
          <a:xfrm>
            <a:off x="566928" y="2770632"/>
            <a:ext cx="6903720" cy="12802"/>
          </a:xfrm>
          <a:prstGeom prst="rect">
            <a:avLst/>
          </a:prstGeom>
          <a:solidFill>
            <a:srgbClr val="C72A09"/>
          </a:solidFill>
          <a:ln/>
        </p:spPr>
      </p:sp>
      <p:sp>
        <p:nvSpPr>
          <p:cNvPr id="13" name="Text 11"/>
          <p:cNvSpPr txBox="1"/>
          <p:nvPr/>
        </p:nvSpPr>
        <p:spPr>
          <a:xfrm>
            <a:off x="566928" y="2880360"/>
            <a:ext cx="1035558" cy="658368"/>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夾屋落地</a:t>
            </a:r>
            <a:endParaRPr lang="en-US" sz="1100" dirty="0"/>
          </a:p>
        </p:txBody>
      </p:sp>
      <p:sp>
        <p:nvSpPr>
          <p:cNvPr id="14" name="Text 12"/>
          <p:cNvSpPr txBox="1"/>
          <p:nvPr/>
        </p:nvSpPr>
        <p:spPr>
          <a:xfrm>
            <a:off x="1706042" y="2880360"/>
            <a:ext cx="5764606" cy="658368"/>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建多少：首批約 2,000–3,500 個（約兩年需求）。哪一類：按家團人數對應一至三房。在哪裡：祐漢順利樓北側或其他已規劃用地；須公布選址與開售時間表。</a:t>
            </a:r>
            <a:endParaRPr lang="en-US" sz="1100" dirty="0"/>
          </a:p>
        </p:txBody>
      </p:sp>
      <p:sp>
        <p:nvSpPr>
          <p:cNvPr id="15" name="Shape 13"/>
          <p:cNvSpPr/>
          <p:nvPr/>
        </p:nvSpPr>
        <p:spPr>
          <a:xfrm>
            <a:off x="566928" y="3520440"/>
            <a:ext cx="6903720" cy="12802"/>
          </a:xfrm>
          <a:prstGeom prst="rect">
            <a:avLst/>
          </a:prstGeom>
          <a:solidFill>
            <a:srgbClr val="C72A09"/>
          </a:solidFill>
          <a:ln/>
        </p:spPr>
      </p:sp>
      <p:sp>
        <p:nvSpPr>
          <p:cNvPr id="16" name="Text 14"/>
          <p:cNvSpPr txBox="1"/>
          <p:nvPr/>
        </p:nvSpPr>
        <p:spPr>
          <a:xfrm>
            <a:off x="566928" y="3666744"/>
            <a:ext cx="1005840" cy="310896"/>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夾屋定價</a:t>
            </a:r>
            <a:endParaRPr lang="en-US" sz="1100" dirty="0"/>
          </a:p>
        </p:txBody>
      </p:sp>
      <p:sp>
        <p:nvSpPr>
          <p:cNvPr id="17" name="Text 15"/>
          <p:cNvSpPr txBox="1"/>
          <p:nvPr/>
        </p:nvSpPr>
        <p:spPr>
          <a:xfrm>
            <a:off x="1600200" y="3657600"/>
            <a:ext cx="5870448" cy="274320"/>
          </a:xfrm>
          <a:prstGeom prst="rect">
            <a:avLst/>
          </a:prstGeom>
          <a:noFill/>
          <a:ln/>
        </p:spPr>
        <p:txBody>
          <a:bodyPr wrap="square" lIns="0" tIns="0" rIns="0" bIns="0" rtlCol="0" anchor="t"/>
          <a:lstStyle/>
          <a:p>
            <a:pPr indent="0" marL="0">
              <a:buNone/>
            </a:pPr>
            <a:r>
              <a:rPr lang="en-US" sz="1050" dirty="0">
                <a:solidFill>
                  <a:srgbClr val="CA0013"/>
                </a:solidFill>
                <a:latin typeface="Microsoft JhengHei" pitchFamily="34" charset="0"/>
                <a:ea typeface="Microsoft JhengHei" pitchFamily="34" charset="-122"/>
                <a:cs typeface="Microsoft JhengHei" pitchFamily="34" charset="-120"/>
              </a:rPr>
              <a:t>售價＝相鄰私樓市價 ×（1 − 補價比率 Rc）；示範：65 平方米，市價約 461 萬元</a:t>
            </a:r>
            <a:endParaRPr lang="en-US" sz="1050" dirty="0"/>
          </a:p>
        </p:txBody>
      </p:sp>
      <p:sp>
        <p:nvSpPr>
          <p:cNvPr id="18" name="Text 16"/>
          <p:cNvSpPr txBox="1"/>
          <p:nvPr/>
        </p:nvSpPr>
        <p:spPr>
          <a:xfrm>
            <a:off x="1600200" y="3941064"/>
            <a:ext cx="1472184" cy="310896"/>
          </a:xfrm>
          <a:prstGeom prst="rect">
            <a:avLst/>
          </a:prstGeom>
          <a:noFill/>
          <a:ln/>
        </p:spPr>
        <p:txBody>
          <a:bodyPr wrap="square" lIns="0" tIns="0" rIns="0" bIns="0" rtlCol="0" anchor="ctr"/>
          <a:lstStyle/>
          <a:p>
            <a:pPr algn="l"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補價比率 Rc</a:t>
            </a:r>
            <a:endParaRPr lang="en-US" sz="1100" dirty="0"/>
          </a:p>
        </p:txBody>
      </p:sp>
      <p:sp>
        <p:nvSpPr>
          <p:cNvPr id="19" name="Text 17"/>
          <p:cNvSpPr txBox="1"/>
          <p:nvPr/>
        </p:nvSpPr>
        <p:spPr>
          <a:xfrm>
            <a:off x="3200400" y="3941064"/>
            <a:ext cx="740664" cy="310896"/>
          </a:xfrm>
          <a:prstGeom prst="rect">
            <a:avLst/>
          </a:prstGeom>
          <a:noFill/>
          <a:ln/>
        </p:spPr>
        <p:txBody>
          <a:bodyPr wrap="square" lIns="0" tIns="0" rIns="0" bIns="0" rtlCol="0" anchor="ctr"/>
          <a:lstStyle/>
          <a:p>
            <a:pPr algn="r"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售價</a:t>
            </a:r>
            <a:endParaRPr lang="en-US" sz="1100" dirty="0"/>
          </a:p>
        </p:txBody>
      </p:sp>
      <p:sp>
        <p:nvSpPr>
          <p:cNvPr id="20" name="Text 18"/>
          <p:cNvSpPr txBox="1"/>
          <p:nvPr/>
        </p:nvSpPr>
        <p:spPr>
          <a:xfrm>
            <a:off x="4069080" y="3941064"/>
            <a:ext cx="740664" cy="310896"/>
          </a:xfrm>
          <a:prstGeom prst="rect">
            <a:avLst/>
          </a:prstGeom>
          <a:noFill/>
          <a:ln/>
        </p:spPr>
        <p:txBody>
          <a:bodyPr wrap="square" lIns="0" tIns="0" rIns="0" bIns="0" rtlCol="0" anchor="ctr"/>
          <a:lstStyle/>
          <a:p>
            <a:pPr algn="r"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首期</a:t>
            </a:r>
            <a:endParaRPr lang="en-US" sz="1100" dirty="0"/>
          </a:p>
        </p:txBody>
      </p:sp>
      <p:sp>
        <p:nvSpPr>
          <p:cNvPr id="21" name="Text 19"/>
          <p:cNvSpPr txBox="1"/>
          <p:nvPr/>
        </p:nvSpPr>
        <p:spPr>
          <a:xfrm>
            <a:off x="4937760" y="3941064"/>
            <a:ext cx="832104" cy="310896"/>
          </a:xfrm>
          <a:prstGeom prst="rect">
            <a:avLst/>
          </a:prstGeom>
          <a:noFill/>
          <a:ln/>
        </p:spPr>
        <p:txBody>
          <a:bodyPr wrap="square" lIns="0" tIns="0" rIns="0" bIns="0" rtlCol="0" anchor="ctr"/>
          <a:lstStyle/>
          <a:p>
            <a:pPr algn="r"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月供</a:t>
            </a:r>
            <a:endParaRPr lang="en-US" sz="1100" dirty="0"/>
          </a:p>
        </p:txBody>
      </p:sp>
      <p:sp>
        <p:nvSpPr>
          <p:cNvPr id="22" name="Text 20"/>
          <p:cNvSpPr txBox="1"/>
          <p:nvPr/>
        </p:nvSpPr>
        <p:spPr>
          <a:xfrm>
            <a:off x="5897880" y="3941064"/>
            <a:ext cx="1572768" cy="310896"/>
          </a:xfrm>
          <a:prstGeom prst="rect">
            <a:avLst/>
          </a:prstGeom>
          <a:noFill/>
          <a:ln/>
        </p:spPr>
        <p:txBody>
          <a:bodyPr wrap="square" lIns="0" tIns="0" rIns="0" bIns="0" rtlCol="0" anchor="ctr"/>
          <a:lstStyle/>
          <a:p>
            <a:pPr algn="r" indent="0" marL="0">
              <a:buNone/>
            </a:pPr>
            <a:r>
              <a:rPr lang="en-US" sz="1100" b="1" spc="80" kern="0" dirty="0">
                <a:solidFill>
                  <a:srgbClr val="CA0013"/>
                </a:solidFill>
                <a:latin typeface="Microsoft JhengHei" pitchFamily="34" charset="0"/>
                <a:ea typeface="Microsoft JhengHei" pitchFamily="34" charset="-122"/>
                <a:cs typeface="Microsoft JhengHei" pitchFamily="34" charset="-120"/>
              </a:rPr>
              <a:t>月供佔入息下限</a:t>
            </a:r>
            <a:endParaRPr lang="en-US" sz="1100" dirty="0"/>
          </a:p>
        </p:txBody>
      </p:sp>
      <p:sp>
        <p:nvSpPr>
          <p:cNvPr id="23" name="Shape 21"/>
          <p:cNvSpPr/>
          <p:nvPr/>
        </p:nvSpPr>
        <p:spPr>
          <a:xfrm>
            <a:off x="1600200" y="4288536"/>
            <a:ext cx="5870448" cy="18288"/>
          </a:xfrm>
          <a:prstGeom prst="rect">
            <a:avLst/>
          </a:prstGeom>
          <a:solidFill>
            <a:srgbClr val="C72A09"/>
          </a:solidFill>
          <a:ln/>
        </p:spPr>
      </p:sp>
      <p:sp>
        <p:nvSpPr>
          <p:cNvPr id="24" name="Text 22"/>
          <p:cNvSpPr txBox="1"/>
          <p:nvPr/>
        </p:nvSpPr>
        <p:spPr>
          <a:xfrm>
            <a:off x="1600200" y="4379976"/>
            <a:ext cx="1472184" cy="219456"/>
          </a:xfrm>
          <a:prstGeom prst="rect">
            <a:avLst/>
          </a:prstGeom>
          <a:noFill/>
          <a:ln/>
        </p:spPr>
        <p:txBody>
          <a:bodyPr wrap="square" lIns="0" tIns="0" rIns="0" bIns="0" rtlCol="0" anchor="ctr"/>
          <a:lstStyle/>
          <a:p>
            <a:pPr algn="l" indent="0" marL="0">
              <a:buNone/>
            </a:pPr>
            <a:r>
              <a:rPr lang="en-US" sz="1200" dirty="0">
                <a:solidFill>
                  <a:srgbClr val="CA0013"/>
                </a:solidFill>
                <a:latin typeface="Microsoft JhengHei" pitchFamily="34" charset="0"/>
                <a:ea typeface="Microsoft JhengHei" pitchFamily="34" charset="-122"/>
                <a:cs typeface="Microsoft JhengHei" pitchFamily="34" charset="-120"/>
              </a:rPr>
              <a:t>0%（不折讓）</a:t>
            </a:r>
            <a:endParaRPr lang="en-US" sz="1200" dirty="0"/>
          </a:p>
        </p:txBody>
      </p:sp>
      <p:sp>
        <p:nvSpPr>
          <p:cNvPr id="25" name="Text 23"/>
          <p:cNvSpPr txBox="1"/>
          <p:nvPr/>
        </p:nvSpPr>
        <p:spPr>
          <a:xfrm>
            <a:off x="3200400" y="4379976"/>
            <a:ext cx="740664" cy="219456"/>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461 萬</a:t>
            </a:r>
            <a:endParaRPr lang="en-US" sz="1200" dirty="0"/>
          </a:p>
        </p:txBody>
      </p:sp>
      <p:sp>
        <p:nvSpPr>
          <p:cNvPr id="26" name="Text 24"/>
          <p:cNvSpPr txBox="1"/>
          <p:nvPr/>
        </p:nvSpPr>
        <p:spPr>
          <a:xfrm>
            <a:off x="4069080" y="4379976"/>
            <a:ext cx="740664" cy="219456"/>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92 萬</a:t>
            </a:r>
            <a:endParaRPr lang="en-US" sz="1200" dirty="0"/>
          </a:p>
        </p:txBody>
      </p:sp>
      <p:sp>
        <p:nvSpPr>
          <p:cNvPr id="27" name="Text 25"/>
          <p:cNvSpPr txBox="1"/>
          <p:nvPr/>
        </p:nvSpPr>
        <p:spPr>
          <a:xfrm>
            <a:off x="4937760" y="4379976"/>
            <a:ext cx="832104" cy="219456"/>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17,600 元</a:t>
            </a:r>
            <a:endParaRPr lang="en-US" sz="1200" dirty="0"/>
          </a:p>
        </p:txBody>
      </p:sp>
      <p:sp>
        <p:nvSpPr>
          <p:cNvPr id="28" name="Text 26"/>
          <p:cNvSpPr txBox="1"/>
          <p:nvPr/>
        </p:nvSpPr>
        <p:spPr>
          <a:xfrm>
            <a:off x="5897880" y="4379976"/>
            <a:ext cx="1572768" cy="219456"/>
          </a:xfrm>
          <a:prstGeom prst="rect">
            <a:avLst/>
          </a:prstGeom>
          <a:noFill/>
          <a:ln/>
        </p:spPr>
        <p:txBody>
          <a:bodyPr wrap="square" lIns="0" tIns="0" rIns="0" bIns="0" rtlCol="0" anchor="ctr"/>
          <a:lstStyle/>
          <a:p>
            <a:pPr algn="r" indent="0" marL="0">
              <a:buNone/>
            </a:pPr>
            <a:r>
              <a:rPr lang="en-US" sz="1200" dirty="0">
                <a:solidFill>
                  <a:srgbClr val="CA0013"/>
                </a:solidFill>
                <a:latin typeface="Inter" pitchFamily="34" charset="0"/>
                <a:ea typeface="Inter" pitchFamily="34" charset="-122"/>
                <a:cs typeface="Inter" pitchFamily="34" charset="-120"/>
              </a:rPr>
              <a:t>49%</a:t>
            </a:r>
            <a:endParaRPr lang="en-US" sz="1200" dirty="0"/>
          </a:p>
        </p:txBody>
      </p:sp>
      <p:sp>
        <p:nvSpPr>
          <p:cNvPr id="29" name="Shape 27"/>
          <p:cNvSpPr/>
          <p:nvPr/>
        </p:nvSpPr>
        <p:spPr>
          <a:xfrm>
            <a:off x="1600200" y="4599432"/>
            <a:ext cx="5870448" cy="12802"/>
          </a:xfrm>
          <a:prstGeom prst="rect">
            <a:avLst/>
          </a:prstGeom>
          <a:solidFill>
            <a:srgbClr val="C72A09"/>
          </a:solidFill>
          <a:ln/>
        </p:spPr>
      </p:sp>
      <p:sp>
        <p:nvSpPr>
          <p:cNvPr id="30" name="Text 28"/>
          <p:cNvSpPr txBox="1"/>
          <p:nvPr/>
        </p:nvSpPr>
        <p:spPr>
          <a:xfrm>
            <a:off x="1600200" y="4672584"/>
            <a:ext cx="1472184" cy="219456"/>
          </a:xfrm>
          <a:prstGeom prst="rect">
            <a:avLst/>
          </a:prstGeom>
          <a:noFill/>
          <a:ln/>
        </p:spPr>
        <p:txBody>
          <a:bodyPr wrap="square" lIns="0" tIns="0" rIns="0" bIns="0" rtlCol="0" anchor="ctr"/>
          <a:lstStyle/>
          <a:p>
            <a:pPr algn="l" indent="0" marL="0">
              <a:buNone/>
            </a:pPr>
            <a:r>
              <a:rPr lang="en-US" sz="1300" b="1" dirty="0">
                <a:solidFill>
                  <a:srgbClr val="CA0013"/>
                </a:solidFill>
                <a:latin typeface="Microsoft JhengHei" pitchFamily="34" charset="0"/>
                <a:ea typeface="Microsoft JhengHei" pitchFamily="34" charset="-122"/>
                <a:cs typeface="Microsoft JhengHei" pitchFamily="34" charset="-120"/>
              </a:rPr>
              <a:t>30%</a:t>
            </a:r>
            <a:endParaRPr lang="en-US" sz="1300" dirty="0"/>
          </a:p>
        </p:txBody>
      </p:sp>
      <p:sp>
        <p:nvSpPr>
          <p:cNvPr id="31" name="Text 29"/>
          <p:cNvSpPr txBox="1"/>
          <p:nvPr/>
        </p:nvSpPr>
        <p:spPr>
          <a:xfrm>
            <a:off x="3200400" y="4672584"/>
            <a:ext cx="740664" cy="219456"/>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323 萬</a:t>
            </a:r>
            <a:endParaRPr lang="en-US" sz="1300" dirty="0"/>
          </a:p>
        </p:txBody>
      </p:sp>
      <p:sp>
        <p:nvSpPr>
          <p:cNvPr id="32" name="Text 30"/>
          <p:cNvSpPr txBox="1"/>
          <p:nvPr/>
        </p:nvSpPr>
        <p:spPr>
          <a:xfrm>
            <a:off x="4069080" y="4672584"/>
            <a:ext cx="740664" cy="219456"/>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65 萬</a:t>
            </a:r>
            <a:endParaRPr lang="en-US" sz="1300" dirty="0"/>
          </a:p>
        </p:txBody>
      </p:sp>
      <p:sp>
        <p:nvSpPr>
          <p:cNvPr id="33" name="Text 31"/>
          <p:cNvSpPr txBox="1"/>
          <p:nvPr/>
        </p:nvSpPr>
        <p:spPr>
          <a:xfrm>
            <a:off x="4937760" y="4672584"/>
            <a:ext cx="832104" cy="219456"/>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12,300 元</a:t>
            </a:r>
            <a:endParaRPr lang="en-US" sz="1300" dirty="0"/>
          </a:p>
        </p:txBody>
      </p:sp>
      <p:sp>
        <p:nvSpPr>
          <p:cNvPr id="34" name="Text 32"/>
          <p:cNvSpPr txBox="1"/>
          <p:nvPr/>
        </p:nvSpPr>
        <p:spPr>
          <a:xfrm>
            <a:off x="5897880" y="4672584"/>
            <a:ext cx="1572768" cy="219456"/>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35%</a:t>
            </a:r>
            <a:endParaRPr lang="en-US" sz="1300" dirty="0"/>
          </a:p>
        </p:txBody>
      </p:sp>
      <p:sp>
        <p:nvSpPr>
          <p:cNvPr id="35" name="Shape 33"/>
          <p:cNvSpPr/>
          <p:nvPr/>
        </p:nvSpPr>
        <p:spPr>
          <a:xfrm>
            <a:off x="1600200" y="4892040"/>
            <a:ext cx="5870448" cy="12802"/>
          </a:xfrm>
          <a:prstGeom prst="rect">
            <a:avLst/>
          </a:prstGeom>
          <a:solidFill>
            <a:srgbClr val="C72A09"/>
          </a:solidFill>
          <a:ln/>
        </p:spPr>
      </p:sp>
      <p:sp>
        <p:nvSpPr>
          <p:cNvPr id="36" name="Text 34"/>
          <p:cNvSpPr txBox="1"/>
          <p:nvPr/>
        </p:nvSpPr>
        <p:spPr>
          <a:xfrm>
            <a:off x="1600200" y="4965192"/>
            <a:ext cx="1472184" cy="219456"/>
          </a:xfrm>
          <a:prstGeom prst="rect">
            <a:avLst/>
          </a:prstGeom>
          <a:noFill/>
          <a:ln/>
        </p:spPr>
        <p:txBody>
          <a:bodyPr wrap="square" lIns="0" tIns="0" rIns="0" bIns="0" rtlCol="0" anchor="ctr"/>
          <a:lstStyle/>
          <a:p>
            <a:pPr algn="l" indent="0" marL="0">
              <a:buNone/>
            </a:pPr>
            <a:r>
              <a:rPr lang="en-US" sz="1300" b="1" dirty="0">
                <a:solidFill>
                  <a:srgbClr val="CA0013"/>
                </a:solidFill>
                <a:latin typeface="Microsoft JhengHei" pitchFamily="34" charset="0"/>
                <a:ea typeface="Microsoft JhengHei" pitchFamily="34" charset="-122"/>
                <a:cs typeface="Microsoft JhengHei" pitchFamily="34" charset="-120"/>
              </a:rPr>
              <a:t>40%</a:t>
            </a:r>
            <a:endParaRPr lang="en-US" sz="1300" dirty="0"/>
          </a:p>
        </p:txBody>
      </p:sp>
      <p:sp>
        <p:nvSpPr>
          <p:cNvPr id="37" name="Text 35"/>
          <p:cNvSpPr txBox="1"/>
          <p:nvPr/>
        </p:nvSpPr>
        <p:spPr>
          <a:xfrm>
            <a:off x="3200400" y="4965192"/>
            <a:ext cx="740664" cy="219456"/>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277 萬</a:t>
            </a:r>
            <a:endParaRPr lang="en-US" sz="1300" dirty="0"/>
          </a:p>
        </p:txBody>
      </p:sp>
      <p:sp>
        <p:nvSpPr>
          <p:cNvPr id="38" name="Text 36"/>
          <p:cNvSpPr txBox="1"/>
          <p:nvPr/>
        </p:nvSpPr>
        <p:spPr>
          <a:xfrm>
            <a:off x="4069080" y="4965192"/>
            <a:ext cx="740664" cy="219456"/>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55 萬</a:t>
            </a:r>
            <a:endParaRPr lang="en-US" sz="1300" dirty="0"/>
          </a:p>
        </p:txBody>
      </p:sp>
      <p:sp>
        <p:nvSpPr>
          <p:cNvPr id="39" name="Text 37"/>
          <p:cNvSpPr txBox="1"/>
          <p:nvPr/>
        </p:nvSpPr>
        <p:spPr>
          <a:xfrm>
            <a:off x="4937760" y="4965192"/>
            <a:ext cx="832104" cy="219456"/>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10,600 元</a:t>
            </a:r>
            <a:endParaRPr lang="en-US" sz="1300" dirty="0"/>
          </a:p>
        </p:txBody>
      </p:sp>
      <p:sp>
        <p:nvSpPr>
          <p:cNvPr id="40" name="Text 38"/>
          <p:cNvSpPr txBox="1"/>
          <p:nvPr/>
        </p:nvSpPr>
        <p:spPr>
          <a:xfrm>
            <a:off x="5897880" y="4965192"/>
            <a:ext cx="1572768" cy="219456"/>
          </a:xfrm>
          <a:prstGeom prst="rect">
            <a:avLst/>
          </a:prstGeom>
          <a:noFill/>
          <a:ln/>
        </p:spPr>
        <p:txBody>
          <a:bodyPr wrap="square" lIns="0" tIns="0" rIns="0" bIns="0" rtlCol="0" anchor="ctr"/>
          <a:lstStyle/>
          <a:p>
            <a:pPr algn="r" indent="0" marL="0">
              <a:buNone/>
            </a:pPr>
            <a:r>
              <a:rPr lang="en-US" sz="1300" b="1" dirty="0">
                <a:solidFill>
                  <a:srgbClr val="CA0013"/>
                </a:solidFill>
                <a:latin typeface="Inter" pitchFamily="34" charset="0"/>
                <a:ea typeface="Inter" pitchFamily="34" charset="-122"/>
                <a:cs typeface="Inter" pitchFamily="34" charset="-120"/>
              </a:rPr>
              <a:t>30%</a:t>
            </a:r>
            <a:endParaRPr lang="en-US" sz="1300" dirty="0"/>
          </a:p>
        </p:txBody>
      </p:sp>
      <p:sp>
        <p:nvSpPr>
          <p:cNvPr id="41" name="Shape 39"/>
          <p:cNvSpPr/>
          <p:nvPr/>
        </p:nvSpPr>
        <p:spPr>
          <a:xfrm>
            <a:off x="1600200" y="5184648"/>
            <a:ext cx="5870448" cy="12802"/>
          </a:xfrm>
          <a:prstGeom prst="rect">
            <a:avLst/>
          </a:prstGeom>
          <a:solidFill>
            <a:srgbClr val="C72A09"/>
          </a:solidFill>
          <a:ln/>
        </p:spPr>
      </p:sp>
      <p:sp>
        <p:nvSpPr>
          <p:cNvPr id="42" name="Text 40"/>
          <p:cNvSpPr txBox="1"/>
          <p:nvPr/>
        </p:nvSpPr>
        <p:spPr>
          <a:xfrm>
            <a:off x="566928" y="5321808"/>
            <a:ext cx="6903720" cy="274320"/>
          </a:xfrm>
          <a:prstGeom prst="rect">
            <a:avLst/>
          </a:prstGeom>
          <a:noFill/>
          <a:ln/>
        </p:spPr>
        <p:txBody>
          <a:bodyPr wrap="square" lIns="0" tIns="0" rIns="0" bIns="0" rtlCol="0" anchor="t"/>
          <a:lstStyle/>
          <a:p>
            <a:pPr indent="0" marL="0">
              <a:buNone/>
            </a:pPr>
            <a:r>
              <a:rPr lang="en-US" sz="900" dirty="0">
                <a:solidFill>
                  <a:srgbClr val="CA0013"/>
                </a:solidFill>
                <a:latin typeface="Microsoft JhengHei" pitchFamily="34" charset="0"/>
                <a:ea typeface="Microsoft JhengHei" pitchFamily="34" charset="-122"/>
                <a:cs typeface="Microsoft JhengHei" pitchFamily="34" charset="-120"/>
              </a:rPr>
              <a:t>假設：八成按揭、30 年、年利率 4%；入息下限＝兩人或以上家團每月 35,655 元（按 2023 年經屋上限推算）；建議 Rc 取 30–40%</a:t>
            </a:r>
            <a:endParaRPr lang="en-US" sz="900" dirty="0"/>
          </a:p>
        </p:txBody>
      </p:sp>
      <p:sp>
        <p:nvSpPr>
          <p:cNvPr id="43" name="Text 41"/>
          <p:cNvSpPr txBox="1"/>
          <p:nvPr/>
        </p:nvSpPr>
        <p:spPr>
          <a:xfrm>
            <a:off x="7818120" y="1600200"/>
            <a:ext cx="379476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依據、限制與指標</a:t>
            </a:r>
            <a:endParaRPr lang="en-US" sz="1200" dirty="0"/>
          </a:p>
        </p:txBody>
      </p:sp>
      <p:sp>
        <p:nvSpPr>
          <p:cNvPr id="44" name="Shape 42"/>
          <p:cNvSpPr/>
          <p:nvPr/>
        </p:nvSpPr>
        <p:spPr>
          <a:xfrm>
            <a:off x="7818120" y="2002536"/>
            <a:ext cx="3794760" cy="12802"/>
          </a:xfrm>
          <a:prstGeom prst="rect">
            <a:avLst/>
          </a:prstGeom>
          <a:solidFill>
            <a:srgbClr val="C72A09"/>
          </a:solidFill>
          <a:ln/>
        </p:spPr>
      </p:sp>
      <p:sp>
        <p:nvSpPr>
          <p:cNvPr id="45" name="Text 43"/>
          <p:cNvSpPr txBox="1"/>
          <p:nvPr/>
        </p:nvSpPr>
        <p:spPr>
          <a:xfrm>
            <a:off x="7818120" y="2130552"/>
            <a:ext cx="758952" cy="731520"/>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依據</a:t>
            </a:r>
            <a:endParaRPr lang="en-US" sz="1050" dirty="0"/>
          </a:p>
        </p:txBody>
      </p:sp>
      <p:sp>
        <p:nvSpPr>
          <p:cNvPr id="46" name="Text 44"/>
          <p:cNvSpPr txBox="1"/>
          <p:nvPr/>
        </p:nvSpPr>
        <p:spPr>
          <a:xfrm>
            <a:off x="8633993" y="2130552"/>
            <a:ext cx="2978887" cy="73152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樓價收入比 6.5–9.6 倍；成數升至八成後月供多約 2,200 元（假設值）；夾屋法已生效而單位未到</a:t>
            </a:r>
            <a:endParaRPr lang="en-US" sz="1050" dirty="0"/>
          </a:p>
        </p:txBody>
      </p:sp>
      <p:sp>
        <p:nvSpPr>
          <p:cNvPr id="47" name="Shape 45"/>
          <p:cNvSpPr/>
          <p:nvPr/>
        </p:nvSpPr>
        <p:spPr>
          <a:xfrm>
            <a:off x="7818120" y="2843784"/>
            <a:ext cx="3794760" cy="12802"/>
          </a:xfrm>
          <a:prstGeom prst="rect">
            <a:avLst/>
          </a:prstGeom>
          <a:solidFill>
            <a:srgbClr val="C72A09"/>
          </a:solidFill>
          <a:ln/>
        </p:spPr>
      </p:sp>
      <p:sp>
        <p:nvSpPr>
          <p:cNvPr id="48" name="Text 46"/>
          <p:cNvSpPr txBox="1"/>
          <p:nvPr/>
        </p:nvSpPr>
        <p:spPr>
          <a:xfrm>
            <a:off x="7818120" y="2953512"/>
            <a:ext cx="758952" cy="566928"/>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先例</a:t>
            </a:r>
            <a:endParaRPr lang="en-US" sz="1050" dirty="0"/>
          </a:p>
        </p:txBody>
      </p:sp>
      <p:sp>
        <p:nvSpPr>
          <p:cNvPr id="49" name="Text 47"/>
          <p:cNvSpPr txBox="1"/>
          <p:nvPr/>
        </p:nvSpPr>
        <p:spPr>
          <a:xfrm>
            <a:off x="8633993" y="2953512"/>
            <a:ext cx="2978887" cy="566928"/>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2009 年利息補貼 2,296 戶、信用擔保 1,711 戶（王于漸等 2010）</a:t>
            </a:r>
            <a:endParaRPr lang="en-US" sz="1050" dirty="0"/>
          </a:p>
        </p:txBody>
      </p:sp>
      <p:sp>
        <p:nvSpPr>
          <p:cNvPr id="50" name="Shape 48"/>
          <p:cNvSpPr/>
          <p:nvPr/>
        </p:nvSpPr>
        <p:spPr>
          <a:xfrm>
            <a:off x="7818120" y="3502152"/>
            <a:ext cx="3794760" cy="12802"/>
          </a:xfrm>
          <a:prstGeom prst="rect">
            <a:avLst/>
          </a:prstGeom>
          <a:solidFill>
            <a:srgbClr val="C72A09"/>
          </a:solidFill>
          <a:ln/>
        </p:spPr>
      </p:sp>
      <p:sp>
        <p:nvSpPr>
          <p:cNvPr id="51" name="Text 49"/>
          <p:cNvSpPr txBox="1"/>
          <p:nvPr/>
        </p:nvSpPr>
        <p:spPr>
          <a:xfrm>
            <a:off x="7818120" y="3611880"/>
            <a:ext cx="758952" cy="731520"/>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限制</a:t>
            </a:r>
            <a:endParaRPr lang="en-US" sz="1050" dirty="0"/>
          </a:p>
        </p:txBody>
      </p:sp>
      <p:sp>
        <p:nvSpPr>
          <p:cNvPr id="52" name="Text 50"/>
          <p:cNvSpPr txBox="1"/>
          <p:nvPr/>
        </p:nvSpPr>
        <p:spPr>
          <a:xfrm>
            <a:off x="8633993" y="3611880"/>
            <a:ext cx="2978887" cy="73152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補貼可能推高樓價；Rc 愈大財政負擔愈大；入息帶按 2023 年經屋上限推算，待公告</a:t>
            </a:r>
            <a:endParaRPr lang="en-US" sz="1050" dirty="0"/>
          </a:p>
        </p:txBody>
      </p:sp>
      <p:sp>
        <p:nvSpPr>
          <p:cNvPr id="53" name="Shape 51"/>
          <p:cNvSpPr/>
          <p:nvPr/>
        </p:nvSpPr>
        <p:spPr>
          <a:xfrm>
            <a:off x="7818120" y="4325112"/>
            <a:ext cx="3794760" cy="12802"/>
          </a:xfrm>
          <a:prstGeom prst="rect">
            <a:avLst/>
          </a:prstGeom>
          <a:solidFill>
            <a:srgbClr val="C72A09"/>
          </a:solidFill>
          <a:ln/>
        </p:spPr>
      </p:sp>
      <p:sp>
        <p:nvSpPr>
          <p:cNvPr id="54" name="Text 52"/>
          <p:cNvSpPr txBox="1"/>
          <p:nvPr/>
        </p:nvSpPr>
        <p:spPr>
          <a:xfrm>
            <a:off x="7818120" y="4434840"/>
            <a:ext cx="758952" cy="566928"/>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指標</a:t>
            </a:r>
            <a:endParaRPr lang="en-US" sz="1050" dirty="0"/>
          </a:p>
        </p:txBody>
      </p:sp>
      <p:sp>
        <p:nvSpPr>
          <p:cNvPr id="55" name="Text 53"/>
          <p:cNvSpPr txBox="1"/>
          <p:nvPr/>
        </p:nvSpPr>
        <p:spPr>
          <a:xfrm>
            <a:off x="8633993" y="4434840"/>
            <a:ext cx="2978887" cy="566928"/>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夾屋公告日期；首置家庭月供佔收入比；夾屋申請與輪候人數</a:t>
            </a:r>
            <a:endParaRPr lang="en-US" sz="1050" dirty="0"/>
          </a:p>
        </p:txBody>
      </p:sp>
      <p:sp>
        <p:nvSpPr>
          <p:cNvPr id="56" name="Shape 54"/>
          <p:cNvSpPr/>
          <p:nvPr/>
        </p:nvSpPr>
        <p:spPr>
          <a:xfrm>
            <a:off x="7818120" y="4983480"/>
            <a:ext cx="3794760" cy="12802"/>
          </a:xfrm>
          <a:prstGeom prst="rect">
            <a:avLst/>
          </a:prstGeom>
          <a:solidFill>
            <a:srgbClr val="C72A09"/>
          </a:solidFill>
          <a:ln/>
        </p:spPr>
      </p:sp>
      <p:sp>
        <p:nvSpPr>
          <p:cNvPr id="57" name="Text 55"/>
          <p:cNvSpPr txBox="1"/>
          <p:nvPr/>
        </p:nvSpPr>
        <p:spPr>
          <a:xfrm>
            <a:off x="7818120" y="5093208"/>
            <a:ext cx="758952" cy="365760"/>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部門</a:t>
            </a:r>
            <a:endParaRPr lang="en-US" sz="1050" dirty="0"/>
          </a:p>
        </p:txBody>
      </p:sp>
      <p:sp>
        <p:nvSpPr>
          <p:cNvPr id="58" name="Text 56"/>
          <p:cNvSpPr txBox="1"/>
          <p:nvPr/>
        </p:nvSpPr>
        <p:spPr>
          <a:xfrm>
            <a:off x="8633993" y="5093208"/>
            <a:ext cx="2978887" cy="36576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房屋局、金管局、運輸工務司</a:t>
            </a:r>
            <a:endParaRPr lang="en-US" sz="1050" dirty="0"/>
          </a:p>
        </p:txBody>
      </p:sp>
      <p:sp>
        <p:nvSpPr>
          <p:cNvPr id="59" name="Shape 57"/>
          <p:cNvSpPr/>
          <p:nvPr/>
        </p:nvSpPr>
        <p:spPr>
          <a:xfrm>
            <a:off x="7818120" y="5440680"/>
            <a:ext cx="3794760" cy="12802"/>
          </a:xfrm>
          <a:prstGeom prst="rect">
            <a:avLst/>
          </a:prstGeom>
          <a:solidFill>
            <a:srgbClr val="C72A09"/>
          </a:solidFill>
          <a:ln/>
        </p:spPr>
      </p:sp>
      <p:sp>
        <p:nvSpPr>
          <p:cNvPr id="61" name="Text 58"/>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第 17/2023 號法律；政策研究 2022；王于漸等（2010）；本組示範計算</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(35)</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第五部分　紓解措施　·　措施二　針對問題二</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舊區樓宇老化：先看清楚，先維修，再重建</a:t>
            </a:r>
            <a:endParaRPr lang="en-US" sz="3400" dirty="0"/>
          </a:p>
        </p:txBody>
      </p:sp>
      <p:sp>
        <p:nvSpPr>
          <p:cNvPr id="8" name="Text 6"/>
          <p:cNvSpPr txBox="1"/>
          <p:nvPr/>
        </p:nvSpPr>
        <p:spPr>
          <a:xfrm>
            <a:off x="566928" y="1600200"/>
            <a:ext cx="690372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具體做法</a:t>
            </a:r>
            <a:endParaRPr lang="en-US" sz="1200" dirty="0"/>
          </a:p>
        </p:txBody>
      </p:sp>
      <p:sp>
        <p:nvSpPr>
          <p:cNvPr id="9" name="Shape 7"/>
          <p:cNvSpPr/>
          <p:nvPr/>
        </p:nvSpPr>
        <p:spPr>
          <a:xfrm>
            <a:off x="566928" y="2002536"/>
            <a:ext cx="6903720" cy="12802"/>
          </a:xfrm>
          <a:prstGeom prst="rect">
            <a:avLst/>
          </a:prstGeom>
          <a:solidFill>
            <a:srgbClr val="C72A09"/>
          </a:solidFill>
          <a:ln/>
        </p:spPr>
      </p:sp>
      <p:sp>
        <p:nvSpPr>
          <p:cNvPr id="10" name="Text 8"/>
          <p:cNvSpPr txBox="1"/>
          <p:nvPr/>
        </p:nvSpPr>
        <p:spPr>
          <a:xfrm>
            <a:off x="566928" y="2130552"/>
            <a:ext cx="1035558" cy="91440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分級公開</a:t>
            </a:r>
            <a:endParaRPr lang="en-US" sz="1100" dirty="0"/>
          </a:p>
        </p:txBody>
      </p:sp>
      <p:sp>
        <p:nvSpPr>
          <p:cNvPr id="11" name="Text 9"/>
          <p:cNvSpPr txBox="1"/>
          <p:nvPr/>
        </p:nvSpPr>
        <p:spPr>
          <a:xfrm>
            <a:off x="1706042" y="2130552"/>
            <a:ext cx="5764606" cy="91440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政府已宣布建立殘舊樓宇資料庫（2026-07）。建議每年公布「樓齡—失修—殘危」三層的幢數、地區分佈及處理進度（通知、維修、再巡查）；以 2026 年首季失修通知 84 宗、4 月清拆殘危 3 幢作基線。</a:t>
            </a:r>
            <a:endParaRPr lang="en-US" sz="1100" dirty="0"/>
          </a:p>
        </p:txBody>
      </p:sp>
      <p:sp>
        <p:nvSpPr>
          <p:cNvPr id="12" name="Shape 10"/>
          <p:cNvSpPr/>
          <p:nvPr/>
        </p:nvSpPr>
        <p:spPr>
          <a:xfrm>
            <a:off x="566928" y="3026664"/>
            <a:ext cx="6903720" cy="12802"/>
          </a:xfrm>
          <a:prstGeom prst="rect">
            <a:avLst/>
          </a:prstGeom>
          <a:solidFill>
            <a:srgbClr val="C72A09"/>
          </a:solidFill>
          <a:ln/>
        </p:spPr>
      </p:sp>
      <p:sp>
        <p:nvSpPr>
          <p:cNvPr id="13" name="Text 11"/>
          <p:cNvSpPr txBox="1"/>
          <p:nvPr/>
        </p:nvSpPr>
        <p:spPr>
          <a:xfrm>
            <a:off x="566928" y="3136392"/>
            <a:ext cx="1035558" cy="105156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維修優先</a:t>
            </a:r>
            <a:endParaRPr lang="en-US" sz="1100" dirty="0"/>
          </a:p>
        </p:txBody>
      </p:sp>
      <p:sp>
        <p:nvSpPr>
          <p:cNvPr id="14" name="Text 12"/>
          <p:cNvSpPr txBox="1"/>
          <p:nvPr/>
        </p:nvSpPr>
        <p:spPr>
          <a:xfrm>
            <a:off x="1706042" y="3136392"/>
            <a:ext cx="5764606" cy="105156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樓宇維修基金已於 2026-06 修訂，資助擴至更新工程。建議按風險排序：先處理已被通知失修、長者住戶多、未成立管理機關的樓宇；由土地工務局及都更公司協助成立管理機關及共同儲備基金（祐漢 46 幢已全數成立，可作模式）。</a:t>
            </a:r>
            <a:endParaRPr lang="en-US" sz="1100" dirty="0"/>
          </a:p>
        </p:txBody>
      </p:sp>
      <p:sp>
        <p:nvSpPr>
          <p:cNvPr id="15" name="Shape 13"/>
          <p:cNvSpPr/>
          <p:nvPr/>
        </p:nvSpPr>
        <p:spPr>
          <a:xfrm>
            <a:off x="566928" y="4169664"/>
            <a:ext cx="6903720" cy="12802"/>
          </a:xfrm>
          <a:prstGeom prst="rect">
            <a:avLst/>
          </a:prstGeom>
          <a:solidFill>
            <a:srgbClr val="C72A09"/>
          </a:solidFill>
          <a:ln/>
        </p:spPr>
      </p:sp>
      <p:sp>
        <p:nvSpPr>
          <p:cNvPr id="16" name="Text 14"/>
          <p:cNvSpPr txBox="1"/>
          <p:nvPr/>
        </p:nvSpPr>
        <p:spPr>
          <a:xfrm>
            <a:off x="566928" y="4279392"/>
            <a:ext cx="1035558" cy="105156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置換對得上</a:t>
            </a:r>
            <a:endParaRPr lang="en-US" sz="1100" dirty="0"/>
          </a:p>
        </p:txBody>
      </p:sp>
      <p:sp>
        <p:nvSpPr>
          <p:cNvPr id="17" name="Text 15"/>
          <p:cNvSpPr txBox="1"/>
          <p:nvPr/>
        </p:nvSpPr>
        <p:spPr>
          <a:xfrm>
            <a:off x="1706042" y="4279392"/>
            <a:ext cx="5764606" cy="105156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施政報告 2026 已列明研究擴大置換房、暫住房適用範圍。建議：放寬「因都更被拆卸而無法回遷」的資格（議員所述）；增設小戶型；訂明回遷及租金安排；公布置換房售出率（現為 338／2,000+）與暫住房使用率。</a:t>
            </a:r>
            <a:endParaRPr lang="en-US" sz="1100" dirty="0"/>
          </a:p>
        </p:txBody>
      </p:sp>
      <p:sp>
        <p:nvSpPr>
          <p:cNvPr id="18" name="Shape 16"/>
          <p:cNvSpPr/>
          <p:nvPr/>
        </p:nvSpPr>
        <p:spPr>
          <a:xfrm>
            <a:off x="566928" y="5312664"/>
            <a:ext cx="6903720" cy="12802"/>
          </a:xfrm>
          <a:prstGeom prst="rect">
            <a:avLst/>
          </a:prstGeom>
          <a:solidFill>
            <a:srgbClr val="C72A09"/>
          </a:solidFill>
          <a:ln/>
        </p:spPr>
      </p:sp>
      <p:sp>
        <p:nvSpPr>
          <p:cNvPr id="19" name="Text 17"/>
          <p:cNvSpPr txBox="1"/>
          <p:nvPr/>
        </p:nvSpPr>
        <p:spPr>
          <a:xfrm>
            <a:off x="7818120" y="1600200"/>
            <a:ext cx="379476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依據、限制與指標</a:t>
            </a:r>
            <a:endParaRPr lang="en-US" sz="1200" dirty="0"/>
          </a:p>
        </p:txBody>
      </p:sp>
      <p:sp>
        <p:nvSpPr>
          <p:cNvPr id="20" name="Shape 18"/>
          <p:cNvSpPr/>
          <p:nvPr/>
        </p:nvSpPr>
        <p:spPr>
          <a:xfrm>
            <a:off x="7818120" y="2002536"/>
            <a:ext cx="3794760" cy="12802"/>
          </a:xfrm>
          <a:prstGeom prst="rect">
            <a:avLst/>
          </a:prstGeom>
          <a:solidFill>
            <a:srgbClr val="C72A09"/>
          </a:solidFill>
          <a:ln/>
        </p:spPr>
      </p:sp>
      <p:sp>
        <p:nvSpPr>
          <p:cNvPr id="21" name="Text 19"/>
          <p:cNvSpPr txBox="1"/>
          <p:nvPr/>
        </p:nvSpPr>
        <p:spPr>
          <a:xfrm>
            <a:off x="7818120" y="2130552"/>
            <a:ext cx="758952" cy="658368"/>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依據</a:t>
            </a:r>
            <a:endParaRPr lang="en-US" sz="1050" dirty="0"/>
          </a:p>
        </p:txBody>
      </p:sp>
      <p:sp>
        <p:nvSpPr>
          <p:cNvPr id="22" name="Text 20"/>
          <p:cNvSpPr txBox="1"/>
          <p:nvPr/>
        </p:nvSpPr>
        <p:spPr>
          <a:xfrm>
            <a:off x="8633993" y="2130552"/>
            <a:ext cx="2978887" cy="658368"/>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三層資料零散；置換房售出 338／2,000+；暫住房 2,803 個（議員稱未使用）</a:t>
            </a:r>
            <a:endParaRPr lang="en-US" sz="1050" dirty="0"/>
          </a:p>
        </p:txBody>
      </p:sp>
      <p:sp>
        <p:nvSpPr>
          <p:cNvPr id="23" name="Shape 21"/>
          <p:cNvSpPr/>
          <p:nvPr/>
        </p:nvSpPr>
        <p:spPr>
          <a:xfrm>
            <a:off x="7818120" y="2770632"/>
            <a:ext cx="3794760" cy="12802"/>
          </a:xfrm>
          <a:prstGeom prst="rect">
            <a:avLst/>
          </a:prstGeom>
          <a:solidFill>
            <a:srgbClr val="C72A09"/>
          </a:solidFill>
          <a:ln/>
        </p:spPr>
      </p:sp>
      <p:sp>
        <p:nvSpPr>
          <p:cNvPr id="24" name="Text 22"/>
          <p:cNvSpPr txBox="1"/>
          <p:nvPr/>
        </p:nvSpPr>
        <p:spPr>
          <a:xfrm>
            <a:off x="7818120" y="2880360"/>
            <a:ext cx="758952" cy="658368"/>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先例</a:t>
            </a:r>
            <a:endParaRPr lang="en-US" sz="1050" dirty="0"/>
          </a:p>
        </p:txBody>
      </p:sp>
      <p:sp>
        <p:nvSpPr>
          <p:cNvPr id="25" name="Text 23"/>
          <p:cNvSpPr txBox="1"/>
          <p:nvPr/>
        </p:nvSpPr>
        <p:spPr>
          <a:xfrm>
            <a:off x="8633993" y="2880360"/>
            <a:ext cx="2978887" cy="658368"/>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祐漢 46 幢管理機關全數成立並設共同儲備基金（都更公司，2024-09）</a:t>
            </a:r>
            <a:endParaRPr lang="en-US" sz="1050" dirty="0"/>
          </a:p>
        </p:txBody>
      </p:sp>
      <p:sp>
        <p:nvSpPr>
          <p:cNvPr id="26" name="Shape 24"/>
          <p:cNvSpPr/>
          <p:nvPr/>
        </p:nvSpPr>
        <p:spPr>
          <a:xfrm>
            <a:off x="7818120" y="3520440"/>
            <a:ext cx="3794760" cy="12802"/>
          </a:xfrm>
          <a:prstGeom prst="rect">
            <a:avLst/>
          </a:prstGeom>
          <a:solidFill>
            <a:srgbClr val="C72A09"/>
          </a:solidFill>
          <a:ln/>
        </p:spPr>
      </p:sp>
      <p:sp>
        <p:nvSpPr>
          <p:cNvPr id="27" name="Text 25"/>
          <p:cNvSpPr txBox="1"/>
          <p:nvPr/>
        </p:nvSpPr>
        <p:spPr>
          <a:xfrm>
            <a:off x="7818120" y="3630168"/>
            <a:ext cx="758952" cy="658368"/>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限制</a:t>
            </a:r>
            <a:endParaRPr lang="en-US" sz="1050" dirty="0"/>
          </a:p>
        </p:txBody>
      </p:sp>
      <p:sp>
        <p:nvSpPr>
          <p:cNvPr id="28" name="Text 26"/>
          <p:cNvSpPr txBox="1"/>
          <p:nvPr/>
        </p:nvSpPr>
        <p:spPr>
          <a:xfrm>
            <a:off x="8633993" y="3630168"/>
            <a:ext cx="2978887" cy="658368"/>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資料公開涉及私隱與樓價；維修資助不能取代重建；放寬置換資格會增加公共負擔</a:t>
            </a:r>
            <a:endParaRPr lang="en-US" sz="1050" dirty="0"/>
          </a:p>
        </p:txBody>
      </p:sp>
      <p:sp>
        <p:nvSpPr>
          <p:cNvPr id="29" name="Shape 27"/>
          <p:cNvSpPr/>
          <p:nvPr/>
        </p:nvSpPr>
        <p:spPr>
          <a:xfrm>
            <a:off x="7818120" y="4270248"/>
            <a:ext cx="3794760" cy="12802"/>
          </a:xfrm>
          <a:prstGeom prst="rect">
            <a:avLst/>
          </a:prstGeom>
          <a:solidFill>
            <a:srgbClr val="C72A09"/>
          </a:solidFill>
          <a:ln/>
        </p:spPr>
      </p:sp>
      <p:sp>
        <p:nvSpPr>
          <p:cNvPr id="30" name="Text 28"/>
          <p:cNvSpPr txBox="1"/>
          <p:nvPr/>
        </p:nvSpPr>
        <p:spPr>
          <a:xfrm>
            <a:off x="7818120" y="4379976"/>
            <a:ext cx="758952" cy="658368"/>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指標</a:t>
            </a:r>
            <a:endParaRPr lang="en-US" sz="1050" dirty="0"/>
          </a:p>
        </p:txBody>
      </p:sp>
      <p:sp>
        <p:nvSpPr>
          <p:cNvPr id="31" name="Text 29"/>
          <p:cNvSpPr txBox="1"/>
          <p:nvPr/>
        </p:nvSpPr>
        <p:spPr>
          <a:xfrm>
            <a:off x="8633993" y="4379976"/>
            <a:ext cx="2978887" cy="658368"/>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失修個案完成維修比率；置換房售出率；暫住房使用率；殘危清拆宗數</a:t>
            </a:r>
            <a:endParaRPr lang="en-US" sz="1050" dirty="0"/>
          </a:p>
        </p:txBody>
      </p:sp>
      <p:sp>
        <p:nvSpPr>
          <p:cNvPr id="32" name="Shape 30"/>
          <p:cNvSpPr/>
          <p:nvPr/>
        </p:nvSpPr>
        <p:spPr>
          <a:xfrm>
            <a:off x="7818120" y="5020056"/>
            <a:ext cx="3794760" cy="12802"/>
          </a:xfrm>
          <a:prstGeom prst="rect">
            <a:avLst/>
          </a:prstGeom>
          <a:solidFill>
            <a:srgbClr val="C72A09"/>
          </a:solidFill>
          <a:ln/>
        </p:spPr>
      </p:sp>
      <p:sp>
        <p:nvSpPr>
          <p:cNvPr id="33" name="Text 31"/>
          <p:cNvSpPr txBox="1"/>
          <p:nvPr/>
        </p:nvSpPr>
        <p:spPr>
          <a:xfrm>
            <a:off x="7818120" y="5129784"/>
            <a:ext cx="758952" cy="320040"/>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部門</a:t>
            </a:r>
            <a:endParaRPr lang="en-US" sz="1050" dirty="0"/>
          </a:p>
        </p:txBody>
      </p:sp>
      <p:sp>
        <p:nvSpPr>
          <p:cNvPr id="34" name="Text 32"/>
          <p:cNvSpPr txBox="1"/>
          <p:nvPr/>
        </p:nvSpPr>
        <p:spPr>
          <a:xfrm>
            <a:off x="8633993" y="5129784"/>
            <a:ext cx="2978887" cy="32004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土地工務局、都更公司、房屋局</a:t>
            </a:r>
            <a:endParaRPr lang="en-US" sz="1050" dirty="0"/>
          </a:p>
        </p:txBody>
      </p:sp>
      <p:sp>
        <p:nvSpPr>
          <p:cNvPr id="35" name="Shape 33"/>
          <p:cNvSpPr/>
          <p:nvPr/>
        </p:nvSpPr>
        <p:spPr>
          <a:xfrm>
            <a:off x="7818120" y="5431536"/>
            <a:ext cx="3794760" cy="12802"/>
          </a:xfrm>
          <a:prstGeom prst="rect">
            <a:avLst/>
          </a:prstGeom>
          <a:solidFill>
            <a:srgbClr val="C72A09"/>
          </a:solidFill>
          <a:ln/>
        </p:spPr>
      </p:sp>
      <p:sp>
        <p:nvSpPr>
          <p:cNvPr id="37" name="Text 34"/>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施政報告 2026；樓宇維修基金修訂（2026-06）；都更公司；議員質詢</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(36)</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第五部分　紓解措施　·　措施三　針對問題三</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公屋社屋被濫用：查得到、公開、配得準</a:t>
            </a:r>
            <a:endParaRPr lang="en-US" sz="3400" dirty="0"/>
          </a:p>
        </p:txBody>
      </p:sp>
      <p:sp>
        <p:nvSpPr>
          <p:cNvPr id="8" name="Text 6"/>
          <p:cNvSpPr txBox="1"/>
          <p:nvPr/>
        </p:nvSpPr>
        <p:spPr>
          <a:xfrm>
            <a:off x="566928" y="1600200"/>
            <a:ext cx="690372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具體做法</a:t>
            </a:r>
            <a:endParaRPr lang="en-US" sz="1200" dirty="0"/>
          </a:p>
        </p:txBody>
      </p:sp>
      <p:sp>
        <p:nvSpPr>
          <p:cNvPr id="9" name="Shape 7"/>
          <p:cNvSpPr/>
          <p:nvPr/>
        </p:nvSpPr>
        <p:spPr>
          <a:xfrm>
            <a:off x="566928" y="2002536"/>
            <a:ext cx="6903720" cy="12802"/>
          </a:xfrm>
          <a:prstGeom prst="rect">
            <a:avLst/>
          </a:prstGeom>
          <a:solidFill>
            <a:srgbClr val="C72A09"/>
          </a:solidFill>
          <a:ln/>
        </p:spPr>
      </p:sp>
      <p:sp>
        <p:nvSpPr>
          <p:cNvPr id="10" name="Text 8"/>
          <p:cNvSpPr txBox="1"/>
          <p:nvPr/>
        </p:nvSpPr>
        <p:spPr>
          <a:xfrm>
            <a:off x="566928" y="2130552"/>
            <a:ext cx="1035558" cy="82296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公開統計</a:t>
            </a:r>
            <a:endParaRPr lang="en-US" sz="1100" dirty="0"/>
          </a:p>
        </p:txBody>
      </p:sp>
      <p:sp>
        <p:nvSpPr>
          <p:cNvPr id="11" name="Text 9"/>
          <p:cNvSpPr txBox="1"/>
          <p:nvPr/>
        </p:nvSpPr>
        <p:spPr>
          <a:xfrm>
            <a:off x="1706042" y="2130552"/>
            <a:ext cx="5764606" cy="82296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每年公布：巡查及抽查次數；查證個案數（按不居住、轉租或借出、超收入、虛報分類）；解除合同、加租、罰款、勒遷宗數；收回單位數及佔住戶比例。</a:t>
            </a:r>
            <a:endParaRPr lang="en-US" sz="1100" dirty="0"/>
          </a:p>
        </p:txBody>
      </p:sp>
      <p:sp>
        <p:nvSpPr>
          <p:cNvPr id="12" name="Shape 10"/>
          <p:cNvSpPr/>
          <p:nvPr/>
        </p:nvSpPr>
        <p:spPr>
          <a:xfrm>
            <a:off x="566928" y="2935224"/>
            <a:ext cx="6903720" cy="12802"/>
          </a:xfrm>
          <a:prstGeom prst="rect">
            <a:avLst/>
          </a:prstGeom>
          <a:solidFill>
            <a:srgbClr val="C72A09"/>
          </a:solidFill>
          <a:ln/>
        </p:spPr>
      </p:sp>
      <p:sp>
        <p:nvSpPr>
          <p:cNvPr id="13" name="Text 11"/>
          <p:cNvSpPr txBox="1"/>
          <p:nvPr/>
        </p:nvSpPr>
        <p:spPr>
          <a:xfrm>
            <a:off x="566928" y="3044952"/>
            <a:ext cx="1035558" cy="109728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風險查核</a:t>
            </a:r>
            <a:endParaRPr lang="en-US" sz="1100" dirty="0"/>
          </a:p>
        </p:txBody>
      </p:sp>
      <p:sp>
        <p:nvSpPr>
          <p:cNvPr id="14" name="Text 12"/>
          <p:cNvSpPr txBox="1"/>
          <p:nvPr/>
        </p:nvSpPr>
        <p:spPr>
          <a:xfrm>
            <a:off x="1706042" y="3044952"/>
            <a:ext cx="5764606" cy="109728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善用現有權力：社屋法第 32 條、夾屋法第 26 條容許與其他公共實體資料互聯。建議抽查高風險個案（如長期不在澳、申報與資產不符），並建立內地及境外資產核實的協作渠道（廉署 2016 年個案：隱瞞珠海物業）。查核須有申訴及合理豁免，例如照顧長者。</a:t>
            </a:r>
            <a:endParaRPr lang="en-US" sz="1100" dirty="0"/>
          </a:p>
        </p:txBody>
      </p:sp>
      <p:sp>
        <p:nvSpPr>
          <p:cNvPr id="15" name="Shape 13"/>
          <p:cNvSpPr/>
          <p:nvPr/>
        </p:nvSpPr>
        <p:spPr>
          <a:xfrm>
            <a:off x="566928" y="4123944"/>
            <a:ext cx="6903720" cy="12802"/>
          </a:xfrm>
          <a:prstGeom prst="rect">
            <a:avLst/>
          </a:prstGeom>
          <a:solidFill>
            <a:srgbClr val="C72A09"/>
          </a:solidFill>
          <a:ln/>
        </p:spPr>
      </p:sp>
      <p:sp>
        <p:nvSpPr>
          <p:cNvPr id="16" name="Text 14"/>
          <p:cNvSpPr txBox="1"/>
          <p:nvPr/>
        </p:nvSpPr>
        <p:spPr>
          <a:xfrm>
            <a:off x="566928" y="4233672"/>
            <a:ext cx="1035558" cy="1051560"/>
          </a:xfrm>
          <a:prstGeom prst="rect">
            <a:avLst/>
          </a:prstGeom>
          <a:noFill/>
          <a:ln/>
        </p:spPr>
        <p:txBody>
          <a:bodyPr wrap="square" lIns="0" tIns="0" rIns="0" bIns="0" rtlCol="0" anchor="t"/>
          <a:lstStyle/>
          <a:p>
            <a:pPr algn="l" indent="0" marL="0">
              <a:lnSpc>
                <a:spcPct val="125000"/>
              </a:lnSpc>
              <a:buNone/>
            </a:pPr>
            <a:r>
              <a:rPr lang="en-US" sz="1100" b="1" spc="160" kern="0" dirty="0">
                <a:solidFill>
                  <a:srgbClr val="CA0013"/>
                </a:solidFill>
                <a:latin typeface="Microsoft JhengHei" pitchFamily="34" charset="0"/>
                <a:ea typeface="Microsoft JhengHei" pitchFamily="34" charset="-122"/>
                <a:cs typeface="Microsoft JhengHei" pitchFamily="34" charset="-120"/>
              </a:rPr>
              <a:t>配得準</a:t>
            </a:r>
            <a:endParaRPr lang="en-US" sz="1100" dirty="0"/>
          </a:p>
        </p:txBody>
      </p:sp>
      <p:sp>
        <p:nvSpPr>
          <p:cNvPr id="17" name="Text 15"/>
          <p:cNvSpPr txBox="1"/>
          <p:nvPr/>
        </p:nvSpPr>
        <p:spPr>
          <a:xfrm>
            <a:off x="1706042" y="4233672"/>
            <a:ext cx="5764606" cy="1051560"/>
          </a:xfrm>
          <a:prstGeom prst="rect">
            <a:avLst/>
          </a:prstGeom>
          <a:noFill/>
          <a:ln/>
        </p:spPr>
        <p:txBody>
          <a:bodyPr wrap="square" lIns="0" tIns="0" rIns="0" bIns="0" rtlCol="0" anchor="t"/>
          <a:lstStyle/>
          <a:p>
            <a:pPr indent="0" marL="0">
              <a:lnSpc>
                <a:spcPct val="130000"/>
              </a:lnSpc>
              <a:buNone/>
            </a:pPr>
            <a:r>
              <a:rPr lang="en-US" sz="1100" dirty="0">
                <a:solidFill>
                  <a:srgbClr val="CA0013"/>
                </a:solidFill>
                <a:latin typeface="Microsoft JhengHei" pitchFamily="34" charset="0"/>
                <a:ea typeface="Microsoft JhengHei" pitchFamily="34" charset="-122"/>
                <a:cs typeface="Microsoft JhengHei" pitchFamily="34" charset="-120"/>
              </a:rPr>
              <a:t>監察之外要配對：政府研究讓二人家團可分配兩房社屋單位（施政報告 2026）；新城 A 區 4,088 個社屋單位中 3,276 個為一房（議員資料），預計 2026–27 年落成；經屋開放恆常申請或公布固定時間表，並公開取消資格原因的分項人數。</a:t>
            </a:r>
            <a:endParaRPr lang="en-US" sz="1100" dirty="0"/>
          </a:p>
        </p:txBody>
      </p:sp>
      <p:sp>
        <p:nvSpPr>
          <p:cNvPr id="18" name="Shape 16"/>
          <p:cNvSpPr/>
          <p:nvPr/>
        </p:nvSpPr>
        <p:spPr>
          <a:xfrm>
            <a:off x="566928" y="5266944"/>
            <a:ext cx="6903720" cy="12802"/>
          </a:xfrm>
          <a:prstGeom prst="rect">
            <a:avLst/>
          </a:prstGeom>
          <a:solidFill>
            <a:srgbClr val="C72A09"/>
          </a:solidFill>
          <a:ln/>
        </p:spPr>
      </p:sp>
      <p:sp>
        <p:nvSpPr>
          <p:cNvPr id="19" name="Text 17"/>
          <p:cNvSpPr txBox="1"/>
          <p:nvPr/>
        </p:nvSpPr>
        <p:spPr>
          <a:xfrm>
            <a:off x="7818120" y="1600200"/>
            <a:ext cx="379476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依據、限制與指標</a:t>
            </a:r>
            <a:endParaRPr lang="en-US" sz="1200" dirty="0"/>
          </a:p>
        </p:txBody>
      </p:sp>
      <p:sp>
        <p:nvSpPr>
          <p:cNvPr id="20" name="Shape 18"/>
          <p:cNvSpPr/>
          <p:nvPr/>
        </p:nvSpPr>
        <p:spPr>
          <a:xfrm>
            <a:off x="7818120" y="2002536"/>
            <a:ext cx="3794760" cy="12802"/>
          </a:xfrm>
          <a:prstGeom prst="rect">
            <a:avLst/>
          </a:prstGeom>
          <a:solidFill>
            <a:srgbClr val="C72A09"/>
          </a:solidFill>
          <a:ln/>
        </p:spPr>
      </p:sp>
      <p:sp>
        <p:nvSpPr>
          <p:cNvPr id="21" name="Text 19"/>
          <p:cNvSpPr txBox="1"/>
          <p:nvPr/>
        </p:nvSpPr>
        <p:spPr>
          <a:xfrm>
            <a:off x="7818120" y="2130552"/>
            <a:ext cx="758952" cy="640080"/>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依據</a:t>
            </a:r>
            <a:endParaRPr lang="en-US" sz="1050" dirty="0"/>
          </a:p>
        </p:txBody>
      </p:sp>
      <p:sp>
        <p:nvSpPr>
          <p:cNvPr id="22" name="Text 20"/>
          <p:cNvSpPr txBox="1"/>
          <p:nvPr/>
        </p:nvSpPr>
        <p:spPr>
          <a:xfrm>
            <a:off x="8633993" y="2130552"/>
            <a:ext cx="2978887" cy="64008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規則已有、按年數字未見公開；社屋申請 23% 不合資格（1,994／8,530）</a:t>
            </a:r>
            <a:endParaRPr lang="en-US" sz="1050" dirty="0"/>
          </a:p>
        </p:txBody>
      </p:sp>
      <p:sp>
        <p:nvSpPr>
          <p:cNvPr id="23" name="Shape 21"/>
          <p:cNvSpPr/>
          <p:nvPr/>
        </p:nvSpPr>
        <p:spPr>
          <a:xfrm>
            <a:off x="7818120" y="2752344"/>
            <a:ext cx="3794760" cy="12802"/>
          </a:xfrm>
          <a:prstGeom prst="rect">
            <a:avLst/>
          </a:prstGeom>
          <a:solidFill>
            <a:srgbClr val="C72A09"/>
          </a:solidFill>
          <a:ln/>
        </p:spPr>
      </p:sp>
      <p:sp>
        <p:nvSpPr>
          <p:cNvPr id="24" name="Text 22"/>
          <p:cNvSpPr txBox="1"/>
          <p:nvPr/>
        </p:nvSpPr>
        <p:spPr>
          <a:xfrm>
            <a:off x="7818120" y="2862072"/>
            <a:ext cx="758952" cy="868680"/>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先例</a:t>
            </a:r>
            <a:endParaRPr lang="en-US" sz="1050" dirty="0"/>
          </a:p>
        </p:txBody>
      </p:sp>
      <p:sp>
        <p:nvSpPr>
          <p:cNvPr id="25" name="Text 23"/>
          <p:cNvSpPr txBox="1"/>
          <p:nvPr/>
        </p:nvSpPr>
        <p:spPr>
          <a:xfrm>
            <a:off x="8633993" y="2862072"/>
            <a:ext cx="2978887" cy="86868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香港：2022/23、2023/24 年調查約 15,000／16,100 宗，收回約 2,200／2,800 個單位；每兩年申報（房屋局局長答覆，2024-11）</a:t>
            </a:r>
            <a:endParaRPr lang="en-US" sz="1050" dirty="0"/>
          </a:p>
        </p:txBody>
      </p:sp>
      <p:sp>
        <p:nvSpPr>
          <p:cNvPr id="26" name="Shape 24"/>
          <p:cNvSpPr/>
          <p:nvPr/>
        </p:nvSpPr>
        <p:spPr>
          <a:xfrm>
            <a:off x="7818120" y="3712464"/>
            <a:ext cx="3794760" cy="12802"/>
          </a:xfrm>
          <a:prstGeom prst="rect">
            <a:avLst/>
          </a:prstGeom>
          <a:solidFill>
            <a:srgbClr val="C72A09"/>
          </a:solidFill>
          <a:ln/>
        </p:spPr>
      </p:sp>
      <p:sp>
        <p:nvSpPr>
          <p:cNvPr id="27" name="Text 25"/>
          <p:cNvSpPr txBox="1"/>
          <p:nvPr/>
        </p:nvSpPr>
        <p:spPr>
          <a:xfrm>
            <a:off x="7818120" y="3822192"/>
            <a:ext cx="758952" cy="960120"/>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限制</a:t>
            </a:r>
            <a:endParaRPr lang="en-US" sz="1050" dirty="0"/>
          </a:p>
        </p:txBody>
      </p:sp>
      <p:sp>
        <p:nvSpPr>
          <p:cNvPr id="28" name="Text 26"/>
          <p:cNvSpPr txBox="1"/>
          <p:nvPr/>
        </p:nvSpPr>
        <p:spPr>
          <a:xfrm>
            <a:off x="8633993" y="3822192"/>
            <a:ext cx="2978887" cy="96012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按香港約 0.3%／年回收率，澳門約 1.5 萬個社屋每年僅收回約 50 個，遠少於輪候的 1,657 戶：監察保公平，不能取代增加供應</a:t>
            </a:r>
            <a:endParaRPr lang="en-US" sz="1050" dirty="0"/>
          </a:p>
        </p:txBody>
      </p:sp>
      <p:sp>
        <p:nvSpPr>
          <p:cNvPr id="29" name="Shape 27"/>
          <p:cNvSpPr/>
          <p:nvPr/>
        </p:nvSpPr>
        <p:spPr>
          <a:xfrm>
            <a:off x="7818120" y="4764024"/>
            <a:ext cx="3794760" cy="12802"/>
          </a:xfrm>
          <a:prstGeom prst="rect">
            <a:avLst/>
          </a:prstGeom>
          <a:solidFill>
            <a:srgbClr val="C72A09"/>
          </a:solidFill>
          <a:ln/>
        </p:spPr>
      </p:sp>
      <p:sp>
        <p:nvSpPr>
          <p:cNvPr id="30" name="Text 28"/>
          <p:cNvSpPr txBox="1"/>
          <p:nvPr/>
        </p:nvSpPr>
        <p:spPr>
          <a:xfrm>
            <a:off x="7818120" y="4873752"/>
            <a:ext cx="758952" cy="548640"/>
          </a:xfrm>
          <a:prstGeom prst="rect">
            <a:avLst/>
          </a:prstGeom>
          <a:noFill/>
          <a:ln/>
        </p:spPr>
        <p:txBody>
          <a:bodyPr wrap="square" lIns="0" tIns="0" rIns="0" bIns="0" rtlCol="0" anchor="t"/>
          <a:lstStyle/>
          <a:p>
            <a:pPr algn="l" indent="0" marL="0">
              <a:lnSpc>
                <a:spcPct val="125000"/>
              </a:lnSpc>
              <a:buNone/>
            </a:pPr>
            <a:r>
              <a:rPr lang="en-US" sz="1050" b="1" spc="160" kern="0" dirty="0">
                <a:solidFill>
                  <a:srgbClr val="CA0013"/>
                </a:solidFill>
                <a:latin typeface="Microsoft JhengHei" pitchFamily="34" charset="0"/>
                <a:ea typeface="Microsoft JhengHei" pitchFamily="34" charset="-122"/>
                <a:cs typeface="Microsoft JhengHei" pitchFamily="34" charset="-120"/>
              </a:rPr>
              <a:t>指標</a:t>
            </a:r>
            <a:endParaRPr lang="en-US" sz="1050" dirty="0"/>
          </a:p>
        </p:txBody>
      </p:sp>
      <p:sp>
        <p:nvSpPr>
          <p:cNvPr id="31" name="Text 29"/>
          <p:cNvSpPr txBox="1"/>
          <p:nvPr/>
        </p:nvSpPr>
        <p:spPr>
          <a:xfrm>
            <a:off x="8633993" y="4873752"/>
            <a:ext cx="2978887" cy="54864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年度統計報告；查證個案佔比；收回單位數</a:t>
            </a:r>
            <a:endParaRPr lang="en-US" sz="1050" dirty="0"/>
          </a:p>
        </p:txBody>
      </p:sp>
      <p:sp>
        <p:nvSpPr>
          <p:cNvPr id="32" name="Shape 30"/>
          <p:cNvSpPr/>
          <p:nvPr/>
        </p:nvSpPr>
        <p:spPr>
          <a:xfrm>
            <a:off x="7818120" y="5404104"/>
            <a:ext cx="3794760" cy="12802"/>
          </a:xfrm>
          <a:prstGeom prst="rect">
            <a:avLst/>
          </a:prstGeom>
          <a:solidFill>
            <a:srgbClr val="C72A09"/>
          </a:solidFill>
          <a:ln/>
        </p:spPr>
      </p:sp>
      <p:sp>
        <p:nvSpPr>
          <p:cNvPr id="34" name="Text 31"/>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三部房屋法例；房屋局統計；香港立法會答覆（2024-11）；施政報告 2026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(37)</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第六部分　總結</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三個問題，如何連在一起</a:t>
            </a:r>
            <a:endParaRPr lang="en-US" sz="3400" dirty="0"/>
          </a:p>
        </p:txBody>
      </p:sp>
      <p:sp>
        <p:nvSpPr>
          <p:cNvPr id="8" name="Shape 6"/>
          <p:cNvSpPr/>
          <p:nvPr/>
        </p:nvSpPr>
        <p:spPr>
          <a:xfrm>
            <a:off x="566928" y="1600200"/>
            <a:ext cx="3383280" cy="1371600"/>
          </a:xfrm>
          <a:prstGeom prst="rect">
            <a:avLst/>
          </a:prstGeom>
          <a:solidFill>
            <a:srgbClr val="EEEBE3"/>
          </a:solidFill>
          <a:ln w="15875">
            <a:solidFill>
              <a:srgbClr val="CA0013"/>
            </a:solidFill>
            <a:prstDash val="solid"/>
          </a:ln>
        </p:spPr>
      </p:sp>
      <p:sp>
        <p:nvSpPr>
          <p:cNvPr id="9" name="Text 7"/>
          <p:cNvSpPr txBox="1"/>
          <p:nvPr/>
        </p:nvSpPr>
        <p:spPr>
          <a:xfrm>
            <a:off x="749808" y="1728216"/>
            <a:ext cx="3017520" cy="310896"/>
          </a:xfrm>
          <a:prstGeom prst="rect">
            <a:avLst/>
          </a:prstGeom>
          <a:noFill/>
          <a:ln/>
        </p:spPr>
        <p:txBody>
          <a:bodyPr wrap="square" lIns="0" tIns="0" rIns="0" bIns="0" rtlCol="0" anchor="t"/>
          <a:lstStyle/>
          <a:p>
            <a:pPr algn="l" indent="0" marL="0">
              <a:lnSpc>
                <a:spcPct val="125000"/>
              </a:lnSpc>
              <a:buNone/>
            </a:pPr>
            <a:r>
              <a:rPr lang="en-US" sz="1050" b="1" spc="240" kern="0" dirty="0">
                <a:solidFill>
                  <a:srgbClr val="CA0013"/>
                </a:solidFill>
                <a:latin typeface="Microsoft JhengHei" pitchFamily="34" charset="0"/>
                <a:ea typeface="Microsoft JhengHei" pitchFamily="34" charset="-122"/>
                <a:cs typeface="Microsoft JhengHei" pitchFamily="34" charset="-120"/>
              </a:rPr>
              <a:t>問題一　→　措施一</a:t>
            </a:r>
            <a:endParaRPr lang="en-US" sz="1050" dirty="0"/>
          </a:p>
        </p:txBody>
      </p:sp>
      <p:sp>
        <p:nvSpPr>
          <p:cNvPr id="10" name="Text 8"/>
          <p:cNvSpPr txBox="1"/>
          <p:nvPr/>
        </p:nvSpPr>
        <p:spPr>
          <a:xfrm>
            <a:off x="749808" y="1984248"/>
            <a:ext cx="3017520" cy="384048"/>
          </a:xfrm>
          <a:prstGeom prst="rect">
            <a:avLst/>
          </a:prstGeom>
          <a:noFill/>
          <a:ln/>
        </p:spPr>
        <p:txBody>
          <a:bodyPr wrap="square" lIns="0" tIns="0" rIns="0" bIns="0" rtlCol="0" anchor="t"/>
          <a:lstStyle/>
          <a:p>
            <a:pPr indent="0" marL="0">
              <a:buNone/>
            </a:pPr>
            <a:r>
              <a:rPr lang="en-US" sz="1800" b="1" dirty="0">
                <a:solidFill>
                  <a:srgbClr val="CA0013"/>
                </a:solidFill>
                <a:latin typeface="Microsoft JhengHei" pitchFamily="34" charset="0"/>
                <a:ea typeface="Microsoft JhengHei" pitchFamily="34" charset="-122"/>
                <a:cs typeface="Microsoft JhengHei" pitchFamily="34" charset="-120"/>
              </a:rPr>
              <a:t>私樓價格與負擔</a:t>
            </a:r>
            <a:endParaRPr lang="en-US" sz="1800" dirty="0"/>
          </a:p>
        </p:txBody>
      </p:sp>
      <p:sp>
        <p:nvSpPr>
          <p:cNvPr id="11" name="Text 9"/>
          <p:cNvSpPr txBox="1"/>
          <p:nvPr/>
        </p:nvSpPr>
        <p:spPr>
          <a:xfrm>
            <a:off x="749808" y="2423160"/>
            <a:ext cx="3017520" cy="45720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樓價 −31.7%；樓價收入比 6.5–9.6 倍</a:t>
            </a:r>
            <a:endParaRPr lang="en-US" sz="1050" dirty="0"/>
          </a:p>
        </p:txBody>
      </p:sp>
      <p:sp>
        <p:nvSpPr>
          <p:cNvPr id="12" name="Shape 10"/>
          <p:cNvSpPr/>
          <p:nvPr/>
        </p:nvSpPr>
        <p:spPr>
          <a:xfrm>
            <a:off x="8241487" y="1600200"/>
            <a:ext cx="3383280" cy="1371600"/>
          </a:xfrm>
          <a:prstGeom prst="rect">
            <a:avLst/>
          </a:prstGeom>
          <a:solidFill>
            <a:srgbClr val="EEEBE3"/>
          </a:solidFill>
          <a:ln w="15875">
            <a:solidFill>
              <a:srgbClr val="CA0013"/>
            </a:solidFill>
            <a:prstDash val="solid"/>
          </a:ln>
        </p:spPr>
      </p:sp>
      <p:sp>
        <p:nvSpPr>
          <p:cNvPr id="13" name="Text 11"/>
          <p:cNvSpPr txBox="1"/>
          <p:nvPr/>
        </p:nvSpPr>
        <p:spPr>
          <a:xfrm>
            <a:off x="8424367" y="1728216"/>
            <a:ext cx="3017520" cy="310896"/>
          </a:xfrm>
          <a:prstGeom prst="rect">
            <a:avLst/>
          </a:prstGeom>
          <a:noFill/>
          <a:ln/>
        </p:spPr>
        <p:txBody>
          <a:bodyPr wrap="square" lIns="0" tIns="0" rIns="0" bIns="0" rtlCol="0" anchor="t"/>
          <a:lstStyle/>
          <a:p>
            <a:pPr algn="l" indent="0" marL="0">
              <a:lnSpc>
                <a:spcPct val="125000"/>
              </a:lnSpc>
              <a:buNone/>
            </a:pPr>
            <a:r>
              <a:rPr lang="en-US" sz="1050" b="1" spc="240" kern="0" dirty="0">
                <a:solidFill>
                  <a:srgbClr val="CA0013"/>
                </a:solidFill>
                <a:latin typeface="Microsoft JhengHei" pitchFamily="34" charset="0"/>
                <a:ea typeface="Microsoft JhengHei" pitchFamily="34" charset="-122"/>
                <a:cs typeface="Microsoft JhengHei" pitchFamily="34" charset="-120"/>
              </a:rPr>
              <a:t>問題二　→　措施二</a:t>
            </a:r>
            <a:endParaRPr lang="en-US" sz="1050" dirty="0"/>
          </a:p>
        </p:txBody>
      </p:sp>
      <p:sp>
        <p:nvSpPr>
          <p:cNvPr id="14" name="Text 12"/>
          <p:cNvSpPr txBox="1"/>
          <p:nvPr/>
        </p:nvSpPr>
        <p:spPr>
          <a:xfrm>
            <a:off x="8424367" y="1984248"/>
            <a:ext cx="3017520" cy="384048"/>
          </a:xfrm>
          <a:prstGeom prst="rect">
            <a:avLst/>
          </a:prstGeom>
          <a:noFill/>
          <a:ln/>
        </p:spPr>
        <p:txBody>
          <a:bodyPr wrap="square" lIns="0" tIns="0" rIns="0" bIns="0" rtlCol="0" anchor="t"/>
          <a:lstStyle/>
          <a:p>
            <a:pPr indent="0" marL="0">
              <a:buNone/>
            </a:pPr>
            <a:r>
              <a:rPr lang="en-US" sz="1800" b="1" dirty="0">
                <a:solidFill>
                  <a:srgbClr val="CA0013"/>
                </a:solidFill>
                <a:latin typeface="Microsoft JhengHei" pitchFamily="34" charset="0"/>
                <a:ea typeface="Microsoft JhengHei" pitchFamily="34" charset="-122"/>
                <a:cs typeface="Microsoft JhengHei" pitchFamily="34" charset="-120"/>
              </a:rPr>
              <a:t>舊樓與都市更新</a:t>
            </a:r>
            <a:endParaRPr lang="en-US" sz="1800" dirty="0"/>
          </a:p>
        </p:txBody>
      </p:sp>
      <p:sp>
        <p:nvSpPr>
          <p:cNvPr id="15" name="Text 13"/>
          <p:cNvSpPr txBox="1"/>
          <p:nvPr/>
        </p:nvSpPr>
        <p:spPr>
          <a:xfrm>
            <a:off x="8424367" y="2423160"/>
            <a:ext cx="3017520" cy="45720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失修通知 84 宗；祐漢 46 幢；置換房餘 1,700 多個</a:t>
            </a:r>
            <a:endParaRPr lang="en-US" sz="1050" dirty="0"/>
          </a:p>
        </p:txBody>
      </p:sp>
      <p:sp>
        <p:nvSpPr>
          <p:cNvPr id="16" name="Shape 14"/>
          <p:cNvSpPr/>
          <p:nvPr/>
        </p:nvSpPr>
        <p:spPr>
          <a:xfrm>
            <a:off x="4404208" y="3611880"/>
            <a:ext cx="3383280" cy="1371600"/>
          </a:xfrm>
          <a:prstGeom prst="rect">
            <a:avLst/>
          </a:prstGeom>
          <a:solidFill>
            <a:srgbClr val="EEEBE3"/>
          </a:solidFill>
          <a:ln w="15875">
            <a:solidFill>
              <a:srgbClr val="CA0013"/>
            </a:solidFill>
            <a:prstDash val="solid"/>
          </a:ln>
        </p:spPr>
      </p:sp>
      <p:sp>
        <p:nvSpPr>
          <p:cNvPr id="17" name="Text 15"/>
          <p:cNvSpPr txBox="1"/>
          <p:nvPr/>
        </p:nvSpPr>
        <p:spPr>
          <a:xfrm>
            <a:off x="4587088" y="3739896"/>
            <a:ext cx="3017520" cy="310896"/>
          </a:xfrm>
          <a:prstGeom prst="rect">
            <a:avLst/>
          </a:prstGeom>
          <a:noFill/>
          <a:ln/>
        </p:spPr>
        <p:txBody>
          <a:bodyPr wrap="square" lIns="0" tIns="0" rIns="0" bIns="0" rtlCol="0" anchor="t"/>
          <a:lstStyle/>
          <a:p>
            <a:pPr algn="l" indent="0" marL="0">
              <a:lnSpc>
                <a:spcPct val="125000"/>
              </a:lnSpc>
              <a:buNone/>
            </a:pPr>
            <a:r>
              <a:rPr lang="en-US" sz="1050" b="1" spc="240" kern="0" dirty="0">
                <a:solidFill>
                  <a:srgbClr val="CA0013"/>
                </a:solidFill>
                <a:latin typeface="Microsoft JhengHei" pitchFamily="34" charset="0"/>
                <a:ea typeface="Microsoft JhengHei" pitchFamily="34" charset="-122"/>
                <a:cs typeface="Microsoft JhengHei" pitchFamily="34" charset="-120"/>
              </a:rPr>
              <a:t>問題三　→　措施三</a:t>
            </a:r>
            <a:endParaRPr lang="en-US" sz="1050" dirty="0"/>
          </a:p>
        </p:txBody>
      </p:sp>
      <p:sp>
        <p:nvSpPr>
          <p:cNvPr id="18" name="Text 16"/>
          <p:cNvSpPr txBox="1"/>
          <p:nvPr/>
        </p:nvSpPr>
        <p:spPr>
          <a:xfrm>
            <a:off x="4587088" y="3995928"/>
            <a:ext cx="3017520" cy="384048"/>
          </a:xfrm>
          <a:prstGeom prst="rect">
            <a:avLst/>
          </a:prstGeom>
          <a:noFill/>
          <a:ln/>
        </p:spPr>
        <p:txBody>
          <a:bodyPr wrap="square" lIns="0" tIns="0" rIns="0" bIns="0" rtlCol="0" anchor="t"/>
          <a:lstStyle/>
          <a:p>
            <a:pPr indent="0" marL="0">
              <a:buNone/>
            </a:pPr>
            <a:r>
              <a:rPr lang="en-US" sz="1800" b="1" dirty="0">
                <a:solidFill>
                  <a:srgbClr val="CA0013"/>
                </a:solidFill>
                <a:latin typeface="Microsoft JhengHei" pitchFamily="34" charset="0"/>
                <a:ea typeface="Microsoft JhengHei" pitchFamily="34" charset="-122"/>
                <a:cs typeface="Microsoft JhengHei" pitchFamily="34" charset="-120"/>
              </a:rPr>
              <a:t>公共房屋與夾心階層</a:t>
            </a:r>
            <a:endParaRPr lang="en-US" sz="1800" dirty="0"/>
          </a:p>
        </p:txBody>
      </p:sp>
      <p:sp>
        <p:nvSpPr>
          <p:cNvPr id="19" name="Text 17"/>
          <p:cNvSpPr txBox="1"/>
          <p:nvPr/>
        </p:nvSpPr>
        <p:spPr>
          <a:xfrm>
            <a:off x="4587088" y="4434840"/>
            <a:ext cx="3017520" cy="45720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經屋批次供應；夾屋無單位；監察數字未公開</a:t>
            </a:r>
            <a:endParaRPr lang="en-US" sz="1050" dirty="0"/>
          </a:p>
        </p:txBody>
      </p:sp>
      <p:sp>
        <p:nvSpPr>
          <p:cNvPr id="20" name="Shape 18"/>
          <p:cNvSpPr/>
          <p:nvPr/>
        </p:nvSpPr>
        <p:spPr>
          <a:xfrm>
            <a:off x="4041648" y="2286000"/>
            <a:ext cx="4108399" cy="0"/>
          </a:xfrm>
          <a:prstGeom prst="line">
            <a:avLst/>
          </a:prstGeom>
          <a:noFill/>
          <a:ln w="28575">
            <a:solidFill>
              <a:srgbClr val="CA0013"/>
            </a:solidFill>
            <a:prstDash val="solid"/>
            <a:tailEnd type="triangle"/>
          </a:ln>
        </p:spPr>
      </p:sp>
      <p:sp>
        <p:nvSpPr>
          <p:cNvPr id="21" name="Text 19"/>
          <p:cNvSpPr txBox="1"/>
          <p:nvPr/>
        </p:nvSpPr>
        <p:spPr>
          <a:xfrm>
            <a:off x="4297680" y="1691640"/>
            <a:ext cx="3611880" cy="502920"/>
          </a:xfrm>
          <a:prstGeom prst="rect">
            <a:avLst/>
          </a:prstGeom>
          <a:noFill/>
          <a:ln/>
        </p:spPr>
        <p:txBody>
          <a:bodyPr wrap="square" lIns="0" tIns="0" rIns="0" bIns="0" rtlCol="0" anchor="ctr"/>
          <a:lstStyle/>
          <a:p>
            <a:pPr algn="ct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舊樓租金低，重建後價值由市場決定（本組推論）</a:t>
            </a:r>
            <a:endParaRPr lang="en-US" sz="1050" dirty="0"/>
          </a:p>
        </p:txBody>
      </p:sp>
      <p:sp>
        <p:nvSpPr>
          <p:cNvPr id="22" name="Shape 20"/>
          <p:cNvSpPr/>
          <p:nvPr/>
        </p:nvSpPr>
        <p:spPr>
          <a:xfrm>
            <a:off x="2258568" y="3017520"/>
            <a:ext cx="2099920" cy="1097280"/>
          </a:xfrm>
          <a:prstGeom prst="line">
            <a:avLst/>
          </a:prstGeom>
          <a:noFill/>
          <a:ln w="28575">
            <a:solidFill>
              <a:srgbClr val="CA0013"/>
            </a:solidFill>
            <a:prstDash val="solid"/>
            <a:tailEnd type="triangle"/>
          </a:ln>
        </p:spPr>
      </p:sp>
      <p:sp>
        <p:nvSpPr>
          <p:cNvPr id="23" name="Shape 21"/>
          <p:cNvSpPr/>
          <p:nvPr/>
        </p:nvSpPr>
        <p:spPr>
          <a:xfrm flipH="1">
            <a:off x="7833208" y="3017520"/>
            <a:ext cx="2099920" cy="1097280"/>
          </a:xfrm>
          <a:prstGeom prst="line">
            <a:avLst/>
          </a:prstGeom>
          <a:noFill/>
          <a:ln w="28575">
            <a:solidFill>
              <a:srgbClr val="CA0013"/>
            </a:solidFill>
            <a:prstDash val="solid"/>
            <a:tailEnd type="triangle"/>
          </a:ln>
        </p:spPr>
      </p:sp>
      <p:sp>
        <p:nvSpPr>
          <p:cNvPr id="24" name="Text 22"/>
          <p:cNvSpPr txBox="1"/>
          <p:nvPr/>
        </p:nvSpPr>
        <p:spPr>
          <a:xfrm>
            <a:off x="566928" y="3611880"/>
            <a:ext cx="2743200" cy="86868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買不起私樓，轉向經屋與社屋，輪候壓力增加（本組推論）</a:t>
            </a:r>
            <a:endParaRPr lang="en-US" sz="1050" dirty="0"/>
          </a:p>
        </p:txBody>
      </p:sp>
      <p:sp>
        <p:nvSpPr>
          <p:cNvPr id="25" name="Text 23"/>
          <p:cNvSpPr txBox="1"/>
          <p:nvPr/>
        </p:nvSpPr>
        <p:spPr>
          <a:xfrm>
            <a:off x="9235440" y="3611880"/>
            <a:ext cx="2377440" cy="868680"/>
          </a:xfrm>
          <a:prstGeom prst="rect">
            <a:avLst/>
          </a:prstGeom>
          <a:noFill/>
          <a:ln/>
        </p:spPr>
        <p:txBody>
          <a:bodyPr wrap="square" lIns="0" tIns="0" rIns="0" bIns="0" rtlCol="0" anchor="t"/>
          <a:lstStyle/>
          <a:p>
            <a:pPr indent="0" marL="0">
              <a:lnSpc>
                <a:spcPct val="130000"/>
              </a:lnSpc>
              <a:buNone/>
            </a:pPr>
            <a:r>
              <a:rPr lang="en-US" sz="1050" dirty="0">
                <a:solidFill>
                  <a:srgbClr val="CA0013"/>
                </a:solidFill>
                <a:latin typeface="Microsoft JhengHei" pitchFamily="34" charset="0"/>
                <a:ea typeface="Microsoft JhengHei" pitchFamily="34" charset="-122"/>
                <a:cs typeface="Microsoft JhengHei" pitchFamily="34" charset="-120"/>
              </a:rPr>
              <a:t>舊區居民需要置換房、社屋、長者公寓，安置錯配（有數據）</a:t>
            </a:r>
            <a:endParaRPr lang="en-US" sz="1050" dirty="0"/>
          </a:p>
        </p:txBody>
      </p:sp>
      <p:sp>
        <p:nvSpPr>
          <p:cNvPr id="26" name="Shape 24"/>
          <p:cNvSpPr/>
          <p:nvPr/>
        </p:nvSpPr>
        <p:spPr>
          <a:xfrm>
            <a:off x="566928" y="5257800"/>
            <a:ext cx="11057839" cy="18288"/>
          </a:xfrm>
          <a:prstGeom prst="rect">
            <a:avLst/>
          </a:prstGeom>
          <a:solidFill>
            <a:srgbClr val="C72A09"/>
          </a:solidFill>
          <a:ln/>
        </p:spPr>
      </p:sp>
      <p:sp>
        <p:nvSpPr>
          <p:cNvPr id="27" name="Text 25"/>
          <p:cNvSpPr txBox="1"/>
          <p:nvPr/>
        </p:nvSpPr>
        <p:spPr>
          <a:xfrm>
            <a:off x="566928" y="5349240"/>
            <a:ext cx="11057839" cy="365760"/>
          </a:xfrm>
          <a:prstGeom prst="rect">
            <a:avLst/>
          </a:prstGeom>
          <a:noFill/>
          <a:ln/>
        </p:spPr>
        <p:txBody>
          <a:bodyPr wrap="square" lIns="0" tIns="0" rIns="0" bIns="0" rtlCol="0" anchor="ctr"/>
          <a:lstStyle/>
          <a:p>
            <a:pPr indent="0" marL="0">
              <a:buNone/>
            </a:pPr>
            <a:r>
              <a:rPr lang="en-US" sz="1600" b="1" dirty="0">
                <a:solidFill>
                  <a:srgbClr val="CA0013"/>
                </a:solidFill>
                <a:latin typeface="Microsoft JhengHei" pitchFamily="34" charset="0"/>
                <a:ea typeface="Microsoft JhengHei" pitchFamily="34" charset="-122"/>
                <a:cs typeface="Microsoft JhengHei" pitchFamily="34" charset="-120"/>
              </a:rPr>
              <a:t>共同根源：住房主要按支付能力分配，而不是按居住需要分配。</a:t>
            </a:r>
            <a:endParaRPr lang="en-US" sz="1600" dirty="0"/>
          </a:p>
        </p:txBody>
      </p:sp>
      <p:sp>
        <p:nvSpPr>
          <p:cNvPr id="28" name="Text 26"/>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本組整理</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(38)</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第六部分　總結</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因素、理論、措施</a:t>
            </a:r>
            <a:endParaRPr lang="en-US" sz="3400" dirty="0"/>
          </a:p>
        </p:txBody>
      </p:sp>
      <p:sp>
        <p:nvSpPr>
          <p:cNvPr id="8" name="Text 6"/>
          <p:cNvSpPr txBox="1"/>
          <p:nvPr/>
        </p:nvSpPr>
        <p:spPr>
          <a:xfrm>
            <a:off x="566928" y="1600200"/>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社會因素</a:t>
            </a:r>
            <a:endParaRPr lang="en-US" sz="1200" dirty="0"/>
          </a:p>
        </p:txBody>
      </p:sp>
      <p:sp>
        <p:nvSpPr>
          <p:cNvPr id="9" name="Shape 7"/>
          <p:cNvSpPr/>
          <p:nvPr/>
        </p:nvSpPr>
        <p:spPr>
          <a:xfrm>
            <a:off x="566928" y="2002536"/>
            <a:ext cx="3557016" cy="12802"/>
          </a:xfrm>
          <a:prstGeom prst="rect">
            <a:avLst/>
          </a:prstGeom>
          <a:solidFill>
            <a:srgbClr val="C72A09"/>
          </a:solidFill>
          <a:ln/>
        </p:spPr>
      </p:sp>
      <p:sp>
        <p:nvSpPr>
          <p:cNvPr id="10" name="Text 8"/>
          <p:cNvSpPr txBox="1"/>
          <p:nvPr/>
        </p:nvSpPr>
        <p:spPr>
          <a:xfrm>
            <a:off x="566928" y="2130552"/>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經濟：收入與資產分配</a:t>
            </a:r>
            <a:endParaRPr lang="en-US" sz="1200" dirty="0"/>
          </a:p>
        </p:txBody>
      </p:sp>
      <p:sp>
        <p:nvSpPr>
          <p:cNvPr id="11" name="Shape 9"/>
          <p:cNvSpPr/>
          <p:nvPr/>
        </p:nvSpPr>
        <p:spPr>
          <a:xfrm>
            <a:off x="566928" y="2587752"/>
            <a:ext cx="3557016" cy="12802"/>
          </a:xfrm>
          <a:prstGeom prst="rect">
            <a:avLst/>
          </a:prstGeom>
          <a:solidFill>
            <a:srgbClr val="C72A09"/>
          </a:solidFill>
          <a:ln/>
        </p:spPr>
      </p:sp>
      <p:sp>
        <p:nvSpPr>
          <p:cNvPr id="12" name="Text 10"/>
          <p:cNvSpPr txBox="1"/>
          <p:nvPr/>
        </p:nvSpPr>
        <p:spPr>
          <a:xfrm>
            <a:off x="566928" y="2697480"/>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政策與法律：門檻、成數、批次供應</a:t>
            </a:r>
            <a:endParaRPr lang="en-US" sz="1200" dirty="0"/>
          </a:p>
        </p:txBody>
      </p:sp>
      <p:sp>
        <p:nvSpPr>
          <p:cNvPr id="13" name="Shape 11"/>
          <p:cNvSpPr/>
          <p:nvPr/>
        </p:nvSpPr>
        <p:spPr>
          <a:xfrm>
            <a:off x="566928" y="3154680"/>
            <a:ext cx="3557016" cy="12802"/>
          </a:xfrm>
          <a:prstGeom prst="rect">
            <a:avLst/>
          </a:prstGeom>
          <a:solidFill>
            <a:srgbClr val="C72A09"/>
          </a:solidFill>
          <a:ln/>
        </p:spPr>
      </p:sp>
      <p:sp>
        <p:nvSpPr>
          <p:cNvPr id="14" name="Text 12"/>
          <p:cNvSpPr txBox="1"/>
          <p:nvPr/>
        </p:nvSpPr>
        <p:spPr>
          <a:xfrm>
            <a:off x="566928" y="3264408"/>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社會人口：老化、家庭縮小</a:t>
            </a:r>
            <a:endParaRPr lang="en-US" sz="1200" dirty="0"/>
          </a:p>
        </p:txBody>
      </p:sp>
      <p:sp>
        <p:nvSpPr>
          <p:cNvPr id="15" name="Shape 13"/>
          <p:cNvSpPr/>
          <p:nvPr/>
        </p:nvSpPr>
        <p:spPr>
          <a:xfrm>
            <a:off x="566928" y="3721608"/>
            <a:ext cx="3557016" cy="12802"/>
          </a:xfrm>
          <a:prstGeom prst="rect">
            <a:avLst/>
          </a:prstGeom>
          <a:solidFill>
            <a:srgbClr val="C72A09"/>
          </a:solidFill>
          <a:ln/>
        </p:spPr>
      </p:sp>
      <p:sp>
        <p:nvSpPr>
          <p:cNvPr id="16" name="Text 14"/>
          <p:cNvSpPr txBox="1"/>
          <p:nvPr/>
        </p:nvSpPr>
        <p:spPr>
          <a:xfrm>
            <a:off x="566928" y="3831336"/>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地理與物理：土地稀缺、樓齡</a:t>
            </a:r>
            <a:endParaRPr lang="en-US" sz="1200" dirty="0"/>
          </a:p>
        </p:txBody>
      </p:sp>
      <p:sp>
        <p:nvSpPr>
          <p:cNvPr id="17" name="Shape 15"/>
          <p:cNvSpPr/>
          <p:nvPr/>
        </p:nvSpPr>
        <p:spPr>
          <a:xfrm>
            <a:off x="566928" y="4288536"/>
            <a:ext cx="3557016" cy="12802"/>
          </a:xfrm>
          <a:prstGeom prst="rect">
            <a:avLst/>
          </a:prstGeom>
          <a:solidFill>
            <a:srgbClr val="C72A09"/>
          </a:solidFill>
          <a:ln/>
        </p:spPr>
      </p:sp>
      <p:sp>
        <p:nvSpPr>
          <p:cNvPr id="18" name="Text 16"/>
          <p:cNvSpPr txBox="1"/>
          <p:nvPr/>
        </p:nvSpPr>
        <p:spPr>
          <a:xfrm>
            <a:off x="4315968" y="1600200"/>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馬克思理論</a:t>
            </a:r>
            <a:endParaRPr lang="en-US" sz="1200" dirty="0"/>
          </a:p>
        </p:txBody>
      </p:sp>
      <p:sp>
        <p:nvSpPr>
          <p:cNvPr id="19" name="Shape 17"/>
          <p:cNvSpPr/>
          <p:nvPr/>
        </p:nvSpPr>
        <p:spPr>
          <a:xfrm>
            <a:off x="4315968" y="2002536"/>
            <a:ext cx="3557016" cy="12802"/>
          </a:xfrm>
          <a:prstGeom prst="rect">
            <a:avLst/>
          </a:prstGeom>
          <a:solidFill>
            <a:srgbClr val="C72A09"/>
          </a:solidFill>
          <a:ln/>
        </p:spPr>
      </p:sp>
      <p:sp>
        <p:nvSpPr>
          <p:cNvPr id="20" name="Text 18"/>
          <p:cNvSpPr txBox="1"/>
          <p:nvPr/>
        </p:nvSpPr>
        <p:spPr>
          <a:xfrm>
            <a:off x="4315968" y="2130552"/>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商品化：居所變成資產</a:t>
            </a:r>
            <a:endParaRPr lang="en-US" sz="1200" dirty="0"/>
          </a:p>
        </p:txBody>
      </p:sp>
      <p:sp>
        <p:nvSpPr>
          <p:cNvPr id="21" name="Shape 19"/>
          <p:cNvSpPr/>
          <p:nvPr/>
        </p:nvSpPr>
        <p:spPr>
          <a:xfrm>
            <a:off x="4315968" y="2587752"/>
            <a:ext cx="3557016" cy="12802"/>
          </a:xfrm>
          <a:prstGeom prst="rect">
            <a:avLst/>
          </a:prstGeom>
          <a:solidFill>
            <a:srgbClr val="C72A09"/>
          </a:solidFill>
          <a:ln/>
        </p:spPr>
      </p:sp>
      <p:sp>
        <p:nvSpPr>
          <p:cNvPr id="22" name="Text 20"/>
          <p:cNvSpPr txBox="1"/>
          <p:nvPr/>
        </p:nvSpPr>
        <p:spPr>
          <a:xfrm>
            <a:off x="4315968" y="2697480"/>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階級：業權人與租戶的分界</a:t>
            </a:r>
            <a:endParaRPr lang="en-US" sz="1200" dirty="0"/>
          </a:p>
        </p:txBody>
      </p:sp>
      <p:sp>
        <p:nvSpPr>
          <p:cNvPr id="23" name="Shape 21"/>
          <p:cNvSpPr/>
          <p:nvPr/>
        </p:nvSpPr>
        <p:spPr>
          <a:xfrm>
            <a:off x="4315968" y="3154680"/>
            <a:ext cx="3557016" cy="12802"/>
          </a:xfrm>
          <a:prstGeom prst="rect">
            <a:avLst/>
          </a:prstGeom>
          <a:solidFill>
            <a:srgbClr val="C72A09"/>
          </a:solidFill>
          <a:ln/>
        </p:spPr>
      </p:sp>
      <p:sp>
        <p:nvSpPr>
          <p:cNvPr id="24" name="Text 22"/>
          <p:cNvSpPr txBox="1"/>
          <p:nvPr/>
        </p:nvSpPr>
        <p:spPr>
          <a:xfrm>
            <a:off x="4315968" y="3264408"/>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國家：提供與調節，有邊界</a:t>
            </a:r>
            <a:endParaRPr lang="en-US" sz="1200" dirty="0"/>
          </a:p>
        </p:txBody>
      </p:sp>
      <p:sp>
        <p:nvSpPr>
          <p:cNvPr id="25" name="Shape 23"/>
          <p:cNvSpPr/>
          <p:nvPr/>
        </p:nvSpPr>
        <p:spPr>
          <a:xfrm>
            <a:off x="4315968" y="3721608"/>
            <a:ext cx="3557016" cy="12802"/>
          </a:xfrm>
          <a:prstGeom prst="rect">
            <a:avLst/>
          </a:prstGeom>
          <a:solidFill>
            <a:srgbClr val="C72A09"/>
          </a:solidFill>
          <a:ln/>
        </p:spPr>
      </p:sp>
      <p:sp>
        <p:nvSpPr>
          <p:cNvPr id="26" name="Text 24"/>
          <p:cNvSpPr txBox="1"/>
          <p:nvPr/>
        </p:nvSpPr>
        <p:spPr>
          <a:xfrm>
            <a:off x="8065008" y="1600200"/>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三項措施</a:t>
            </a:r>
            <a:endParaRPr lang="en-US" sz="1200" dirty="0"/>
          </a:p>
        </p:txBody>
      </p:sp>
      <p:sp>
        <p:nvSpPr>
          <p:cNvPr id="27" name="Shape 25"/>
          <p:cNvSpPr/>
          <p:nvPr/>
        </p:nvSpPr>
        <p:spPr>
          <a:xfrm>
            <a:off x="8065008" y="2002536"/>
            <a:ext cx="3557016" cy="12802"/>
          </a:xfrm>
          <a:prstGeom prst="rect">
            <a:avLst/>
          </a:prstGeom>
          <a:solidFill>
            <a:srgbClr val="C72A09"/>
          </a:solidFill>
          <a:ln/>
        </p:spPr>
      </p:sp>
      <p:sp>
        <p:nvSpPr>
          <p:cNvPr id="28" name="Text 26"/>
          <p:cNvSpPr txBox="1"/>
          <p:nvPr/>
        </p:nvSpPr>
        <p:spPr>
          <a:xfrm>
            <a:off x="8065008" y="2130552"/>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一　私樓：首置支援、夾屋落地</a:t>
            </a:r>
            <a:endParaRPr lang="en-US" sz="1200" dirty="0"/>
          </a:p>
        </p:txBody>
      </p:sp>
      <p:sp>
        <p:nvSpPr>
          <p:cNvPr id="29" name="Shape 27"/>
          <p:cNvSpPr/>
          <p:nvPr/>
        </p:nvSpPr>
        <p:spPr>
          <a:xfrm>
            <a:off x="8065008" y="2587752"/>
            <a:ext cx="3557016" cy="12802"/>
          </a:xfrm>
          <a:prstGeom prst="rect">
            <a:avLst/>
          </a:prstGeom>
          <a:solidFill>
            <a:srgbClr val="C72A09"/>
          </a:solidFill>
          <a:ln/>
        </p:spPr>
      </p:sp>
      <p:sp>
        <p:nvSpPr>
          <p:cNvPr id="30" name="Text 28"/>
          <p:cNvSpPr txBox="1"/>
          <p:nvPr/>
        </p:nvSpPr>
        <p:spPr>
          <a:xfrm>
            <a:off x="8065008" y="2697480"/>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二　舊區：分級公開、維修優先</a:t>
            </a:r>
            <a:endParaRPr lang="en-US" sz="1200" dirty="0"/>
          </a:p>
        </p:txBody>
      </p:sp>
      <p:sp>
        <p:nvSpPr>
          <p:cNvPr id="31" name="Shape 29"/>
          <p:cNvSpPr/>
          <p:nvPr/>
        </p:nvSpPr>
        <p:spPr>
          <a:xfrm>
            <a:off x="8065008" y="3154680"/>
            <a:ext cx="3557016" cy="12802"/>
          </a:xfrm>
          <a:prstGeom prst="rect">
            <a:avLst/>
          </a:prstGeom>
          <a:solidFill>
            <a:srgbClr val="C72A09"/>
          </a:solidFill>
          <a:ln/>
        </p:spPr>
      </p:sp>
      <p:sp>
        <p:nvSpPr>
          <p:cNvPr id="32" name="Text 30"/>
          <p:cNvSpPr txBox="1"/>
          <p:nvPr/>
        </p:nvSpPr>
        <p:spPr>
          <a:xfrm>
            <a:off x="8065008" y="3264408"/>
            <a:ext cx="3557016"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三　公屋社屋：公開統計、查核</a:t>
            </a:r>
            <a:endParaRPr lang="en-US" sz="1200" dirty="0"/>
          </a:p>
        </p:txBody>
      </p:sp>
      <p:sp>
        <p:nvSpPr>
          <p:cNvPr id="33" name="Shape 31"/>
          <p:cNvSpPr/>
          <p:nvPr/>
        </p:nvSpPr>
        <p:spPr>
          <a:xfrm>
            <a:off x="8065008" y="3721608"/>
            <a:ext cx="3557016" cy="12802"/>
          </a:xfrm>
          <a:prstGeom prst="rect">
            <a:avLst/>
          </a:prstGeom>
          <a:solidFill>
            <a:srgbClr val="C72A09"/>
          </a:solidFill>
          <a:ln/>
        </p:spPr>
      </p:sp>
      <p:sp>
        <p:nvSpPr>
          <p:cNvPr id="34" name="Shape 32"/>
          <p:cNvSpPr/>
          <p:nvPr/>
        </p:nvSpPr>
        <p:spPr>
          <a:xfrm>
            <a:off x="566928" y="4709160"/>
            <a:ext cx="11057839" cy="18288"/>
          </a:xfrm>
          <a:prstGeom prst="rect">
            <a:avLst/>
          </a:prstGeom>
          <a:solidFill>
            <a:srgbClr val="C72A09"/>
          </a:solidFill>
          <a:ln/>
        </p:spPr>
      </p:sp>
      <p:sp>
        <p:nvSpPr>
          <p:cNvPr id="35" name="Text 33"/>
          <p:cNvSpPr txBox="1"/>
          <p:nvPr/>
        </p:nvSpPr>
        <p:spPr>
          <a:xfrm>
            <a:off x="566928" y="4828032"/>
            <a:ext cx="11057839" cy="411480"/>
          </a:xfrm>
          <a:prstGeom prst="rect">
            <a:avLst/>
          </a:prstGeom>
          <a:noFill/>
          <a:ln/>
        </p:spPr>
        <p:txBody>
          <a:bodyPr wrap="square" lIns="0" tIns="0" rIns="0" bIns="0" rtlCol="0" anchor="ctr"/>
          <a:lstStyle/>
          <a:p>
            <a:pPr indent="0" marL="0">
              <a:buNone/>
            </a:pPr>
            <a:r>
              <a:rPr lang="en-US" sz="1800" b="1" dirty="0">
                <a:solidFill>
                  <a:srgbClr val="CA0013"/>
                </a:solidFill>
                <a:latin typeface="Microsoft JhengHei" pitchFamily="34" charset="0"/>
                <a:ea typeface="Microsoft JhengHei" pitchFamily="34" charset="-122"/>
                <a:cs typeface="Microsoft JhengHei" pitchFamily="34" charset="-120"/>
              </a:rPr>
              <a:t>總量足夠，分配失衡：三個問題共同指向「住房按支付能力分配」。</a:t>
            </a:r>
            <a:endParaRPr lang="en-US" sz="1800" dirty="0"/>
          </a:p>
        </p:txBody>
      </p:sp>
      <p:sp>
        <p:nvSpPr>
          <p:cNvPr id="36" name="Text 34"/>
          <p:cNvSpPr txBox="1"/>
          <p:nvPr/>
        </p:nvSpPr>
        <p:spPr>
          <a:xfrm>
            <a:off x="566928" y="5257800"/>
            <a:ext cx="11057839" cy="457200"/>
          </a:xfrm>
          <a:prstGeom prst="rect">
            <a:avLst/>
          </a:prstGeom>
          <a:noFill/>
          <a:ln/>
        </p:spPr>
        <p:txBody>
          <a:bodyPr wrap="square" lIns="0" tIns="0" rIns="0" bIns="0" rtlCol="0" anchor="ctr"/>
          <a:lstStyle/>
          <a:p>
            <a:pPr indent="0" marL="0">
              <a:buNone/>
            </a:pPr>
            <a:r>
              <a:rPr lang="en-US" sz="1150" dirty="0">
                <a:solidFill>
                  <a:srgbClr val="CA0013"/>
                </a:solidFill>
                <a:latin typeface="Microsoft JhengHei" pitchFamily="34" charset="0"/>
                <a:ea typeface="Microsoft JhengHei" pitchFamily="34" charset="-122"/>
                <a:cs typeface="Microsoft JhengHei" pitchFamily="34" charset="-120"/>
              </a:rPr>
              <a:t>優先次序（本組判斷）：先做低成本、可即時執行的措施三與措施二（現有法例及基金），同時為措施一定下夾屋時間表；補貼類做法放最後，因為容易被價格吸收。</a:t>
            </a:r>
            <a:endParaRPr lang="en-US" sz="1150" dirty="0"/>
          </a:p>
        </p:txBody>
      </p:sp>
      <p:sp>
        <p:nvSpPr>
          <p:cNvPr id="37" name="Text 35"/>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本組整理</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4" name="Text 2"/>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pic>
        <p:nvPicPr>
          <p:cNvPr id="5" name="Image 0" descr="img/image1.png">    </p:cNvPr>
          <p:cNvPicPr>
            <a:picLocks noChangeAspect="1"/>
          </p:cNvPicPr>
          <p:nvPr/>
        </p:nvPicPr>
        <p:blipFill>
          <a:blip r:embed="rId1"/>
          <a:srcRect l="0" r="0" t="0" b="0"/>
          <a:stretch/>
        </p:blipFill>
        <p:spPr>
          <a:xfrm>
            <a:off x="7863840" y="1143000"/>
            <a:ext cx="3840480" cy="4937760"/>
          </a:xfrm>
          <a:prstGeom prst="rect">
            <a:avLst/>
          </a:prstGeom>
        </p:spPr>
      </p:pic>
      <p:sp>
        <p:nvSpPr>
          <p:cNvPr id="6" name="Text 3"/>
          <p:cNvSpPr txBox="1"/>
          <p:nvPr/>
        </p:nvSpPr>
        <p:spPr>
          <a:xfrm>
            <a:off x="566928" y="914400"/>
            <a:ext cx="3657600" cy="310896"/>
          </a:xfrm>
          <a:prstGeom prst="rect">
            <a:avLst/>
          </a:prstGeom>
          <a:noFill/>
          <a:ln/>
        </p:spPr>
        <p:txBody>
          <a:bodyPr wrap="square" lIns="0" tIns="0" rIns="0" bIns="0" rtlCol="0" anchor="t"/>
          <a:lstStyle/>
          <a:p>
            <a:pPr algn="l" indent="0" marL="0">
              <a:lnSpc>
                <a:spcPct val="125000"/>
              </a:lnSpc>
              <a:buNone/>
            </a:pPr>
            <a:r>
              <a:rPr lang="en-US" sz="1300" b="1" spc="300" kern="0" dirty="0">
                <a:solidFill>
                  <a:srgbClr val="CA0013"/>
                </a:solidFill>
                <a:latin typeface="Microsoft JhengHei" pitchFamily="34" charset="0"/>
                <a:ea typeface="Microsoft JhengHei" pitchFamily="34" charset="-122"/>
                <a:cs typeface="Microsoft JhengHei" pitchFamily="34" charset="-120"/>
              </a:rPr>
              <a:t>結語</a:t>
            </a:r>
            <a:endParaRPr lang="en-US" sz="1300" dirty="0"/>
          </a:p>
        </p:txBody>
      </p:sp>
      <p:sp>
        <p:nvSpPr>
          <p:cNvPr id="7" name="Text 4"/>
          <p:cNvSpPr txBox="1"/>
          <p:nvPr/>
        </p:nvSpPr>
        <p:spPr>
          <a:xfrm>
            <a:off x="566928" y="1371600"/>
            <a:ext cx="7315200" cy="2377440"/>
          </a:xfrm>
          <a:prstGeom prst="rect">
            <a:avLst/>
          </a:prstGeom>
          <a:noFill/>
          <a:ln/>
        </p:spPr>
        <p:txBody>
          <a:bodyPr wrap="square" lIns="0" tIns="0" rIns="0" bIns="0" rtlCol="0" anchor="ctr"/>
          <a:lstStyle/>
          <a:p>
            <a:pPr indent="0" marL="0">
              <a:lnSpc>
                <a:spcPct val="98000"/>
              </a:lnSpc>
              <a:buNone/>
            </a:pPr>
            <a:r>
              <a:rPr lang="en-US" sz="6000" b="1" dirty="0">
                <a:solidFill>
                  <a:srgbClr val="CA0013"/>
                </a:solidFill>
                <a:latin typeface="Microsoft JhengHei" pitchFamily="34" charset="0"/>
                <a:ea typeface="Microsoft JhengHei" pitchFamily="34" charset="-122"/>
                <a:cs typeface="Microsoft JhengHei" pitchFamily="34" charset="-120"/>
              </a:rPr>
              <a:t>房子夠，</a:t>
            </a:r>
            <a:endParaRPr lang="en-US" sz="6000" dirty="0"/>
          </a:p>
          <a:p>
            <a:pPr indent="0" marL="0">
              <a:lnSpc>
                <a:spcPct val="98000"/>
              </a:lnSpc>
              <a:buNone/>
            </a:pPr>
            <a:r>
              <a:rPr lang="en-US" sz="6000" b="1" dirty="0">
                <a:solidFill>
                  <a:srgbClr val="CA0013"/>
                </a:solidFill>
                <a:latin typeface="Microsoft JhengHei" pitchFamily="34" charset="0"/>
                <a:ea typeface="Microsoft JhengHei" pitchFamily="34" charset="-122"/>
                <a:cs typeface="Microsoft JhengHei" pitchFamily="34" charset="-120"/>
              </a:rPr>
              <a:t>未必住得到</a:t>
            </a:r>
            <a:endParaRPr lang="en-US" sz="6000" dirty="0"/>
          </a:p>
        </p:txBody>
      </p:sp>
      <p:sp>
        <p:nvSpPr>
          <p:cNvPr id="8" name="Shape 5"/>
          <p:cNvSpPr/>
          <p:nvPr/>
        </p:nvSpPr>
        <p:spPr>
          <a:xfrm>
            <a:off x="566928" y="3977640"/>
            <a:ext cx="7132320" cy="18288"/>
          </a:xfrm>
          <a:prstGeom prst="rect">
            <a:avLst/>
          </a:prstGeom>
          <a:solidFill>
            <a:srgbClr val="C72A09"/>
          </a:solidFill>
          <a:ln/>
        </p:spPr>
      </p:sp>
      <p:sp>
        <p:nvSpPr>
          <p:cNvPr id="9" name="Text 6"/>
          <p:cNvSpPr txBox="1"/>
          <p:nvPr/>
        </p:nvSpPr>
        <p:spPr>
          <a:xfrm>
            <a:off x="566928" y="4160520"/>
            <a:ext cx="6949440" cy="1280160"/>
          </a:xfrm>
          <a:prstGeom prst="rect">
            <a:avLst/>
          </a:prstGeom>
          <a:noFill/>
          <a:ln/>
        </p:spPr>
        <p:txBody>
          <a:bodyPr wrap="square" lIns="0" tIns="0" rIns="0" bIns="0" rtlCol="0" anchor="t"/>
          <a:lstStyle/>
          <a:p>
            <a:pPr indent="0" marL="0">
              <a:lnSpc>
                <a:spcPct val="150000"/>
              </a:lnSpc>
              <a:buNone/>
            </a:pPr>
            <a:r>
              <a:rPr lang="en-US" sz="1400" dirty="0">
                <a:solidFill>
                  <a:srgbClr val="CA0013"/>
                </a:solidFill>
                <a:latin typeface="Microsoft JhengHei" pitchFamily="34" charset="0"/>
                <a:ea typeface="Microsoft JhengHei" pitchFamily="34" charset="-122"/>
                <a:cs typeface="Microsoft JhengHei" pitchFamily="34" charset="-120"/>
              </a:rPr>
              <a:t>澳門住宅單位比住戶多 35,764 個；2023–2025 年樓價跌 24.1%，租金約升 6%。舊樓等待更新，經屋與夾屋的供應仍未貼近需要。問題不只在數量，更在住房按什麼分配。</a:t>
            </a:r>
            <a:endParaRPr lang="en-US" sz="1400" dirty="0"/>
          </a:p>
        </p:txBody>
      </p:sp>
      <p:sp>
        <p:nvSpPr>
          <p:cNvPr id="10" name="Text 7"/>
          <p:cNvSpPr txBox="1"/>
          <p:nvPr/>
        </p:nvSpPr>
        <p:spPr>
          <a:xfrm>
            <a:off x="566928" y="5532120"/>
            <a:ext cx="6400800" cy="310896"/>
          </a:xfrm>
          <a:prstGeom prst="rect">
            <a:avLst/>
          </a:prstGeom>
          <a:noFill/>
          <a:ln/>
        </p:spPr>
        <p:txBody>
          <a:bodyPr wrap="square" lIns="0" tIns="0" rIns="0" bIns="0" rtlCol="0" anchor="t"/>
          <a:lstStyle/>
          <a:p>
            <a:pPr algn="l" indent="0" marL="0">
              <a:lnSpc>
                <a:spcPct val="125000"/>
              </a:lnSpc>
              <a:buNone/>
            </a:pPr>
            <a:r>
              <a:rPr lang="en-US" sz="1300" b="1" spc="300" kern="0" dirty="0">
                <a:solidFill>
                  <a:srgbClr val="CA0013"/>
                </a:solidFill>
                <a:latin typeface="Microsoft JhengHei" pitchFamily="34" charset="0"/>
                <a:ea typeface="Microsoft JhengHei" pitchFamily="34" charset="-122"/>
                <a:cs typeface="Microsoft JhengHei" pitchFamily="34" charset="-120"/>
              </a:rPr>
              <a:t>多謝各位　歡迎提問</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(40)</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pic>
        <p:nvPicPr>
          <p:cNvPr id="6" name="Image 0" descr="img/image11.jpeg">    </p:cNvPr>
          <p:cNvPicPr>
            <a:picLocks noChangeAspect="1"/>
          </p:cNvPicPr>
          <p:nvPr/>
        </p:nvPicPr>
        <p:blipFill>
          <a:blip r:embed="rId1"/>
          <a:srcRect l="0" r="0" t="0" b="0"/>
          <a:stretch/>
        </p:blipFill>
        <p:spPr>
          <a:xfrm>
            <a:off x="7589520" y="0"/>
            <a:ext cx="4602175" cy="3200400"/>
          </a:xfrm>
          <a:prstGeom prst="rect">
            <a:avLst/>
          </a:prstGeom>
        </p:spPr>
      </p:pic>
      <p:sp>
        <p:nvSpPr>
          <p:cNvPr id="7"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附錄</a:t>
            </a:r>
            <a:endParaRPr lang="en-US" sz="1200" dirty="0"/>
          </a:p>
        </p:txBody>
      </p:sp>
      <p:sp>
        <p:nvSpPr>
          <p:cNvPr id="8" name="Text 5"/>
          <p:cNvSpPr txBox="1"/>
          <p:nvPr/>
        </p:nvSpPr>
        <p:spPr>
          <a:xfrm>
            <a:off x="566928" y="749808"/>
            <a:ext cx="676656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訪問交代</a:t>
            </a:r>
            <a:endParaRPr lang="en-US" sz="3400" dirty="0"/>
          </a:p>
        </p:txBody>
      </p:sp>
      <p:sp>
        <p:nvSpPr>
          <p:cNvPr id="9" name="Text 6"/>
          <p:cNvSpPr txBox="1"/>
          <p:nvPr/>
        </p:nvSpPr>
        <p:spPr>
          <a:xfrm>
            <a:off x="566928" y="1600200"/>
            <a:ext cx="667512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受訪對象</a:t>
            </a:r>
            <a:endParaRPr lang="en-US" sz="1200" dirty="0"/>
          </a:p>
        </p:txBody>
      </p:sp>
      <p:sp>
        <p:nvSpPr>
          <p:cNvPr id="10" name="Shape 7"/>
          <p:cNvSpPr/>
          <p:nvPr/>
        </p:nvSpPr>
        <p:spPr>
          <a:xfrm>
            <a:off x="566928" y="2002536"/>
            <a:ext cx="6675120" cy="12802"/>
          </a:xfrm>
          <a:prstGeom prst="rect">
            <a:avLst/>
          </a:prstGeom>
          <a:solidFill>
            <a:srgbClr val="C72A09"/>
          </a:solidFill>
          <a:ln/>
        </p:spPr>
      </p:sp>
      <p:sp>
        <p:nvSpPr>
          <p:cNvPr id="11" name="Text 8"/>
          <p:cNvSpPr txBox="1"/>
          <p:nvPr/>
        </p:nvSpPr>
        <p:spPr>
          <a:xfrm>
            <a:off x="566928" y="2130552"/>
            <a:ext cx="2269541" cy="3657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受訪者一</a:t>
            </a:r>
            <a:endParaRPr lang="en-US" sz="1200" dirty="0"/>
          </a:p>
        </p:txBody>
      </p:sp>
      <p:sp>
        <p:nvSpPr>
          <p:cNvPr id="12" name="Text 9"/>
          <p:cNvSpPr txBox="1"/>
          <p:nvPr/>
        </p:nvSpPr>
        <p:spPr>
          <a:xfrm>
            <a:off x="2936596" y="2130552"/>
            <a:ext cx="4305452" cy="3657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　職銜與機構</a:t>
            </a:r>
            <a:endParaRPr lang="en-US" sz="1200" dirty="0"/>
          </a:p>
        </p:txBody>
      </p:sp>
      <p:sp>
        <p:nvSpPr>
          <p:cNvPr id="13" name="Shape 10"/>
          <p:cNvSpPr/>
          <p:nvPr/>
        </p:nvSpPr>
        <p:spPr>
          <a:xfrm>
            <a:off x="566928" y="2478024"/>
            <a:ext cx="6675120" cy="12802"/>
          </a:xfrm>
          <a:prstGeom prst="rect">
            <a:avLst/>
          </a:prstGeom>
          <a:solidFill>
            <a:srgbClr val="C72A09"/>
          </a:solidFill>
          <a:ln/>
        </p:spPr>
      </p:sp>
      <p:sp>
        <p:nvSpPr>
          <p:cNvPr id="14" name="Text 11"/>
          <p:cNvSpPr txBox="1"/>
          <p:nvPr/>
        </p:nvSpPr>
        <p:spPr>
          <a:xfrm>
            <a:off x="566928" y="2587752"/>
            <a:ext cx="2269541" cy="3657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受訪者二</a:t>
            </a:r>
            <a:endParaRPr lang="en-US" sz="1200" dirty="0"/>
          </a:p>
        </p:txBody>
      </p:sp>
      <p:sp>
        <p:nvSpPr>
          <p:cNvPr id="15" name="Text 12"/>
          <p:cNvSpPr txBox="1"/>
          <p:nvPr/>
        </p:nvSpPr>
        <p:spPr>
          <a:xfrm>
            <a:off x="2936596" y="2587752"/>
            <a:ext cx="4305452" cy="3657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　職銜與機構</a:t>
            </a:r>
            <a:endParaRPr lang="en-US" sz="1200" dirty="0"/>
          </a:p>
        </p:txBody>
      </p:sp>
      <p:sp>
        <p:nvSpPr>
          <p:cNvPr id="16" name="Shape 13"/>
          <p:cNvSpPr/>
          <p:nvPr/>
        </p:nvSpPr>
        <p:spPr>
          <a:xfrm>
            <a:off x="566928" y="2935224"/>
            <a:ext cx="6675120" cy="12802"/>
          </a:xfrm>
          <a:prstGeom prst="rect">
            <a:avLst/>
          </a:prstGeom>
          <a:solidFill>
            <a:srgbClr val="C72A09"/>
          </a:solidFill>
          <a:ln/>
        </p:spPr>
      </p:sp>
      <p:sp>
        <p:nvSpPr>
          <p:cNvPr id="17" name="Text 14"/>
          <p:cNvSpPr txBox="1"/>
          <p:nvPr/>
        </p:nvSpPr>
        <p:spPr>
          <a:xfrm>
            <a:off x="566928" y="3044952"/>
            <a:ext cx="2269541" cy="3657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訪問日期</a:t>
            </a:r>
            <a:endParaRPr lang="en-US" sz="1200" dirty="0"/>
          </a:p>
        </p:txBody>
      </p:sp>
      <p:sp>
        <p:nvSpPr>
          <p:cNvPr id="18" name="Text 15"/>
          <p:cNvSpPr txBox="1"/>
          <p:nvPr/>
        </p:nvSpPr>
        <p:spPr>
          <a:xfrm>
            <a:off x="2936596" y="3044952"/>
            <a:ext cx="4305452" cy="3657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　方式：＿＿＿＿</a:t>
            </a:r>
            <a:endParaRPr lang="en-US" sz="1200" dirty="0"/>
          </a:p>
        </p:txBody>
      </p:sp>
      <p:sp>
        <p:nvSpPr>
          <p:cNvPr id="19" name="Shape 16"/>
          <p:cNvSpPr/>
          <p:nvPr/>
        </p:nvSpPr>
        <p:spPr>
          <a:xfrm>
            <a:off x="566928" y="3392424"/>
            <a:ext cx="6675120" cy="12802"/>
          </a:xfrm>
          <a:prstGeom prst="rect">
            <a:avLst/>
          </a:prstGeom>
          <a:solidFill>
            <a:srgbClr val="C72A09"/>
          </a:solidFill>
          <a:ln/>
        </p:spPr>
      </p:sp>
      <p:sp>
        <p:nvSpPr>
          <p:cNvPr id="20" name="Text 17"/>
          <p:cNvSpPr txBox="1"/>
          <p:nvPr/>
        </p:nvSpPr>
        <p:spPr>
          <a:xfrm>
            <a:off x="566928" y="3502152"/>
            <a:ext cx="2269541" cy="365760"/>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引用位置</a:t>
            </a:r>
            <a:endParaRPr lang="en-US" sz="1200" dirty="0"/>
          </a:p>
        </p:txBody>
      </p:sp>
      <p:sp>
        <p:nvSpPr>
          <p:cNvPr id="21" name="Text 18"/>
          <p:cNvSpPr txBox="1"/>
          <p:nvPr/>
        </p:nvSpPr>
        <p:spPr>
          <a:xfrm>
            <a:off x="2936596" y="3502152"/>
            <a:ext cx="4305452" cy="365760"/>
          </a:xfrm>
          <a:prstGeom prst="rect">
            <a:avLst/>
          </a:prstGeom>
          <a:noFill/>
          <a:ln/>
        </p:spPr>
        <p:txBody>
          <a:bodyPr wrap="square" lIns="0" tIns="0" rIns="0" bIns="0" rtlCol="0" anchor="t"/>
          <a:lstStyle/>
          <a:p>
            <a:pPr indent="0" marL="0">
              <a:lnSpc>
                <a:spcPct val="130000"/>
              </a:lnSpc>
              <a:buNone/>
            </a:pPr>
            <a:r>
              <a:rPr lang="en-US" sz="1200" dirty="0">
                <a:solidFill>
                  <a:srgbClr val="CA0013"/>
                </a:solidFill>
                <a:latin typeface="Microsoft JhengHei" pitchFamily="34" charset="0"/>
                <a:ea typeface="Microsoft JhengHei" pitchFamily="34" charset="-122"/>
                <a:cs typeface="Microsoft JhengHei" pitchFamily="34" charset="-120"/>
              </a:rPr>
              <a:t>本簡報第 12、17、20、33 頁的「訪問引用位」</a:t>
            </a:r>
            <a:endParaRPr lang="en-US" sz="1200" dirty="0"/>
          </a:p>
        </p:txBody>
      </p:sp>
      <p:sp>
        <p:nvSpPr>
          <p:cNvPr id="22" name="Shape 19"/>
          <p:cNvSpPr/>
          <p:nvPr/>
        </p:nvSpPr>
        <p:spPr>
          <a:xfrm>
            <a:off x="566928" y="3849624"/>
            <a:ext cx="6675120" cy="12802"/>
          </a:xfrm>
          <a:prstGeom prst="rect">
            <a:avLst/>
          </a:prstGeom>
          <a:solidFill>
            <a:srgbClr val="C72A09"/>
          </a:solidFill>
          <a:ln/>
        </p:spPr>
      </p:sp>
      <p:sp>
        <p:nvSpPr>
          <p:cNvPr id="23" name="Shape 20"/>
          <p:cNvSpPr/>
          <p:nvPr/>
        </p:nvSpPr>
        <p:spPr>
          <a:xfrm>
            <a:off x="566928" y="4526280"/>
            <a:ext cx="6675120" cy="18288"/>
          </a:xfrm>
          <a:prstGeom prst="rect">
            <a:avLst/>
          </a:prstGeom>
          <a:solidFill>
            <a:srgbClr val="C72A09"/>
          </a:solidFill>
          <a:ln/>
        </p:spPr>
      </p:sp>
      <p:sp>
        <p:nvSpPr>
          <p:cNvPr id="24" name="Text 21"/>
          <p:cNvSpPr txBox="1"/>
          <p:nvPr/>
        </p:nvSpPr>
        <p:spPr>
          <a:xfrm>
            <a:off x="566928" y="4663440"/>
            <a:ext cx="667512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交代方式</a:t>
            </a:r>
            <a:endParaRPr lang="en-US" sz="1200" dirty="0"/>
          </a:p>
        </p:txBody>
      </p:sp>
      <p:sp>
        <p:nvSpPr>
          <p:cNvPr id="25" name="Text 22"/>
          <p:cNvSpPr txBox="1"/>
          <p:nvPr/>
        </p:nvSpPr>
        <p:spPr>
          <a:xfrm>
            <a:off x="566928" y="4983480"/>
            <a:ext cx="6675120" cy="73152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願意公開身份者附相片一張及 2–3 行背景介紹；不願公開身份者仍須說明其工作及相關性。</a:t>
            </a:r>
            <a:endParaRPr lang="en-US" sz="1150" dirty="0"/>
          </a:p>
        </p:txBody>
      </p:sp>
      <p:sp>
        <p:nvSpPr>
          <p:cNvPr id="26" name="Text 23"/>
          <p:cNvSpPr txBox="1"/>
          <p:nvPr/>
        </p:nvSpPr>
        <p:spPr>
          <a:xfrm>
            <a:off x="7772400" y="3657600"/>
            <a:ext cx="3840480" cy="310896"/>
          </a:xfrm>
          <a:prstGeom prst="rect">
            <a:avLst/>
          </a:prstGeom>
          <a:noFill/>
          <a:ln/>
        </p:spPr>
        <p:txBody>
          <a:bodyPr wrap="square" lIns="0" tIns="0" rIns="0" bIns="0" rtlCol="0" anchor="t"/>
          <a:lstStyle/>
          <a:p>
            <a:pPr algn="l" indent="0" marL="0">
              <a:lnSpc>
                <a:spcPct val="125000"/>
              </a:lnSpc>
              <a:buNone/>
            </a:pPr>
            <a:r>
              <a:rPr lang="en-US" sz="1200" b="1" spc="160" kern="0" dirty="0">
                <a:solidFill>
                  <a:srgbClr val="CA0013"/>
                </a:solidFill>
                <a:latin typeface="Microsoft JhengHei" pitchFamily="34" charset="0"/>
                <a:ea typeface="Microsoft JhengHei" pitchFamily="34" charset="-122"/>
                <a:cs typeface="Microsoft JhengHei" pitchFamily="34" charset="-120"/>
              </a:rPr>
              <a:t>訪問技巧</a:t>
            </a:r>
            <a:endParaRPr lang="en-US" sz="1200" dirty="0"/>
          </a:p>
        </p:txBody>
      </p:sp>
      <p:sp>
        <p:nvSpPr>
          <p:cNvPr id="27" name="Text 24"/>
          <p:cNvSpPr txBox="1"/>
          <p:nvPr/>
        </p:nvSpPr>
        <p:spPr>
          <a:xfrm>
            <a:off x="7772400" y="4023360"/>
            <a:ext cx="3840480" cy="1737360"/>
          </a:xfrm>
          <a:prstGeom prst="rect">
            <a:avLst/>
          </a:prstGeom>
          <a:noFill/>
          <a:ln/>
        </p:spPr>
        <p:txBody>
          <a:bodyPr wrap="square" lIns="0" tIns="0" rIns="0" bIns="0" rtlCol="0" anchor="t"/>
          <a:lstStyle/>
          <a:p>
            <a:pPr indent="0" marL="0">
              <a:lnSpc>
                <a:spcPct val="140000"/>
              </a:lnSpc>
              <a:buNone/>
            </a:pPr>
            <a:r>
              <a:rPr lang="en-US" sz="1150" dirty="0">
                <a:solidFill>
                  <a:srgbClr val="CA0013"/>
                </a:solidFill>
                <a:latin typeface="Microsoft JhengHei" pitchFamily="34" charset="0"/>
                <a:ea typeface="Microsoft JhengHei" pitchFamily="34" charset="-122"/>
                <a:cs typeface="Microsoft JhengHei" pitchFamily="34" charset="-120"/>
              </a:rPr>
              <a:t>受訪者不是社會學家，不問馬克思理論。若受訪者談的是個人經驗，先抽出社會結構成分再使用，不可原話照搬當作社會因素。</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(41)</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附錄</a:t>
            </a:r>
            <a:endParaRPr lang="en-US" sz="1200" dirty="0"/>
          </a:p>
        </p:txBody>
      </p:sp>
      <p:sp>
        <p:nvSpPr>
          <p:cNvPr id="7" name="Text 5"/>
          <p:cNvSpPr txBox="1"/>
          <p:nvPr/>
        </p:nvSpPr>
        <p:spPr>
          <a:xfrm>
            <a:off x="566928" y="749808"/>
            <a:ext cx="868680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參考文獻（一）法例與官方文件</a:t>
            </a:r>
            <a:endParaRPr lang="en-US" sz="3400" dirty="0"/>
          </a:p>
        </p:txBody>
      </p:sp>
      <p:sp>
        <p:nvSpPr>
          <p:cNvPr id="8" name="Text 6"/>
          <p:cNvSpPr txBox="1"/>
          <p:nvPr/>
        </p:nvSpPr>
        <p:spPr>
          <a:xfrm>
            <a:off x="566928" y="1554480"/>
            <a:ext cx="5349240" cy="310896"/>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法例與施政文件</a:t>
            </a:r>
            <a:endParaRPr lang="en-US" sz="1150" dirty="0"/>
          </a:p>
        </p:txBody>
      </p:sp>
      <p:sp>
        <p:nvSpPr>
          <p:cNvPr id="9" name="Shape 7"/>
          <p:cNvSpPr/>
          <p:nvPr/>
        </p:nvSpPr>
        <p:spPr>
          <a:xfrm>
            <a:off x="566928" y="1883664"/>
            <a:ext cx="5349240" cy="18288"/>
          </a:xfrm>
          <a:prstGeom prst="rect">
            <a:avLst/>
          </a:prstGeom>
          <a:solidFill>
            <a:srgbClr val="C72A09"/>
          </a:solidFill>
          <a:ln/>
        </p:spPr>
      </p:sp>
      <p:sp>
        <p:nvSpPr>
          <p:cNvPr id="10" name="Text 8"/>
          <p:cNvSpPr txBox="1"/>
          <p:nvPr/>
        </p:nvSpPr>
        <p:spPr>
          <a:xfrm>
            <a:off x="566928" y="1956816"/>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第 18/2022 號法律《都市更新法律制度》。《澳門特別行政區公報》第 I 組第 52 期，2022-12-28。</a:t>
            </a:r>
            <a:endParaRPr lang="en-US" sz="900" dirty="0"/>
          </a:p>
        </p:txBody>
      </p:sp>
      <p:sp>
        <p:nvSpPr>
          <p:cNvPr id="11" name="Shape 9"/>
          <p:cNvSpPr/>
          <p:nvPr/>
        </p:nvSpPr>
        <p:spPr>
          <a:xfrm>
            <a:off x="566928" y="2350008"/>
            <a:ext cx="5349240" cy="12802"/>
          </a:xfrm>
          <a:prstGeom prst="rect">
            <a:avLst/>
          </a:prstGeom>
          <a:solidFill>
            <a:srgbClr val="C72A09"/>
          </a:solidFill>
          <a:ln/>
        </p:spPr>
      </p:sp>
      <p:sp>
        <p:nvSpPr>
          <p:cNvPr id="12" name="Text 10"/>
          <p:cNvSpPr txBox="1"/>
          <p:nvPr/>
        </p:nvSpPr>
        <p:spPr>
          <a:xfrm>
            <a:off x="566928" y="2377440"/>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第 17/2019 號法律《社會房屋法律制度》。公報第 I 組第 33 期，2019-08-19。</a:t>
            </a:r>
            <a:endParaRPr lang="en-US" sz="900" dirty="0"/>
          </a:p>
        </p:txBody>
      </p:sp>
      <p:sp>
        <p:nvSpPr>
          <p:cNvPr id="13" name="Shape 11"/>
          <p:cNvSpPr/>
          <p:nvPr/>
        </p:nvSpPr>
        <p:spPr>
          <a:xfrm>
            <a:off x="566928" y="2770632"/>
            <a:ext cx="5349240" cy="12802"/>
          </a:xfrm>
          <a:prstGeom prst="rect">
            <a:avLst/>
          </a:prstGeom>
          <a:solidFill>
            <a:srgbClr val="C72A09"/>
          </a:solidFill>
          <a:ln/>
        </p:spPr>
      </p:sp>
      <p:sp>
        <p:nvSpPr>
          <p:cNvPr id="14" name="Text 12"/>
          <p:cNvSpPr txBox="1"/>
          <p:nvPr/>
        </p:nvSpPr>
        <p:spPr>
          <a:xfrm>
            <a:off x="566928" y="2798064"/>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第 10/2011 號法律《經濟房屋法》；第 13/2020 號法律；第 200/2020 號行政長官批示（重新公布全文）。公報第 39 期，2020-09-28。</a:t>
            </a:r>
            <a:endParaRPr lang="en-US" sz="900" dirty="0"/>
          </a:p>
        </p:txBody>
      </p:sp>
      <p:sp>
        <p:nvSpPr>
          <p:cNvPr id="15" name="Shape 13"/>
          <p:cNvSpPr/>
          <p:nvPr/>
        </p:nvSpPr>
        <p:spPr>
          <a:xfrm>
            <a:off x="566928" y="3191256"/>
            <a:ext cx="5349240" cy="12802"/>
          </a:xfrm>
          <a:prstGeom prst="rect">
            <a:avLst/>
          </a:prstGeom>
          <a:solidFill>
            <a:srgbClr val="C72A09"/>
          </a:solidFill>
          <a:ln/>
        </p:spPr>
      </p:sp>
      <p:sp>
        <p:nvSpPr>
          <p:cNvPr id="16" name="Text 14"/>
          <p:cNvSpPr txBox="1"/>
          <p:nvPr/>
        </p:nvSpPr>
        <p:spPr>
          <a:xfrm>
            <a:off x="566928" y="3218688"/>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第 17/2023 號法律《夾心房屋法律制度》。公報第 I 組第 34 期，2023-08-21。</a:t>
            </a:r>
            <a:endParaRPr lang="en-US" sz="900" dirty="0"/>
          </a:p>
        </p:txBody>
      </p:sp>
      <p:sp>
        <p:nvSpPr>
          <p:cNvPr id="17" name="Shape 15"/>
          <p:cNvSpPr/>
          <p:nvPr/>
        </p:nvSpPr>
        <p:spPr>
          <a:xfrm>
            <a:off x="566928" y="3611880"/>
            <a:ext cx="5349240" cy="12802"/>
          </a:xfrm>
          <a:prstGeom prst="rect">
            <a:avLst/>
          </a:prstGeom>
          <a:solidFill>
            <a:srgbClr val="C72A09"/>
          </a:solidFill>
          <a:ln/>
        </p:spPr>
      </p:sp>
      <p:sp>
        <p:nvSpPr>
          <p:cNvPr id="18" name="Text 16"/>
          <p:cNvSpPr txBox="1"/>
          <p:nvPr/>
        </p:nvSpPr>
        <p:spPr>
          <a:xfrm>
            <a:off x="566928" y="3639312"/>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第 151/2023 號行政長官批示（經屋申請的入息及資產上限）。公報第 38 期，2023-09-18。</a:t>
            </a:r>
            <a:endParaRPr lang="en-US" sz="900" dirty="0"/>
          </a:p>
        </p:txBody>
      </p:sp>
      <p:sp>
        <p:nvSpPr>
          <p:cNvPr id="19" name="Shape 17"/>
          <p:cNvSpPr/>
          <p:nvPr/>
        </p:nvSpPr>
        <p:spPr>
          <a:xfrm>
            <a:off x="566928" y="4032504"/>
            <a:ext cx="5349240" cy="12802"/>
          </a:xfrm>
          <a:prstGeom prst="rect">
            <a:avLst/>
          </a:prstGeom>
          <a:solidFill>
            <a:srgbClr val="C72A09"/>
          </a:solidFill>
          <a:ln/>
        </p:spPr>
      </p:sp>
      <p:sp>
        <p:nvSpPr>
          <p:cNvPr id="20" name="Text 18"/>
          <p:cNvSpPr txBox="1"/>
          <p:nvPr/>
        </p:nvSpPr>
        <p:spPr>
          <a:xfrm>
            <a:off x="566928" y="4059936"/>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2026 年施政報告（2025-11-18）：房屋、都市更新及樓宇維修部分。</a:t>
            </a:r>
            <a:endParaRPr lang="en-US" sz="900" dirty="0"/>
          </a:p>
        </p:txBody>
      </p:sp>
      <p:sp>
        <p:nvSpPr>
          <p:cNvPr id="21" name="Shape 19"/>
          <p:cNvSpPr/>
          <p:nvPr/>
        </p:nvSpPr>
        <p:spPr>
          <a:xfrm>
            <a:off x="566928" y="4453128"/>
            <a:ext cx="5349240" cy="12802"/>
          </a:xfrm>
          <a:prstGeom prst="rect">
            <a:avLst/>
          </a:prstGeom>
          <a:solidFill>
            <a:srgbClr val="C72A09"/>
          </a:solidFill>
          <a:ln/>
        </p:spPr>
      </p:sp>
      <p:sp>
        <p:nvSpPr>
          <p:cNvPr id="22" name="Text 20"/>
          <p:cNvSpPr txBox="1"/>
          <p:nvPr/>
        </p:nvSpPr>
        <p:spPr>
          <a:xfrm>
            <a:off x="566928" y="4480560"/>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行政會（2026-06-16）完成討論修改《樓宇維修基金》行政法規草案。政府新聞局新聞稿。</a:t>
            </a:r>
            <a:endParaRPr lang="en-US" sz="900" dirty="0"/>
          </a:p>
        </p:txBody>
      </p:sp>
      <p:sp>
        <p:nvSpPr>
          <p:cNvPr id="23" name="Shape 21"/>
          <p:cNvSpPr/>
          <p:nvPr/>
        </p:nvSpPr>
        <p:spPr>
          <a:xfrm>
            <a:off x="566928" y="4873752"/>
            <a:ext cx="5349240" cy="12802"/>
          </a:xfrm>
          <a:prstGeom prst="rect">
            <a:avLst/>
          </a:prstGeom>
          <a:solidFill>
            <a:srgbClr val="C72A09"/>
          </a:solidFill>
          <a:ln/>
        </p:spPr>
      </p:sp>
      <p:sp>
        <p:nvSpPr>
          <p:cNvPr id="24" name="Text 22"/>
          <p:cNvSpPr txBox="1"/>
          <p:nvPr/>
        </p:nvSpPr>
        <p:spPr>
          <a:xfrm>
            <a:off x="6281928" y="1554480"/>
            <a:ext cx="5349240" cy="310896"/>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政府文件、公告與質詢</a:t>
            </a:r>
            <a:endParaRPr lang="en-US" sz="1150" dirty="0"/>
          </a:p>
        </p:txBody>
      </p:sp>
      <p:sp>
        <p:nvSpPr>
          <p:cNvPr id="25" name="Shape 23"/>
          <p:cNvSpPr/>
          <p:nvPr/>
        </p:nvSpPr>
        <p:spPr>
          <a:xfrm>
            <a:off x="6281928" y="1883664"/>
            <a:ext cx="5349240" cy="18288"/>
          </a:xfrm>
          <a:prstGeom prst="rect">
            <a:avLst/>
          </a:prstGeom>
          <a:solidFill>
            <a:srgbClr val="C72A09"/>
          </a:solidFill>
          <a:ln/>
        </p:spPr>
      </p:sp>
      <p:sp>
        <p:nvSpPr>
          <p:cNvPr id="26" name="Text 24"/>
          <p:cNvSpPr txBox="1"/>
          <p:nvPr/>
        </p:nvSpPr>
        <p:spPr>
          <a:xfrm>
            <a:off x="6281928" y="1956816"/>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政策研究和區域發展局（2022）。《澳門特別行政區居住用途房屋政策研究》。</a:t>
            </a:r>
            <a:endParaRPr lang="en-US" sz="900" dirty="0"/>
          </a:p>
        </p:txBody>
      </p:sp>
      <p:sp>
        <p:nvSpPr>
          <p:cNvPr id="27" name="Shape 25"/>
          <p:cNvSpPr/>
          <p:nvPr/>
        </p:nvSpPr>
        <p:spPr>
          <a:xfrm>
            <a:off x="6281928" y="2350008"/>
            <a:ext cx="5349240" cy="12802"/>
          </a:xfrm>
          <a:prstGeom prst="rect">
            <a:avLst/>
          </a:prstGeom>
          <a:solidFill>
            <a:srgbClr val="C72A09"/>
          </a:solidFill>
          <a:ln/>
        </p:spPr>
      </p:sp>
      <p:sp>
        <p:nvSpPr>
          <p:cNvPr id="28" name="Text 26"/>
          <p:cNvSpPr txBox="1"/>
          <p:nvPr/>
        </p:nvSpPr>
        <p:spPr>
          <a:xfrm>
            <a:off x="6281928" y="2377440"/>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政策研究和區域發展局委託、澳門大學執行（2022）。《澳門未來房屋需求研究：五大類房屋需求估計摘要文本》。</a:t>
            </a:r>
            <a:endParaRPr lang="en-US" sz="900" dirty="0"/>
          </a:p>
        </p:txBody>
      </p:sp>
      <p:sp>
        <p:nvSpPr>
          <p:cNvPr id="29" name="Shape 27"/>
          <p:cNvSpPr/>
          <p:nvPr/>
        </p:nvSpPr>
        <p:spPr>
          <a:xfrm>
            <a:off x="6281928" y="2770632"/>
            <a:ext cx="5349240" cy="12802"/>
          </a:xfrm>
          <a:prstGeom prst="rect">
            <a:avLst/>
          </a:prstGeom>
          <a:solidFill>
            <a:srgbClr val="C72A09"/>
          </a:solidFill>
          <a:ln/>
        </p:spPr>
      </p:sp>
      <p:sp>
        <p:nvSpPr>
          <p:cNvPr id="30" name="Text 28"/>
          <p:cNvSpPr txBox="1"/>
          <p:nvPr/>
        </p:nvSpPr>
        <p:spPr>
          <a:xfrm>
            <a:off x="6281928" y="2798064"/>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房屋局。《社會房屋恆常性申請統計》（統計期間 2020-08-20 至 2025-03-19）；經屋公告。</a:t>
            </a:r>
            <a:endParaRPr lang="en-US" sz="900" dirty="0"/>
          </a:p>
        </p:txBody>
      </p:sp>
      <p:sp>
        <p:nvSpPr>
          <p:cNvPr id="31" name="Shape 29"/>
          <p:cNvSpPr/>
          <p:nvPr/>
        </p:nvSpPr>
        <p:spPr>
          <a:xfrm>
            <a:off x="6281928" y="3191256"/>
            <a:ext cx="5349240" cy="12802"/>
          </a:xfrm>
          <a:prstGeom prst="rect">
            <a:avLst/>
          </a:prstGeom>
          <a:solidFill>
            <a:srgbClr val="C72A09"/>
          </a:solidFill>
          <a:ln/>
        </p:spPr>
      </p:sp>
      <p:sp>
        <p:nvSpPr>
          <p:cNvPr id="32" name="Text 30"/>
          <p:cNvSpPr txBox="1"/>
          <p:nvPr/>
        </p:nvSpPr>
        <p:spPr>
          <a:xfrm>
            <a:off x="6281928" y="3218688"/>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澳門都市更新股份有限公司（2024-09-20）。〈「祐漢七棟樓群」已全數成立管委會〉；土地工務局（2026-05-03、2026-07-14）新聞稿。</a:t>
            </a:r>
            <a:endParaRPr lang="en-US" sz="900" dirty="0"/>
          </a:p>
        </p:txBody>
      </p:sp>
      <p:sp>
        <p:nvSpPr>
          <p:cNvPr id="33" name="Shape 31"/>
          <p:cNvSpPr/>
          <p:nvPr/>
        </p:nvSpPr>
        <p:spPr>
          <a:xfrm>
            <a:off x="6281928" y="3611880"/>
            <a:ext cx="5349240" cy="12802"/>
          </a:xfrm>
          <a:prstGeom prst="rect">
            <a:avLst/>
          </a:prstGeom>
          <a:solidFill>
            <a:srgbClr val="C72A09"/>
          </a:solidFill>
          <a:ln/>
        </p:spPr>
      </p:sp>
      <p:sp>
        <p:nvSpPr>
          <p:cNvPr id="34" name="Text 32"/>
          <p:cNvSpPr txBox="1"/>
          <p:nvPr/>
        </p:nvSpPr>
        <p:spPr>
          <a:xfrm>
            <a:off x="6281928" y="3639312"/>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廉政公署（2016-11-18）新聞稿；終審法院院長辦公室（2026-08-05）：中級法院 224/2025 號案件。</a:t>
            </a:r>
            <a:endParaRPr lang="en-US" sz="900" dirty="0"/>
          </a:p>
        </p:txBody>
      </p:sp>
      <p:sp>
        <p:nvSpPr>
          <p:cNvPr id="35" name="Shape 33"/>
          <p:cNvSpPr/>
          <p:nvPr/>
        </p:nvSpPr>
        <p:spPr>
          <a:xfrm>
            <a:off x="6281928" y="4032504"/>
            <a:ext cx="5349240" cy="12802"/>
          </a:xfrm>
          <a:prstGeom prst="rect">
            <a:avLst/>
          </a:prstGeom>
          <a:solidFill>
            <a:srgbClr val="C72A09"/>
          </a:solidFill>
          <a:ln/>
        </p:spPr>
      </p:sp>
      <p:sp>
        <p:nvSpPr>
          <p:cNvPr id="36" name="Text 34"/>
          <p:cNvSpPr txBox="1"/>
          <p:nvPr/>
        </p:nvSpPr>
        <p:spPr>
          <a:xfrm>
            <a:off x="6281928" y="4059936"/>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高岸聲議員（2026）書面質詢；李良汪議員（2025-02、2025-04）書面質詢。</a:t>
            </a:r>
            <a:endParaRPr lang="en-US" sz="900" dirty="0"/>
          </a:p>
        </p:txBody>
      </p:sp>
      <p:sp>
        <p:nvSpPr>
          <p:cNvPr id="37" name="Shape 35"/>
          <p:cNvSpPr/>
          <p:nvPr/>
        </p:nvSpPr>
        <p:spPr>
          <a:xfrm>
            <a:off x="6281928" y="4453128"/>
            <a:ext cx="5349240" cy="12802"/>
          </a:xfrm>
          <a:prstGeom prst="rect">
            <a:avLst/>
          </a:prstGeom>
          <a:solidFill>
            <a:srgbClr val="C72A09"/>
          </a:solid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(42)</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附錄</a:t>
            </a:r>
            <a:endParaRPr lang="en-US" sz="1200" dirty="0"/>
          </a:p>
        </p:txBody>
      </p:sp>
      <p:sp>
        <p:nvSpPr>
          <p:cNvPr id="7" name="Text 5"/>
          <p:cNvSpPr txBox="1"/>
          <p:nvPr/>
        </p:nvSpPr>
        <p:spPr>
          <a:xfrm>
            <a:off x="566928" y="749808"/>
            <a:ext cx="868680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參考文獻（二）統計、學術與比較資料</a:t>
            </a:r>
            <a:endParaRPr lang="en-US" sz="3400" dirty="0"/>
          </a:p>
        </p:txBody>
      </p:sp>
      <p:sp>
        <p:nvSpPr>
          <p:cNvPr id="8" name="Text 6"/>
          <p:cNvSpPr txBox="1"/>
          <p:nvPr/>
        </p:nvSpPr>
        <p:spPr>
          <a:xfrm>
            <a:off x="566928" y="1554480"/>
            <a:ext cx="5349240" cy="310896"/>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統計、公告與比較資料</a:t>
            </a:r>
            <a:endParaRPr lang="en-US" sz="1150" dirty="0"/>
          </a:p>
        </p:txBody>
      </p:sp>
      <p:sp>
        <p:nvSpPr>
          <p:cNvPr id="9" name="Shape 7"/>
          <p:cNvSpPr/>
          <p:nvPr/>
        </p:nvSpPr>
        <p:spPr>
          <a:xfrm>
            <a:off x="566928" y="1883664"/>
            <a:ext cx="5349240" cy="18288"/>
          </a:xfrm>
          <a:prstGeom prst="rect">
            <a:avLst/>
          </a:prstGeom>
          <a:solidFill>
            <a:srgbClr val="C72A09"/>
          </a:solidFill>
          <a:ln/>
        </p:spPr>
      </p:sp>
      <p:sp>
        <p:nvSpPr>
          <p:cNvPr id="10" name="Text 8"/>
          <p:cNvSpPr txBox="1"/>
          <p:nvPr/>
        </p:nvSpPr>
        <p:spPr>
          <a:xfrm>
            <a:off x="566928" y="1956816"/>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澳門統計暨普查局（2022–2026）。《私人建築及不動產交易》各年報告；《租金統計：2025 年全年及第四季》。</a:t>
            </a:r>
            <a:endParaRPr lang="en-US" sz="900" dirty="0"/>
          </a:p>
        </p:txBody>
      </p:sp>
      <p:sp>
        <p:nvSpPr>
          <p:cNvPr id="11" name="Shape 9"/>
          <p:cNvSpPr/>
          <p:nvPr/>
        </p:nvSpPr>
        <p:spPr>
          <a:xfrm>
            <a:off x="566928" y="2350008"/>
            <a:ext cx="5349240" cy="12802"/>
          </a:xfrm>
          <a:prstGeom prst="rect">
            <a:avLst/>
          </a:prstGeom>
          <a:solidFill>
            <a:srgbClr val="C72A09"/>
          </a:solidFill>
          <a:ln/>
        </p:spPr>
      </p:sp>
      <p:sp>
        <p:nvSpPr>
          <p:cNvPr id="12" name="Text 10"/>
          <p:cNvSpPr txBox="1"/>
          <p:nvPr/>
        </p:nvSpPr>
        <p:spPr>
          <a:xfrm>
            <a:off x="566928" y="2377440"/>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澳門統計暨普查局。《就業調查》（2022–2025 年第 4 季）；《住戶收支調查 2023/24》；《2021 人口普查》。</a:t>
            </a:r>
            <a:endParaRPr lang="en-US" sz="900" dirty="0"/>
          </a:p>
        </p:txBody>
      </p:sp>
      <p:sp>
        <p:nvSpPr>
          <p:cNvPr id="13" name="Shape 11"/>
          <p:cNvSpPr/>
          <p:nvPr/>
        </p:nvSpPr>
        <p:spPr>
          <a:xfrm>
            <a:off x="566928" y="2770632"/>
            <a:ext cx="5349240" cy="12802"/>
          </a:xfrm>
          <a:prstGeom prst="rect">
            <a:avLst/>
          </a:prstGeom>
          <a:solidFill>
            <a:srgbClr val="C72A09"/>
          </a:solidFill>
          <a:ln/>
        </p:spPr>
      </p:sp>
      <p:sp>
        <p:nvSpPr>
          <p:cNvPr id="14" name="Text 12"/>
          <p:cNvSpPr txBox="1"/>
          <p:nvPr/>
        </p:nvSpPr>
        <p:spPr>
          <a:xfrm>
            <a:off x="566928" y="2798064"/>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教育及青年發展局。《澳門青年指標》（2018–2024 年社會調查）。</a:t>
            </a:r>
            <a:endParaRPr lang="en-US" sz="900" dirty="0"/>
          </a:p>
        </p:txBody>
      </p:sp>
      <p:sp>
        <p:nvSpPr>
          <p:cNvPr id="15" name="Shape 13"/>
          <p:cNvSpPr/>
          <p:nvPr/>
        </p:nvSpPr>
        <p:spPr>
          <a:xfrm>
            <a:off x="566928" y="3191256"/>
            <a:ext cx="5349240" cy="12802"/>
          </a:xfrm>
          <a:prstGeom prst="rect">
            <a:avLst/>
          </a:prstGeom>
          <a:solidFill>
            <a:srgbClr val="C72A09"/>
          </a:solidFill>
          <a:ln/>
        </p:spPr>
      </p:sp>
      <p:sp>
        <p:nvSpPr>
          <p:cNvPr id="16" name="Text 14"/>
          <p:cNvSpPr txBox="1"/>
          <p:nvPr/>
        </p:nvSpPr>
        <p:spPr>
          <a:xfrm>
            <a:off x="566928" y="3218688"/>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澳門金融管理局（2026）。住宅樓宇按揭貸款成數上限調整公告。政府新聞局新聞稿。</a:t>
            </a:r>
            <a:endParaRPr lang="en-US" sz="900" dirty="0"/>
          </a:p>
        </p:txBody>
      </p:sp>
      <p:sp>
        <p:nvSpPr>
          <p:cNvPr id="17" name="Shape 15"/>
          <p:cNvSpPr/>
          <p:nvPr/>
        </p:nvSpPr>
        <p:spPr>
          <a:xfrm>
            <a:off x="566928" y="3611880"/>
            <a:ext cx="5349240" cy="12802"/>
          </a:xfrm>
          <a:prstGeom prst="rect">
            <a:avLst/>
          </a:prstGeom>
          <a:solidFill>
            <a:srgbClr val="C72A09"/>
          </a:solidFill>
          <a:ln/>
        </p:spPr>
      </p:sp>
      <p:sp>
        <p:nvSpPr>
          <p:cNvPr id="18" name="Text 16"/>
          <p:cNvSpPr txBox="1"/>
          <p:nvPr/>
        </p:nvSpPr>
        <p:spPr>
          <a:xfrm>
            <a:off x="566928" y="3639312"/>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香港特別行政區政府（2024-11-20）。〈立法會十二題：打擊濫用公共租住房屋資源〉。</a:t>
            </a:r>
            <a:endParaRPr lang="en-US" sz="900" dirty="0"/>
          </a:p>
        </p:txBody>
      </p:sp>
      <p:sp>
        <p:nvSpPr>
          <p:cNvPr id="19" name="Shape 17"/>
          <p:cNvSpPr/>
          <p:nvPr/>
        </p:nvSpPr>
        <p:spPr>
          <a:xfrm>
            <a:off x="566928" y="4032504"/>
            <a:ext cx="5349240" cy="12802"/>
          </a:xfrm>
          <a:prstGeom prst="rect">
            <a:avLst/>
          </a:prstGeom>
          <a:solidFill>
            <a:srgbClr val="C72A09"/>
          </a:solidFill>
          <a:ln/>
        </p:spPr>
      </p:sp>
      <p:sp>
        <p:nvSpPr>
          <p:cNvPr id="20" name="Text 18"/>
          <p:cNvSpPr txBox="1"/>
          <p:nvPr/>
        </p:nvSpPr>
        <p:spPr>
          <a:xfrm>
            <a:off x="6281928" y="1554480"/>
            <a:ext cx="5349240" cy="310896"/>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學術與理論</a:t>
            </a:r>
            <a:endParaRPr lang="en-US" sz="1150" dirty="0"/>
          </a:p>
        </p:txBody>
      </p:sp>
      <p:sp>
        <p:nvSpPr>
          <p:cNvPr id="21" name="Shape 19"/>
          <p:cNvSpPr/>
          <p:nvPr/>
        </p:nvSpPr>
        <p:spPr>
          <a:xfrm>
            <a:off x="6281928" y="1883664"/>
            <a:ext cx="5349240" cy="18288"/>
          </a:xfrm>
          <a:prstGeom prst="rect">
            <a:avLst/>
          </a:prstGeom>
          <a:solidFill>
            <a:srgbClr val="C72A09"/>
          </a:solidFill>
          <a:ln/>
        </p:spPr>
      </p:sp>
      <p:sp>
        <p:nvSpPr>
          <p:cNvPr id="22" name="Text 20"/>
          <p:cNvSpPr txBox="1"/>
          <p:nvPr/>
        </p:nvSpPr>
        <p:spPr>
          <a:xfrm>
            <a:off x="6281928" y="1956816"/>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高武洲（2017）。〈澳門公共房屋在城巿設計方面的關鍵問題〉。《澳門研究》2017 年第 3 期，68–82 頁。</a:t>
            </a:r>
            <a:endParaRPr lang="en-US" sz="900" dirty="0"/>
          </a:p>
        </p:txBody>
      </p:sp>
      <p:sp>
        <p:nvSpPr>
          <p:cNvPr id="23" name="Shape 21"/>
          <p:cNvSpPr/>
          <p:nvPr/>
        </p:nvSpPr>
        <p:spPr>
          <a:xfrm>
            <a:off x="6281928" y="2350008"/>
            <a:ext cx="5349240" cy="12802"/>
          </a:xfrm>
          <a:prstGeom prst="rect">
            <a:avLst/>
          </a:prstGeom>
          <a:solidFill>
            <a:srgbClr val="C72A09"/>
          </a:solidFill>
          <a:ln/>
        </p:spPr>
      </p:sp>
      <p:sp>
        <p:nvSpPr>
          <p:cNvPr id="24" name="Text 22"/>
          <p:cNvSpPr txBox="1"/>
          <p:nvPr/>
        </p:nvSpPr>
        <p:spPr>
          <a:xfrm>
            <a:off x="6281928" y="2377440"/>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王于漸、郭國全、蔡小慧、黎寧（2010）。《澳門公共房屋政策研究》。香港大學香港經濟研究中心。</a:t>
            </a:r>
            <a:endParaRPr lang="en-US" sz="900" dirty="0"/>
          </a:p>
        </p:txBody>
      </p:sp>
      <p:sp>
        <p:nvSpPr>
          <p:cNvPr id="25" name="Shape 23"/>
          <p:cNvSpPr/>
          <p:nvPr/>
        </p:nvSpPr>
        <p:spPr>
          <a:xfrm>
            <a:off x="6281928" y="2770632"/>
            <a:ext cx="5349240" cy="12802"/>
          </a:xfrm>
          <a:prstGeom prst="rect">
            <a:avLst/>
          </a:prstGeom>
          <a:solidFill>
            <a:srgbClr val="C72A09"/>
          </a:solidFill>
          <a:ln/>
        </p:spPr>
      </p:sp>
      <p:sp>
        <p:nvSpPr>
          <p:cNvPr id="26" name="Text 24"/>
          <p:cNvSpPr txBox="1"/>
          <p:nvPr/>
        </p:nvSpPr>
        <p:spPr>
          <a:xfrm>
            <a:off x="6281928" y="2798064"/>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澳門大學澳門研究中心（2013）。《房屋政策「澳人澳地」研究報告》。</a:t>
            </a:r>
            <a:endParaRPr lang="en-US" sz="900" dirty="0"/>
          </a:p>
        </p:txBody>
      </p:sp>
      <p:sp>
        <p:nvSpPr>
          <p:cNvPr id="27" name="Shape 25"/>
          <p:cNvSpPr/>
          <p:nvPr/>
        </p:nvSpPr>
        <p:spPr>
          <a:xfrm>
            <a:off x="6281928" y="3191256"/>
            <a:ext cx="5349240" cy="12802"/>
          </a:xfrm>
          <a:prstGeom prst="rect">
            <a:avLst/>
          </a:prstGeom>
          <a:solidFill>
            <a:srgbClr val="C72A09"/>
          </a:solidFill>
          <a:ln/>
        </p:spPr>
      </p:sp>
      <p:sp>
        <p:nvSpPr>
          <p:cNvPr id="28" name="Text 26"/>
          <p:cNvSpPr txBox="1"/>
          <p:nvPr/>
        </p:nvSpPr>
        <p:spPr>
          <a:xfrm>
            <a:off x="6281928" y="3218688"/>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Chang, H.-C. (2013). Housing affordability in Macau: Evidence and policy. China Economic Journal, 6(1), 46–56.</a:t>
            </a:r>
            <a:endParaRPr lang="en-US" sz="900" dirty="0"/>
          </a:p>
        </p:txBody>
      </p:sp>
      <p:sp>
        <p:nvSpPr>
          <p:cNvPr id="29" name="Shape 27"/>
          <p:cNvSpPr/>
          <p:nvPr/>
        </p:nvSpPr>
        <p:spPr>
          <a:xfrm>
            <a:off x="6281928" y="3611880"/>
            <a:ext cx="5349240" cy="12802"/>
          </a:xfrm>
          <a:prstGeom prst="rect">
            <a:avLst/>
          </a:prstGeom>
          <a:solidFill>
            <a:srgbClr val="C72A09"/>
          </a:solidFill>
          <a:ln/>
        </p:spPr>
      </p:sp>
      <p:sp>
        <p:nvSpPr>
          <p:cNvPr id="30" name="Text 28"/>
          <p:cNvSpPr txBox="1"/>
          <p:nvPr/>
        </p:nvSpPr>
        <p:spPr>
          <a:xfrm>
            <a:off x="6281928" y="3639312"/>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Engels, F. (1872). The Housing Question. Marx, K. (1867). Capital: A critique of political economy, Vol. 1.</a:t>
            </a:r>
            <a:endParaRPr lang="en-US" sz="900" dirty="0"/>
          </a:p>
        </p:txBody>
      </p:sp>
      <p:sp>
        <p:nvSpPr>
          <p:cNvPr id="31" name="Shape 29"/>
          <p:cNvSpPr/>
          <p:nvPr/>
        </p:nvSpPr>
        <p:spPr>
          <a:xfrm>
            <a:off x="6281928" y="4032504"/>
            <a:ext cx="5349240" cy="12802"/>
          </a:xfrm>
          <a:prstGeom prst="rect">
            <a:avLst/>
          </a:prstGeom>
          <a:solidFill>
            <a:srgbClr val="C72A09"/>
          </a:solidFill>
          <a:ln/>
        </p:spPr>
      </p:sp>
      <p:sp>
        <p:nvSpPr>
          <p:cNvPr id="32" name="Text 30"/>
          <p:cNvSpPr txBox="1"/>
          <p:nvPr/>
        </p:nvSpPr>
        <p:spPr>
          <a:xfrm>
            <a:off x="6281928" y="4059936"/>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Harvey, D. (1978). The urban process under capitalism: A framework for analysis. IJURR, 2(1–4), 101–131.</a:t>
            </a:r>
            <a:endParaRPr lang="en-US" sz="900" dirty="0"/>
          </a:p>
        </p:txBody>
      </p:sp>
      <p:sp>
        <p:nvSpPr>
          <p:cNvPr id="33" name="Shape 31"/>
          <p:cNvSpPr/>
          <p:nvPr/>
        </p:nvSpPr>
        <p:spPr>
          <a:xfrm>
            <a:off x="6281928" y="4453128"/>
            <a:ext cx="5349240" cy="12802"/>
          </a:xfrm>
          <a:prstGeom prst="rect">
            <a:avLst/>
          </a:prstGeom>
          <a:solidFill>
            <a:srgbClr val="C72A09"/>
          </a:solidFill>
          <a:ln/>
        </p:spPr>
      </p:sp>
      <p:sp>
        <p:nvSpPr>
          <p:cNvPr id="34" name="Text 32"/>
          <p:cNvSpPr txBox="1"/>
          <p:nvPr/>
        </p:nvSpPr>
        <p:spPr>
          <a:xfrm>
            <a:off x="6281928" y="4480560"/>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Smith, N. (1979). Toward a theory of gentrification: A back to the city movement by capital, not people. JAPA, 45(4), 538–548.</a:t>
            </a:r>
            <a:endParaRPr lang="en-US" sz="900" dirty="0"/>
          </a:p>
        </p:txBody>
      </p:sp>
      <p:sp>
        <p:nvSpPr>
          <p:cNvPr id="35" name="Shape 33"/>
          <p:cNvSpPr/>
          <p:nvPr/>
        </p:nvSpPr>
        <p:spPr>
          <a:xfrm>
            <a:off x="6281928" y="4873752"/>
            <a:ext cx="5349240" cy="12802"/>
          </a:xfrm>
          <a:prstGeom prst="rect">
            <a:avLst/>
          </a:prstGeom>
          <a:solidFill>
            <a:srgbClr val="C72A09"/>
          </a:solidFill>
          <a:ln/>
        </p:spPr>
      </p:sp>
      <p:sp>
        <p:nvSpPr>
          <p:cNvPr id="36" name="Text 34"/>
          <p:cNvSpPr txBox="1"/>
          <p:nvPr/>
        </p:nvSpPr>
        <p:spPr>
          <a:xfrm>
            <a:off x="6281928" y="4901184"/>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Kan, K. (2019). Accumulation without dispossession? Land commodification and rent extraction in peri-urban China. IJURR, 43(4), 633–648.</a:t>
            </a:r>
            <a:endParaRPr lang="en-US" sz="900" dirty="0"/>
          </a:p>
        </p:txBody>
      </p:sp>
      <p:sp>
        <p:nvSpPr>
          <p:cNvPr id="37" name="Shape 35"/>
          <p:cNvSpPr/>
          <p:nvPr/>
        </p:nvSpPr>
        <p:spPr>
          <a:xfrm>
            <a:off x="6281928" y="5294376"/>
            <a:ext cx="5349240" cy="12802"/>
          </a:xfrm>
          <a:prstGeom prst="rect">
            <a:avLst/>
          </a:prstGeom>
          <a:solidFill>
            <a:srgbClr val="C72A09"/>
          </a:solidFill>
          <a:ln/>
        </p:spPr>
      </p:sp>
      <p:sp>
        <p:nvSpPr>
          <p:cNvPr id="38" name="Text 36"/>
          <p:cNvSpPr txBox="1"/>
          <p:nvPr/>
        </p:nvSpPr>
        <p:spPr>
          <a:xfrm>
            <a:off x="6281928" y="5321808"/>
            <a:ext cx="5349240" cy="384048"/>
          </a:xfrm>
          <a:prstGeom prst="rect">
            <a:avLst/>
          </a:prstGeom>
          <a:noFill/>
          <a:ln/>
        </p:spPr>
        <p:txBody>
          <a:bodyPr wrap="square" lIns="0" tIns="0" rIns="0" bIns="0" rtlCol="0" anchor="t"/>
          <a:lstStyle/>
          <a:p>
            <a:pPr indent="0" marL="0">
              <a:lnSpc>
                <a:spcPct val="120000"/>
              </a:lnSpc>
              <a:buNone/>
            </a:pPr>
            <a:r>
              <a:rPr lang="en-US" sz="900" dirty="0">
                <a:solidFill>
                  <a:srgbClr val="CA0013"/>
                </a:solidFill>
                <a:latin typeface="Microsoft JhengHei" pitchFamily="34" charset="0"/>
                <a:ea typeface="Microsoft JhengHei" pitchFamily="34" charset="-122"/>
                <a:cs typeface="Microsoft JhengHei" pitchFamily="34" charset="-120"/>
              </a:rPr>
              <a:t>Wu, Q., Zhang, X., &amp; Waley, P. (2017). When Neil Smith met Pierre Bourdieu in Nanjing, China: Bringing cultural capital into rent gap theory. Housing Studies, 32(5), 659–677.</a:t>
            </a:r>
            <a:endParaRPr lang="en-US" sz="900" dirty="0"/>
          </a:p>
        </p:txBody>
      </p:sp>
      <p:sp>
        <p:nvSpPr>
          <p:cNvPr id="39" name="Shape 37"/>
          <p:cNvSpPr/>
          <p:nvPr/>
        </p:nvSpPr>
        <p:spPr>
          <a:xfrm>
            <a:off x="6281928" y="5715000"/>
            <a:ext cx="5349240" cy="12802"/>
          </a:xfrm>
          <a:prstGeom prst="rect">
            <a:avLst/>
          </a:prstGeom>
          <a:solidFill>
            <a:srgbClr val="C72A09"/>
          </a:solidFill>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EEBE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EBE3"/>
          </a:solidFill>
          <a:ln/>
        </p:spPr>
      </p:sp>
      <p:sp>
        <p:nvSpPr>
          <p:cNvPr id="3" name="Text 1"/>
          <p:cNvSpPr txBox="1"/>
          <p:nvPr/>
        </p:nvSpPr>
        <p:spPr>
          <a:xfrm>
            <a:off x="566928" y="5833872"/>
            <a:ext cx="1371600" cy="548640"/>
          </a:xfrm>
          <a:prstGeom prst="rect">
            <a:avLst/>
          </a:prstGeom>
          <a:noFill/>
          <a:ln/>
        </p:spPr>
        <p:txBody>
          <a:bodyPr wrap="square" lIns="0" tIns="0" rIns="0" bIns="0" rtlCol="0" anchor="ctr"/>
          <a:lstStyle/>
          <a:p>
            <a:pPr indent="0" marL="0">
              <a:buNone/>
            </a:pPr>
            <a:r>
              <a:rPr lang="en-US" sz="3000" b="1" dirty="0">
                <a:solidFill>
                  <a:srgbClr val="CA0013"/>
                </a:solidFill>
                <a:latin typeface="Inter" pitchFamily="34" charset="0"/>
                <a:ea typeface="Inter" pitchFamily="34" charset="-122"/>
                <a:cs typeface="Inter" pitchFamily="34" charset="-120"/>
              </a:rPr>
              <a:t>(43)</a:t>
            </a:r>
            <a:endParaRPr lang="en-US" sz="3000" dirty="0"/>
          </a:p>
        </p:txBody>
      </p:sp>
      <p:sp>
        <p:nvSpPr>
          <p:cNvPr id="4" name="Text 2"/>
          <p:cNvSpPr txBox="1"/>
          <p:nvPr/>
        </p:nvSpPr>
        <p:spPr>
          <a:xfrm>
            <a:off x="566928" y="6345936"/>
            <a:ext cx="2743200" cy="402336"/>
          </a:xfrm>
          <a:prstGeom prst="rect">
            <a:avLst/>
          </a:prstGeom>
          <a:noFill/>
          <a:ln/>
        </p:spPr>
        <p:txBody>
          <a:bodyPr wrap="square" lIns="0" tIns="0" rIns="0" bIns="0" rtlCol="0" anchor="ctr"/>
          <a:lstStyle/>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澳門房屋問題</a:t>
            </a:r>
            <a:endParaRPr lang="en-US" sz="950" dirty="0"/>
          </a:p>
          <a:p>
            <a:pP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馬克思理論視角</a:t>
            </a:r>
            <a:endParaRPr lang="en-US" sz="950" dirty="0"/>
          </a:p>
        </p:txBody>
      </p:sp>
      <p:sp>
        <p:nvSpPr>
          <p:cNvPr id="5" name="Text 3"/>
          <p:cNvSpPr txBox="1"/>
          <p:nvPr/>
        </p:nvSpPr>
        <p:spPr>
          <a:xfrm>
            <a:off x="8698687" y="6345936"/>
            <a:ext cx="2926080" cy="402336"/>
          </a:xfrm>
          <a:prstGeom prst="rect">
            <a:avLst/>
          </a:prstGeom>
          <a:noFill/>
          <a:ln/>
        </p:spPr>
        <p:txBody>
          <a:bodyPr wrap="square" lIns="0" tIns="0" rIns="0" bIns="0" rtlCol="0" anchor="ctr"/>
          <a:lstStyle/>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SOCI2101　當代社會問題</a:t>
            </a:r>
            <a:endParaRPr lang="en-US" sz="950" dirty="0"/>
          </a:p>
          <a:p>
            <a:pPr algn="r" indent="0" marL="0">
              <a:lnSpc>
                <a:spcPct val="122000"/>
              </a:lnSpc>
              <a:buNone/>
            </a:pPr>
            <a:r>
              <a:rPr lang="en-US" sz="950" b="1" spc="100" kern="0" dirty="0">
                <a:solidFill>
                  <a:srgbClr val="CA0013"/>
                </a:solidFill>
                <a:latin typeface="Microsoft JhengHei" pitchFamily="34" charset="0"/>
                <a:ea typeface="Microsoft JhengHei" pitchFamily="34" charset="-122"/>
                <a:cs typeface="Microsoft JhengHei" pitchFamily="34" charset="-120"/>
              </a:rPr>
              <a:t>小組研習報告</a:t>
            </a:r>
            <a:endParaRPr lang="en-US" sz="950" dirty="0"/>
          </a:p>
        </p:txBody>
      </p:sp>
      <p:sp>
        <p:nvSpPr>
          <p:cNvPr id="6" name="Text 4"/>
          <p:cNvSpPr txBox="1"/>
          <p:nvPr/>
        </p:nvSpPr>
        <p:spPr>
          <a:xfrm>
            <a:off x="566928" y="420624"/>
            <a:ext cx="10058400" cy="310896"/>
          </a:xfrm>
          <a:prstGeom prst="rect">
            <a:avLst/>
          </a:prstGeom>
          <a:noFill/>
          <a:ln/>
        </p:spPr>
        <p:txBody>
          <a:bodyPr wrap="square" lIns="0" tIns="0" rIns="0" bIns="0" rtlCol="0" anchor="t"/>
          <a:lstStyle/>
          <a:p>
            <a:pPr algn="l" indent="0" marL="0">
              <a:lnSpc>
                <a:spcPct val="125000"/>
              </a:lnSpc>
              <a:buNone/>
            </a:pPr>
            <a:r>
              <a:rPr lang="en-US" sz="1200" b="1" spc="240" kern="0" dirty="0">
                <a:solidFill>
                  <a:srgbClr val="CA0013"/>
                </a:solidFill>
                <a:latin typeface="Microsoft JhengHei" pitchFamily="34" charset="0"/>
                <a:ea typeface="Microsoft JhengHei" pitchFamily="34" charset="-122"/>
                <a:cs typeface="Microsoft JhengHei" pitchFamily="34" charset="-120"/>
              </a:rPr>
              <a:t>附錄</a:t>
            </a:r>
            <a:endParaRPr lang="en-US" sz="1200" dirty="0"/>
          </a:p>
        </p:txBody>
      </p:sp>
      <p:sp>
        <p:nvSpPr>
          <p:cNvPr id="7" name="Text 5"/>
          <p:cNvSpPr txBox="1"/>
          <p:nvPr/>
        </p:nvSpPr>
        <p:spPr>
          <a:xfrm>
            <a:off x="566928" y="749808"/>
            <a:ext cx="10607040" cy="822960"/>
          </a:xfrm>
          <a:prstGeom prst="rect">
            <a:avLst/>
          </a:prstGeom>
          <a:noFill/>
          <a:ln/>
        </p:spPr>
        <p:txBody>
          <a:bodyPr wrap="square" lIns="0" tIns="0" rIns="0" bIns="0" rtlCol="0" anchor="t"/>
          <a:lstStyle/>
          <a:p>
            <a:pPr algn="l" indent="0" marL="0">
              <a:lnSpc>
                <a:spcPct val="100000"/>
              </a:lnSpc>
              <a:buNone/>
            </a:pPr>
            <a:r>
              <a:rPr lang="en-US" sz="3400" b="1" dirty="0">
                <a:solidFill>
                  <a:srgbClr val="CA0013"/>
                </a:solidFill>
                <a:latin typeface="Microsoft JhengHei" pitchFamily="34" charset="0"/>
                <a:ea typeface="Microsoft JhengHei" pitchFamily="34" charset="-122"/>
                <a:cs typeface="Microsoft JhengHei" pitchFamily="34" charset="-120"/>
              </a:rPr>
              <a:t>數據限制與待補</a:t>
            </a:r>
            <a:endParaRPr lang="en-US" sz="3400" dirty="0"/>
          </a:p>
        </p:txBody>
      </p:sp>
      <p:sp>
        <p:nvSpPr>
          <p:cNvPr id="8" name="Text 6"/>
          <p:cNvSpPr txBox="1"/>
          <p:nvPr/>
        </p:nvSpPr>
        <p:spPr>
          <a:xfrm>
            <a:off x="566928" y="1600200"/>
            <a:ext cx="1437519" cy="56692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已核實</a:t>
            </a:r>
            <a:endParaRPr lang="en-US" sz="1150" dirty="0"/>
          </a:p>
        </p:txBody>
      </p:sp>
      <p:sp>
        <p:nvSpPr>
          <p:cNvPr id="9" name="Text 7"/>
          <p:cNvSpPr txBox="1"/>
          <p:nvPr/>
        </p:nvSpPr>
        <p:spPr>
          <a:xfrm>
            <a:off x="2170315" y="1600200"/>
            <a:ext cx="9454453" cy="56692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樓價（2021–2025）、租金（2024–2025）、經屋 2023 期、四部法例原文、房屋局恆常申請統計、按揭成數、祐漢新聞稿、施政報告 2026：已開原文或官方頁面</a:t>
            </a:r>
            <a:endParaRPr lang="en-US" sz="1150" dirty="0"/>
          </a:p>
        </p:txBody>
      </p:sp>
      <p:sp>
        <p:nvSpPr>
          <p:cNvPr id="10" name="Shape 8"/>
          <p:cNvSpPr/>
          <p:nvPr/>
        </p:nvSpPr>
        <p:spPr>
          <a:xfrm>
            <a:off x="566928" y="2148840"/>
            <a:ext cx="11057839" cy="12802"/>
          </a:xfrm>
          <a:prstGeom prst="rect">
            <a:avLst/>
          </a:prstGeom>
          <a:solidFill>
            <a:srgbClr val="C72A09"/>
          </a:solidFill>
          <a:ln/>
        </p:spPr>
      </p:sp>
      <p:sp>
        <p:nvSpPr>
          <p:cNvPr id="11" name="Text 9"/>
          <p:cNvSpPr txBox="1"/>
          <p:nvPr/>
        </p:nvSpPr>
        <p:spPr>
          <a:xfrm>
            <a:off x="566928" y="2258568"/>
            <a:ext cx="1437519" cy="56692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議員陳述</a:t>
            </a:r>
            <a:endParaRPr lang="en-US" sz="1150" dirty="0"/>
          </a:p>
        </p:txBody>
      </p:sp>
      <p:sp>
        <p:nvSpPr>
          <p:cNvPr id="12" name="Text 10"/>
          <p:cNvSpPr txBox="1"/>
          <p:nvPr/>
        </p:nvSpPr>
        <p:spPr>
          <a:xfrm>
            <a:off x="2170315" y="2258568"/>
            <a:ext cx="9454453" cy="56692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個人申請 2,275 份、置換房 338／2,000+、暫停 5 個地段、恆常申請短期不設、社屋一房單位數字：議員質詢所述，房屋局原始數據未取得</a:t>
            </a:r>
            <a:endParaRPr lang="en-US" sz="1150" dirty="0"/>
          </a:p>
        </p:txBody>
      </p:sp>
      <p:sp>
        <p:nvSpPr>
          <p:cNvPr id="13" name="Shape 11"/>
          <p:cNvSpPr/>
          <p:nvPr/>
        </p:nvSpPr>
        <p:spPr>
          <a:xfrm>
            <a:off x="566928" y="2807208"/>
            <a:ext cx="11057839" cy="12802"/>
          </a:xfrm>
          <a:prstGeom prst="rect">
            <a:avLst/>
          </a:prstGeom>
          <a:solidFill>
            <a:srgbClr val="C72A09"/>
          </a:solidFill>
          <a:ln/>
        </p:spPr>
      </p:sp>
      <p:sp>
        <p:nvSpPr>
          <p:cNvPr id="14" name="Text 12"/>
          <p:cNvSpPr txBox="1"/>
          <p:nvPr/>
        </p:nvSpPr>
        <p:spPr>
          <a:xfrm>
            <a:off x="566928" y="2916936"/>
            <a:ext cx="1437519" cy="56692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假設與推算</a:t>
            </a:r>
            <a:endParaRPr lang="en-US" sz="1150" dirty="0"/>
          </a:p>
        </p:txBody>
      </p:sp>
      <p:sp>
        <p:nvSpPr>
          <p:cNvPr id="15" name="Text 13"/>
          <p:cNvSpPr txBox="1"/>
          <p:nvPr/>
        </p:nvSpPr>
        <p:spPr>
          <a:xfrm>
            <a:off x="2170315" y="2916936"/>
            <a:ext cx="9454453" cy="56692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月供（30 年、年利率 4%）；樓價收入比（700 呎，兩種收入口徑）；價租比；夾屋定價示範（Rc 30–40%）；夾屋入息帶；香港回收率換算；租隙只作代理指標</a:t>
            </a:r>
            <a:endParaRPr lang="en-US" sz="1150" dirty="0"/>
          </a:p>
        </p:txBody>
      </p:sp>
      <p:sp>
        <p:nvSpPr>
          <p:cNvPr id="16" name="Shape 14"/>
          <p:cNvSpPr/>
          <p:nvPr/>
        </p:nvSpPr>
        <p:spPr>
          <a:xfrm>
            <a:off x="566928" y="3465576"/>
            <a:ext cx="11057839" cy="12802"/>
          </a:xfrm>
          <a:prstGeom prst="rect">
            <a:avLst/>
          </a:prstGeom>
          <a:solidFill>
            <a:srgbClr val="C72A09"/>
          </a:solidFill>
          <a:ln/>
        </p:spPr>
      </p:sp>
      <p:sp>
        <p:nvSpPr>
          <p:cNvPr id="17" name="Text 15"/>
          <p:cNvSpPr txBox="1"/>
          <p:nvPr/>
        </p:nvSpPr>
        <p:spPr>
          <a:xfrm>
            <a:off x="566928" y="3575304"/>
            <a:ext cx="1437519" cy="56692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未核實</a:t>
            </a:r>
            <a:endParaRPr lang="en-US" sz="1150" dirty="0"/>
          </a:p>
        </p:txBody>
      </p:sp>
      <p:sp>
        <p:nvSpPr>
          <p:cNvPr id="18" name="Text 16"/>
          <p:cNvSpPr txBox="1"/>
          <p:nvPr/>
        </p:nvSpPr>
        <p:spPr>
          <a:xfrm>
            <a:off x="2170315" y="3575304"/>
            <a:ext cx="9454453" cy="56692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樓齡 30 年以上幢數（4,838／5,173）；「三無」官方定義；印花稅豁免細則；長者公寓 2024-10；2025-12 司長言論及偉龍馬路改作科技園（報道）</a:t>
            </a:r>
            <a:endParaRPr lang="en-US" sz="1150" dirty="0"/>
          </a:p>
        </p:txBody>
      </p:sp>
      <p:sp>
        <p:nvSpPr>
          <p:cNvPr id="19" name="Shape 17"/>
          <p:cNvSpPr/>
          <p:nvPr/>
        </p:nvSpPr>
        <p:spPr>
          <a:xfrm>
            <a:off x="566928" y="4123944"/>
            <a:ext cx="11057839" cy="12802"/>
          </a:xfrm>
          <a:prstGeom prst="rect">
            <a:avLst/>
          </a:prstGeom>
          <a:solidFill>
            <a:srgbClr val="C72A09"/>
          </a:solidFill>
          <a:ln/>
        </p:spPr>
      </p:sp>
      <p:sp>
        <p:nvSpPr>
          <p:cNvPr id="20" name="Text 18"/>
          <p:cNvSpPr txBox="1"/>
          <p:nvPr/>
        </p:nvSpPr>
        <p:spPr>
          <a:xfrm>
            <a:off x="566928" y="4233672"/>
            <a:ext cx="1437519" cy="566928"/>
          </a:xfrm>
          <a:prstGeom prst="rect">
            <a:avLst/>
          </a:prstGeom>
          <a:noFill/>
          <a:ln/>
        </p:spPr>
        <p:txBody>
          <a:bodyPr wrap="square" lIns="0" tIns="0" rIns="0" bIns="0" rtlCol="0" anchor="t"/>
          <a:lstStyle/>
          <a:p>
            <a:pPr algn="l" indent="0" marL="0">
              <a:lnSpc>
                <a:spcPct val="125000"/>
              </a:lnSpc>
              <a:buNone/>
            </a:pPr>
            <a:r>
              <a:rPr lang="en-US" sz="1150" b="1" spc="160" kern="0" dirty="0">
                <a:solidFill>
                  <a:srgbClr val="CA0013"/>
                </a:solidFill>
                <a:latin typeface="Microsoft JhengHei" pitchFamily="34" charset="0"/>
                <a:ea typeface="Microsoft JhengHei" pitchFamily="34" charset="-122"/>
                <a:cs typeface="Microsoft JhengHei" pitchFamily="34" charset="-120"/>
              </a:rPr>
              <a:t>缺口</a:t>
            </a:r>
            <a:endParaRPr lang="en-US" sz="1150" dirty="0"/>
          </a:p>
        </p:txBody>
      </p:sp>
      <p:sp>
        <p:nvSpPr>
          <p:cNvPr id="21" name="Text 19"/>
          <p:cNvSpPr txBox="1"/>
          <p:nvPr/>
        </p:nvSpPr>
        <p:spPr>
          <a:xfrm>
            <a:off x="2170315" y="4233672"/>
            <a:ext cx="9454453" cy="566928"/>
          </a:xfrm>
          <a:prstGeom prst="rect">
            <a:avLst/>
          </a:prstGeom>
          <a:noFill/>
          <a:ln/>
        </p:spPr>
        <p:txBody>
          <a:bodyPr wrap="square" lIns="0" tIns="0" rIns="0" bIns="0" rtlCol="0" anchor="t"/>
          <a:lstStyle/>
          <a:p>
            <a:pPr indent="0" marL="0">
              <a:lnSpc>
                <a:spcPct val="130000"/>
              </a:lnSpc>
              <a:buNone/>
            </a:pPr>
            <a:r>
              <a:rPr lang="en-US" sz="1150" dirty="0">
                <a:solidFill>
                  <a:srgbClr val="CA0013"/>
                </a:solidFill>
                <a:latin typeface="Microsoft JhengHei" pitchFamily="34" charset="0"/>
                <a:ea typeface="Microsoft JhengHei" pitchFamily="34" charset="-122"/>
                <a:cs typeface="Microsoft JhengHei" pitchFamily="34" charset="-120"/>
              </a:rPr>
              <a:t>社屋、經屋使用與監察的按年統計；2021 年第 4 季收入中位數；住戶收入中位數；2021–2022 年官方租金；舊樓三層歷年序列</a:t>
            </a:r>
            <a:endParaRPr lang="en-US" sz="1150" dirty="0"/>
          </a:p>
        </p:txBody>
      </p:sp>
      <p:sp>
        <p:nvSpPr>
          <p:cNvPr id="22" name="Shape 20"/>
          <p:cNvSpPr/>
          <p:nvPr/>
        </p:nvSpPr>
        <p:spPr>
          <a:xfrm>
            <a:off x="566928" y="4782312"/>
            <a:ext cx="11057839" cy="12802"/>
          </a:xfrm>
          <a:prstGeom prst="rect">
            <a:avLst/>
          </a:prstGeom>
          <a:solidFill>
            <a:srgbClr val="C72A09"/>
          </a:solidFill>
          <a:ln/>
        </p:spPr>
      </p:sp>
      <p:sp>
        <p:nvSpPr>
          <p:cNvPr id="23" name="Text 21"/>
          <p:cNvSpPr txBox="1"/>
          <p:nvPr/>
        </p:nvSpPr>
        <p:spPr>
          <a:xfrm>
            <a:off x="3584448" y="6345936"/>
            <a:ext cx="4839919" cy="402336"/>
          </a:xfrm>
          <a:prstGeom prst="rect">
            <a:avLst/>
          </a:prstGeom>
          <a:noFill/>
          <a:ln/>
        </p:spPr>
        <p:txBody>
          <a:bodyPr wrap="square" lIns="0" tIns="0" rIns="0" bIns="0" rtlCol="0" anchor="t"/>
          <a:lstStyle/>
          <a:p>
            <a:pPr algn="ctr" indent="0" marL="0">
              <a:lnSpc>
                <a:spcPct val="120000"/>
              </a:lnSpc>
              <a:buNone/>
            </a:pPr>
            <a:r>
              <a:rPr lang="en-US" sz="850" dirty="0">
                <a:solidFill>
                  <a:srgbClr val="CA0013"/>
                </a:solidFill>
                <a:latin typeface="Microsoft JhengHei" pitchFamily="34" charset="0"/>
                <a:ea typeface="Microsoft JhengHei" pitchFamily="34" charset="-122"/>
                <a:cs typeface="Microsoft JhengHei" pitchFamily="34" charset="-120"/>
              </a:rPr>
              <a:t>本組整理</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澳門房屋問題 — 馬克思理論視角（v2）</dc:title>
  <dc:subject>PptxGenJS Presentation</dc:subject>
  <dc:creator>SOCI2101 小組</dc:creator>
  <cp:lastModifiedBy>SOCI2101 小組</cp:lastModifiedBy>
  <cp:revision>1</cp:revision>
  <dcterms:created xsi:type="dcterms:W3CDTF">2026-10-01T05:53:21Z</dcterms:created>
  <dcterms:modified xsi:type="dcterms:W3CDTF">2026-10-01T05:53:21Z</dcterms:modified>
</cp:coreProperties>
</file>