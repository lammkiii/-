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6.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7.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每平方米實用面積平均價格（澳門元）</c:v>
                </c:pt>
              </c:strCache>
            </c:strRef>
          </c:tx>
          <c:spPr>
            <a:solidFill>
              <a:srgbClr val="CA0013"/>
            </a:solidFill>
            <a:effectLst/>
          </c:spPr>
          <c:invertIfNegative val="0"/>
          <c:dLbls>
            <c:numFmt formatCode="#,##0" sourceLinked="0"/>
            <c:txPr>
              <a:bodyPr/>
              <a:lstStyle/>
              <a:p>
                <a:pPr>
                  <a:defRPr b="1" i="0" strike="noStrike" sz="1200" u="none">
                    <a:solidFill>
                      <a:srgbClr val="CA0013"/>
                    </a:solidFill>
                    <a:latin typeface="Inter"/>
                  </a:defRPr>
                </a:pPr>
              </a:p>
            </c:txPr>
            <c:dLblPos val="out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103859</c:v>
                </c:pt>
                <c:pt idx="1">
                  <c:v>93781</c:v>
                </c:pt>
                <c:pt idx="2">
                  <c:v>93500</c:v>
                </c:pt>
                <c:pt idx="3">
                  <c:v>85114</c:v>
                </c:pt>
                <c:pt idx="4">
                  <c:v>70935</c:v>
                </c:pt>
              </c:numCache>
            </c:numRef>
          </c:val>
        </c:ser>
        <c:dLbls>
          <c:numFmt formatCode="#,##0" sourceLinked="0"/>
          <c:txPr>
            <a:bodyPr/>
            <a:lstStyle/>
            <a:p>
              <a:pPr>
                <a:defRPr b="1" i="0" strike="noStrike" sz="1200" u="none">
                  <a:solidFill>
                    <a:srgbClr val="CA0013"/>
                  </a:solidFill>
                  <a:latin typeface="Inter"/>
                </a:defRPr>
              </a:pPr>
            </a:p>
          </c:txPr>
          <c:dLblPos val="outEnd"/>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CA0013"/>
                </a:solidFill>
                <a:latin typeface="Microsoft JhengHei"/>
              </a:defRPr>
            </a:pPr>
            <a:endParaRPr lang="en-US"/>
          </a:p>
        </c:txPr>
        <c:crossAx val="2094734552"/>
        <c:crosses val="autoZero"/>
        <c:auto val="1"/>
        <c:lblAlgn val="ctr"/>
        <c:noMultiLvlLbl val="1"/>
      </c:catAx>
      <c:valAx>
        <c:axId val="2094734552"/>
        <c:scaling>
          <c:orientation val="minMax"/>
          <c:max val="125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EEEBE3"/>
        </a:solidFill>
        <a:ln>
          <a:noFill/>
        </a:ln>
        <a:effectLst/>
      </c:spPr>
    </c:plotArea>
    <c:plotVisOnly val="1"/>
    <c:dispBlanksAs val="span"/>
  </c:chart>
  <c:spPr>
    <a:solidFill>
      <a:srgbClr val="EEEBE3"/>
    </a:solidFill>
    <a:ln w="12700" cap="flat">
      <a:solidFill>
        <a:srgbClr val="EEEBE3"/>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本地就業居民</c:v>
                </c:pt>
              </c:strCache>
            </c:strRef>
          </c:tx>
          <c:spPr>
            <a:solidFill>
              <a:srgbClr val="CA0013"/>
            </a:solidFill>
            <a:ln w="38100" cap="flat">
              <a:solidFill>
                <a:srgbClr val="CA0013"/>
              </a:solidFill>
              <a:prstDash val="solid,dash"/>
              <a:round/>
            </a:ln>
            <a:effectLst/>
          </c:spPr>
          <c:invertIfNegative val="0"/>
          <c:dLbls>
            <c:numFmt formatCode="#,##0" sourceLinked="0"/>
            <c:txPr>
              <a:bodyPr/>
              <a:lstStyle/>
              <a:p>
                <a:pPr>
                  <a:defRPr b="1" i="0" strike="noStrike" sz="1200" u="none">
                    <a:solidFill>
                      <a:srgbClr val="CA0013"/>
                    </a:solidFill>
                    <a:latin typeface="Inter"/>
                  </a:defRPr>
                </a:pPr>
              </a:p>
            </c:txPr>
            <c:dLblPos val="t"/>
            <c:showLegendKey val="0"/>
            <c:showVal val="1"/>
            <c:showCatName val="0"/>
            <c:showSerName val="0"/>
            <c:showPercent val="0"/>
            <c:showBubbleSize val="0"/>
            <c:showLeaderLines val="0"/>
          </c:dLbls>
          <c:marker>
            <c:symbol val="circle"/>
            <c:size val="8"/>
            <c:spPr>
              <a:solidFill>
                <a:srgbClr val="CA0013"/>
              </a:solidFill>
              <a:ln w="9525" cap="flat">
                <a:solidFill>
                  <a:srgbClr val="CA0013"/>
                </a:solidFill>
                <a:prstDash val="solid"/>
                <a:round/>
              </a:ln>
              <a:effectLst/>
            </c:spPr>
          </c:marker>
          <c:cat>
            <c:multiLvlStrRef>
              <c:f>Sheet1!$A$2:$A$5</c:f>
              <c:multiLvlStrCache>
                <c:ptCount val="4"/>
                <c:lvl>
                  <c:pt idx="0">
                    <c:v>2022</c:v>
                  </c:pt>
                  <c:pt idx="1">
                    <c:v>2023</c:v>
                  </c:pt>
                  <c:pt idx="2">
                    <c:v>2024</c:v>
                  </c:pt>
                  <c:pt idx="3">
                    <c:v>2025</c:v>
                  </c:pt>
                </c:lvl>
              </c:multiLvlStrCache>
            </c:multiLvlStrRef>
          </c:cat>
          <c:val>
            <c:numRef>
              <c:f>Sheet1!$B$2:$B$5</c:f>
              <c:numCache>
                <c:formatCode>General</c:formatCode>
                <c:ptCount val="4"/>
                <c:pt idx="0">
                  <c:v>19000</c:v>
                </c:pt>
                <c:pt idx="1">
                  <c:v>20000</c:v>
                </c:pt>
                <c:pt idx="2">
                  <c:v>20500</c:v>
                </c:pt>
                <c:pt idx="3">
                  <c:v>20000</c:v>
                </c:pt>
              </c:numCache>
            </c:numRef>
          </c:val>
          <c:smooth val="0"/>
        </c:ser>
        <c:ser>
          <c:idx val="1"/>
          <c:order val="1"/>
          <c:tx>
            <c:strRef>
              <c:f>Sheet1!$C$1</c:f>
              <c:strCache>
                <c:ptCount val="1"/>
                <c:pt idx="0">
                  <c:v>就業人口</c:v>
                </c:pt>
              </c:strCache>
            </c:strRef>
          </c:tx>
          <c:spPr>
            <a:solidFill>
              <a:srgbClr val="CA0013"/>
            </a:solidFill>
            <a:ln w="38100" cap="flat">
              <a:solidFill>
                <a:srgbClr val="CA0013"/>
              </a:solidFill>
              <a:prstDash val="solid,dash"/>
              <a:round/>
            </a:ln>
            <a:effectLst/>
          </c:spPr>
          <c:invertIfNegative val="0"/>
          <c:dLbls>
            <c:numFmt formatCode="#,##0" sourceLinked="0"/>
            <c:txPr>
              <a:bodyPr/>
              <a:lstStyle/>
              <a:p>
                <a:pPr>
                  <a:defRPr b="1" i="0" strike="noStrike" sz="1200" u="none">
                    <a:solidFill>
                      <a:srgbClr val="CA0013"/>
                    </a:solidFill>
                    <a:latin typeface="Inter"/>
                  </a:defRPr>
                </a:pPr>
              </a:p>
            </c:txPr>
            <c:dLblPos val="t"/>
            <c:showLegendKey val="0"/>
            <c:showVal val="1"/>
            <c:showCatName val="0"/>
            <c:showSerName val="0"/>
            <c:showPercent val="0"/>
            <c:showBubbleSize val="0"/>
            <c:showLeaderLines val="0"/>
          </c:dLbls>
          <c:marker>
            <c:symbol val="circle"/>
            <c:size val="8"/>
            <c:spPr>
              <a:solidFill>
                <a:srgbClr val="CA0013"/>
              </a:solidFill>
              <a:ln w="9525" cap="flat">
                <a:solidFill>
                  <a:srgbClr val="CA0013"/>
                </a:solidFill>
                <a:prstDash val="solid"/>
                <a:round/>
              </a:ln>
              <a:effectLst/>
            </c:spPr>
          </c:marker>
          <c:cat>
            <c:multiLvlStrRef>
              <c:f>Sheet1!$A$2:$A$5</c:f>
              <c:multiLvlStrCache>
                <c:ptCount val="4"/>
                <c:lvl>
                  <c:pt idx="0">
                    <c:v>2022</c:v>
                  </c:pt>
                  <c:pt idx="1">
                    <c:v>2023</c:v>
                  </c:pt>
                  <c:pt idx="2">
                    <c:v>2024</c:v>
                  </c:pt>
                  <c:pt idx="3">
                    <c:v>2025</c:v>
                  </c:pt>
                </c:lvl>
              </c:multiLvlStrCache>
            </c:multiLvlStrRef>
          </c:cat>
          <c:val>
            <c:numRef>
              <c:f>Sheet1!$C$2:$C$5</c:f>
              <c:numCache>
                <c:formatCode>General</c:formatCode>
                <c:ptCount val="4"/>
                <c:pt idx="0">
                  <c:v>15600</c:v>
                </c:pt>
                <c:pt idx="1">
                  <c:v>17600</c:v>
                </c:pt>
                <c:pt idx="2">
                  <c:v>18000</c:v>
                </c:pt>
                <c:pt idx="3">
                  <c:v>17300</c:v>
                </c:pt>
              </c:numCache>
            </c:numRef>
          </c:val>
          <c:smooth val="0"/>
        </c:ser>
        <c:dLbls>
          <c:numFmt formatCode="#,##0" sourceLinked="0"/>
          <c:txPr>
            <a:bodyPr/>
            <a:lstStyle/>
            <a:p>
              <a:pPr>
                <a:defRPr b="1" i="0" strike="noStrike" sz="1200" u="none">
                  <a:solidFill>
                    <a:srgbClr val="CA0013"/>
                  </a:solidFill>
                  <a:latin typeface="Inter"/>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CA0013"/>
                </a:solidFill>
                <a:latin typeface="Microsoft JhengHei"/>
              </a:defRPr>
            </a:pPr>
            <a:endParaRPr lang="en-US"/>
          </a:p>
        </c:txPr>
        <c:crossAx val="2094734552"/>
        <c:crosses val="autoZero"/>
        <c:auto val="1"/>
        <c:lblAlgn val="ctr"/>
        <c:noMultiLvlLbl val="1"/>
      </c:catAx>
      <c:valAx>
        <c:axId val="2094734552"/>
        <c:scaling>
          <c:orientation val="minMax"/>
          <c:max val="23000"/>
          <c:min val="12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EEEBE3"/>
        </a:solidFill>
        <a:ln>
          <a:noFill/>
        </a:ln>
        <a:effectLst/>
      </c:spPr>
    </c:plotArea>
    <c:legend>
      <c:legendPos val="b"/>
      <c:overlay val="0"/>
      <c:txPr>
        <a:bodyPr/>
        <a:lstStyle/>
        <a:p>
          <a:pPr>
            <a:defRPr sz="1100">
              <a:solidFill>
                <a:srgbClr val="CA0013"/>
              </a:solidFill>
              <a:latin typeface="Microsoft JhengHei"/>
              <a:cs typeface="Microsoft JhengHei"/>
            </a:defRPr>
          </a:pPr>
          <a:endParaRPr lang="en-US"/>
        </a:p>
      </c:txPr>
    </c:legend>
    <c:plotVisOnly val="1"/>
    <c:dispBlanksAs val="span"/>
  </c:chart>
  <c:spPr>
    <a:solidFill>
      <a:srgbClr val="EEEBE3"/>
    </a:solidFill>
    <a:ln w="12700" cap="flat">
      <a:solidFill>
        <a:srgbClr val="EEEBE3"/>
      </a:solid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樓價收入比（倍）</c:v>
                </c:pt>
              </c:strCache>
            </c:strRef>
          </c:tx>
          <c:spPr>
            <a:solidFill>
              <a:srgbClr val="CA0013"/>
            </a:solidFill>
            <a:effectLst/>
          </c:spPr>
          <c:invertIfNegative val="0"/>
          <c:dLbls>
            <c:numFmt formatCode="0.0" sourceLinked="0"/>
            <c:txPr>
              <a:bodyPr/>
              <a:lstStyle/>
              <a:p>
                <a:pPr>
                  <a:defRPr b="1" i="0" strike="noStrike" sz="1200" u="none">
                    <a:solidFill>
                      <a:srgbClr val="CA0013"/>
                    </a:solidFill>
                    <a:latin typeface="Inter"/>
                  </a:defRPr>
                </a:pPr>
              </a:p>
            </c:txPr>
            <c:dLblPos val="outEnd"/>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Sheet1!$B$2:$B$5</c:f>
              <c:numCache>
                <c:formatCode>General</c:formatCode>
                <c:ptCount val="4"/>
                <c:pt idx="0">
                  <c:v>13.4</c:v>
                </c:pt>
                <c:pt idx="1">
                  <c:v>12.7</c:v>
                </c:pt>
                <c:pt idx="2">
                  <c:v>11.3</c:v>
                </c:pt>
                <c:pt idx="3">
                  <c:v>9.6</c:v>
                </c:pt>
              </c:numCache>
            </c:numRef>
          </c:val>
        </c:ser>
        <c:dLbls>
          <c:numFmt formatCode="0.0" sourceLinked="0"/>
          <c:txPr>
            <a:bodyPr/>
            <a:lstStyle/>
            <a:p>
              <a:pPr>
                <a:defRPr b="1" i="0" strike="noStrike" sz="1200" u="none">
                  <a:solidFill>
                    <a:srgbClr val="CA0013"/>
                  </a:solidFill>
                  <a:latin typeface="Inter"/>
                </a:defRPr>
              </a:pPr>
            </a:p>
          </c:txPr>
          <c:dLblPos val="outEnd"/>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CA0013"/>
                </a:solidFill>
                <a:latin typeface="Microsoft JhengHei"/>
              </a:defRPr>
            </a:pPr>
            <a:endParaRPr lang="en-US"/>
          </a:p>
        </c:txPr>
        <c:crossAx val="2094734552"/>
        <c:crosses val="autoZero"/>
        <c:auto val="1"/>
        <c:lblAlgn val="ctr"/>
        <c:noMultiLvlLbl val="1"/>
      </c:catAx>
      <c:valAx>
        <c:axId val="2094734552"/>
        <c:scaling>
          <c:orientation val="minMax"/>
          <c:max val="1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EEEBE3"/>
        </a:solidFill>
        <a:ln>
          <a:noFill/>
        </a:ln>
        <a:effectLst/>
      </c:spPr>
    </c:plotArea>
    <c:plotVisOnly val="1"/>
    <c:dispBlanksAs val="span"/>
  </c:chart>
  <c:spPr>
    <a:solidFill>
      <a:srgbClr val="EEEBE3"/>
    </a:solidFill>
    <a:ln w="12700" cap="flat">
      <a:solidFill>
        <a:srgbClr val="EEEBE3"/>
      </a:solid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13–35 歲青年居住的房屋類別（%，可多選）</c:v>
                </c:pt>
              </c:strCache>
            </c:strRef>
          </c:tx>
          <c:spPr>
            <a:solidFill>
              <a:srgbClr val="CA0013"/>
            </a:solidFill>
            <a:effectLst/>
          </c:spPr>
          <c:invertIfNegative val="0"/>
          <c:dLbls>
            <c:numFmt formatCode="0.0&quot;%&quot;" sourceLinked="0"/>
            <c:txPr>
              <a:bodyPr/>
              <a:lstStyle/>
              <a:p>
                <a:pPr>
                  <a:defRPr b="1" i="0" strike="noStrike" sz="1200" u="none">
                    <a:solidFill>
                      <a:srgbClr val="CA0013"/>
                    </a:solidFill>
                    <a:latin typeface="Inter"/>
                  </a:defRPr>
                </a:pPr>
              </a:p>
            </c:txPr>
            <c:dLblPos val="outEnd"/>
            <c:showLegendKey val="0"/>
            <c:showVal val="1"/>
            <c:showCatName val="0"/>
            <c:showSerName val="0"/>
            <c:showPercent val="0"/>
            <c:showBubbleSize val="0"/>
            <c:showLeaderLines val="0"/>
          </c:dLbls>
          <c:cat>
            <c:multiLvlStrRef>
              <c:f>Sheet1!$A$2:$A$6</c:f>
              <c:multiLvlStrCache>
                <c:ptCount val="5"/>
                <c:lvl>
                  <c:pt idx="0">
                    <c:v>購買之私人樓宇</c:v>
                  </c:pt>
                  <c:pt idx="1">
                    <c:v>租用之私人樓宇</c:v>
                  </c:pt>
                  <c:pt idx="2">
                    <c:v>經濟房屋</c:v>
                  </c:pt>
                  <c:pt idx="3">
                    <c:v>社會房屋</c:v>
                  </c:pt>
                  <c:pt idx="4">
                    <c:v>宿舍</c:v>
                  </c:pt>
                </c:lvl>
              </c:multiLvlStrCache>
            </c:multiLvlStrRef>
          </c:cat>
          <c:val>
            <c:numRef>
              <c:f>Sheet1!$B$2:$B$6</c:f>
              <c:numCache>
                <c:formatCode>General</c:formatCode>
                <c:ptCount val="5"/>
                <c:pt idx="0">
                  <c:v>64</c:v>
                </c:pt>
                <c:pt idx="1">
                  <c:v>23.1</c:v>
                </c:pt>
                <c:pt idx="2">
                  <c:v>9</c:v>
                </c:pt>
                <c:pt idx="3">
                  <c:v>4.4</c:v>
                </c:pt>
                <c:pt idx="4">
                  <c:v>4.3</c:v>
                </c:pt>
              </c:numCache>
            </c:numRef>
          </c:val>
        </c:ser>
        <c:dLbls>
          <c:numFmt formatCode="0.0&quot;%&quot;" sourceLinked="0"/>
          <c:txPr>
            <a:bodyPr/>
            <a:lstStyle/>
            <a:p>
              <a:pPr>
                <a:defRPr b="1" i="0" strike="noStrike" sz="1200" u="none">
                  <a:solidFill>
                    <a:srgbClr val="CA0013"/>
                  </a:solidFill>
                  <a:latin typeface="Inter"/>
                </a:defRPr>
              </a:pPr>
            </a:p>
          </c:txPr>
          <c:dLblPos val="outEnd"/>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CA0013"/>
                </a:solidFill>
                <a:latin typeface="Microsoft JhengHei"/>
              </a:defRPr>
            </a:pPr>
            <a:endParaRPr lang="en-US"/>
          </a:p>
        </c:txPr>
        <c:crossAx val="2094734552"/>
        <c:crosses val="autoZero"/>
        <c:auto val="1"/>
        <c:lblAlgn val="ctr"/>
        <c:noMultiLvlLbl val="1"/>
      </c:catAx>
      <c:valAx>
        <c:axId val="2094734552"/>
        <c:scaling>
          <c:orientation val="minMax"/>
          <c:max val="8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EEEBE3"/>
        </a:solidFill>
        <a:ln>
          <a:noFill/>
        </a:ln>
        <a:effectLst/>
      </c:spPr>
    </c:plotArea>
    <c:plotVisOnly val="1"/>
    <c:dispBlanksAs val="span"/>
  </c:chart>
  <c:spPr>
    <a:solidFill>
      <a:srgbClr val="EEEBE3"/>
    </a:solidFill>
    <a:ln w="12700" cap="flat">
      <a:solidFill>
        <a:srgbClr val="EEEBE3"/>
      </a:solid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樓價（每平方米均價）</c:v>
                </c:pt>
              </c:strCache>
            </c:strRef>
          </c:tx>
          <c:spPr>
            <a:solidFill>
              <a:srgbClr val="CA0013"/>
            </a:solidFill>
            <a:ln w="38100" cap="flat">
              <a:solidFill>
                <a:srgbClr val="CA0013"/>
              </a:solidFill>
              <a:prstDash val="solid,dash"/>
              <a:round/>
            </a:ln>
            <a:effectLst/>
          </c:spPr>
          <c:invertIfNegative val="0"/>
          <c:dLbls>
            <c:numFmt formatCode="0.0" sourceLinked="0"/>
            <c:txPr>
              <a:bodyPr/>
              <a:lstStyle/>
              <a:p>
                <a:pPr>
                  <a:defRPr b="1" i="0" strike="noStrike" sz="1200" u="none">
                    <a:solidFill>
                      <a:srgbClr val="CA0013"/>
                    </a:solidFill>
                    <a:latin typeface="Inter"/>
                  </a:defRPr>
                </a:pPr>
              </a:p>
            </c:txPr>
            <c:dLblPos val="t"/>
            <c:showLegendKey val="0"/>
            <c:showVal val="1"/>
            <c:showCatName val="0"/>
            <c:showSerName val="0"/>
            <c:showPercent val="0"/>
            <c:showBubbleSize val="0"/>
            <c:showLeaderLines val="0"/>
          </c:dLbls>
          <c:marker>
            <c:symbol val="circle"/>
            <c:size val="8"/>
            <c:spPr>
              <a:solidFill>
                <a:srgbClr val="CA0013"/>
              </a:solidFill>
              <a:ln w="9525" cap="flat">
                <a:solidFill>
                  <a:srgbClr val="CA0013"/>
                </a:solidFill>
                <a:prstDash val="solid"/>
                <a:round/>
              </a:ln>
              <a:effectLst/>
            </c:spPr>
          </c:marker>
          <c:cat>
            <c:multiLvlStrRef>
              <c:f>Sheet1!$A$2:$A$4</c:f>
              <c:multiLvlStrCache>
                <c:ptCount val="3"/>
                <c:lvl>
                  <c:pt idx="0">
                    <c:v>2023</c:v>
                  </c:pt>
                  <c:pt idx="1">
                    <c:v>2024</c:v>
                  </c:pt>
                  <c:pt idx="2">
                    <c:v>2025</c:v>
                  </c:pt>
                </c:lvl>
              </c:multiLvlStrCache>
            </c:multiLvlStrRef>
          </c:cat>
          <c:val>
            <c:numRef>
              <c:f>Sheet1!$B$2:$B$4</c:f>
              <c:numCache>
                <c:formatCode>General</c:formatCode>
                <c:ptCount val="3"/>
                <c:pt idx="0">
                  <c:v>100</c:v>
                </c:pt>
                <c:pt idx="1">
                  <c:v>91</c:v>
                </c:pt>
                <c:pt idx="2">
                  <c:v>75.9</c:v>
                </c:pt>
              </c:numCache>
            </c:numRef>
          </c:val>
          <c:smooth val="0"/>
        </c:ser>
        <c:ser>
          <c:idx val="1"/>
          <c:order val="1"/>
          <c:tx>
            <c:strRef>
              <c:f>Sheet1!$C$1</c:f>
              <c:strCache>
                <c:ptCount val="1"/>
                <c:pt idx="0">
                  <c:v>租金（每平方米平均租金）</c:v>
                </c:pt>
              </c:strCache>
            </c:strRef>
          </c:tx>
          <c:spPr>
            <a:solidFill>
              <a:srgbClr val="CA0013"/>
            </a:solidFill>
            <a:ln w="38100" cap="flat">
              <a:solidFill>
                <a:srgbClr val="CA0013"/>
              </a:solidFill>
              <a:prstDash val="solid,dash"/>
              <a:round/>
            </a:ln>
            <a:effectLst/>
          </c:spPr>
          <c:invertIfNegative val="0"/>
          <c:dLbls>
            <c:numFmt formatCode="0.0" sourceLinked="0"/>
            <c:txPr>
              <a:bodyPr/>
              <a:lstStyle/>
              <a:p>
                <a:pPr>
                  <a:defRPr b="1" i="0" strike="noStrike" sz="1200" u="none">
                    <a:solidFill>
                      <a:srgbClr val="CA0013"/>
                    </a:solidFill>
                    <a:latin typeface="Inter"/>
                  </a:defRPr>
                </a:pPr>
              </a:p>
            </c:txPr>
            <c:dLblPos val="t"/>
            <c:showLegendKey val="0"/>
            <c:showVal val="1"/>
            <c:showCatName val="0"/>
            <c:showSerName val="0"/>
            <c:showPercent val="0"/>
            <c:showBubbleSize val="0"/>
            <c:showLeaderLines val="0"/>
          </c:dLbls>
          <c:marker>
            <c:symbol val="circle"/>
            <c:size val="8"/>
            <c:spPr>
              <a:solidFill>
                <a:srgbClr val="CA0013"/>
              </a:solidFill>
              <a:ln w="9525" cap="flat">
                <a:solidFill>
                  <a:srgbClr val="CA0013"/>
                </a:solidFill>
                <a:prstDash val="solid"/>
                <a:round/>
              </a:ln>
              <a:effectLst/>
            </c:spPr>
          </c:marker>
          <c:cat>
            <c:multiLvlStrRef>
              <c:f>Sheet1!$A$2:$A$4</c:f>
              <c:multiLvlStrCache>
                <c:ptCount val="3"/>
                <c:lvl>
                  <c:pt idx="0">
                    <c:v>2023</c:v>
                  </c:pt>
                  <c:pt idx="1">
                    <c:v>2024</c:v>
                  </c:pt>
                  <c:pt idx="2">
                    <c:v>2025</c:v>
                  </c:pt>
                </c:lvl>
              </c:multiLvlStrCache>
            </c:multiLvlStrRef>
          </c:cat>
          <c:val>
            <c:numRef>
              <c:f>Sheet1!$C$2:$C$4</c:f>
              <c:numCache>
                <c:formatCode>General</c:formatCode>
                <c:ptCount val="3"/>
                <c:pt idx="0">
                  <c:v>100</c:v>
                </c:pt>
                <c:pt idx="1">
                  <c:v>103.9</c:v>
                </c:pt>
                <c:pt idx="2">
                  <c:v>106.1</c:v>
                </c:pt>
              </c:numCache>
            </c:numRef>
          </c:val>
          <c:smooth val="0"/>
        </c:ser>
        <c:dLbls>
          <c:numFmt formatCode="0.0" sourceLinked="0"/>
          <c:txPr>
            <a:bodyPr/>
            <a:lstStyle/>
            <a:p>
              <a:pPr>
                <a:defRPr b="1" i="0" strike="noStrike" sz="1200" u="none">
                  <a:solidFill>
                    <a:srgbClr val="CA0013"/>
                  </a:solidFill>
                  <a:latin typeface="Inter"/>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CA0013"/>
                </a:solidFill>
                <a:latin typeface="Microsoft JhengHei"/>
              </a:defRPr>
            </a:pPr>
            <a:endParaRPr lang="en-US"/>
          </a:p>
        </c:txPr>
        <c:crossAx val="2094734552"/>
        <c:crosses val="autoZero"/>
        <c:auto val="1"/>
        <c:lblAlgn val="ctr"/>
        <c:noMultiLvlLbl val="1"/>
      </c:catAx>
      <c:valAx>
        <c:axId val="2094734552"/>
        <c:scaling>
          <c:orientation val="minMax"/>
          <c:max val="118"/>
          <c:min val="6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EEEBE3"/>
        </a:solidFill>
        <a:ln>
          <a:noFill/>
        </a:ln>
        <a:effectLst/>
      </c:spPr>
    </c:plotArea>
    <c:legend>
      <c:legendPos val="b"/>
      <c:overlay val="0"/>
      <c:txPr>
        <a:bodyPr/>
        <a:lstStyle/>
        <a:p>
          <a:pPr>
            <a:defRPr sz="1100">
              <a:solidFill>
                <a:srgbClr val="CA0013"/>
              </a:solidFill>
              <a:latin typeface="Microsoft JhengHei"/>
              <a:cs typeface="Microsoft JhengHei"/>
            </a:defRPr>
          </a:pPr>
          <a:endParaRPr lang="en-US"/>
        </a:p>
      </c:txPr>
    </c:legend>
    <c:plotVisOnly val="1"/>
    <c:dispBlanksAs val="span"/>
  </c:chart>
  <c:spPr>
    <a:solidFill>
      <a:srgbClr val="EEEBE3"/>
    </a:solidFill>
    <a:ln w="12700" cap="flat">
      <a:solidFill>
        <a:srgbClr val="EEEBE3"/>
      </a:solid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每平方米平均租金（澳門元）</c:v>
                </c:pt>
              </c:strCache>
            </c:strRef>
          </c:tx>
          <c:spPr>
            <a:solidFill>
              <a:srgbClr val="CA0013"/>
            </a:solidFill>
            <a:effectLst/>
          </c:spPr>
          <c:invertIfNegative val="0"/>
          <c:dLbls>
            <c:numFmt formatCode="#,##0" sourceLinked="0"/>
            <c:txPr>
              <a:bodyPr/>
              <a:lstStyle/>
              <a:p>
                <a:pPr>
                  <a:defRPr b="1" i="0" strike="noStrike" sz="1200" u="none">
                    <a:solidFill>
                      <a:srgbClr val="CA0013"/>
                    </a:solidFill>
                    <a:latin typeface="Inter"/>
                  </a:defRPr>
                </a:pPr>
              </a:p>
            </c:txPr>
            <c:dLblPos val="outEnd"/>
            <c:showLegendKey val="0"/>
            <c:showVal val="1"/>
            <c:showCatName val="0"/>
            <c:showSerName val="0"/>
            <c:showPercent val="0"/>
            <c:showBubbleSize val="0"/>
            <c:showLeaderLines val="0"/>
          </c:dLbls>
          <c:cat>
            <c:multiLvlStrRef>
              <c:f>Sheet1!$A$2:$A$6</c:f>
              <c:multiLvlStrCache>
                <c:ptCount val="5"/>
                <c:lvl>
                  <c:pt idx="0">
                    <c:v>5 年及以下</c:v>
                  </c:pt>
                  <c:pt idx="1">
                    <c:v>6 至 10 年</c:v>
                  </c:pt>
                  <c:pt idx="2">
                    <c:v>11 至 20 年</c:v>
                  </c:pt>
                  <c:pt idx="3">
                    <c:v>21 至 30 年</c:v>
                  </c:pt>
                  <c:pt idx="4">
                    <c:v>大於 30 年</c:v>
                  </c:pt>
                </c:lvl>
              </c:multiLvlStrCache>
            </c:multiLvlStrRef>
          </c:cat>
          <c:val>
            <c:numRef>
              <c:f>Sheet1!$B$2:$B$6</c:f>
              <c:numCache>
                <c:formatCode>General</c:formatCode>
                <c:ptCount val="5"/>
                <c:pt idx="0">
                  <c:v>182</c:v>
                </c:pt>
                <c:pt idx="1">
                  <c:v>166</c:v>
                </c:pt>
                <c:pt idx="2">
                  <c:v>143</c:v>
                </c:pt>
                <c:pt idx="3">
                  <c:v>121</c:v>
                </c:pt>
                <c:pt idx="4">
                  <c:v>119</c:v>
                </c:pt>
              </c:numCache>
            </c:numRef>
          </c:val>
        </c:ser>
        <c:dLbls>
          <c:numFmt formatCode="#,##0" sourceLinked="0"/>
          <c:txPr>
            <a:bodyPr/>
            <a:lstStyle/>
            <a:p>
              <a:pPr>
                <a:defRPr b="1" i="0" strike="noStrike" sz="1200" u="none">
                  <a:solidFill>
                    <a:srgbClr val="CA0013"/>
                  </a:solidFill>
                  <a:latin typeface="Inter"/>
                </a:defRPr>
              </a:pPr>
            </a:p>
          </c:txPr>
          <c:dLblPos val="outEnd"/>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CA0013"/>
                </a:solidFill>
                <a:latin typeface="Microsoft JhengHei"/>
              </a:defRPr>
            </a:pPr>
            <a:endParaRPr lang="en-US"/>
          </a:p>
        </c:txPr>
        <c:crossAx val="2094734552"/>
        <c:crosses val="autoZero"/>
        <c:auto val="1"/>
        <c:lblAlgn val="ctr"/>
        <c:noMultiLvlLbl val="1"/>
      </c:catAx>
      <c:valAx>
        <c:axId val="2094734552"/>
        <c:scaling>
          <c:orientation val="minMax"/>
          <c:max val="22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EEEBE3"/>
        </a:solidFill>
        <a:ln>
          <a:noFill/>
        </a:ln>
        <a:effectLst/>
      </c:spPr>
    </c:plotArea>
    <c:plotVisOnly val="1"/>
    <c:dispBlanksAs val="span"/>
  </c:chart>
  <c:spPr>
    <a:solidFill>
      <a:srgbClr val="EEEBE3"/>
    </a:solidFill>
    <a:ln w="12700" cap="flat">
      <a:solidFill>
        <a:srgbClr val="EEEBE3"/>
      </a:solid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供應單位</c:v>
                </c:pt>
              </c:strCache>
            </c:strRef>
          </c:tx>
          <c:spPr>
            <a:solidFill>
              <a:srgbClr val="CA0013"/>
            </a:solidFill>
            <a:effectLst/>
          </c:spPr>
          <c:invertIfNegative val="0"/>
          <c:dLbls>
            <c:numFmt formatCode="#,##0" sourceLinked="0"/>
            <c:txPr>
              <a:bodyPr/>
              <a:lstStyle/>
              <a:p>
                <a:pPr>
                  <a:defRPr b="1" i="0" strike="noStrike" sz="1200" u="none">
                    <a:solidFill>
                      <a:srgbClr val="CA0013"/>
                    </a:solidFill>
                    <a:latin typeface="Inter"/>
                  </a:defRPr>
                </a:pPr>
              </a:p>
            </c:txPr>
            <c:dLblPos val="outEnd"/>
            <c:showLegendKey val="0"/>
            <c:showVal val="1"/>
            <c:showCatName val="0"/>
            <c:showSerName val="0"/>
            <c:showPercent val="0"/>
            <c:showBubbleSize val="0"/>
            <c:showLeaderLines val="0"/>
          </c:dLbls>
          <c:cat>
            <c:multiLvlStrRef>
              <c:f>Sheet1!$A$2:$A$3</c:f>
              <c:multiLvlStrCache>
                <c:ptCount val="2"/>
                <c:lvl>
                  <c:pt idx="0">
                    <c:v>一房單位 對 個人申請</c:v>
                  </c:pt>
                  <c:pt idx="1">
                    <c:v>全部單位 對 獲接納申請</c:v>
                  </c:pt>
                </c:lvl>
              </c:multiLvlStrCache>
            </c:multiLvlStrRef>
          </c:cat>
          <c:val>
            <c:numRef>
              <c:f>Sheet1!$B$2:$B$3</c:f>
              <c:numCache>
                <c:formatCode>General</c:formatCode>
                <c:ptCount val="2"/>
                <c:pt idx="0">
                  <c:v>1657</c:v>
                </c:pt>
                <c:pt idx="1">
                  <c:v>5415</c:v>
                </c:pt>
              </c:numCache>
            </c:numRef>
          </c:val>
        </c:ser>
        <c:ser>
          <c:idx val="1"/>
          <c:order val="1"/>
          <c:tx>
            <c:strRef>
              <c:f>Sheet1!$C$1</c:f>
              <c:strCache>
                <c:ptCount val="1"/>
                <c:pt idx="0">
                  <c:v>申請（需求）</c:v>
                </c:pt>
              </c:strCache>
            </c:strRef>
          </c:tx>
          <c:spPr>
            <a:solidFill>
              <a:srgbClr val="E3B4AE"/>
            </a:solidFill>
            <a:effectLst/>
          </c:spPr>
          <c:invertIfNegative val="0"/>
          <c:dLbls>
            <c:numFmt formatCode="#,##0" sourceLinked="0"/>
            <c:txPr>
              <a:bodyPr/>
              <a:lstStyle/>
              <a:p>
                <a:pPr>
                  <a:defRPr b="1" i="0" strike="noStrike" sz="1200" u="none">
                    <a:solidFill>
                      <a:srgbClr val="CA0013"/>
                    </a:solidFill>
                    <a:latin typeface="Inter"/>
                  </a:defRPr>
                </a:pPr>
              </a:p>
            </c:txPr>
            <c:dLblPos val="outEnd"/>
            <c:showLegendKey val="0"/>
            <c:showVal val="1"/>
            <c:showCatName val="0"/>
            <c:showSerName val="0"/>
            <c:showPercent val="0"/>
            <c:showBubbleSize val="0"/>
            <c:showLeaderLines val="0"/>
          </c:dLbls>
          <c:cat>
            <c:multiLvlStrRef>
              <c:f>Sheet1!$A$2:$A$3</c:f>
              <c:multiLvlStrCache>
                <c:ptCount val="2"/>
                <c:lvl>
                  <c:pt idx="0">
                    <c:v>一房單位 對 個人申請</c:v>
                  </c:pt>
                  <c:pt idx="1">
                    <c:v>全部單位 對 獲接納申請</c:v>
                  </c:pt>
                </c:lvl>
              </c:multiLvlStrCache>
            </c:multiLvlStrRef>
          </c:cat>
          <c:val>
            <c:numRef>
              <c:f>Sheet1!$C$2:$C$3</c:f>
              <c:numCache>
                <c:formatCode>General</c:formatCode>
                <c:ptCount val="2"/>
                <c:pt idx="0">
                  <c:v>2275</c:v>
                </c:pt>
                <c:pt idx="1">
                  <c:v>5076</c:v>
                </c:pt>
              </c:numCache>
            </c:numRef>
          </c:val>
        </c:ser>
        <c:dLbls>
          <c:numFmt formatCode="#,##0" sourceLinked="0"/>
          <c:txPr>
            <a:bodyPr/>
            <a:lstStyle/>
            <a:p>
              <a:pPr>
                <a:defRPr b="1" i="0" strike="noStrike" sz="1200" u="none">
                  <a:solidFill>
                    <a:srgbClr val="CA0013"/>
                  </a:solidFill>
                  <a:latin typeface="Inter"/>
                </a:defRPr>
              </a:pPr>
            </a:p>
          </c:txPr>
          <c:dLblPos val="outEnd"/>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CA0013"/>
                </a:solidFill>
                <a:latin typeface="Microsoft JhengHei"/>
              </a:defRPr>
            </a:pPr>
            <a:endParaRPr lang="en-US"/>
          </a:p>
        </c:txPr>
        <c:crossAx val="2094734552"/>
        <c:crosses val="autoZero"/>
        <c:auto val="1"/>
        <c:lblAlgn val="ctr"/>
        <c:noMultiLvlLbl val="1"/>
      </c:catAx>
      <c:valAx>
        <c:axId val="2094734552"/>
        <c:scaling>
          <c:orientation val="minMax"/>
          <c:max val="65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EEEBE3"/>
        </a:solidFill>
        <a:ln>
          <a:noFill/>
        </a:ln>
        <a:effectLst/>
      </c:spPr>
    </c:plotArea>
    <c:legend>
      <c:legendPos val="b"/>
      <c:overlay val="0"/>
      <c:txPr>
        <a:bodyPr/>
        <a:lstStyle/>
        <a:p>
          <a:pPr>
            <a:defRPr sz="1100">
              <a:solidFill>
                <a:srgbClr val="CA0013"/>
              </a:solidFill>
              <a:latin typeface="Microsoft JhengHei"/>
              <a:cs typeface="Microsoft JhengHei"/>
            </a:defRPr>
          </a:pPr>
          <a:endParaRPr lang="en-US"/>
        </a:p>
      </c:txPr>
    </c:legend>
    <c:plotVisOnly val="1"/>
    <c:dispBlanksAs val="span"/>
  </c:chart>
  <c:spPr>
    <a:solidFill>
      <a:srgbClr val="EEEBE3"/>
    </a:solidFill>
    <a:ln w="12700" cap="flat">
      <a:solidFill>
        <a:srgbClr val="EEEBE3"/>
      </a:solid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價租比（年）</c:v>
                </c:pt>
              </c:strCache>
            </c:strRef>
          </c:tx>
          <c:spPr>
            <a:solidFill>
              <a:srgbClr val="CA0013"/>
            </a:solidFill>
            <a:effectLst/>
          </c:spPr>
          <c:invertIfNegative val="0"/>
          <c:dLbls>
            <c:numFmt formatCode="0.0" sourceLinked="0"/>
            <c:txPr>
              <a:bodyPr/>
              <a:lstStyle/>
              <a:p>
                <a:pPr>
                  <a:defRPr b="1" i="0" strike="noStrike" sz="1200" u="none">
                    <a:solidFill>
                      <a:srgbClr val="CA0013"/>
                    </a:solidFill>
                    <a:latin typeface="Inter"/>
                  </a:defRPr>
                </a:pPr>
              </a:p>
            </c:txPr>
            <c:dLblPos val="outEnd"/>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59.1</c:v>
                </c:pt>
                <c:pt idx="1">
                  <c:v>51.8</c:v>
                </c:pt>
                <c:pt idx="2">
                  <c:v>42.5</c:v>
                </c:pt>
              </c:numCache>
            </c:numRef>
          </c:val>
        </c:ser>
        <c:dLbls>
          <c:numFmt formatCode="0.0" sourceLinked="0"/>
          <c:txPr>
            <a:bodyPr/>
            <a:lstStyle/>
            <a:p>
              <a:pPr>
                <a:defRPr b="1" i="0" strike="noStrike" sz="1200" u="none">
                  <a:solidFill>
                    <a:srgbClr val="CA0013"/>
                  </a:solidFill>
                  <a:latin typeface="Inter"/>
                </a:defRPr>
              </a:pPr>
            </a:p>
          </c:txPr>
          <c:dLblPos val="outEnd"/>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CA0013"/>
                </a:solidFill>
                <a:latin typeface="Microsoft JhengHei"/>
              </a:defRPr>
            </a:pPr>
            <a:endParaRPr lang="en-US"/>
          </a:p>
        </c:txPr>
        <c:crossAx val="2094734552"/>
        <c:crosses val="autoZero"/>
        <c:auto val="1"/>
        <c:lblAlgn val="ctr"/>
        <c:noMultiLvlLbl val="1"/>
      </c:catAx>
      <c:valAx>
        <c:axId val="2094734552"/>
        <c:scaling>
          <c:orientation val="minMax"/>
          <c:max val="7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EEEBE3"/>
        </a:solidFill>
        <a:ln>
          <a:noFill/>
        </a:ln>
        <a:effectLst/>
      </c:spPr>
    </c:plotArea>
    <c:plotVisOnly val="1"/>
    <c:dispBlanksAs val="span"/>
  </c:chart>
  <c:spPr>
    <a:solidFill>
      <a:srgbClr val="EEEBE3"/>
    </a:solidFill>
    <a:ln w="12700" cap="flat">
      <a:solidFill>
        <a:srgbClr val="EEEBE3"/>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開場（約 1 分鐘）。本組課題為房屋問題，按課程指引指定使用馬克思理論。
先講一句總論點：澳門住宅總量足夠，問題在分配 —— 房子按支付能力而非居住需要分配。
時間分配（共 45 分鐘）：開場 3、概念 4、問題一 8、問題二 6、問題三 8、社會因素 3、理論 6、措施 4、總結 2、答問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引言。交代三件事：為何選房屋（最大宗家庭開支）、澳門制度背景（五階梯）、全報告的問題意識。
這句官方引文是全報告的起點：政府自己承認總量足夠但結構失衡，所以我們的問題是『為何仍有人住不起』，而不是『房子夠不夠』。
注意：238,464 個單位是 2021 年 6 月底數字，202,700 戶是 2021 人口普查，兩者相差約 35,764。
『住屋及燃料為最大一項』出自統計暨普查局住戶收支調查 2023/24 新聞稿：住屋及燃料 25.0%，其次是食物及非酒精飲品 24.7%，只領先 0.3 個百分點，被問到要如實說明。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交代報告結構。三個問題的選定過程：老師課堂上列出私樓價格、舊區老化、公屋濫用三個方向；
『濫用』沒有公開彙總數據，所以第三個問題改寫為公共房屋制度、資源分配與夾心階層，涵蓋輪候、監察與資源錯配。
底部這條線就是老師要求的行文順序，全報告按此走。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全報告的骨幹，四個數字要記熟。
1) 單位多過住戶 35,764：2021 年數字。2) 樓價四年跌 31.7%：2021 年 103,859 → 2025 年 70,935。
3) 樓價收入比 6.5–9.6 倍：以 700 呎（65 平方米）計；9.6 倍用雙職本地居民中位收入，6.5 倍用住戶月平均收入 58,835 元，官方未公布中位數，所以列出區間。
4) 租金 +6% 是 2023 至 2025 年的累計（2024 年 +3.9%、2025 年 +2.1%），與同期樓價 −24.1% 比較。
切勿說樓價一路上升，也切勿把四年樓價跌幅與單年租金升幅並列。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概念部分共 4 分鐘，五個概念，每個只講三句：定義、與澳門的關係、報告怎樣用。這是老師的明確要求，不要展開。
樓價收入比要講清楚是全部收入不消費的年數；3.5–5 倍是高武洲 2017 引用的國際標準。
夾心階層有兩個官方版本，見問題三。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都市更新：老師特別點名要有。要講清楚它不只是拆樓：第 18/2022 號法律第 1 條第 2 款指明，除重建外，都市更新尚包括建築物的保養、維修和更改，以及公共基礎設施與公用設施的建設；第 2 條把『都市更新重建』界定為拆卸並興建新的分層建築物；第 3 條規定由所有權人決定是否重建。
樓宇老化：老師強調樓齡高不等於危樓，所以用三層梯度。第三層殘危的正式程序是土地工務局檢驗委員會證實，業權人須在限期內拆卸。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第五個概念是全報告的樞紐：政府文件本身用結構性失衡、資源錯配來描述房屋問題。
右邊的表說明每個概念在哪個問題、用哪個理論透鏡，這樣概念不是孤立的定義，而是後面分析的工具。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第一層證據：樓價。數字取自統計暨普查局各年年度報告：2021 年 103,859（−1.1%）、2023 年 93,500（−0.3%）、2024 年 85,114（−9.0%）、2025 年 70,935（−16.7%）；2022 年 93,781 由 2023 年數值及變動率反推，圖上標星號。
重點是不要說樓價一路上升。老師提醒過疫情前後有變化，數據顯示 2021 年起持續回落，2025 年跌幅最大。
2025 年各區：澳門半島 68,894、氹仔 72,971、路環 81,500 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第二層證據：收入。各年第 4 季月工作收入中位數（本地就業居民）：2022 年 19,000、2023 年 20,000、2024 年 20,500、2025 年 20,000。
名義收入近三年只升約 5%，同期樓價跌約 24%，所以樓價收入比改善主要來自樓價下跌，而不是收入上升。
2021 年第 4 季的數字未取得，所以序列由 2022 年起，這點在數據限制頁有交代。
老師要的是家庭收入。官方只公布住戶月平均收入 58,835 元（平均數），沒有中位數，所以下一頁用兩種口徑並列。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第三層：老師要求的實際例子。700 呎約 65 平方米，按 2025 年均價 70,935 元計，總價約 461 萬。
2026 年 1 月 1 日起，住宅按揭成數上限由七成升至八成（金管局公告），首期由約 138 萬降至約 92 萬，相當於雙職家庭年收入的 2.9 年降至 1.9 年。
但月供同時增加：以 30 年、年利率 4% 假設，由約 15,400 升至約 17,600 元。利率是假設值，不是官方數據，匯報前請用銀行實際報價替換，每升降 0.5 個百分點，月供約增減 900 至 1,000 元。
首置及不同價值住宅的成數細則我們未核實，被問到要如實說明。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第四層：樓價收入比。左圖是 700 呎單位在各年價格下對雙職本地居民中位收入（各年第 4 季）的倍數：2022 年 13.4、2023 年 12.7、2024 年 11.3、2025 年 9.6。
口徑二：官方住戶月平均收入 58,835 元（2023/24），計得約 6.5 倍。但平均數易被高收入拉高，所以真實的中位家庭比率大約在兩者之間。
老師口頭提過的 14.8 倍和 16 年，錄音沒有交代出處，Demographia 也不包含澳門，我們沒有使用。
高武洲 2017 的 22.89 倍是用平均每戶交易總價 824 萬對年收入 36 萬，分子不同，不可與本頁混用。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老師提醒過不能直接寫青年全部買不起樓，所以這頁用數據回答：誰真的受影響。
青年指標 2024（13–35 歲，N=2,348）：64.0% 居住在購買的私人樓宇，23.1% 租用私樓。注意這只是居住類別，沒有區分業權人，很可能是住在父母的物業。這反而是階級分析的線索：青年的居住結果取決於家庭資產，須用訪問驗證。
租用私樓比例 2018 年 10.6%，2024 年 23.1%，但各期承辦機構與問法不同（2018 問過去六個月），只能說方向。
住戶收支調查顯示住屋及燃料佔消費開支比例較 2017/18 減 1.9 個百分點，所以不宜說全體住戶的住屋負擔都在惡化；問題更可能集中在入場門檻與租戶（待訪問驗證）。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這頁取代了我們初稿的租金反轉說法。初稿把四年樓價跌幅與單年租金升幅並列，時段不一致，老師明確提醒過不能用單一年份說趨勢。
同一時段（2023 至 2025）才公平：樓價 −24.1%，租金 2024 年 +3.9%、2025 年 +2.1%，累計約 +6%。
2023 年前租金也曾隨樓價下跌（二手資料指 2020 年至 2023 年約跌 19%），官方 2021、2022 年全年租金未取得，所以標題寫『2023 年起』。
價租比：2025 年單位均價 70,935 元，年租 139×12 元，約 43 年租金；2023 年約 59 年。這個下降就是交換價值向使用價值靠攏，但仍高。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問題二第一頁，先講清楚老師要求的區分：樓齡高不等於危樓。用三層梯度。
第一層樓齡：約 4,800 幢樓齡 30 年以上，這個數字是報道引述，我們沒有取得官方出處；另有 2019 年 6 月底 5,173 幢的說法，兩者口徑不明，所以不並列作趨勢，只在數據限制頁交代。
第二層失修：土地工務局 2026 年首季因失修巡查 106 次，通知業權人檢查維修 84 宗（政府新聞稿，2026-05-03 公布）。
第三層殘危：2026 年 4 月清拆三幢殘危樓宇（老饕巷、關前正街、鍾家里），程序是檢驗委員會證實殘危，業權人逾期不拆，由局方代拆，費用及罰款由業權人承擔。
重點：三層數字性質不同（存量對單季個案），不能相除當成比率，只能說失修、殘危的個案遠少於舊樓總數。要老實承認：老師要求近五年的趨勢，這個問題我們找不到官方時間序列，這是一項數據缺口，也是措施三要求公開資料的理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這一頁的條文全部直接取自公報原文（第 18/2022 號法律），逐條核對過，可以放心引用。
門檻：第 6 條，樓齡 30 至 40 年 85%（少於 7 個獨立單位則 80%）；40 年以上 80%；殘破或危害公共衛生及人身安全、被命令全部拆卸的 60%。2019 年諮詢階段的說法是 90／80／60，最後版本不同，不要引用舊數字。
生效：公報 2022 年 12 月 28 日刊登，第 43 條規定 2023 年 6 月 1 日起生效，所以不能說法案仍待通過。
制度特點：第 3 條由所有權人決定重建，政府經都更公司提供支援；第 16 至 21 條，爭議走必要仲裁，仲裁庭要看方案對不同意者是否明顯不公平，包括負擔與臨時安置，裁決可取代其同意；第 34 條，為他人代墊重建負擔者，對重建後單位有優先受償權，順位優先於其他擔保。
這些是後面國家透鏡與階級透鏡要用的：法律保障的是業權人，而且重建費用要由業權人分攤。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祐漢七棟樓群是都市更新法下第一個示範項目，可以用來看門檻、安置與方案三件事。
官方新聞稿（都更公司，2024 年 9 月 20 日）：7 個地塊合共 46 幢已全數成立管理機關；都更公司與 2,000 多戶業主持續溝通；方案採『存量優化』，不增加住宅戶數及人口密度，各低層樓宇整合為 30 層高樓，原單位數量不變；暫住房 2,803 個單位，預計 2024 年底竣工。
『住商戶共 2,556 戶』出自研究報告轉述都更公司資料，我們沒有取得原頁，所以標明待核；官方新聞稿的說法是 2,000 多戶業主。
2026 年 7 月起先在祐漢七棟樓群進行結構及電力聯合巡查，並宣布建立殘舊樓宇資料庫。
這個項目的意義：如果連最有資源支援、最受關注的示範區都要花這麼多年，其他舊區更難。同時它引出階級問題：住在這裡的是誰（下一頁）。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左圖：每平方米平均租金按樓齡，5 年及以下 182 元、6 至 10 年 166 元、11 至 20 年 143 元、21 至 30 年 121 元、大於 30 年 119 元（統計暨普查局《租金統計》2025 全年）。舊樓約為新樓的 65%。
要小心：租金較低不是福利，是條件較差的價格；我們沒有樓宇條件（電梯、管理）的官方分項數字，所以只講租金，不講條件。
長者：長者住戶（所有成員均 65 歲以上）2012/13 年 10,989 戶升到 2017/18 年 18,223 戶（+65.8%）；65 歲以上比例 2021 年 12.1%，統計局 2016 年預測 2036 年 19.9%（均引自政策研究 2022 第 31 頁）。政策研究也記錄，近四成居於唐樓的長者希望即時入住長者公寓。
但長者是否集中住在舊區，我們沒有分區數字，所以這裡不寫『集中』，交給訪問去印證。右下角是訪問引用位，匯報前請填入受訪者原話。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把前面幾頁收成四個障礙，每個都有出處。
一、門檻：85／80% 已經很高，官方新聞稿也承認要聯絡海外業主；不同意者可經必要仲裁被強制參與，但仲裁要看負擔和臨時安置是否明顯不公平。
二、維修與管理：『三無大廈』（無業主會、無管理公司、無維修基金）是媒體與社會的俗稱，澳門政府文件沒有正式定義，所以我們寫『俗稱』。祐漢有都更公司協助成立管理機關，這是特例。
三、安置：暫住房 2,803 個單位（官方新聞稿）；置換房的數字（338 個完成購買、餘 1,700 多個）與資格說明來自議員高岸聲 2026 年 3 月書面質詢，是議員陳述，不是政府官方立場，講的時候要說明。
四、資料：政府 2026 年 7 月才宣布建立殘舊樓宇資料庫，說明之前沒有統一公開的分級資料，這是措施三的依據。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先看整條階梯，再逐段展開。
社會房屋：2021 年 6 月底 15,037 個，佔全澳住宅單位 6.3%；2017 年申請批次平均 420 日上樓、最長 870 日（政策研究 2022 第 27 頁）。
經濟房屋：2019 期 3,017 個、2021 期 5,254 個（新城 A 區 A1 至 A4、A12）、2023 期 5,415 個（B5、B7、B8、B11、B12），合共 13,686 個（本組加總）。『永遠姓經』與『短期不設恆常申請』出自議員李良汪 2025 年 2 月書面質詢，是議員引述房屋局的說法。
夾心房屋：仍未有單位供應。報道引述運輸工務司司長 2025 年 12 月稱夾屋需求供應不太迫切，原擬於祐漢順利樓北側興建夾屋的地塊重新思考用途；這是報道摘要，引用前請核對原文。
長者公寓：『2024 年 10 月投入服務』出自最初的研究報告，未核對政府原文，所以標待核；需求預測取自未來房屋需求研究：2025 年總需求 1,845–3,803 戶、2030 年 2,131–4,622 戶。
私人樓宇：238,464 個單位、空置 16,655 個是 2021 年 6 月底（政策研究 2022 第 2 頁）。
結論句是這頁的重點，下面兩頁用經屋和夾屋去證明。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這頁是問題三最有力的一頁：官方數字下，整體『夠』，但結構『不對』。
房屋局 2023 年期經屋：5,415 個單位（一房 1,657、兩房 3,216、三房 542），收到 6,562 份申請，獲接納 5,076 份，取消資格 1,486 份（22.6%）。整體單位 5,415 比獲接納申請 5,076 還多。
但議員李良汪 2025 年 2 月書面質詢指：個人申請 2,275 份（約 45%），一房單位只有 1,657 個，缺口逾 600；一人家團只能申請一房單位；也沒有置換制度。這個數字是議員引述，我們找不到房屋局原始數據，講的時候要說『議員質詢引述』。
取消資格的原因，房屋局只列出類別，沒有各類人數，所以不能推斷是哪一類最多。這也是措施四要求公開分項的原因。
右下角訪問引用位：請用訪問中關於一人家團、輪候障礙的原話填入。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時間線用意是回應老師要求的『近五年趨勢』：公共房屋沒有連續的年度統計，但有連續的事件。
2019 期 3,017 個單位（2025 年 11 月報道，2,000 多個家團已選樓，近 1,000 個家團辦理上樓）；2021 期 5,254 個；2023 期 5,415 個；三期合共 13,686 個（本組加總）。
『2020 年修法永遠姓經』與『2024 年暫停新城 A 區 5 個地段經屋項目』均出自議員質詢，是議員所述，不是政府文件。
2025 年 11 月房屋局局長表示 2021、2023 年期經屋售價將因溢價金調整而下調；2026 年 1 月置換房購買期屆滿，只有 338 個完成購買。
重點句：這是批次式供應，不定期開隊，申請人無法預期。政策研究也建議在供應充足時，參考社屋開放恆常申請或公布固定時間表。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這頁是問題三的收束，也是整份報告『總量足夠、結構失衡』的官方出處。
引文是政策研究和區域發展局 2022 年報告第 18 頁的原文：『目前，澳門住宅單位總量超出實際住戶數量，反映出澳門房屋問題主要源於結構與功能性分佈未能滿足居民的實際需求』。
右表四個證據：空置量 2010 年底 1.67 萬、2020 年底 1.58 萬，十年間幾乎不變（政策研究 2022）；置換房 338 對 1,700 多（議員高岸聲質詢，2026 年 3 月）；暫住房 2,803 個單位是都更公司 2024 年 9 月新聞稿的數字，『至今未作暫住用途』是議員的陳述；石排灣經屋空置率 38.9% 是 2015 年的資料，高武洲 2017 引述，只作歷史對照，不代表現況。
提醒：不同時點的空置數字口徑不同（2021 年 6 月 16,655 個與 2020 年底 1.58 萬不宜混用），且空置不等於可即時分配，所以只寫『旁證』。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夾心階層有兩個官方定義，順序要記清：定義一是收入超出經屋申請上限，或雖符合經屋資格但輪候排序靠後，又追不上私樓升幅的本地居民；定義二只涵蓋收入超出經屋申請上限者。2022 年政策研究的結論是，大部分意見認為對應人群為收入超出經屋上限者，並兼顧分流經屋排序靠後者（第 31 頁）。注意上限是經屋，不是『社屋與經屋』。
諮詢結果顯示夾屋政策支持率約 92.6%（政策研究 2022 引述諮詢總結報告）。
需求：《澳門未來房屋需求研究》以『價格 800 萬以下、按揭八成或以上』的樓宇交易佔比（78.3% × 14% ＝ 10.97%）作為夾屋需求的代理，折合每年新增需求 939 至 1,760 戶；2030 年總需求上限：悲觀 7,737、中性 10,093、樂觀 14,348 戶。注意 10.97% 是交易佔比，不是家庭佔比。
同一研究對社屋（2030 年供應 21,187 戶對需求 18,166 至 22,708 戶）和經屋（供應 60,913 戶）都預期能滿足需求，唯獨夾屋沒有對應供應。
2025 年 12 月報道引述運輸工務司司長稱夾屋需求供應不太迫切，重新思考順利樓北側用途，引用前請核對原文。這是評價，我們用一句話點出矛盾即可，不必替政府下結論。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第二部分到此結束，用一頁總結三個問題的核心數據、來源與證據強度。
『證據強度』是我們自己的評估：問題一有連續五年官方序列，最強；問題二缺歷年序列，問題三有不少關鍵數字來自議員質詢，是陳述而非官方統計，所以只評『中』。老師強調不能以單一年份或單一來源說趨勢，我們願意把弱處攤開講。
過渡：三個問題有共同特徵，就是總量足夠、分配失衡。下一部分問：是哪些社會因素造成這種分配。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老師要求：3 至 4 個重要社會因素，每個因素都要同時影響三個問題，而且要用社會學的因素，不是單純的個人因素。這頁用矩陣一次講清楚，共 3 分鐘，不逐格唸。
四個因素取自課程指引的五類（經濟、政治與法律、社會文化、社會人口、地理與物理環境），我們選了四類；社會文化這次沒有足夠證據，所以不列。
橫向讀：每一行是同一因素怎樣影響三個問題；縱向讀：每一問題受哪些因素影響。
每格數字均可在前面對應頁找到出處：戶均人口與收入（問題一）、長者與唐樓（問題二）、個人申請（問題三）。
受訪者如果談到個人經歷，要先抽出其中的社會結構成分才放進來，不能把個人原因直接當社會因素。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因素一經濟：這裡講的是收入與資產的分配，不是『個人不夠努力』。數據：本地居民收入中位數 2023 年與 2025 年第 4 季都是 20,000 元，同期樓價跌 24.1%，所以可負擔性改善主要來自樓價跌，而非收入升。首期 92 至 138 萬元見問題一第 10 頁（70% 對 80% 成數）。
限制要老實講：官方新聞稿沒有公布住戶收入中位數，家庭收入我們以兩名本地居民中位收入推算，並列住戶平均收入作參考。
因素二政策與法律：這一類因素包括公共政策。按揭成數 2026 年 1 月 1 日起由七成升至八成（金管局公告）；都更門檻與仲裁制度見第 15 頁；經屋批次式供應見第 21 頁。
限制：首置及不同價值住宅的成數細則沒有核實，被問到要說明。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因素三社會人口：長者住戶（所有成員 65 歲以上）2012/13 年 10,989 戶升到 2017/18 年 18,223 戶（+65.8%）；戶均人口由 3.04 人降到 2.83 人（住戶收支調查 2017/18 對 2023/24）；統計局 2016 年預測 2036 年 65 歲以上佔 19.9%（引自政策研究 2022）。家庭縮小意味需要更多、更小的單位，對應一房單位不足。
限制：我們沒有長者按區分佈的數據，所以不寫『集中在舊區』，只寫近四成居於唐樓的長者希望即時入住長者公寓（政策研究 2022）。
因素四地理與物理：高武洲（2017）指澳門總陸地面積僅 30.5 平方公里，商住及住宅用地僅 2.9 平方公里；填海沉澱期 5 至 8 年。這是 2016 年前後的數字，現時面積已增加，只用來說明土地供應有時滯，不用來算現況。
石排灣經屋空置率 38.9% 是 2015 年何潤生議員引述房屋局的資料（高武洲 2017 第 77 頁），只作歷史對照。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理論部分共 6 分鐘。老師明確要求：不需要複述整套馬克思主義，重點是用它解釋澳門的問題。所以我們不用六個工具，只用三個透鏡，每個透鏡都同時解釋三個問題，也就是這個矩陣。
商品化：馬克思區分使用價值與交換價值；住宅的使用價值是居住，交換價值是它作為資產可以換取的貨幣。
階級：在住房上，界線是是否擁有物業；有物業者在升值中獲益，無物業者付租而不積累資產。
國家：國家提供住房以維持勞動力再生產，同時也維護資本積累的秩序，介入有邊界。
接下來每個透鏡一頁，講理論一句、澳門證據三到五條、以及我們能證明和不能證明的界線。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第一個透鏡：商品化。理論一句：馬克思區分使用價值與交換價值，住宅的使用價值是遮風擋雨，交換價值是它可以換取的貨幣量。
數據：價租比＝每平方米均價 ÷ 全年租金。2023 年均價 93,500 元，每平方米月租約 131.9 元，59.1 年；2024 年 85,114 元、137 元，51.8 年；2025 年 70,935 元、139 元，42.5 年。價租比下降，是交換價值向使用價值靠攏，但仍高。口徑提醒：價格是成交均價，租金是租約申報均價，不是同一批單位，所以只講方向。
問題二：都更公司新聞稿說方案是為『提升居民的生活質素及樓宇價值』，方案採存量優化、原單位數量不變；重建後價值由市場決定，這是分析，不是官方說法。
問題三：夾屋屬性為私人房屋，購買者可在一定年限後在市場出售（政策研究 2022 第 30 頁）；經屋修法後轉讓受限（議員質詢所述）。這是政策設計上的對比，不是評價好壞。
初稿曾用樓花溢價五成作論證，這個比較基礎較弱，已改用價租比。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第二個透鏡：階級。理論一句：馬克思以是否佔有生產資料界定階級；在住房上，這條界線是是否擁有物業這項資產。
2021 人口普查：自置居所 148,091 戶（73.4%），租住 39,148 戶（19.3%）。租戶付租，錢不會變成資產。
租金梯度：樓齡 30 年以上 119 元、5 年及以下 182 元；2025 年小單位（少於 50 平方米）每平方米售價最低（2025 年第 1 季 67,826 元），租金最高（168 元）——買不起首期而只能租小單位的家庭，按面積付出最高的居住成本。
法律面：第 18/2022 號法律的門檻、仲裁與回遷分配都以所有權人為對象，第 36 條規定承租人在租約失效後，可憑重建協議或仲裁裁決被強制遷出。置換房與暫住房資格另見第 8/2019 號法律，我們沒有核對原文，所以不下結論。
租隙（Smith, 1979）：當現時地租與潛在地租的差距夠大，資本便進場再開發。黑沙環及祐漢區每平方米租金 121 元，黑沙環新填海區 165 元，差 44 元約 36%。但這是租金的粗略代理，不是租隙的正式計算，更不能說祐漢重建是租隙驅動。
剝奪式積累（Harvey）：只作風險提示。祐漢方案原單位數量不變，本組沒有證據顯示原居民被置換，所以不作結論。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第三個透鏡：國家。理論一句：馬克思主義的國家理論認為，國家一方面要維持勞動力再生產（所以要提供住房），另一方面要維護資本積累的秩序（所以介入有邊界）。
提供：社屋 15,037 個（6.3%，2021 年 6 月）；經屋三期共 13,686 個；這說明國家確實在介入，不是不作為。
工具：2026 年 1 月 1 日起按揭成數上限由七成升至八成，配合印花稅豁免；措施首季新批核住宅按揭按年 +24.7%（金管局）。首期降低了，月供卻增加，所以它改變的是入場方式，不是負擔的總量（月供為假設值）。
資源：高武洲（2017 第 79 頁）引金管局數字，2016 年 4 月財政儲備資產 4,351.3 億元；2024 年底約 6,162.1 億元只見二手文章，待核。所以說法是『政府有資源』，不是『政府不想做』。
右邊引文：這是議員高岸聲 2026 年 3 月質詢中記錄的說法，是議員陳述，不是政府官方文件，我們不把它寫成政府立場。它顯示的是政策討論裡兩種考慮同時存在：置換房的政策原意，和對私人市場的影響。
小結：三個透鏡都落在同一點——住房主要按支付能力分配。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措施部分 4 分鐘。老師的要求：3 至 4 項，要具體（建多少、哪一類、在哪裡、如何定價），不能只寫『增建公屋』，而且要與前面的發現一一對應。
這頁是對照表：每項措施對應一個發現，不多也不少。措施一與二處理問題一（買不起與租不起）；措施三處理問題二；措施四處理問題三。
四項措施的設計原則：先用本地已有的先例（2009 年利息補貼與信用擔保、2008 年租金津貼）；再用官方研究的建議（經屋恆常申請）；最後才是新增的要求（分級資料公開）。
下面是訪問引用位：請用受訪者對措施可行性的原話填入，並註明是誰說的。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措施一：首置家庭支援。對象：首次置業、自住的澳門居民家庭。做法：恢復利息補貼與信用擔保，並逐季公布『首期＋月供佔家庭收入比』作為負擔指標。先例：王于漸等（2010）記錄 1996 至 2002 年『四厘利息補貼』補貼 13,608 個家庭；2009 年『自置居所貸款利息補貼制度』與『自置居所信用擔保計劃』分別補貼 2,296 及 1,711 個家庭（每宗貸款補貼上限 100 萬元、擔保上限 40 萬元）。樓價上限可參考未來房屋需求研究估算夾屋需求時採用的 800 萬元。
為何要有負擔指標：成數升到八成後，首期由約 138 萬降到約 92 萬，但月供多約 2,200 元（假設值），只看首期會誤判。
限制一定要講：需求端補貼在供應受限時可能推高價格，所以要價格上限、自住年限與檢討期。
措施二：租金津貼。先例：2008 年 8 月起房屋局為輪候社屋的家團提供租金津貼，1–2 人家團每月 750 元、3 人或以上 1,100 元，房屋局審批 2,079 個合資格申請，一年實際發放 2,166 萬元，2009 年延長至 2010 年 8 月（王于漸等，2010）。金額要按現時租金重估。
限制：租金可能吸收津貼，所以要與租金統計連動；它只是過渡，不增加供應。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措施三：針對問題二。重點是先有資料、再談重建。做法：政府 2026 年 7 月宣布建立殘舊樓宇資料庫，建議公開『樓齡—失修—殘危』三層的逐年幢數，維修資助按失修級別與長者住戶排序；置換房方面，議員指現行資格限於『因都更被拆卸而無法回遷』的業權人、戶型亦不易對應舊樓，建議放寬並增設小戶型，訂明回遷與租金安排。限制：資料公開涉及私隱與樓價；維修資助不能取代重建，只能延緩老化。
措施四：針對問題三。做法：政策研究 2022 建議經屋供應充足時可參考社屋開放恆常申請、增加開隊頻率或公布固定時間表；按申請結構增加一房及小戶型；公開取消資格原因的分項人數；夾屋部分，公布地點、單位數及時間表，或說明取消理由。
夾屋要講四件事：建多少（研究估算每年新增需求 939 至 1,760 戶）、哪一類（屬私人房屋，面積配置優於經屋）、在哪裡（原擬祐漢順利樓北側）、如何定價（高於經屋、低於私樓，政策研究 2022 第 30 頁）。
限制：夾屋的轉售規則須先立法；恆常申請會增加行政負擔。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老師建議的收束：先把三個問題放在同一張圖，說明它們不是三件獨立的事。
問題一與問題二：舊樓租金低（119 元對 182 元），重建後單位的資產價值由市場決定，所以更新方案的價值分配值得關注（本組推論）。
問題一到問題三：買不起私樓的家庭轉向經屋與社屋，輪候壓力增加；收入超出經屋上限的夾心階層兩頭不到岸（本組推論，沒有專門的轉向數據）。
問題二到問題三：舊區居民需要置換房、社屋、長者公寓，而置換房、暫住房的錯配已有數據（338 對 2,000 多；2,803 個暫住房）。
所以，三個問題共同的根源是住房主要按支付能力分配。這句話是全報告的論點，開頭也講過，這裡用圖把它收回去。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總結 2 分鐘。三欄一次說完：社會因素四個、理論透鏡三個、措施四項。
優先次序是本組判斷，不是研究結論：補貼類措施（一、二）見效快，但在供應受限、租金與樓價會回應補貼的情況下，效果容易被吸收，所以優先做資料公開、制度調整與結構性安排（三、四）。被問到時可以說明這是判斷，並非有實證比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結語。標題一句話：房子夠，未必住得到。
再把四個數字唸一次：單位多過住戶 35,764 個；樓價四年跌 31.7%（2021 至 2025）；樓價收入比 6.5 至 9.6 倍；租金 2023 至 2025 年約升 6%。
最後回到論點：三個問題共同的根源是住房按支付能力分配。留 1 分鐘答問。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課程指引要求訪問 1 至 2 位相關人士，內容當作文獻引用入正文，主要補充社會因素與措施部分。
匯報時要具名交代受訪者背景，證明訪問確實進行。這頁的空格在匯報前必須填好；簡報中每個『訪問引用位』要換成受訪者的原話，並註明是誰說的。
提醒：受訪者說的個人經驗，要先拆出其中的社會結構成分再用，不要把個人原因直接寫成社會因素。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課程要求至少 10 份參考文獻，這裡列出 18 條核心（部分條目合併多份同類文件，實際超過 20 份）：政府統計與官方文件 9 條、本地學術研究 4 條、馬克思與城市理論 3 條、理論應用 2 條。不必逐條唸。
指出三點：政府統計與法律原文為主；有《澳門研究》的本地學術文獻與 2010 年的公共房屋政策研究；有馬克思與恩格斯原典，以及哈維、史密斯的理論與 Kan、Wu 等人的應用研究。
議員質詢是議員陳述，不是政府統計，引用時要標明。所有外文文獻的卷期頁碼已逐一核對。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這頁是加分項：把哪些數字核實了、哪些是議員陳述、哪些是假設與推算、哪些未核實、哪些根本缺，全部攤開。
老師最怕學生把查不到的數字硬填，或者用單一年份講趨勢；我們的處理是：官方序列用官方序列，議員陳述標明是議員陳述，假設標明是假設，缺口寫明缺口。
與初稿相比的主要更正：租金改用同一時段（2023 至 2025 年）比較，不再把四年樓價跌幅與單年租金升幅並列；樓價收入比不再只用一個數，改列兩種收入口徑的區間 6.5 至 9.6 倍；夾屋地塊是祐漢順利樓北側、說法時間是 2025 年 12 月；引文一律標明是議員陳述；都更法門檻改為 85／80／60，並確認已於 2023 年 6 月 1 日生效。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e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e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pic>
        <p:nvPicPr>
          <p:cNvPr id="3" name="Image 0" descr="img/image1.png">    </p:cNvPr>
          <p:cNvPicPr>
            <a:picLocks noChangeAspect="1"/>
          </p:cNvPicPr>
          <p:nvPr/>
        </p:nvPicPr>
        <p:blipFill>
          <a:blip r:embed="rId1"/>
          <a:srcRect l="0" r="0" t="0" b="0"/>
          <a:stretch/>
        </p:blipFill>
        <p:spPr>
          <a:xfrm>
            <a:off x="4069080" y="2057400"/>
            <a:ext cx="4069080" cy="4800600"/>
          </a:xfrm>
          <a:prstGeom prst="rect">
            <a:avLst/>
          </a:prstGeom>
        </p:spPr>
      </p:pic>
      <p:sp>
        <p:nvSpPr>
          <p:cNvPr id="4" name="Text 1"/>
          <p:cNvSpPr txBox="1"/>
          <p:nvPr/>
        </p:nvSpPr>
        <p:spPr>
          <a:xfrm>
            <a:off x="566928" y="475488"/>
            <a:ext cx="11064240" cy="1737360"/>
          </a:xfrm>
          <a:prstGeom prst="rect">
            <a:avLst/>
          </a:prstGeom>
          <a:noFill/>
          <a:ln/>
        </p:spPr>
        <p:txBody>
          <a:bodyPr wrap="square" lIns="0" tIns="0" rIns="0" bIns="0" rtlCol="0" anchor="ctr"/>
          <a:lstStyle/>
          <a:p>
            <a:pPr algn="ctr" indent="0" marL="0">
              <a:lnSpc>
                <a:spcPct val="92000"/>
              </a:lnSpc>
              <a:buNone/>
            </a:pPr>
            <a:r>
              <a:rPr lang="en-US" sz="9600" b="1" dirty="0">
                <a:solidFill>
                  <a:srgbClr val="CA0013"/>
                </a:solidFill>
                <a:latin typeface="Microsoft JhengHei" pitchFamily="34" charset="0"/>
                <a:ea typeface="Microsoft JhengHei" pitchFamily="34" charset="-122"/>
                <a:cs typeface="Microsoft JhengHei" pitchFamily="34" charset="-120"/>
              </a:rPr>
              <a:t>澳門房屋問題</a:t>
            </a:r>
            <a:endParaRPr lang="en-US" sz="9600" dirty="0"/>
          </a:p>
        </p:txBody>
      </p:sp>
      <p:sp>
        <p:nvSpPr>
          <p:cNvPr id="5" name="Text 2"/>
          <p:cNvSpPr txBox="1"/>
          <p:nvPr/>
        </p:nvSpPr>
        <p:spPr>
          <a:xfrm>
            <a:off x="566928" y="2139696"/>
            <a:ext cx="11064240" cy="1371600"/>
          </a:xfrm>
          <a:prstGeom prst="rect">
            <a:avLst/>
          </a:prstGeom>
          <a:noFill/>
          <a:ln/>
        </p:spPr>
        <p:txBody>
          <a:bodyPr wrap="square" lIns="0" tIns="0" rIns="0" bIns="0" rtlCol="0" anchor="ctr"/>
          <a:lstStyle/>
          <a:p>
            <a:pPr algn="ctr" indent="0" marL="0">
              <a:lnSpc>
                <a:spcPct val="92000"/>
              </a:lnSpc>
              <a:buNone/>
            </a:pPr>
            <a:r>
              <a:rPr lang="en-US" sz="7600" b="1" dirty="0">
                <a:solidFill>
                  <a:srgbClr val="CA0013"/>
                </a:solidFill>
                <a:latin typeface="Microsoft JhengHei" pitchFamily="34" charset="0"/>
                <a:ea typeface="Microsoft JhengHei" pitchFamily="34" charset="-122"/>
                <a:cs typeface="Microsoft JhengHei" pitchFamily="34" charset="-120"/>
              </a:rPr>
              <a:t>馬克思理論視角</a:t>
            </a:r>
            <a:endParaRPr lang="en-US" sz="7600" dirty="0"/>
          </a:p>
        </p:txBody>
      </p:sp>
      <p:sp>
        <p:nvSpPr>
          <p:cNvPr id="6" name="Text 3"/>
          <p:cNvSpPr txBox="1"/>
          <p:nvPr/>
        </p:nvSpPr>
        <p:spPr>
          <a:xfrm>
            <a:off x="566928" y="5376672"/>
            <a:ext cx="3291840" cy="777240"/>
          </a:xfrm>
          <a:prstGeom prst="rect">
            <a:avLst/>
          </a:prstGeom>
          <a:noFill/>
          <a:ln/>
        </p:spPr>
        <p:txBody>
          <a:bodyPr wrap="square" lIns="0" tIns="0" rIns="0" bIns="0" rtlCol="0" anchor="t"/>
          <a:lstStyle/>
          <a:p>
            <a:pPr algn="l" indent="0" marL="0">
              <a:lnSpc>
                <a:spcPct val="125000"/>
              </a:lnSpc>
              <a:buNone/>
            </a:pPr>
            <a:r>
              <a:rPr lang="en-US" sz="1150" b="1" spc="12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1150" dirty="0"/>
          </a:p>
          <a:p>
            <a:pPr algn="l" indent="0" marL="0">
              <a:lnSpc>
                <a:spcPct val="125000"/>
              </a:lnSpc>
              <a:buNone/>
            </a:pPr>
            <a:r>
              <a:rPr lang="en-US" sz="1150" b="1" spc="120" kern="0" dirty="0">
                <a:solidFill>
                  <a:srgbClr val="CA0013"/>
                </a:solidFill>
                <a:latin typeface="Microsoft JhengHei" pitchFamily="34" charset="0"/>
                <a:ea typeface="Microsoft JhengHei" pitchFamily="34" charset="-122"/>
                <a:cs typeface="Microsoft JhengHei" pitchFamily="34" charset="-120"/>
              </a:rPr>
              <a:t>小組研習報告</a:t>
            </a:r>
            <a:endParaRPr lang="en-US" sz="1150" dirty="0"/>
          </a:p>
          <a:p>
            <a:pPr algn="l" indent="0" marL="0">
              <a:lnSpc>
                <a:spcPct val="125000"/>
              </a:lnSpc>
              <a:buNone/>
            </a:pPr>
            <a:r>
              <a:rPr lang="en-US" sz="1150" b="1" spc="120" kern="0" dirty="0">
                <a:solidFill>
                  <a:srgbClr val="CA0013"/>
                </a:solidFill>
                <a:latin typeface="Microsoft JhengHei" pitchFamily="34" charset="0"/>
                <a:ea typeface="Microsoft JhengHei" pitchFamily="34" charset="-122"/>
                <a:cs typeface="Microsoft JhengHei" pitchFamily="34" charset="-120"/>
              </a:rPr>
              <a:t>組員：＿＿＿＿＿＿</a:t>
            </a:r>
            <a:endParaRPr lang="en-US" sz="1150" dirty="0"/>
          </a:p>
        </p:txBody>
      </p:sp>
      <p:sp>
        <p:nvSpPr>
          <p:cNvPr id="7" name="Text 4"/>
          <p:cNvSpPr txBox="1"/>
          <p:nvPr/>
        </p:nvSpPr>
        <p:spPr>
          <a:xfrm>
            <a:off x="8515807" y="5376672"/>
            <a:ext cx="3108960" cy="777240"/>
          </a:xfrm>
          <a:prstGeom prst="rect">
            <a:avLst/>
          </a:prstGeom>
          <a:noFill/>
          <a:ln/>
        </p:spPr>
        <p:txBody>
          <a:bodyPr wrap="square" lIns="0" tIns="0" rIns="0" bIns="0" rtlCol="0" anchor="t"/>
          <a:lstStyle/>
          <a:p>
            <a:pPr algn="r" indent="0" marL="0">
              <a:lnSpc>
                <a:spcPct val="125000"/>
              </a:lnSpc>
              <a:buNone/>
            </a:pPr>
            <a:r>
              <a:rPr lang="en-US" sz="1150" b="1" spc="120" kern="0" dirty="0">
                <a:solidFill>
                  <a:srgbClr val="CA0013"/>
                </a:solidFill>
                <a:latin typeface="Microsoft JhengHei" pitchFamily="34" charset="0"/>
                <a:ea typeface="Microsoft JhengHei" pitchFamily="34" charset="-122"/>
                <a:cs typeface="Microsoft JhengHei" pitchFamily="34" charset="-120"/>
              </a:rPr>
              <a:t>澳門理工大學</a:t>
            </a:r>
            <a:endParaRPr lang="en-US" sz="1150" dirty="0"/>
          </a:p>
          <a:p>
            <a:pPr algn="r" indent="0" marL="0">
              <a:lnSpc>
                <a:spcPct val="125000"/>
              </a:lnSpc>
              <a:buNone/>
            </a:pPr>
            <a:r>
              <a:rPr lang="en-US" sz="1150" b="1" spc="120" kern="0" dirty="0">
                <a:solidFill>
                  <a:srgbClr val="CA0013"/>
                </a:solidFill>
                <a:latin typeface="Microsoft JhengHei" pitchFamily="34" charset="0"/>
                <a:ea typeface="Microsoft JhengHei" pitchFamily="34" charset="-122"/>
                <a:cs typeface="Microsoft JhengHei" pitchFamily="34" charset="-120"/>
              </a:rPr>
              <a:t>人文及社會科學學院</a:t>
            </a:r>
            <a:endParaRPr lang="en-US" sz="1150" dirty="0"/>
          </a:p>
          <a:p>
            <a:pPr algn="r" indent="0" marL="0">
              <a:lnSpc>
                <a:spcPct val="125000"/>
              </a:lnSpc>
              <a:buNone/>
            </a:pPr>
            <a:r>
              <a:rPr lang="en-US" sz="1150" b="1" spc="120" kern="0" dirty="0">
                <a:solidFill>
                  <a:srgbClr val="CA0013"/>
                </a:solidFill>
                <a:latin typeface="Microsoft JhengHei" pitchFamily="34" charset="0"/>
                <a:ea typeface="Microsoft JhengHei" pitchFamily="34" charset="-122"/>
                <a:cs typeface="Microsoft JhengHei" pitchFamily="34" charset="-120"/>
              </a:rPr>
              <a:t>社會工作學課程</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(02)</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引言</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為何是房屋問題</a:t>
            </a:r>
            <a:endParaRPr lang="en-US" sz="3400" dirty="0"/>
          </a:p>
        </p:txBody>
      </p:sp>
      <p:sp>
        <p:nvSpPr>
          <p:cNvPr id="8" name="Text 6"/>
          <p:cNvSpPr txBox="1"/>
          <p:nvPr/>
        </p:nvSpPr>
        <p:spPr>
          <a:xfrm>
            <a:off x="566928" y="1691640"/>
            <a:ext cx="1402690" cy="694944"/>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基本需要</a:t>
            </a:r>
            <a:endParaRPr lang="en-US" sz="1250" dirty="0"/>
          </a:p>
        </p:txBody>
      </p:sp>
      <p:sp>
        <p:nvSpPr>
          <p:cNvPr id="9" name="Text 7"/>
          <p:cNvSpPr txBox="1"/>
          <p:nvPr/>
        </p:nvSpPr>
        <p:spPr>
          <a:xfrm>
            <a:off x="2050542" y="1691640"/>
            <a:ext cx="3911346" cy="694944"/>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住屋及燃料佔住戶消費開支 25.0%，為最大一項（2023/24）</a:t>
            </a:r>
            <a:endParaRPr lang="en-US" sz="1250" dirty="0"/>
          </a:p>
        </p:txBody>
      </p:sp>
      <p:sp>
        <p:nvSpPr>
          <p:cNvPr id="10" name="Shape 8"/>
          <p:cNvSpPr/>
          <p:nvPr/>
        </p:nvSpPr>
        <p:spPr>
          <a:xfrm>
            <a:off x="566928" y="2368296"/>
            <a:ext cx="5394960" cy="12802"/>
          </a:xfrm>
          <a:prstGeom prst="rect">
            <a:avLst/>
          </a:prstGeom>
          <a:solidFill>
            <a:srgbClr val="C72A09"/>
          </a:solidFill>
          <a:ln/>
        </p:spPr>
      </p:sp>
      <p:sp>
        <p:nvSpPr>
          <p:cNvPr id="11" name="Text 9"/>
          <p:cNvSpPr txBox="1"/>
          <p:nvPr/>
        </p:nvSpPr>
        <p:spPr>
          <a:xfrm>
            <a:off x="566928" y="2478024"/>
            <a:ext cx="1402690" cy="694944"/>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住宅存量</a:t>
            </a:r>
            <a:endParaRPr lang="en-US" sz="1250" dirty="0"/>
          </a:p>
        </p:txBody>
      </p:sp>
      <p:sp>
        <p:nvSpPr>
          <p:cNvPr id="12" name="Text 10"/>
          <p:cNvSpPr txBox="1"/>
          <p:nvPr/>
        </p:nvSpPr>
        <p:spPr>
          <a:xfrm>
            <a:off x="2050542" y="2478024"/>
            <a:ext cx="3911346" cy="694944"/>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238,464 個住宅單位，對 202,700 戶（2021）</a:t>
            </a:r>
            <a:endParaRPr lang="en-US" sz="1250" dirty="0"/>
          </a:p>
        </p:txBody>
      </p:sp>
      <p:sp>
        <p:nvSpPr>
          <p:cNvPr id="13" name="Shape 11"/>
          <p:cNvSpPr/>
          <p:nvPr/>
        </p:nvSpPr>
        <p:spPr>
          <a:xfrm>
            <a:off x="566928" y="3154680"/>
            <a:ext cx="5394960" cy="12802"/>
          </a:xfrm>
          <a:prstGeom prst="rect">
            <a:avLst/>
          </a:prstGeom>
          <a:solidFill>
            <a:srgbClr val="C72A09"/>
          </a:solidFill>
          <a:ln/>
        </p:spPr>
      </p:sp>
      <p:sp>
        <p:nvSpPr>
          <p:cNvPr id="14" name="Text 12"/>
          <p:cNvSpPr txBox="1"/>
          <p:nvPr/>
        </p:nvSpPr>
        <p:spPr>
          <a:xfrm>
            <a:off x="566928" y="3264408"/>
            <a:ext cx="1402690" cy="694944"/>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自置與租住</a:t>
            </a:r>
            <a:endParaRPr lang="en-US" sz="1250" dirty="0"/>
          </a:p>
        </p:txBody>
      </p:sp>
      <p:sp>
        <p:nvSpPr>
          <p:cNvPr id="15" name="Text 13"/>
          <p:cNvSpPr txBox="1"/>
          <p:nvPr/>
        </p:nvSpPr>
        <p:spPr>
          <a:xfrm>
            <a:off x="2050542" y="3264408"/>
            <a:ext cx="3911346" cy="694944"/>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自置 73.4%（148,091 戶）；租住 39,148 戶（2021 人口普查）</a:t>
            </a:r>
            <a:endParaRPr lang="en-US" sz="1250" dirty="0"/>
          </a:p>
        </p:txBody>
      </p:sp>
      <p:sp>
        <p:nvSpPr>
          <p:cNvPr id="16" name="Shape 14"/>
          <p:cNvSpPr/>
          <p:nvPr/>
        </p:nvSpPr>
        <p:spPr>
          <a:xfrm>
            <a:off x="566928" y="3941064"/>
            <a:ext cx="5394960" cy="12802"/>
          </a:xfrm>
          <a:prstGeom prst="rect">
            <a:avLst/>
          </a:prstGeom>
          <a:solidFill>
            <a:srgbClr val="C72A09"/>
          </a:solidFill>
          <a:ln/>
        </p:spPr>
      </p:sp>
      <p:sp>
        <p:nvSpPr>
          <p:cNvPr id="17" name="Text 15"/>
          <p:cNvSpPr txBox="1"/>
          <p:nvPr/>
        </p:nvSpPr>
        <p:spPr>
          <a:xfrm>
            <a:off x="566928" y="4050792"/>
            <a:ext cx="1402690" cy="694944"/>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制度框架</a:t>
            </a:r>
            <a:endParaRPr lang="en-US" sz="1250" dirty="0"/>
          </a:p>
        </p:txBody>
      </p:sp>
      <p:sp>
        <p:nvSpPr>
          <p:cNvPr id="18" name="Text 16"/>
          <p:cNvSpPr txBox="1"/>
          <p:nvPr/>
        </p:nvSpPr>
        <p:spPr>
          <a:xfrm>
            <a:off x="2050542" y="4050792"/>
            <a:ext cx="3911346" cy="694944"/>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五階梯房屋：社會房屋、經濟房屋、夾心房屋、長者公寓、私人樓宇</a:t>
            </a:r>
            <a:endParaRPr lang="en-US" sz="1250" dirty="0"/>
          </a:p>
        </p:txBody>
      </p:sp>
      <p:sp>
        <p:nvSpPr>
          <p:cNvPr id="19" name="Shape 17"/>
          <p:cNvSpPr/>
          <p:nvPr/>
        </p:nvSpPr>
        <p:spPr>
          <a:xfrm>
            <a:off x="566928" y="4727448"/>
            <a:ext cx="5394960" cy="12802"/>
          </a:xfrm>
          <a:prstGeom prst="rect">
            <a:avLst/>
          </a:prstGeom>
          <a:solidFill>
            <a:srgbClr val="C72A09"/>
          </a:solidFill>
          <a:ln/>
        </p:spPr>
      </p:sp>
      <p:sp>
        <p:nvSpPr>
          <p:cNvPr id="20" name="Text 18"/>
          <p:cNvSpPr txBox="1"/>
          <p:nvPr/>
        </p:nvSpPr>
        <p:spPr>
          <a:xfrm>
            <a:off x="6583680" y="1691640"/>
            <a:ext cx="5029200" cy="2377440"/>
          </a:xfrm>
          <a:prstGeom prst="rect">
            <a:avLst/>
          </a:prstGeom>
          <a:noFill/>
          <a:ln/>
        </p:spPr>
        <p:txBody>
          <a:bodyPr wrap="square" lIns="0" tIns="0" rIns="0" bIns="0" rtlCol="0" anchor="t"/>
          <a:lstStyle/>
          <a:p>
            <a:pPr indent="0" marL="0">
              <a:lnSpc>
                <a:spcPct val="128000"/>
              </a:lnSpc>
              <a:buNone/>
            </a:pPr>
            <a:r>
              <a:rPr lang="en-US" sz="1900" b="1" dirty="0">
                <a:solidFill>
                  <a:srgbClr val="CA0013"/>
                </a:solidFill>
                <a:latin typeface="Microsoft JhengHei" pitchFamily="34" charset="0"/>
                <a:ea typeface="Microsoft JhengHei" pitchFamily="34" charset="-122"/>
                <a:cs typeface="Microsoft JhengHei" pitchFamily="34" charset="-120"/>
              </a:rPr>
              <a:t>「現時，澳門住宅單位的總體供應量足夠。然而……部分澳門居民仍存在基本住房問題，這主要是由於房屋供需的結構性失衡所致」</a:t>
            </a:r>
            <a:endParaRPr lang="en-US" sz="1900" dirty="0"/>
          </a:p>
        </p:txBody>
      </p:sp>
      <p:sp>
        <p:nvSpPr>
          <p:cNvPr id="21" name="Text 19"/>
          <p:cNvSpPr txBox="1"/>
          <p:nvPr/>
        </p:nvSpPr>
        <p:spPr>
          <a:xfrm>
            <a:off x="6583680" y="4160520"/>
            <a:ext cx="5029200" cy="566928"/>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政策研究和區域發展局（2022）《居住用途房屋政策研究》第 2 頁</a:t>
            </a:r>
            <a:endParaRPr lang="en-US" sz="1200" dirty="0"/>
          </a:p>
        </p:txBody>
      </p:sp>
      <p:sp>
        <p:nvSpPr>
          <p:cNvPr id="22" name="Shape 20"/>
          <p:cNvSpPr/>
          <p:nvPr/>
        </p:nvSpPr>
        <p:spPr>
          <a:xfrm>
            <a:off x="566928" y="5074920"/>
            <a:ext cx="11057839" cy="18288"/>
          </a:xfrm>
          <a:prstGeom prst="rect">
            <a:avLst/>
          </a:prstGeom>
          <a:solidFill>
            <a:srgbClr val="C72A09"/>
          </a:solidFill>
          <a:ln/>
        </p:spPr>
      </p:sp>
      <p:sp>
        <p:nvSpPr>
          <p:cNvPr id="23" name="Text 21"/>
          <p:cNvSpPr txBox="1"/>
          <p:nvPr/>
        </p:nvSpPr>
        <p:spPr>
          <a:xfrm>
            <a:off x="566928" y="5212080"/>
            <a:ext cx="11057839" cy="411480"/>
          </a:xfrm>
          <a:prstGeom prst="rect">
            <a:avLst/>
          </a:prstGeom>
          <a:noFill/>
          <a:ln/>
        </p:spPr>
        <p:txBody>
          <a:bodyPr wrap="square" lIns="0" tIns="0" rIns="0" bIns="0" rtlCol="0" anchor="ctr"/>
          <a:lstStyle/>
          <a:p>
            <a:pPr indent="0" marL="0">
              <a:buNone/>
            </a:pPr>
            <a:r>
              <a:rPr lang="en-US" sz="1600" b="1" dirty="0">
                <a:solidFill>
                  <a:srgbClr val="CA0013"/>
                </a:solidFill>
                <a:latin typeface="Microsoft JhengHei" pitchFamily="34" charset="0"/>
                <a:ea typeface="Microsoft JhengHei" pitchFamily="34" charset="-122"/>
                <a:cs typeface="Microsoft JhengHei" pitchFamily="34" charset="-120"/>
              </a:rPr>
              <a:t>問題意識：單位比住戶多，為何仍有人住不起、住不好、輪不到？</a:t>
            </a:r>
            <a:endParaRPr lang="en-US" sz="1600" dirty="0"/>
          </a:p>
        </p:txBody>
      </p:sp>
      <p:sp>
        <p:nvSpPr>
          <p:cNvPr id="24" name="Text 22"/>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資料來源：統計暨普查局；房屋政策研究 2022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(03)</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引言</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三個問題，一套理論</a:t>
            </a:r>
            <a:endParaRPr lang="en-US" sz="3400" dirty="0"/>
          </a:p>
        </p:txBody>
      </p:sp>
      <p:sp>
        <p:nvSpPr>
          <p:cNvPr id="8" name="Text 6"/>
          <p:cNvSpPr txBox="1"/>
          <p:nvPr/>
        </p:nvSpPr>
        <p:spPr>
          <a:xfrm>
            <a:off x="566928" y="1691640"/>
            <a:ext cx="566928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三個具體問題</a:t>
            </a:r>
            <a:endParaRPr lang="en-US" sz="1200" dirty="0"/>
          </a:p>
        </p:txBody>
      </p:sp>
      <p:sp>
        <p:nvSpPr>
          <p:cNvPr id="9" name="Shape 7"/>
          <p:cNvSpPr/>
          <p:nvPr/>
        </p:nvSpPr>
        <p:spPr>
          <a:xfrm>
            <a:off x="566928" y="2093976"/>
            <a:ext cx="5669280" cy="12802"/>
          </a:xfrm>
          <a:prstGeom prst="rect">
            <a:avLst/>
          </a:prstGeom>
          <a:solidFill>
            <a:srgbClr val="C72A09"/>
          </a:solidFill>
          <a:ln/>
        </p:spPr>
      </p:sp>
      <p:sp>
        <p:nvSpPr>
          <p:cNvPr id="10" name="Text 8"/>
          <p:cNvSpPr txBox="1"/>
          <p:nvPr/>
        </p:nvSpPr>
        <p:spPr>
          <a:xfrm>
            <a:off x="566928" y="2221992"/>
            <a:ext cx="1133856" cy="74980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問題一</a:t>
            </a:r>
            <a:endParaRPr lang="en-US" sz="1300" dirty="0"/>
          </a:p>
        </p:txBody>
      </p:sp>
      <p:sp>
        <p:nvSpPr>
          <p:cNvPr id="11" name="Text 9"/>
          <p:cNvSpPr txBox="1"/>
          <p:nvPr/>
        </p:nvSpPr>
        <p:spPr>
          <a:xfrm>
            <a:off x="1785823" y="2221992"/>
            <a:ext cx="4450385" cy="74980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私人住宅價格與住房負擔能力</a:t>
            </a:r>
            <a:endParaRPr lang="en-US" sz="1300" dirty="0"/>
          </a:p>
        </p:txBody>
      </p:sp>
      <p:sp>
        <p:nvSpPr>
          <p:cNvPr id="12" name="Shape 10"/>
          <p:cNvSpPr/>
          <p:nvPr/>
        </p:nvSpPr>
        <p:spPr>
          <a:xfrm>
            <a:off x="566928" y="2953512"/>
            <a:ext cx="5669280" cy="12802"/>
          </a:xfrm>
          <a:prstGeom prst="rect">
            <a:avLst/>
          </a:prstGeom>
          <a:solidFill>
            <a:srgbClr val="C72A09"/>
          </a:solidFill>
          <a:ln/>
        </p:spPr>
      </p:sp>
      <p:sp>
        <p:nvSpPr>
          <p:cNvPr id="13" name="Text 11"/>
          <p:cNvSpPr txBox="1"/>
          <p:nvPr/>
        </p:nvSpPr>
        <p:spPr>
          <a:xfrm>
            <a:off x="566928" y="3063240"/>
            <a:ext cx="1133856" cy="74980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問題二</a:t>
            </a:r>
            <a:endParaRPr lang="en-US" sz="1300" dirty="0"/>
          </a:p>
        </p:txBody>
      </p:sp>
      <p:sp>
        <p:nvSpPr>
          <p:cNvPr id="14" name="Text 12"/>
          <p:cNvSpPr txBox="1"/>
          <p:nvPr/>
        </p:nvSpPr>
        <p:spPr>
          <a:xfrm>
            <a:off x="1785823" y="3063240"/>
            <a:ext cx="4450385" cy="74980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舊區樓宇老化與都市更新困難</a:t>
            </a:r>
            <a:endParaRPr lang="en-US" sz="1300" dirty="0"/>
          </a:p>
        </p:txBody>
      </p:sp>
      <p:sp>
        <p:nvSpPr>
          <p:cNvPr id="15" name="Shape 13"/>
          <p:cNvSpPr/>
          <p:nvPr/>
        </p:nvSpPr>
        <p:spPr>
          <a:xfrm>
            <a:off x="566928" y="3794760"/>
            <a:ext cx="5669280" cy="12802"/>
          </a:xfrm>
          <a:prstGeom prst="rect">
            <a:avLst/>
          </a:prstGeom>
          <a:solidFill>
            <a:srgbClr val="C72A09"/>
          </a:solidFill>
          <a:ln/>
        </p:spPr>
      </p:sp>
      <p:sp>
        <p:nvSpPr>
          <p:cNvPr id="16" name="Text 14"/>
          <p:cNvSpPr txBox="1"/>
          <p:nvPr/>
        </p:nvSpPr>
        <p:spPr>
          <a:xfrm>
            <a:off x="566928" y="3904488"/>
            <a:ext cx="1133856" cy="74980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問題三</a:t>
            </a:r>
            <a:endParaRPr lang="en-US" sz="1300" dirty="0"/>
          </a:p>
        </p:txBody>
      </p:sp>
      <p:sp>
        <p:nvSpPr>
          <p:cNvPr id="17" name="Text 15"/>
          <p:cNvSpPr txBox="1"/>
          <p:nvPr/>
        </p:nvSpPr>
        <p:spPr>
          <a:xfrm>
            <a:off x="1785823" y="3904488"/>
            <a:ext cx="4450385" cy="74980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公共房屋制度、資源分配與夾心階層</a:t>
            </a:r>
            <a:endParaRPr lang="en-US" sz="1300" dirty="0"/>
          </a:p>
        </p:txBody>
      </p:sp>
      <p:sp>
        <p:nvSpPr>
          <p:cNvPr id="18" name="Shape 16"/>
          <p:cNvSpPr/>
          <p:nvPr/>
        </p:nvSpPr>
        <p:spPr>
          <a:xfrm>
            <a:off x="566928" y="4636008"/>
            <a:ext cx="5669280" cy="12802"/>
          </a:xfrm>
          <a:prstGeom prst="rect">
            <a:avLst/>
          </a:prstGeom>
          <a:solidFill>
            <a:srgbClr val="C72A09"/>
          </a:solidFill>
          <a:ln/>
        </p:spPr>
      </p:sp>
      <p:sp>
        <p:nvSpPr>
          <p:cNvPr id="19" name="Text 17"/>
          <p:cNvSpPr txBox="1"/>
          <p:nvPr/>
        </p:nvSpPr>
        <p:spPr>
          <a:xfrm>
            <a:off x="6675120" y="1691640"/>
            <a:ext cx="493776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資料與方法</a:t>
            </a:r>
            <a:endParaRPr lang="en-US" sz="1200" dirty="0"/>
          </a:p>
        </p:txBody>
      </p:sp>
      <p:sp>
        <p:nvSpPr>
          <p:cNvPr id="20" name="Shape 18"/>
          <p:cNvSpPr/>
          <p:nvPr/>
        </p:nvSpPr>
        <p:spPr>
          <a:xfrm>
            <a:off x="6675120" y="2093976"/>
            <a:ext cx="4937760" cy="12802"/>
          </a:xfrm>
          <a:prstGeom prst="rect">
            <a:avLst/>
          </a:prstGeom>
          <a:solidFill>
            <a:srgbClr val="C72A09"/>
          </a:solidFill>
          <a:ln/>
        </p:spPr>
      </p:sp>
      <p:sp>
        <p:nvSpPr>
          <p:cNvPr id="21" name="Text 19"/>
          <p:cNvSpPr txBox="1"/>
          <p:nvPr/>
        </p:nvSpPr>
        <p:spPr>
          <a:xfrm>
            <a:off x="6675120" y="2221992"/>
            <a:ext cx="987552" cy="621792"/>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資料</a:t>
            </a:r>
            <a:endParaRPr lang="en-US" sz="1200" dirty="0"/>
          </a:p>
        </p:txBody>
      </p:sp>
      <p:sp>
        <p:nvSpPr>
          <p:cNvPr id="22" name="Text 20"/>
          <p:cNvSpPr txBox="1"/>
          <p:nvPr/>
        </p:nvSpPr>
        <p:spPr>
          <a:xfrm>
            <a:off x="7736738" y="2221992"/>
            <a:ext cx="3876142" cy="621792"/>
          </a:xfrm>
          <a:prstGeom prst="rect">
            <a:avLst/>
          </a:prstGeom>
          <a:noFill/>
          <a:ln/>
        </p:spPr>
        <p:txBody>
          <a:bodyPr wrap="square" lIns="0" tIns="0" rIns="0" bIns="0" rtlCol="0" anchor="t"/>
          <a:lstStyle/>
          <a:p>
            <a:pPr indent="0" marL="0">
              <a:lnSpc>
                <a:spcPct val="130000"/>
              </a:lnSpc>
              <a:buNone/>
            </a:pPr>
            <a:r>
              <a:rPr lang="en-US" sz="1200" dirty="0">
                <a:solidFill>
                  <a:srgbClr val="CA0013"/>
                </a:solidFill>
                <a:latin typeface="Microsoft JhengHei" pitchFamily="34" charset="0"/>
                <a:ea typeface="Microsoft JhengHei" pitchFamily="34" charset="-122"/>
                <a:cs typeface="Microsoft JhengHei" pitchFamily="34" charset="-120"/>
              </a:rPr>
              <a:t>統計暨普查局、房屋局、土地工務局、金管局；政策研究、立法會質詢、青年指標</a:t>
            </a:r>
            <a:endParaRPr lang="en-US" sz="1200" dirty="0"/>
          </a:p>
        </p:txBody>
      </p:sp>
      <p:sp>
        <p:nvSpPr>
          <p:cNvPr id="23" name="Shape 21"/>
          <p:cNvSpPr/>
          <p:nvPr/>
        </p:nvSpPr>
        <p:spPr>
          <a:xfrm>
            <a:off x="6675120" y="2825496"/>
            <a:ext cx="4937760" cy="12802"/>
          </a:xfrm>
          <a:prstGeom prst="rect">
            <a:avLst/>
          </a:prstGeom>
          <a:solidFill>
            <a:srgbClr val="C72A09"/>
          </a:solidFill>
          <a:ln/>
        </p:spPr>
      </p:sp>
      <p:sp>
        <p:nvSpPr>
          <p:cNvPr id="24" name="Text 22"/>
          <p:cNvSpPr txBox="1"/>
          <p:nvPr/>
        </p:nvSpPr>
        <p:spPr>
          <a:xfrm>
            <a:off x="6675120" y="2935224"/>
            <a:ext cx="987552" cy="621792"/>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年期</a:t>
            </a:r>
            <a:endParaRPr lang="en-US" sz="1200" dirty="0"/>
          </a:p>
        </p:txBody>
      </p:sp>
      <p:sp>
        <p:nvSpPr>
          <p:cNvPr id="25" name="Text 23"/>
          <p:cNvSpPr txBox="1"/>
          <p:nvPr/>
        </p:nvSpPr>
        <p:spPr>
          <a:xfrm>
            <a:off x="7736738" y="2935224"/>
            <a:ext cx="3876142" cy="621792"/>
          </a:xfrm>
          <a:prstGeom prst="rect">
            <a:avLst/>
          </a:prstGeom>
          <a:noFill/>
          <a:ln/>
        </p:spPr>
        <p:txBody>
          <a:bodyPr wrap="square" lIns="0" tIns="0" rIns="0" bIns="0" rtlCol="0" anchor="t"/>
          <a:lstStyle/>
          <a:p>
            <a:pPr indent="0" marL="0">
              <a:lnSpc>
                <a:spcPct val="130000"/>
              </a:lnSpc>
              <a:buNone/>
            </a:pPr>
            <a:r>
              <a:rPr lang="en-US" sz="1200" dirty="0">
                <a:solidFill>
                  <a:srgbClr val="CA0013"/>
                </a:solidFill>
                <a:latin typeface="Microsoft JhengHei" pitchFamily="34" charset="0"/>
                <a:ea typeface="Microsoft JhengHei" pitchFamily="34" charset="-122"/>
                <a:cs typeface="Microsoft JhengHei" pitchFamily="34" charset="-120"/>
              </a:rPr>
              <a:t>2021–2025 年；年份不足處會註明</a:t>
            </a:r>
            <a:endParaRPr lang="en-US" sz="1200" dirty="0"/>
          </a:p>
        </p:txBody>
      </p:sp>
      <p:sp>
        <p:nvSpPr>
          <p:cNvPr id="26" name="Shape 24"/>
          <p:cNvSpPr/>
          <p:nvPr/>
        </p:nvSpPr>
        <p:spPr>
          <a:xfrm>
            <a:off x="6675120" y="3538728"/>
            <a:ext cx="4937760" cy="12802"/>
          </a:xfrm>
          <a:prstGeom prst="rect">
            <a:avLst/>
          </a:prstGeom>
          <a:solidFill>
            <a:srgbClr val="C72A09"/>
          </a:solidFill>
          <a:ln/>
        </p:spPr>
      </p:sp>
      <p:sp>
        <p:nvSpPr>
          <p:cNvPr id="27" name="Text 25"/>
          <p:cNvSpPr txBox="1"/>
          <p:nvPr/>
        </p:nvSpPr>
        <p:spPr>
          <a:xfrm>
            <a:off x="6675120" y="3648456"/>
            <a:ext cx="987552" cy="621792"/>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訪問</a:t>
            </a:r>
            <a:endParaRPr lang="en-US" sz="1200" dirty="0"/>
          </a:p>
        </p:txBody>
      </p:sp>
      <p:sp>
        <p:nvSpPr>
          <p:cNvPr id="28" name="Text 26"/>
          <p:cNvSpPr txBox="1"/>
          <p:nvPr/>
        </p:nvSpPr>
        <p:spPr>
          <a:xfrm>
            <a:off x="7736738" y="3648456"/>
            <a:ext cx="3876142" cy="621792"/>
          </a:xfrm>
          <a:prstGeom prst="rect">
            <a:avLst/>
          </a:prstGeom>
          <a:noFill/>
          <a:ln/>
        </p:spPr>
        <p:txBody>
          <a:bodyPr wrap="square" lIns="0" tIns="0" rIns="0" bIns="0" rtlCol="0" anchor="t"/>
          <a:lstStyle/>
          <a:p>
            <a:pPr indent="0" marL="0">
              <a:lnSpc>
                <a:spcPct val="130000"/>
              </a:lnSpc>
              <a:buNone/>
            </a:pPr>
            <a:r>
              <a:rPr lang="en-US" sz="1200" dirty="0">
                <a:solidFill>
                  <a:srgbClr val="CA0013"/>
                </a:solidFill>
                <a:latin typeface="Microsoft JhengHei" pitchFamily="34" charset="0"/>
                <a:ea typeface="Microsoft JhengHei" pitchFamily="34" charset="-122"/>
                <a:cs typeface="Microsoft JhengHei" pitchFamily="34" charset="-120"/>
              </a:rPr>
              <a:t>＿位受訪者，內容融入各部分</a:t>
            </a:r>
            <a:endParaRPr lang="en-US" sz="1200" dirty="0"/>
          </a:p>
        </p:txBody>
      </p:sp>
      <p:sp>
        <p:nvSpPr>
          <p:cNvPr id="29" name="Shape 27"/>
          <p:cNvSpPr/>
          <p:nvPr/>
        </p:nvSpPr>
        <p:spPr>
          <a:xfrm>
            <a:off x="6675120" y="4251960"/>
            <a:ext cx="4937760" cy="12802"/>
          </a:xfrm>
          <a:prstGeom prst="rect">
            <a:avLst/>
          </a:prstGeom>
          <a:solidFill>
            <a:srgbClr val="C72A09"/>
          </a:solidFill>
          <a:ln/>
        </p:spPr>
      </p:sp>
      <p:sp>
        <p:nvSpPr>
          <p:cNvPr id="30" name="Text 28"/>
          <p:cNvSpPr txBox="1"/>
          <p:nvPr/>
        </p:nvSpPr>
        <p:spPr>
          <a:xfrm>
            <a:off x="6675120" y="4361688"/>
            <a:ext cx="987552" cy="621792"/>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理論</a:t>
            </a:r>
            <a:endParaRPr lang="en-US" sz="1200" dirty="0"/>
          </a:p>
        </p:txBody>
      </p:sp>
      <p:sp>
        <p:nvSpPr>
          <p:cNvPr id="31" name="Text 29"/>
          <p:cNvSpPr txBox="1"/>
          <p:nvPr/>
        </p:nvSpPr>
        <p:spPr>
          <a:xfrm>
            <a:off x="7736738" y="4361688"/>
            <a:ext cx="3876142" cy="621792"/>
          </a:xfrm>
          <a:prstGeom prst="rect">
            <a:avLst/>
          </a:prstGeom>
          <a:noFill/>
          <a:ln/>
        </p:spPr>
        <p:txBody>
          <a:bodyPr wrap="square" lIns="0" tIns="0" rIns="0" bIns="0" rtlCol="0" anchor="t"/>
          <a:lstStyle/>
          <a:p>
            <a:pPr indent="0" marL="0">
              <a:lnSpc>
                <a:spcPct val="130000"/>
              </a:lnSpc>
              <a:buNone/>
            </a:pPr>
            <a:r>
              <a:rPr lang="en-US" sz="1200" dirty="0">
                <a:solidFill>
                  <a:srgbClr val="CA0013"/>
                </a:solidFill>
                <a:latin typeface="Microsoft JhengHei" pitchFamily="34" charset="0"/>
                <a:ea typeface="Microsoft JhengHei" pitchFamily="34" charset="-122"/>
                <a:cs typeface="Microsoft JhengHei" pitchFamily="34" charset="-120"/>
              </a:rPr>
              <a:t>馬克思理論：商品化、階級、國家</a:t>
            </a:r>
            <a:endParaRPr lang="en-US" sz="1200" dirty="0"/>
          </a:p>
        </p:txBody>
      </p:sp>
      <p:sp>
        <p:nvSpPr>
          <p:cNvPr id="32" name="Shape 30"/>
          <p:cNvSpPr/>
          <p:nvPr/>
        </p:nvSpPr>
        <p:spPr>
          <a:xfrm>
            <a:off x="6675120" y="4965192"/>
            <a:ext cx="4937760" cy="12802"/>
          </a:xfrm>
          <a:prstGeom prst="rect">
            <a:avLst/>
          </a:prstGeom>
          <a:solidFill>
            <a:srgbClr val="C72A09"/>
          </a:solidFill>
          <a:ln/>
        </p:spPr>
      </p:sp>
      <p:sp>
        <p:nvSpPr>
          <p:cNvPr id="33" name="Shape 31"/>
          <p:cNvSpPr/>
          <p:nvPr/>
        </p:nvSpPr>
        <p:spPr>
          <a:xfrm>
            <a:off x="566928" y="5029200"/>
            <a:ext cx="11057839" cy="18288"/>
          </a:xfrm>
          <a:prstGeom prst="rect">
            <a:avLst/>
          </a:prstGeom>
          <a:solidFill>
            <a:srgbClr val="C72A09"/>
          </a:solidFill>
          <a:ln/>
        </p:spPr>
      </p:sp>
      <p:sp>
        <p:nvSpPr>
          <p:cNvPr id="34" name="Text 32"/>
          <p:cNvSpPr txBox="1"/>
          <p:nvPr/>
        </p:nvSpPr>
        <p:spPr>
          <a:xfrm>
            <a:off x="566928" y="5193792"/>
            <a:ext cx="11057839" cy="310896"/>
          </a:xfrm>
          <a:prstGeom prst="rect">
            <a:avLst/>
          </a:prstGeom>
          <a:noFill/>
          <a:ln/>
        </p:spPr>
        <p:txBody>
          <a:bodyPr wrap="square" lIns="0" tIns="0" rIns="0" bIns="0" rtlCol="0" anchor="t"/>
          <a:lstStyle/>
          <a:p>
            <a:pPr algn="l" indent="0" marL="0">
              <a:lnSpc>
                <a:spcPct val="125000"/>
              </a:lnSpc>
              <a:buNone/>
            </a:pPr>
            <a:r>
              <a:rPr lang="en-US" sz="1200" b="1" spc="80" kern="0" dirty="0">
                <a:solidFill>
                  <a:srgbClr val="CA0013"/>
                </a:solidFill>
                <a:latin typeface="Microsoft JhengHei" pitchFamily="34" charset="0"/>
                <a:ea typeface="Microsoft JhengHei" pitchFamily="34" charset="-122"/>
                <a:cs typeface="Microsoft JhengHei" pitchFamily="34" charset="-120"/>
              </a:rPr>
              <a:t>概念　→　三個問題　→　五年數據　→　受影響群體　→　共同社會因素　→　馬克思理論　→　措施　→　總結</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(04)</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核心論點</a:t>
            </a:r>
            <a:endParaRPr lang="en-US" sz="1200" dirty="0"/>
          </a:p>
        </p:txBody>
      </p:sp>
      <p:sp>
        <p:nvSpPr>
          <p:cNvPr id="7" name="Text 5"/>
          <p:cNvSpPr txBox="1"/>
          <p:nvPr/>
        </p:nvSpPr>
        <p:spPr>
          <a:xfrm>
            <a:off x="566928" y="749808"/>
            <a:ext cx="10607040" cy="914400"/>
          </a:xfrm>
          <a:prstGeom prst="rect">
            <a:avLst/>
          </a:prstGeom>
          <a:noFill/>
          <a:ln/>
        </p:spPr>
        <p:txBody>
          <a:bodyPr wrap="square" lIns="0" tIns="0" rIns="0" bIns="0" rtlCol="0" anchor="t"/>
          <a:lstStyle/>
          <a:p>
            <a:pPr algn="l" indent="0" marL="0">
              <a:lnSpc>
                <a:spcPct val="100000"/>
              </a:lnSpc>
              <a:buNone/>
            </a:pPr>
            <a:r>
              <a:rPr lang="en-US" sz="4600" b="1" dirty="0">
                <a:solidFill>
                  <a:srgbClr val="CA0013"/>
                </a:solidFill>
                <a:latin typeface="Microsoft JhengHei" pitchFamily="34" charset="0"/>
                <a:ea typeface="Microsoft JhengHei" pitchFamily="34" charset="-122"/>
                <a:cs typeface="Microsoft JhengHei" pitchFamily="34" charset="-120"/>
              </a:rPr>
              <a:t>總量足夠　分配失衡</a:t>
            </a:r>
            <a:endParaRPr lang="en-US" sz="4600" dirty="0"/>
          </a:p>
        </p:txBody>
      </p:sp>
      <p:sp>
        <p:nvSpPr>
          <p:cNvPr id="8" name="Text 6"/>
          <p:cNvSpPr txBox="1"/>
          <p:nvPr/>
        </p:nvSpPr>
        <p:spPr>
          <a:xfrm>
            <a:off x="566928" y="2194560"/>
            <a:ext cx="2606040" cy="932688"/>
          </a:xfrm>
          <a:prstGeom prst="rect">
            <a:avLst/>
          </a:prstGeom>
          <a:noFill/>
          <a:ln/>
        </p:spPr>
        <p:txBody>
          <a:bodyPr wrap="square" lIns="0" tIns="0" rIns="0" bIns="0" rtlCol="0" anchor="ctr"/>
          <a:lstStyle/>
          <a:p>
            <a:pPr indent="0" marL="0">
              <a:buNone/>
            </a:pPr>
            <a:r>
              <a:rPr lang="en-US" sz="3800" b="1" dirty="0">
                <a:solidFill>
                  <a:srgbClr val="CA0013"/>
                </a:solidFill>
                <a:latin typeface="Inter" pitchFamily="34" charset="0"/>
                <a:ea typeface="Inter" pitchFamily="34" charset="-122"/>
                <a:cs typeface="Inter" pitchFamily="34" charset="-120"/>
              </a:rPr>
              <a:t>35,764</a:t>
            </a:r>
            <a:pPr indent="0" marL="0">
              <a:buNone/>
            </a:pPr>
            <a:r>
              <a:rPr lang="en-US" sz="1596" b="1" dirty="0">
                <a:solidFill>
                  <a:srgbClr val="CA0013"/>
                </a:solidFill>
                <a:latin typeface="Microsoft JhengHei" pitchFamily="34" charset="0"/>
                <a:ea typeface="Microsoft JhengHei" pitchFamily="34" charset="-122"/>
                <a:cs typeface="Microsoft JhengHei" pitchFamily="34" charset="-120"/>
              </a:rPr>
              <a:t> 個</a:t>
            </a:r>
            <a:endParaRPr lang="en-US" sz="3800" dirty="0"/>
          </a:p>
        </p:txBody>
      </p:sp>
      <p:sp>
        <p:nvSpPr>
          <p:cNvPr id="9" name="Text 7"/>
          <p:cNvSpPr txBox="1"/>
          <p:nvPr/>
        </p:nvSpPr>
        <p:spPr>
          <a:xfrm>
            <a:off x="566928" y="3127248"/>
            <a:ext cx="260604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住宅單位多過住戶</a:t>
            </a:r>
            <a:endParaRPr lang="en-US" sz="1300" dirty="0"/>
          </a:p>
        </p:txBody>
      </p:sp>
      <p:sp>
        <p:nvSpPr>
          <p:cNvPr id="10" name="Text 8"/>
          <p:cNvSpPr txBox="1"/>
          <p:nvPr/>
        </p:nvSpPr>
        <p:spPr>
          <a:xfrm>
            <a:off x="566928" y="3493008"/>
            <a:ext cx="260604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2021 年：238,464 個單位，202,700 戶</a:t>
            </a:r>
            <a:endParaRPr lang="en-US" sz="1050" dirty="0"/>
          </a:p>
        </p:txBody>
      </p:sp>
      <p:sp>
        <p:nvSpPr>
          <p:cNvPr id="11" name="Text 9"/>
          <p:cNvSpPr txBox="1"/>
          <p:nvPr/>
        </p:nvSpPr>
        <p:spPr>
          <a:xfrm>
            <a:off x="3401568" y="2194560"/>
            <a:ext cx="2606040" cy="932688"/>
          </a:xfrm>
          <a:prstGeom prst="rect">
            <a:avLst/>
          </a:prstGeom>
          <a:noFill/>
          <a:ln/>
        </p:spPr>
        <p:txBody>
          <a:bodyPr wrap="square" lIns="0" tIns="0" rIns="0" bIns="0" rtlCol="0" anchor="ctr"/>
          <a:lstStyle/>
          <a:p>
            <a:pPr indent="0" marL="0">
              <a:buNone/>
            </a:pPr>
            <a:r>
              <a:rPr lang="en-US" sz="3800" b="1" dirty="0">
                <a:solidFill>
                  <a:srgbClr val="CA0013"/>
                </a:solidFill>
                <a:latin typeface="Inter" pitchFamily="34" charset="0"/>
                <a:ea typeface="Inter" pitchFamily="34" charset="-122"/>
                <a:cs typeface="Inter" pitchFamily="34" charset="-120"/>
              </a:rPr>
              <a:t>−31.7</a:t>
            </a:r>
            <a:pPr indent="0" marL="0">
              <a:buNone/>
            </a:pPr>
            <a:r>
              <a:rPr lang="en-US" sz="1596" b="1" dirty="0">
                <a:solidFill>
                  <a:srgbClr val="CA0013"/>
                </a:solidFill>
                <a:latin typeface="Microsoft JhengHei" pitchFamily="34" charset="0"/>
                <a:ea typeface="Microsoft JhengHei" pitchFamily="34" charset="-122"/>
                <a:cs typeface="Microsoft JhengHei" pitchFamily="34" charset="-120"/>
              </a:rPr>
              <a:t>%</a:t>
            </a:r>
            <a:endParaRPr lang="en-US" sz="3800" dirty="0"/>
          </a:p>
        </p:txBody>
      </p:sp>
      <p:sp>
        <p:nvSpPr>
          <p:cNvPr id="12" name="Text 10"/>
          <p:cNvSpPr txBox="1"/>
          <p:nvPr/>
        </p:nvSpPr>
        <p:spPr>
          <a:xfrm>
            <a:off x="3401568" y="3127248"/>
            <a:ext cx="260604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樓價四年累計跌幅</a:t>
            </a:r>
            <a:endParaRPr lang="en-US" sz="1300" dirty="0"/>
          </a:p>
        </p:txBody>
      </p:sp>
      <p:sp>
        <p:nvSpPr>
          <p:cNvPr id="13" name="Text 11"/>
          <p:cNvSpPr txBox="1"/>
          <p:nvPr/>
        </p:nvSpPr>
        <p:spPr>
          <a:xfrm>
            <a:off x="3401568" y="3493008"/>
            <a:ext cx="260604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每平方米 103,859 元（2021）→ 70,935 元（2025）</a:t>
            </a:r>
            <a:endParaRPr lang="en-US" sz="1050" dirty="0"/>
          </a:p>
        </p:txBody>
      </p:sp>
      <p:sp>
        <p:nvSpPr>
          <p:cNvPr id="14" name="Text 12"/>
          <p:cNvSpPr txBox="1"/>
          <p:nvPr/>
        </p:nvSpPr>
        <p:spPr>
          <a:xfrm>
            <a:off x="6236208" y="2194560"/>
            <a:ext cx="2606040" cy="932688"/>
          </a:xfrm>
          <a:prstGeom prst="rect">
            <a:avLst/>
          </a:prstGeom>
          <a:noFill/>
          <a:ln/>
        </p:spPr>
        <p:txBody>
          <a:bodyPr wrap="square" lIns="0" tIns="0" rIns="0" bIns="0" rtlCol="0" anchor="ctr"/>
          <a:lstStyle/>
          <a:p>
            <a:pPr indent="0" marL="0">
              <a:buNone/>
            </a:pPr>
            <a:r>
              <a:rPr lang="en-US" sz="3800" b="1" dirty="0">
                <a:solidFill>
                  <a:srgbClr val="CA0013"/>
                </a:solidFill>
                <a:latin typeface="Inter" pitchFamily="34" charset="0"/>
                <a:ea typeface="Inter" pitchFamily="34" charset="-122"/>
                <a:cs typeface="Inter" pitchFamily="34" charset="-120"/>
              </a:rPr>
              <a:t>6.5–9.6</a:t>
            </a:r>
            <a:pPr indent="0" marL="0">
              <a:buNone/>
            </a:pPr>
            <a:r>
              <a:rPr lang="en-US" sz="1596" b="1" dirty="0">
                <a:solidFill>
                  <a:srgbClr val="CA0013"/>
                </a:solidFill>
                <a:latin typeface="Microsoft JhengHei" pitchFamily="34" charset="0"/>
                <a:ea typeface="Microsoft JhengHei" pitchFamily="34" charset="-122"/>
                <a:cs typeface="Microsoft JhengHei" pitchFamily="34" charset="-120"/>
              </a:rPr>
              <a:t> 倍</a:t>
            </a:r>
            <a:endParaRPr lang="en-US" sz="3800" dirty="0"/>
          </a:p>
        </p:txBody>
      </p:sp>
      <p:sp>
        <p:nvSpPr>
          <p:cNvPr id="15" name="Text 13"/>
          <p:cNvSpPr txBox="1"/>
          <p:nvPr/>
        </p:nvSpPr>
        <p:spPr>
          <a:xfrm>
            <a:off x="6236208" y="3127248"/>
            <a:ext cx="260604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700 呎單位樓價收入比</a:t>
            </a:r>
            <a:endParaRPr lang="en-US" sz="1300" dirty="0"/>
          </a:p>
        </p:txBody>
      </p:sp>
      <p:sp>
        <p:nvSpPr>
          <p:cNvPr id="16" name="Text 14"/>
          <p:cNvSpPr txBox="1"/>
          <p:nvPr/>
        </p:nvSpPr>
        <p:spPr>
          <a:xfrm>
            <a:off x="6236208" y="3493008"/>
            <a:ext cx="260604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2025 年，兩種收入口徑；國際標準約 3.5–5 倍</a:t>
            </a:r>
            <a:endParaRPr lang="en-US" sz="1050" dirty="0"/>
          </a:p>
        </p:txBody>
      </p:sp>
      <p:sp>
        <p:nvSpPr>
          <p:cNvPr id="17" name="Text 15"/>
          <p:cNvSpPr txBox="1"/>
          <p:nvPr/>
        </p:nvSpPr>
        <p:spPr>
          <a:xfrm>
            <a:off x="9070848" y="2194560"/>
            <a:ext cx="2606040" cy="932688"/>
          </a:xfrm>
          <a:prstGeom prst="rect">
            <a:avLst/>
          </a:prstGeom>
          <a:noFill/>
          <a:ln/>
        </p:spPr>
        <p:txBody>
          <a:bodyPr wrap="square" lIns="0" tIns="0" rIns="0" bIns="0" rtlCol="0" anchor="ctr"/>
          <a:lstStyle/>
          <a:p>
            <a:pPr indent="0" marL="0">
              <a:buNone/>
            </a:pPr>
            <a:r>
              <a:rPr lang="en-US" sz="3800" b="1" dirty="0">
                <a:solidFill>
                  <a:srgbClr val="CA0013"/>
                </a:solidFill>
                <a:latin typeface="Inter" pitchFamily="34" charset="0"/>
                <a:ea typeface="Inter" pitchFamily="34" charset="-122"/>
                <a:cs typeface="Inter" pitchFamily="34" charset="-120"/>
              </a:rPr>
              <a:t>+6</a:t>
            </a:r>
            <a:pPr indent="0" marL="0">
              <a:buNone/>
            </a:pPr>
            <a:r>
              <a:rPr lang="en-US" sz="1596" b="1" dirty="0">
                <a:solidFill>
                  <a:srgbClr val="CA0013"/>
                </a:solidFill>
                <a:latin typeface="Microsoft JhengHei" pitchFamily="34" charset="0"/>
                <a:ea typeface="Microsoft JhengHei" pitchFamily="34" charset="-122"/>
                <a:cs typeface="Microsoft JhengHei" pitchFamily="34" charset="-120"/>
              </a:rPr>
              <a:t>%</a:t>
            </a:r>
            <a:endParaRPr lang="en-US" sz="3800" dirty="0"/>
          </a:p>
        </p:txBody>
      </p:sp>
      <p:sp>
        <p:nvSpPr>
          <p:cNvPr id="18" name="Text 16"/>
          <p:cNvSpPr txBox="1"/>
          <p:nvPr/>
        </p:nvSpPr>
        <p:spPr>
          <a:xfrm>
            <a:off x="9070848" y="3127248"/>
            <a:ext cx="260604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租金 2023–2025</a:t>
            </a:r>
            <a:endParaRPr lang="en-US" sz="1300" dirty="0"/>
          </a:p>
        </p:txBody>
      </p:sp>
      <p:sp>
        <p:nvSpPr>
          <p:cNvPr id="19" name="Text 17"/>
          <p:cNvSpPr txBox="1"/>
          <p:nvPr/>
        </p:nvSpPr>
        <p:spPr>
          <a:xfrm>
            <a:off x="9070848" y="3493008"/>
            <a:ext cx="260604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同期樓價 −24.1%</a:t>
            </a:r>
            <a:endParaRPr lang="en-US" sz="1050" dirty="0"/>
          </a:p>
        </p:txBody>
      </p:sp>
      <p:sp>
        <p:nvSpPr>
          <p:cNvPr id="20" name="Shape 18"/>
          <p:cNvSpPr/>
          <p:nvPr/>
        </p:nvSpPr>
        <p:spPr>
          <a:xfrm>
            <a:off x="566928" y="4709160"/>
            <a:ext cx="11057839" cy="18288"/>
          </a:xfrm>
          <a:prstGeom prst="rect">
            <a:avLst/>
          </a:prstGeom>
          <a:solidFill>
            <a:srgbClr val="C72A09"/>
          </a:solidFill>
          <a:ln/>
        </p:spPr>
      </p:sp>
      <p:sp>
        <p:nvSpPr>
          <p:cNvPr id="21" name="Text 19"/>
          <p:cNvSpPr txBox="1"/>
          <p:nvPr/>
        </p:nvSpPr>
        <p:spPr>
          <a:xfrm>
            <a:off x="566928" y="4892040"/>
            <a:ext cx="11057839" cy="457200"/>
          </a:xfrm>
          <a:prstGeom prst="rect">
            <a:avLst/>
          </a:prstGeom>
          <a:noFill/>
          <a:ln/>
        </p:spPr>
        <p:txBody>
          <a:bodyPr wrap="square" lIns="0" tIns="0" rIns="0" bIns="0" rtlCol="0" anchor="ctr"/>
          <a:lstStyle/>
          <a:p>
            <a:pPr indent="0" marL="0">
              <a:buNone/>
            </a:pPr>
            <a:r>
              <a:rPr lang="en-US" sz="1800" b="1" dirty="0">
                <a:solidFill>
                  <a:srgbClr val="CA0013"/>
                </a:solidFill>
                <a:latin typeface="Microsoft JhengHei" pitchFamily="34" charset="0"/>
                <a:ea typeface="Microsoft JhengHei" pitchFamily="34" charset="-122"/>
                <a:cs typeface="Microsoft JhengHei" pitchFamily="34" charset="-120"/>
              </a:rPr>
              <a:t>不是沒有房子，而是房子按支付能力，而不是按居住需要分配。</a:t>
            </a:r>
            <a:endParaRPr lang="en-US" sz="1800" dirty="0"/>
          </a:p>
        </p:txBody>
      </p:sp>
      <p:sp>
        <p:nvSpPr>
          <p:cNvPr id="22" name="Text 20"/>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統計暨普查局、住戶收支調查 2023/24；本組推算</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(05)</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第一部分　主要概念</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概念一與概念二</a:t>
            </a:r>
            <a:endParaRPr lang="en-US" sz="3400" dirty="0"/>
          </a:p>
        </p:txBody>
      </p:sp>
      <p:sp>
        <p:nvSpPr>
          <p:cNvPr id="8" name="Text 6"/>
          <p:cNvSpPr txBox="1"/>
          <p:nvPr/>
        </p:nvSpPr>
        <p:spPr>
          <a:xfrm>
            <a:off x="566928" y="1554480"/>
            <a:ext cx="5349240" cy="310896"/>
          </a:xfrm>
          <a:prstGeom prst="rect">
            <a:avLst/>
          </a:prstGeom>
          <a:noFill/>
          <a:ln/>
        </p:spPr>
        <p:txBody>
          <a:bodyPr wrap="square" lIns="0" tIns="0" rIns="0" bIns="0" rtlCol="0" anchor="t"/>
          <a:lstStyle/>
          <a:p>
            <a:pPr algn="l" indent="0" marL="0">
              <a:lnSpc>
                <a:spcPct val="125000"/>
              </a:lnSpc>
              <a:buNone/>
            </a:pPr>
            <a:r>
              <a:rPr lang="en-US" sz="1150" b="1" spc="240" kern="0" dirty="0">
                <a:solidFill>
                  <a:srgbClr val="CA0013"/>
                </a:solidFill>
                <a:latin typeface="Microsoft JhengHei" pitchFamily="34" charset="0"/>
                <a:ea typeface="Microsoft JhengHei" pitchFamily="34" charset="-122"/>
                <a:cs typeface="Microsoft JhengHei" pitchFamily="34" charset="-120"/>
              </a:rPr>
              <a:t>概念一</a:t>
            </a:r>
            <a:endParaRPr lang="en-US" sz="1150" dirty="0"/>
          </a:p>
        </p:txBody>
      </p:sp>
      <p:sp>
        <p:nvSpPr>
          <p:cNvPr id="9" name="Text 7"/>
          <p:cNvSpPr txBox="1"/>
          <p:nvPr/>
        </p:nvSpPr>
        <p:spPr>
          <a:xfrm>
            <a:off x="566928" y="1847088"/>
            <a:ext cx="5349240" cy="822960"/>
          </a:xfrm>
          <a:prstGeom prst="rect">
            <a:avLst/>
          </a:prstGeom>
          <a:noFill/>
          <a:ln/>
        </p:spPr>
        <p:txBody>
          <a:bodyPr wrap="square" lIns="0" tIns="0" rIns="0" bIns="0" rtlCol="0" anchor="t"/>
          <a:lstStyle/>
          <a:p>
            <a:pPr indent="0" marL="0">
              <a:lnSpc>
                <a:spcPct val="105000"/>
              </a:lnSpc>
              <a:buNone/>
            </a:pPr>
            <a:r>
              <a:rPr lang="en-US" sz="2200" b="1" dirty="0">
                <a:solidFill>
                  <a:srgbClr val="CA0013"/>
                </a:solidFill>
                <a:latin typeface="Microsoft JhengHei" pitchFamily="34" charset="0"/>
                <a:ea typeface="Microsoft JhengHei" pitchFamily="34" charset="-122"/>
                <a:cs typeface="Microsoft JhengHei" pitchFamily="34" charset="-120"/>
              </a:rPr>
              <a:t>住房可負擔性（樓價收入比）</a:t>
            </a:r>
            <a:endParaRPr lang="en-US" sz="2200" dirty="0"/>
          </a:p>
        </p:txBody>
      </p:sp>
      <p:sp>
        <p:nvSpPr>
          <p:cNvPr id="10" name="Shape 8"/>
          <p:cNvSpPr/>
          <p:nvPr/>
        </p:nvSpPr>
        <p:spPr>
          <a:xfrm>
            <a:off x="566928" y="2697480"/>
            <a:ext cx="5349240" cy="18288"/>
          </a:xfrm>
          <a:prstGeom prst="rect">
            <a:avLst/>
          </a:prstGeom>
          <a:solidFill>
            <a:srgbClr val="C72A09"/>
          </a:solidFill>
          <a:ln/>
        </p:spPr>
      </p:sp>
      <p:sp>
        <p:nvSpPr>
          <p:cNvPr id="11" name="Text 9"/>
          <p:cNvSpPr txBox="1"/>
          <p:nvPr/>
        </p:nvSpPr>
        <p:spPr>
          <a:xfrm>
            <a:off x="566928" y="2834640"/>
            <a:ext cx="1283818" cy="100584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定義</a:t>
            </a:r>
            <a:endParaRPr lang="en-US" sz="1150" dirty="0"/>
          </a:p>
        </p:txBody>
      </p:sp>
      <p:sp>
        <p:nvSpPr>
          <p:cNvPr id="12" name="Text 10"/>
          <p:cNvSpPr txBox="1"/>
          <p:nvPr/>
        </p:nvSpPr>
        <p:spPr>
          <a:xfrm>
            <a:off x="1930984" y="2834640"/>
            <a:ext cx="3985184" cy="100584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住房成本相對家庭收入的水平。樓價收入比＝住宅價格 ÷ 家庭年收入，即全部收入不消費需幾多年購入。國際標準約 3.5–5 倍（高武洲 2017）。</a:t>
            </a:r>
            <a:endParaRPr lang="en-US" sz="1150" dirty="0"/>
          </a:p>
        </p:txBody>
      </p:sp>
      <p:sp>
        <p:nvSpPr>
          <p:cNvPr id="13" name="Shape 11"/>
          <p:cNvSpPr/>
          <p:nvPr/>
        </p:nvSpPr>
        <p:spPr>
          <a:xfrm>
            <a:off x="566928" y="3822192"/>
            <a:ext cx="5349240" cy="12802"/>
          </a:xfrm>
          <a:prstGeom prst="rect">
            <a:avLst/>
          </a:prstGeom>
          <a:solidFill>
            <a:srgbClr val="C72A09"/>
          </a:solidFill>
          <a:ln/>
        </p:spPr>
      </p:sp>
      <p:sp>
        <p:nvSpPr>
          <p:cNvPr id="14" name="Text 12"/>
          <p:cNvSpPr txBox="1"/>
          <p:nvPr/>
        </p:nvSpPr>
        <p:spPr>
          <a:xfrm>
            <a:off x="566928" y="3931920"/>
            <a:ext cx="1283818" cy="694944"/>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與澳門的關係</a:t>
            </a:r>
            <a:endParaRPr lang="en-US" sz="1150" dirty="0"/>
          </a:p>
        </p:txBody>
      </p:sp>
      <p:sp>
        <p:nvSpPr>
          <p:cNvPr id="15" name="Text 13"/>
          <p:cNvSpPr txBox="1"/>
          <p:nvPr/>
        </p:nvSpPr>
        <p:spPr>
          <a:xfrm>
            <a:off x="1930984" y="3931920"/>
            <a:ext cx="3985184" cy="694944"/>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衡量私樓是否貴到負擔不起，避免只講樓價好貴。</a:t>
            </a:r>
            <a:endParaRPr lang="en-US" sz="1150" dirty="0"/>
          </a:p>
        </p:txBody>
      </p:sp>
      <p:sp>
        <p:nvSpPr>
          <p:cNvPr id="16" name="Shape 14"/>
          <p:cNvSpPr/>
          <p:nvPr/>
        </p:nvSpPr>
        <p:spPr>
          <a:xfrm>
            <a:off x="566928" y="4608576"/>
            <a:ext cx="5349240" cy="12802"/>
          </a:xfrm>
          <a:prstGeom prst="rect">
            <a:avLst/>
          </a:prstGeom>
          <a:solidFill>
            <a:srgbClr val="C72A09"/>
          </a:solidFill>
          <a:ln/>
        </p:spPr>
      </p:sp>
      <p:sp>
        <p:nvSpPr>
          <p:cNvPr id="17" name="Text 15"/>
          <p:cNvSpPr txBox="1"/>
          <p:nvPr/>
        </p:nvSpPr>
        <p:spPr>
          <a:xfrm>
            <a:off x="566928" y="4718304"/>
            <a:ext cx="1283818" cy="54864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報告用法</a:t>
            </a:r>
            <a:endParaRPr lang="en-US" sz="1150" dirty="0"/>
          </a:p>
        </p:txBody>
      </p:sp>
      <p:sp>
        <p:nvSpPr>
          <p:cNvPr id="18" name="Text 16"/>
          <p:cNvSpPr txBox="1"/>
          <p:nvPr/>
        </p:nvSpPr>
        <p:spPr>
          <a:xfrm>
            <a:off x="1930984" y="4718304"/>
            <a:ext cx="3985184" cy="54864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問題一：以 700 呎單位推算，並列兩種收入口徑。</a:t>
            </a:r>
            <a:endParaRPr lang="en-US" sz="1150" dirty="0"/>
          </a:p>
        </p:txBody>
      </p:sp>
      <p:sp>
        <p:nvSpPr>
          <p:cNvPr id="19" name="Shape 17"/>
          <p:cNvSpPr/>
          <p:nvPr/>
        </p:nvSpPr>
        <p:spPr>
          <a:xfrm>
            <a:off x="566928" y="5248656"/>
            <a:ext cx="5349240" cy="12802"/>
          </a:xfrm>
          <a:prstGeom prst="rect">
            <a:avLst/>
          </a:prstGeom>
          <a:solidFill>
            <a:srgbClr val="C72A09"/>
          </a:solidFill>
          <a:ln/>
        </p:spPr>
      </p:sp>
      <p:sp>
        <p:nvSpPr>
          <p:cNvPr id="20" name="Text 18"/>
          <p:cNvSpPr txBox="1"/>
          <p:nvPr/>
        </p:nvSpPr>
        <p:spPr>
          <a:xfrm>
            <a:off x="6281928" y="1554480"/>
            <a:ext cx="5349240" cy="310896"/>
          </a:xfrm>
          <a:prstGeom prst="rect">
            <a:avLst/>
          </a:prstGeom>
          <a:noFill/>
          <a:ln/>
        </p:spPr>
        <p:txBody>
          <a:bodyPr wrap="square" lIns="0" tIns="0" rIns="0" bIns="0" rtlCol="0" anchor="t"/>
          <a:lstStyle/>
          <a:p>
            <a:pPr algn="l" indent="0" marL="0">
              <a:lnSpc>
                <a:spcPct val="125000"/>
              </a:lnSpc>
              <a:buNone/>
            </a:pPr>
            <a:r>
              <a:rPr lang="en-US" sz="1150" b="1" spc="240" kern="0" dirty="0">
                <a:solidFill>
                  <a:srgbClr val="CA0013"/>
                </a:solidFill>
                <a:latin typeface="Microsoft JhengHei" pitchFamily="34" charset="0"/>
                <a:ea typeface="Microsoft JhengHei" pitchFamily="34" charset="-122"/>
                <a:cs typeface="Microsoft JhengHei" pitchFamily="34" charset="-120"/>
              </a:rPr>
              <a:t>概念二</a:t>
            </a:r>
            <a:endParaRPr lang="en-US" sz="1150" dirty="0"/>
          </a:p>
        </p:txBody>
      </p:sp>
      <p:sp>
        <p:nvSpPr>
          <p:cNvPr id="21" name="Text 19"/>
          <p:cNvSpPr txBox="1"/>
          <p:nvPr/>
        </p:nvSpPr>
        <p:spPr>
          <a:xfrm>
            <a:off x="6281928" y="1847088"/>
            <a:ext cx="5349240" cy="822960"/>
          </a:xfrm>
          <a:prstGeom prst="rect">
            <a:avLst/>
          </a:prstGeom>
          <a:noFill/>
          <a:ln/>
        </p:spPr>
        <p:txBody>
          <a:bodyPr wrap="square" lIns="0" tIns="0" rIns="0" bIns="0" rtlCol="0" anchor="t"/>
          <a:lstStyle/>
          <a:p>
            <a:pPr indent="0" marL="0">
              <a:lnSpc>
                <a:spcPct val="105000"/>
              </a:lnSpc>
              <a:buNone/>
            </a:pPr>
            <a:r>
              <a:rPr lang="en-US" sz="2200" b="1" dirty="0">
                <a:solidFill>
                  <a:srgbClr val="CA0013"/>
                </a:solidFill>
                <a:latin typeface="Microsoft JhengHei" pitchFamily="34" charset="0"/>
                <a:ea typeface="Microsoft JhengHei" pitchFamily="34" charset="-122"/>
                <a:cs typeface="Microsoft JhengHei" pitchFamily="34" charset="-120"/>
              </a:rPr>
              <a:t>五階梯房屋與夾心階層</a:t>
            </a:r>
            <a:endParaRPr lang="en-US" sz="2200" dirty="0"/>
          </a:p>
        </p:txBody>
      </p:sp>
      <p:sp>
        <p:nvSpPr>
          <p:cNvPr id="22" name="Shape 20"/>
          <p:cNvSpPr/>
          <p:nvPr/>
        </p:nvSpPr>
        <p:spPr>
          <a:xfrm>
            <a:off x="6281928" y="2697480"/>
            <a:ext cx="5349240" cy="18288"/>
          </a:xfrm>
          <a:prstGeom prst="rect">
            <a:avLst/>
          </a:prstGeom>
          <a:solidFill>
            <a:srgbClr val="C72A09"/>
          </a:solidFill>
          <a:ln/>
        </p:spPr>
      </p:sp>
      <p:sp>
        <p:nvSpPr>
          <p:cNvPr id="23" name="Text 21"/>
          <p:cNvSpPr txBox="1"/>
          <p:nvPr/>
        </p:nvSpPr>
        <p:spPr>
          <a:xfrm>
            <a:off x="6281928" y="2834640"/>
            <a:ext cx="1283818" cy="100584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定義</a:t>
            </a:r>
            <a:endParaRPr lang="en-US" sz="1150" dirty="0"/>
          </a:p>
        </p:txBody>
      </p:sp>
      <p:sp>
        <p:nvSpPr>
          <p:cNvPr id="24" name="Text 22"/>
          <p:cNvSpPr txBox="1"/>
          <p:nvPr/>
        </p:nvSpPr>
        <p:spPr>
          <a:xfrm>
            <a:off x="7645984" y="2834640"/>
            <a:ext cx="3985184" cy="100584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五階梯房屋＝社屋、經屋、夾屋、長者公寓、私人樓宇（政策研究 2022）。夾心階層＝收入超出經屋上限、又追不上私樓升幅的本地居民。</a:t>
            </a:r>
            <a:endParaRPr lang="en-US" sz="1150" dirty="0"/>
          </a:p>
        </p:txBody>
      </p:sp>
      <p:sp>
        <p:nvSpPr>
          <p:cNvPr id="25" name="Shape 23"/>
          <p:cNvSpPr/>
          <p:nvPr/>
        </p:nvSpPr>
        <p:spPr>
          <a:xfrm>
            <a:off x="6281928" y="3822192"/>
            <a:ext cx="5349240" cy="12802"/>
          </a:xfrm>
          <a:prstGeom prst="rect">
            <a:avLst/>
          </a:prstGeom>
          <a:solidFill>
            <a:srgbClr val="C72A09"/>
          </a:solidFill>
          <a:ln/>
        </p:spPr>
      </p:sp>
      <p:sp>
        <p:nvSpPr>
          <p:cNvPr id="26" name="Text 24"/>
          <p:cNvSpPr txBox="1"/>
          <p:nvPr/>
        </p:nvSpPr>
        <p:spPr>
          <a:xfrm>
            <a:off x="6281928" y="3931920"/>
            <a:ext cx="1283818" cy="694944"/>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與澳門的關係</a:t>
            </a:r>
            <a:endParaRPr lang="en-US" sz="1150" dirty="0"/>
          </a:p>
        </p:txBody>
      </p:sp>
      <p:sp>
        <p:nvSpPr>
          <p:cNvPr id="27" name="Text 25"/>
          <p:cNvSpPr txBox="1"/>
          <p:nvPr/>
        </p:nvSpPr>
        <p:spPr>
          <a:xfrm>
            <a:off x="7645984" y="3931920"/>
            <a:ext cx="3985184" cy="694944"/>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公共房屋按收入分層供應，夾心階層處於制度縫隙。</a:t>
            </a:r>
            <a:endParaRPr lang="en-US" sz="1150" dirty="0"/>
          </a:p>
        </p:txBody>
      </p:sp>
      <p:sp>
        <p:nvSpPr>
          <p:cNvPr id="28" name="Shape 26"/>
          <p:cNvSpPr/>
          <p:nvPr/>
        </p:nvSpPr>
        <p:spPr>
          <a:xfrm>
            <a:off x="6281928" y="4608576"/>
            <a:ext cx="5349240" cy="12802"/>
          </a:xfrm>
          <a:prstGeom prst="rect">
            <a:avLst/>
          </a:prstGeom>
          <a:solidFill>
            <a:srgbClr val="C72A09"/>
          </a:solidFill>
          <a:ln/>
        </p:spPr>
      </p:sp>
      <p:sp>
        <p:nvSpPr>
          <p:cNvPr id="29" name="Text 27"/>
          <p:cNvSpPr txBox="1"/>
          <p:nvPr/>
        </p:nvSpPr>
        <p:spPr>
          <a:xfrm>
            <a:off x="6281928" y="4718304"/>
            <a:ext cx="1283818" cy="54864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報告用法</a:t>
            </a:r>
            <a:endParaRPr lang="en-US" sz="1150" dirty="0"/>
          </a:p>
        </p:txBody>
      </p:sp>
      <p:sp>
        <p:nvSpPr>
          <p:cNvPr id="30" name="Text 28"/>
          <p:cNvSpPr txBox="1"/>
          <p:nvPr/>
        </p:nvSpPr>
        <p:spPr>
          <a:xfrm>
            <a:off x="7645984" y="4718304"/>
            <a:ext cx="3985184" cy="54864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問題三：逐階梯檢視供需，並分析夾屋。</a:t>
            </a:r>
            <a:endParaRPr lang="en-US" sz="1150" dirty="0"/>
          </a:p>
        </p:txBody>
      </p:sp>
      <p:sp>
        <p:nvSpPr>
          <p:cNvPr id="31" name="Shape 29"/>
          <p:cNvSpPr/>
          <p:nvPr/>
        </p:nvSpPr>
        <p:spPr>
          <a:xfrm>
            <a:off x="6281928" y="5248656"/>
            <a:ext cx="5349240" cy="12802"/>
          </a:xfrm>
          <a:prstGeom prst="rect">
            <a:avLst/>
          </a:prstGeom>
          <a:solidFill>
            <a:srgbClr val="C72A09"/>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(06)</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第一部分　主要概念</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概念三與概念四</a:t>
            </a:r>
            <a:endParaRPr lang="en-US" sz="3400" dirty="0"/>
          </a:p>
        </p:txBody>
      </p:sp>
      <p:sp>
        <p:nvSpPr>
          <p:cNvPr id="8" name="Text 6"/>
          <p:cNvSpPr txBox="1"/>
          <p:nvPr/>
        </p:nvSpPr>
        <p:spPr>
          <a:xfrm>
            <a:off x="566928" y="1554480"/>
            <a:ext cx="5349240" cy="310896"/>
          </a:xfrm>
          <a:prstGeom prst="rect">
            <a:avLst/>
          </a:prstGeom>
          <a:noFill/>
          <a:ln/>
        </p:spPr>
        <p:txBody>
          <a:bodyPr wrap="square" lIns="0" tIns="0" rIns="0" bIns="0" rtlCol="0" anchor="t"/>
          <a:lstStyle/>
          <a:p>
            <a:pPr algn="l" indent="0" marL="0">
              <a:lnSpc>
                <a:spcPct val="125000"/>
              </a:lnSpc>
              <a:buNone/>
            </a:pPr>
            <a:r>
              <a:rPr lang="en-US" sz="1150" b="1" spc="240" kern="0" dirty="0">
                <a:solidFill>
                  <a:srgbClr val="CA0013"/>
                </a:solidFill>
                <a:latin typeface="Microsoft JhengHei" pitchFamily="34" charset="0"/>
                <a:ea typeface="Microsoft JhengHei" pitchFamily="34" charset="-122"/>
                <a:cs typeface="Microsoft JhengHei" pitchFamily="34" charset="-120"/>
              </a:rPr>
              <a:t>概念三</a:t>
            </a:r>
            <a:endParaRPr lang="en-US" sz="1150" dirty="0"/>
          </a:p>
        </p:txBody>
      </p:sp>
      <p:sp>
        <p:nvSpPr>
          <p:cNvPr id="9" name="Text 7"/>
          <p:cNvSpPr txBox="1"/>
          <p:nvPr/>
        </p:nvSpPr>
        <p:spPr>
          <a:xfrm>
            <a:off x="566928" y="1847088"/>
            <a:ext cx="5349240" cy="822960"/>
          </a:xfrm>
          <a:prstGeom prst="rect">
            <a:avLst/>
          </a:prstGeom>
          <a:noFill/>
          <a:ln/>
        </p:spPr>
        <p:txBody>
          <a:bodyPr wrap="square" lIns="0" tIns="0" rIns="0" bIns="0" rtlCol="0" anchor="t"/>
          <a:lstStyle/>
          <a:p>
            <a:pPr indent="0" marL="0">
              <a:lnSpc>
                <a:spcPct val="105000"/>
              </a:lnSpc>
              <a:buNone/>
            </a:pPr>
            <a:r>
              <a:rPr lang="en-US" sz="2200" b="1" dirty="0">
                <a:solidFill>
                  <a:srgbClr val="CA0013"/>
                </a:solidFill>
                <a:latin typeface="Microsoft JhengHei" pitchFamily="34" charset="0"/>
                <a:ea typeface="Microsoft JhengHei" pitchFamily="34" charset="-122"/>
                <a:cs typeface="Microsoft JhengHei" pitchFamily="34" charset="-120"/>
              </a:rPr>
              <a:t>都市更新</a:t>
            </a:r>
            <a:endParaRPr lang="en-US" sz="2200" dirty="0"/>
          </a:p>
        </p:txBody>
      </p:sp>
      <p:sp>
        <p:nvSpPr>
          <p:cNvPr id="10" name="Shape 8"/>
          <p:cNvSpPr/>
          <p:nvPr/>
        </p:nvSpPr>
        <p:spPr>
          <a:xfrm>
            <a:off x="566928" y="2697480"/>
            <a:ext cx="5349240" cy="18288"/>
          </a:xfrm>
          <a:prstGeom prst="rect">
            <a:avLst/>
          </a:prstGeom>
          <a:solidFill>
            <a:srgbClr val="C72A09"/>
          </a:solidFill>
          <a:ln/>
        </p:spPr>
      </p:sp>
      <p:sp>
        <p:nvSpPr>
          <p:cNvPr id="11" name="Text 9"/>
          <p:cNvSpPr txBox="1"/>
          <p:nvPr/>
        </p:nvSpPr>
        <p:spPr>
          <a:xfrm>
            <a:off x="566928" y="2834640"/>
            <a:ext cx="1283818" cy="100584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定義</a:t>
            </a:r>
            <a:endParaRPr lang="en-US" sz="1150" dirty="0"/>
          </a:p>
        </p:txBody>
      </p:sp>
      <p:sp>
        <p:nvSpPr>
          <p:cNvPr id="12" name="Text 10"/>
          <p:cNvSpPr txBox="1"/>
          <p:nvPr/>
        </p:nvSpPr>
        <p:spPr>
          <a:xfrm>
            <a:off x="1930984" y="2834640"/>
            <a:ext cx="3985184" cy="100584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除重建（拆卸並興建新的分層建築物）外，都市更新尚包括建築物的保養、維修和更改，以及公共基礎設施與公用設施的建設（第 18/2022 號法律第 1 條）。</a:t>
            </a:r>
            <a:endParaRPr lang="en-US" sz="1150" dirty="0"/>
          </a:p>
        </p:txBody>
      </p:sp>
      <p:sp>
        <p:nvSpPr>
          <p:cNvPr id="13" name="Shape 11"/>
          <p:cNvSpPr/>
          <p:nvPr/>
        </p:nvSpPr>
        <p:spPr>
          <a:xfrm>
            <a:off x="566928" y="3822192"/>
            <a:ext cx="5349240" cy="12802"/>
          </a:xfrm>
          <a:prstGeom prst="rect">
            <a:avLst/>
          </a:prstGeom>
          <a:solidFill>
            <a:srgbClr val="C72A09"/>
          </a:solidFill>
          <a:ln/>
        </p:spPr>
      </p:sp>
      <p:sp>
        <p:nvSpPr>
          <p:cNvPr id="14" name="Text 12"/>
          <p:cNvSpPr txBox="1"/>
          <p:nvPr/>
        </p:nvSpPr>
        <p:spPr>
          <a:xfrm>
            <a:off x="566928" y="3931920"/>
            <a:ext cx="1283818" cy="694944"/>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與澳門的關係</a:t>
            </a:r>
            <a:endParaRPr lang="en-US" sz="1150" dirty="0"/>
          </a:p>
        </p:txBody>
      </p:sp>
      <p:sp>
        <p:nvSpPr>
          <p:cNvPr id="15" name="Text 13"/>
          <p:cNvSpPr txBox="1"/>
          <p:nvPr/>
        </p:nvSpPr>
        <p:spPr>
          <a:xfrm>
            <a:off x="1930984" y="3931920"/>
            <a:ext cx="3985184" cy="694944"/>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重建由所有權人決定（第 3 條），涉及業權比例、費用分攤與安置，是集體決策問題。</a:t>
            </a:r>
            <a:endParaRPr lang="en-US" sz="1150" dirty="0"/>
          </a:p>
        </p:txBody>
      </p:sp>
      <p:sp>
        <p:nvSpPr>
          <p:cNvPr id="16" name="Shape 14"/>
          <p:cNvSpPr/>
          <p:nvPr/>
        </p:nvSpPr>
        <p:spPr>
          <a:xfrm>
            <a:off x="566928" y="4608576"/>
            <a:ext cx="5349240" cy="12802"/>
          </a:xfrm>
          <a:prstGeom prst="rect">
            <a:avLst/>
          </a:prstGeom>
          <a:solidFill>
            <a:srgbClr val="C72A09"/>
          </a:solidFill>
          <a:ln/>
        </p:spPr>
      </p:sp>
      <p:sp>
        <p:nvSpPr>
          <p:cNvPr id="17" name="Text 15"/>
          <p:cNvSpPr txBox="1"/>
          <p:nvPr/>
        </p:nvSpPr>
        <p:spPr>
          <a:xfrm>
            <a:off x="566928" y="4718304"/>
            <a:ext cx="1283818" cy="54864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報告用法</a:t>
            </a:r>
            <a:endParaRPr lang="en-US" sz="1150" dirty="0"/>
          </a:p>
        </p:txBody>
      </p:sp>
      <p:sp>
        <p:nvSpPr>
          <p:cNvPr id="18" name="Text 16"/>
          <p:cNvSpPr txBox="1"/>
          <p:nvPr/>
        </p:nvSpPr>
        <p:spPr>
          <a:xfrm>
            <a:off x="1930984" y="4718304"/>
            <a:ext cx="3985184" cy="54864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問題二：分析業權門檻與更新配套。</a:t>
            </a:r>
            <a:endParaRPr lang="en-US" sz="1150" dirty="0"/>
          </a:p>
        </p:txBody>
      </p:sp>
      <p:sp>
        <p:nvSpPr>
          <p:cNvPr id="19" name="Shape 17"/>
          <p:cNvSpPr/>
          <p:nvPr/>
        </p:nvSpPr>
        <p:spPr>
          <a:xfrm>
            <a:off x="566928" y="5248656"/>
            <a:ext cx="5349240" cy="12802"/>
          </a:xfrm>
          <a:prstGeom prst="rect">
            <a:avLst/>
          </a:prstGeom>
          <a:solidFill>
            <a:srgbClr val="C72A09"/>
          </a:solidFill>
          <a:ln/>
        </p:spPr>
      </p:sp>
      <p:sp>
        <p:nvSpPr>
          <p:cNvPr id="20" name="Text 18"/>
          <p:cNvSpPr txBox="1"/>
          <p:nvPr/>
        </p:nvSpPr>
        <p:spPr>
          <a:xfrm>
            <a:off x="6281928" y="1554480"/>
            <a:ext cx="5349240" cy="310896"/>
          </a:xfrm>
          <a:prstGeom prst="rect">
            <a:avLst/>
          </a:prstGeom>
          <a:noFill/>
          <a:ln/>
        </p:spPr>
        <p:txBody>
          <a:bodyPr wrap="square" lIns="0" tIns="0" rIns="0" bIns="0" rtlCol="0" anchor="t"/>
          <a:lstStyle/>
          <a:p>
            <a:pPr algn="l" indent="0" marL="0">
              <a:lnSpc>
                <a:spcPct val="125000"/>
              </a:lnSpc>
              <a:buNone/>
            </a:pPr>
            <a:r>
              <a:rPr lang="en-US" sz="1150" b="1" spc="240" kern="0" dirty="0">
                <a:solidFill>
                  <a:srgbClr val="CA0013"/>
                </a:solidFill>
                <a:latin typeface="Microsoft JhengHei" pitchFamily="34" charset="0"/>
                <a:ea typeface="Microsoft JhengHei" pitchFamily="34" charset="-122"/>
                <a:cs typeface="Microsoft JhengHei" pitchFamily="34" charset="-120"/>
              </a:rPr>
              <a:t>概念四</a:t>
            </a:r>
            <a:endParaRPr lang="en-US" sz="1150" dirty="0"/>
          </a:p>
        </p:txBody>
      </p:sp>
      <p:sp>
        <p:nvSpPr>
          <p:cNvPr id="21" name="Text 19"/>
          <p:cNvSpPr txBox="1"/>
          <p:nvPr/>
        </p:nvSpPr>
        <p:spPr>
          <a:xfrm>
            <a:off x="6281928" y="1847088"/>
            <a:ext cx="5349240" cy="822960"/>
          </a:xfrm>
          <a:prstGeom prst="rect">
            <a:avLst/>
          </a:prstGeom>
          <a:noFill/>
          <a:ln/>
        </p:spPr>
        <p:txBody>
          <a:bodyPr wrap="square" lIns="0" tIns="0" rIns="0" bIns="0" rtlCol="0" anchor="t"/>
          <a:lstStyle/>
          <a:p>
            <a:pPr indent="0" marL="0">
              <a:lnSpc>
                <a:spcPct val="105000"/>
              </a:lnSpc>
              <a:buNone/>
            </a:pPr>
            <a:r>
              <a:rPr lang="en-US" sz="2200" b="1" dirty="0">
                <a:solidFill>
                  <a:srgbClr val="CA0013"/>
                </a:solidFill>
                <a:latin typeface="Microsoft JhengHei" pitchFamily="34" charset="0"/>
                <a:ea typeface="Microsoft JhengHei" pitchFamily="34" charset="-122"/>
                <a:cs typeface="Microsoft JhengHei" pitchFamily="34" charset="-120"/>
              </a:rPr>
              <a:t>樓宇老化：樓齡、失修、殘危</a:t>
            </a:r>
            <a:endParaRPr lang="en-US" sz="2200" dirty="0"/>
          </a:p>
        </p:txBody>
      </p:sp>
      <p:sp>
        <p:nvSpPr>
          <p:cNvPr id="22" name="Shape 20"/>
          <p:cNvSpPr/>
          <p:nvPr/>
        </p:nvSpPr>
        <p:spPr>
          <a:xfrm>
            <a:off x="6281928" y="2697480"/>
            <a:ext cx="5349240" cy="18288"/>
          </a:xfrm>
          <a:prstGeom prst="rect">
            <a:avLst/>
          </a:prstGeom>
          <a:solidFill>
            <a:srgbClr val="C72A09"/>
          </a:solidFill>
          <a:ln/>
        </p:spPr>
      </p:sp>
      <p:sp>
        <p:nvSpPr>
          <p:cNvPr id="23" name="Text 21"/>
          <p:cNvSpPr txBox="1"/>
          <p:nvPr/>
        </p:nvSpPr>
        <p:spPr>
          <a:xfrm>
            <a:off x="6281928" y="2834640"/>
            <a:ext cx="1283818" cy="100584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定義</a:t>
            </a:r>
            <a:endParaRPr lang="en-US" sz="1150" dirty="0"/>
          </a:p>
        </p:txBody>
      </p:sp>
      <p:sp>
        <p:nvSpPr>
          <p:cNvPr id="24" name="Text 22"/>
          <p:cNvSpPr txBox="1"/>
          <p:nvPr/>
        </p:nvSpPr>
        <p:spPr>
          <a:xfrm>
            <a:off x="7645984" y="2834640"/>
            <a:ext cx="3985184" cy="100584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三層梯度：樓齡 30 年以上 → 失修（巡查、通知維修）→ 殘危（檢驗委員會證實，須拆卸）。樓齡高不等於危樓。</a:t>
            </a:r>
            <a:endParaRPr lang="en-US" sz="1150" dirty="0"/>
          </a:p>
        </p:txBody>
      </p:sp>
      <p:sp>
        <p:nvSpPr>
          <p:cNvPr id="25" name="Shape 23"/>
          <p:cNvSpPr/>
          <p:nvPr/>
        </p:nvSpPr>
        <p:spPr>
          <a:xfrm>
            <a:off x="6281928" y="3822192"/>
            <a:ext cx="5349240" cy="12802"/>
          </a:xfrm>
          <a:prstGeom prst="rect">
            <a:avLst/>
          </a:prstGeom>
          <a:solidFill>
            <a:srgbClr val="C72A09"/>
          </a:solidFill>
          <a:ln/>
        </p:spPr>
      </p:sp>
      <p:sp>
        <p:nvSpPr>
          <p:cNvPr id="26" name="Text 24"/>
          <p:cNvSpPr txBox="1"/>
          <p:nvPr/>
        </p:nvSpPr>
        <p:spPr>
          <a:xfrm>
            <a:off x="6281928" y="3931920"/>
            <a:ext cx="1283818" cy="694944"/>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與澳門的關係</a:t>
            </a:r>
            <a:endParaRPr lang="en-US" sz="1150" dirty="0"/>
          </a:p>
        </p:txBody>
      </p:sp>
      <p:sp>
        <p:nvSpPr>
          <p:cNvPr id="27" name="Text 25"/>
          <p:cNvSpPr txBox="1"/>
          <p:nvPr/>
        </p:nvSpPr>
        <p:spPr>
          <a:xfrm>
            <a:off x="7645984" y="3931920"/>
            <a:ext cx="3985184" cy="694944"/>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以梯度而非單一樓齡判斷舊樓風險。</a:t>
            </a:r>
            <a:endParaRPr lang="en-US" sz="1150" dirty="0"/>
          </a:p>
        </p:txBody>
      </p:sp>
      <p:sp>
        <p:nvSpPr>
          <p:cNvPr id="28" name="Shape 26"/>
          <p:cNvSpPr/>
          <p:nvPr/>
        </p:nvSpPr>
        <p:spPr>
          <a:xfrm>
            <a:off x="6281928" y="4608576"/>
            <a:ext cx="5349240" cy="12802"/>
          </a:xfrm>
          <a:prstGeom prst="rect">
            <a:avLst/>
          </a:prstGeom>
          <a:solidFill>
            <a:srgbClr val="C72A09"/>
          </a:solidFill>
          <a:ln/>
        </p:spPr>
      </p:sp>
      <p:sp>
        <p:nvSpPr>
          <p:cNvPr id="29" name="Text 27"/>
          <p:cNvSpPr txBox="1"/>
          <p:nvPr/>
        </p:nvSpPr>
        <p:spPr>
          <a:xfrm>
            <a:off x="6281928" y="4718304"/>
            <a:ext cx="1283818" cy="54864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報告用法</a:t>
            </a:r>
            <a:endParaRPr lang="en-US" sz="1150" dirty="0"/>
          </a:p>
        </p:txBody>
      </p:sp>
      <p:sp>
        <p:nvSpPr>
          <p:cNvPr id="30" name="Text 28"/>
          <p:cNvSpPr txBox="1"/>
          <p:nvPr/>
        </p:nvSpPr>
        <p:spPr>
          <a:xfrm>
            <a:off x="7645984" y="4718304"/>
            <a:ext cx="3985184" cy="54864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問題二：以三層數字呈現現況。</a:t>
            </a:r>
            <a:endParaRPr lang="en-US" sz="1150" dirty="0"/>
          </a:p>
        </p:txBody>
      </p:sp>
      <p:sp>
        <p:nvSpPr>
          <p:cNvPr id="31" name="Shape 29"/>
          <p:cNvSpPr/>
          <p:nvPr/>
        </p:nvSpPr>
        <p:spPr>
          <a:xfrm>
            <a:off x="6281928" y="5248656"/>
            <a:ext cx="5349240" cy="12802"/>
          </a:xfrm>
          <a:prstGeom prst="rect">
            <a:avLst/>
          </a:prstGeom>
          <a:solidFill>
            <a:srgbClr val="C72A09"/>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(07)</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第一部分　主要概念</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概念五：結構性失衡</a:t>
            </a:r>
            <a:endParaRPr lang="en-US" sz="3400" dirty="0"/>
          </a:p>
        </p:txBody>
      </p:sp>
      <p:sp>
        <p:nvSpPr>
          <p:cNvPr id="8" name="Text 6"/>
          <p:cNvSpPr txBox="1"/>
          <p:nvPr/>
        </p:nvSpPr>
        <p:spPr>
          <a:xfrm>
            <a:off x="566928" y="1554480"/>
            <a:ext cx="5349240" cy="310896"/>
          </a:xfrm>
          <a:prstGeom prst="rect">
            <a:avLst/>
          </a:prstGeom>
          <a:noFill/>
          <a:ln/>
        </p:spPr>
        <p:txBody>
          <a:bodyPr wrap="square" lIns="0" tIns="0" rIns="0" bIns="0" rtlCol="0" anchor="t"/>
          <a:lstStyle/>
          <a:p>
            <a:pPr algn="l" indent="0" marL="0">
              <a:lnSpc>
                <a:spcPct val="125000"/>
              </a:lnSpc>
              <a:buNone/>
            </a:pPr>
            <a:r>
              <a:rPr lang="en-US" sz="1150" b="1" spc="240" kern="0" dirty="0">
                <a:solidFill>
                  <a:srgbClr val="CA0013"/>
                </a:solidFill>
                <a:latin typeface="Microsoft JhengHei" pitchFamily="34" charset="0"/>
                <a:ea typeface="Microsoft JhengHei" pitchFamily="34" charset="-122"/>
                <a:cs typeface="Microsoft JhengHei" pitchFamily="34" charset="-120"/>
              </a:rPr>
              <a:t>概念五</a:t>
            </a:r>
            <a:endParaRPr lang="en-US" sz="1150" dirty="0"/>
          </a:p>
        </p:txBody>
      </p:sp>
      <p:sp>
        <p:nvSpPr>
          <p:cNvPr id="9" name="Text 7"/>
          <p:cNvSpPr txBox="1"/>
          <p:nvPr/>
        </p:nvSpPr>
        <p:spPr>
          <a:xfrm>
            <a:off x="566928" y="1847088"/>
            <a:ext cx="5349240" cy="822960"/>
          </a:xfrm>
          <a:prstGeom prst="rect">
            <a:avLst/>
          </a:prstGeom>
          <a:noFill/>
          <a:ln/>
        </p:spPr>
        <p:txBody>
          <a:bodyPr wrap="square" lIns="0" tIns="0" rIns="0" bIns="0" rtlCol="0" anchor="t"/>
          <a:lstStyle/>
          <a:p>
            <a:pPr indent="0" marL="0">
              <a:lnSpc>
                <a:spcPct val="105000"/>
              </a:lnSpc>
              <a:buNone/>
            </a:pPr>
            <a:r>
              <a:rPr lang="en-US" sz="2200" b="1" dirty="0">
                <a:solidFill>
                  <a:srgbClr val="CA0013"/>
                </a:solidFill>
                <a:latin typeface="Microsoft JhengHei" pitchFamily="34" charset="0"/>
                <a:ea typeface="Microsoft JhengHei" pitchFamily="34" charset="-122"/>
                <a:cs typeface="Microsoft JhengHei" pitchFamily="34" charset="-120"/>
              </a:rPr>
              <a:t>結構性失衡（資源錯配）</a:t>
            </a:r>
            <a:endParaRPr lang="en-US" sz="2200" dirty="0"/>
          </a:p>
        </p:txBody>
      </p:sp>
      <p:sp>
        <p:nvSpPr>
          <p:cNvPr id="10" name="Shape 8"/>
          <p:cNvSpPr/>
          <p:nvPr/>
        </p:nvSpPr>
        <p:spPr>
          <a:xfrm>
            <a:off x="566928" y="2697480"/>
            <a:ext cx="5349240" cy="18288"/>
          </a:xfrm>
          <a:prstGeom prst="rect">
            <a:avLst/>
          </a:prstGeom>
          <a:solidFill>
            <a:srgbClr val="C72A09"/>
          </a:solidFill>
          <a:ln/>
        </p:spPr>
      </p:sp>
      <p:sp>
        <p:nvSpPr>
          <p:cNvPr id="11" name="Text 9"/>
          <p:cNvSpPr txBox="1"/>
          <p:nvPr/>
        </p:nvSpPr>
        <p:spPr>
          <a:xfrm>
            <a:off x="566928" y="2834640"/>
            <a:ext cx="1283818" cy="100584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定義</a:t>
            </a:r>
            <a:endParaRPr lang="en-US" sz="1150" dirty="0"/>
          </a:p>
        </p:txBody>
      </p:sp>
      <p:sp>
        <p:nvSpPr>
          <p:cNvPr id="12" name="Text 10"/>
          <p:cNvSpPr txBox="1"/>
          <p:nvPr/>
        </p:nvSpPr>
        <p:spPr>
          <a:xfrm>
            <a:off x="1930984" y="2834640"/>
            <a:ext cx="3985184" cy="100584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住宅總量足夠，但類型、位置、價格與資格未能配合實際需要（政策研究 2022；《未來房屋需求研究》稱之為資源錯配）。</a:t>
            </a:r>
            <a:endParaRPr lang="en-US" sz="1150" dirty="0"/>
          </a:p>
        </p:txBody>
      </p:sp>
      <p:sp>
        <p:nvSpPr>
          <p:cNvPr id="13" name="Shape 11"/>
          <p:cNvSpPr/>
          <p:nvPr/>
        </p:nvSpPr>
        <p:spPr>
          <a:xfrm>
            <a:off x="566928" y="3822192"/>
            <a:ext cx="5349240" cy="12802"/>
          </a:xfrm>
          <a:prstGeom prst="rect">
            <a:avLst/>
          </a:prstGeom>
          <a:solidFill>
            <a:srgbClr val="C72A09"/>
          </a:solidFill>
          <a:ln/>
        </p:spPr>
      </p:sp>
      <p:sp>
        <p:nvSpPr>
          <p:cNvPr id="14" name="Text 12"/>
          <p:cNvSpPr txBox="1"/>
          <p:nvPr/>
        </p:nvSpPr>
        <p:spPr>
          <a:xfrm>
            <a:off x="566928" y="3931920"/>
            <a:ext cx="1283818" cy="694944"/>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與澳門的關係</a:t>
            </a:r>
            <a:endParaRPr lang="en-US" sz="1150" dirty="0"/>
          </a:p>
        </p:txBody>
      </p:sp>
      <p:sp>
        <p:nvSpPr>
          <p:cNvPr id="15" name="Text 13"/>
          <p:cNvSpPr txBox="1"/>
          <p:nvPr/>
        </p:nvSpPr>
        <p:spPr>
          <a:xfrm>
            <a:off x="1930984" y="3931920"/>
            <a:ext cx="3985184" cy="694944"/>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貫穿三個問題：價格、舊區配套、經屋戶型都出現錯配。</a:t>
            </a:r>
            <a:endParaRPr lang="en-US" sz="1150" dirty="0"/>
          </a:p>
        </p:txBody>
      </p:sp>
      <p:sp>
        <p:nvSpPr>
          <p:cNvPr id="16" name="Shape 14"/>
          <p:cNvSpPr/>
          <p:nvPr/>
        </p:nvSpPr>
        <p:spPr>
          <a:xfrm>
            <a:off x="566928" y="4608576"/>
            <a:ext cx="5349240" cy="12802"/>
          </a:xfrm>
          <a:prstGeom prst="rect">
            <a:avLst/>
          </a:prstGeom>
          <a:solidFill>
            <a:srgbClr val="C72A09"/>
          </a:solidFill>
          <a:ln/>
        </p:spPr>
      </p:sp>
      <p:sp>
        <p:nvSpPr>
          <p:cNvPr id="17" name="Text 15"/>
          <p:cNvSpPr txBox="1"/>
          <p:nvPr/>
        </p:nvSpPr>
        <p:spPr>
          <a:xfrm>
            <a:off x="566928" y="4718304"/>
            <a:ext cx="1283818" cy="54864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報告用法</a:t>
            </a:r>
            <a:endParaRPr lang="en-US" sz="1150" dirty="0"/>
          </a:p>
        </p:txBody>
      </p:sp>
      <p:sp>
        <p:nvSpPr>
          <p:cNvPr id="18" name="Text 16"/>
          <p:cNvSpPr txBox="1"/>
          <p:nvPr/>
        </p:nvSpPr>
        <p:spPr>
          <a:xfrm>
            <a:off x="1930984" y="4718304"/>
            <a:ext cx="3985184" cy="54864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問題三及總結：以經屋、置換房為例。</a:t>
            </a:r>
            <a:endParaRPr lang="en-US" sz="1150" dirty="0"/>
          </a:p>
        </p:txBody>
      </p:sp>
      <p:sp>
        <p:nvSpPr>
          <p:cNvPr id="19" name="Shape 17"/>
          <p:cNvSpPr/>
          <p:nvPr/>
        </p:nvSpPr>
        <p:spPr>
          <a:xfrm>
            <a:off x="566928" y="5248656"/>
            <a:ext cx="5349240" cy="12802"/>
          </a:xfrm>
          <a:prstGeom prst="rect">
            <a:avLst/>
          </a:prstGeom>
          <a:solidFill>
            <a:srgbClr val="C72A09"/>
          </a:solidFill>
          <a:ln/>
        </p:spPr>
      </p:sp>
      <p:sp>
        <p:nvSpPr>
          <p:cNvPr id="20" name="Text 18"/>
          <p:cNvSpPr txBox="1"/>
          <p:nvPr/>
        </p:nvSpPr>
        <p:spPr>
          <a:xfrm>
            <a:off x="6281928" y="1600200"/>
            <a:ext cx="534924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概念如何被使用</a:t>
            </a:r>
            <a:endParaRPr lang="en-US" sz="1200" dirty="0"/>
          </a:p>
        </p:txBody>
      </p:sp>
      <p:sp>
        <p:nvSpPr>
          <p:cNvPr id="21" name="Text 19"/>
          <p:cNvSpPr txBox="1"/>
          <p:nvPr/>
        </p:nvSpPr>
        <p:spPr>
          <a:xfrm>
            <a:off x="6281928" y="1984248"/>
            <a:ext cx="2386584"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概念</a:t>
            </a:r>
            <a:endParaRPr lang="en-US" sz="1100" dirty="0"/>
          </a:p>
        </p:txBody>
      </p:sp>
      <p:sp>
        <p:nvSpPr>
          <p:cNvPr id="22" name="Text 20"/>
          <p:cNvSpPr txBox="1"/>
          <p:nvPr/>
        </p:nvSpPr>
        <p:spPr>
          <a:xfrm>
            <a:off x="8796528" y="1984248"/>
            <a:ext cx="786384"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問題</a:t>
            </a:r>
            <a:endParaRPr lang="en-US" sz="1100" dirty="0"/>
          </a:p>
        </p:txBody>
      </p:sp>
      <p:sp>
        <p:nvSpPr>
          <p:cNvPr id="23" name="Text 21"/>
          <p:cNvSpPr txBox="1"/>
          <p:nvPr/>
        </p:nvSpPr>
        <p:spPr>
          <a:xfrm>
            <a:off x="9710928" y="1984248"/>
            <a:ext cx="1920240"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理論透鏡</a:t>
            </a:r>
            <a:endParaRPr lang="en-US" sz="1100" dirty="0"/>
          </a:p>
        </p:txBody>
      </p:sp>
      <p:sp>
        <p:nvSpPr>
          <p:cNvPr id="24" name="Shape 22"/>
          <p:cNvSpPr/>
          <p:nvPr/>
        </p:nvSpPr>
        <p:spPr>
          <a:xfrm>
            <a:off x="6281928" y="2331720"/>
            <a:ext cx="5349240" cy="18288"/>
          </a:xfrm>
          <a:prstGeom prst="rect">
            <a:avLst/>
          </a:prstGeom>
          <a:solidFill>
            <a:srgbClr val="C72A09"/>
          </a:solidFill>
          <a:ln/>
        </p:spPr>
      </p:sp>
      <p:sp>
        <p:nvSpPr>
          <p:cNvPr id="25" name="Text 23"/>
          <p:cNvSpPr txBox="1"/>
          <p:nvPr/>
        </p:nvSpPr>
        <p:spPr>
          <a:xfrm>
            <a:off x="6281928" y="2423160"/>
            <a:ext cx="2386584" cy="40233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住房可負擔性</a:t>
            </a:r>
            <a:endParaRPr lang="en-US" sz="1200" dirty="0"/>
          </a:p>
        </p:txBody>
      </p:sp>
      <p:sp>
        <p:nvSpPr>
          <p:cNvPr id="26" name="Text 24"/>
          <p:cNvSpPr txBox="1"/>
          <p:nvPr/>
        </p:nvSpPr>
        <p:spPr>
          <a:xfrm>
            <a:off x="8796528" y="2423160"/>
            <a:ext cx="786384" cy="40233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一</a:t>
            </a:r>
            <a:endParaRPr lang="en-US" sz="1200" dirty="0"/>
          </a:p>
        </p:txBody>
      </p:sp>
      <p:sp>
        <p:nvSpPr>
          <p:cNvPr id="27" name="Text 25"/>
          <p:cNvSpPr txBox="1"/>
          <p:nvPr/>
        </p:nvSpPr>
        <p:spPr>
          <a:xfrm>
            <a:off x="9710928" y="2423160"/>
            <a:ext cx="1920240" cy="40233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商品化、階級</a:t>
            </a:r>
            <a:endParaRPr lang="en-US" sz="1200" dirty="0"/>
          </a:p>
        </p:txBody>
      </p:sp>
      <p:sp>
        <p:nvSpPr>
          <p:cNvPr id="28" name="Shape 26"/>
          <p:cNvSpPr/>
          <p:nvPr/>
        </p:nvSpPr>
        <p:spPr>
          <a:xfrm>
            <a:off x="6281928" y="2825496"/>
            <a:ext cx="5349240" cy="12802"/>
          </a:xfrm>
          <a:prstGeom prst="rect">
            <a:avLst/>
          </a:prstGeom>
          <a:solidFill>
            <a:srgbClr val="C72A09"/>
          </a:solidFill>
          <a:ln/>
        </p:spPr>
      </p:sp>
      <p:sp>
        <p:nvSpPr>
          <p:cNvPr id="29" name="Text 27"/>
          <p:cNvSpPr txBox="1"/>
          <p:nvPr/>
        </p:nvSpPr>
        <p:spPr>
          <a:xfrm>
            <a:off x="6281928" y="2898648"/>
            <a:ext cx="2386584" cy="40233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五階梯與夾心階層</a:t>
            </a:r>
            <a:endParaRPr lang="en-US" sz="1200" dirty="0"/>
          </a:p>
        </p:txBody>
      </p:sp>
      <p:sp>
        <p:nvSpPr>
          <p:cNvPr id="30" name="Text 28"/>
          <p:cNvSpPr txBox="1"/>
          <p:nvPr/>
        </p:nvSpPr>
        <p:spPr>
          <a:xfrm>
            <a:off x="8796528" y="2898648"/>
            <a:ext cx="786384" cy="40233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三</a:t>
            </a:r>
            <a:endParaRPr lang="en-US" sz="1200" dirty="0"/>
          </a:p>
        </p:txBody>
      </p:sp>
      <p:sp>
        <p:nvSpPr>
          <p:cNvPr id="31" name="Text 29"/>
          <p:cNvSpPr txBox="1"/>
          <p:nvPr/>
        </p:nvSpPr>
        <p:spPr>
          <a:xfrm>
            <a:off x="9710928" y="2898648"/>
            <a:ext cx="1920240" cy="40233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階級、國家</a:t>
            </a:r>
            <a:endParaRPr lang="en-US" sz="1200" dirty="0"/>
          </a:p>
        </p:txBody>
      </p:sp>
      <p:sp>
        <p:nvSpPr>
          <p:cNvPr id="32" name="Shape 30"/>
          <p:cNvSpPr/>
          <p:nvPr/>
        </p:nvSpPr>
        <p:spPr>
          <a:xfrm>
            <a:off x="6281928" y="3300984"/>
            <a:ext cx="5349240" cy="12802"/>
          </a:xfrm>
          <a:prstGeom prst="rect">
            <a:avLst/>
          </a:prstGeom>
          <a:solidFill>
            <a:srgbClr val="C72A09"/>
          </a:solidFill>
          <a:ln/>
        </p:spPr>
      </p:sp>
      <p:sp>
        <p:nvSpPr>
          <p:cNvPr id="33" name="Text 31"/>
          <p:cNvSpPr txBox="1"/>
          <p:nvPr/>
        </p:nvSpPr>
        <p:spPr>
          <a:xfrm>
            <a:off x="6281928" y="3374136"/>
            <a:ext cx="2386584" cy="40233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都市更新</a:t>
            </a:r>
            <a:endParaRPr lang="en-US" sz="1200" dirty="0"/>
          </a:p>
        </p:txBody>
      </p:sp>
      <p:sp>
        <p:nvSpPr>
          <p:cNvPr id="34" name="Text 32"/>
          <p:cNvSpPr txBox="1"/>
          <p:nvPr/>
        </p:nvSpPr>
        <p:spPr>
          <a:xfrm>
            <a:off x="8796528" y="3374136"/>
            <a:ext cx="786384" cy="40233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二</a:t>
            </a:r>
            <a:endParaRPr lang="en-US" sz="1200" dirty="0"/>
          </a:p>
        </p:txBody>
      </p:sp>
      <p:sp>
        <p:nvSpPr>
          <p:cNvPr id="35" name="Text 33"/>
          <p:cNvSpPr txBox="1"/>
          <p:nvPr/>
        </p:nvSpPr>
        <p:spPr>
          <a:xfrm>
            <a:off x="9710928" y="3374136"/>
            <a:ext cx="1920240" cy="40233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商品化、國家</a:t>
            </a:r>
            <a:endParaRPr lang="en-US" sz="1200" dirty="0"/>
          </a:p>
        </p:txBody>
      </p:sp>
      <p:sp>
        <p:nvSpPr>
          <p:cNvPr id="36" name="Shape 34"/>
          <p:cNvSpPr/>
          <p:nvPr/>
        </p:nvSpPr>
        <p:spPr>
          <a:xfrm>
            <a:off x="6281928" y="3776472"/>
            <a:ext cx="5349240" cy="12802"/>
          </a:xfrm>
          <a:prstGeom prst="rect">
            <a:avLst/>
          </a:prstGeom>
          <a:solidFill>
            <a:srgbClr val="C72A09"/>
          </a:solidFill>
          <a:ln/>
        </p:spPr>
      </p:sp>
      <p:sp>
        <p:nvSpPr>
          <p:cNvPr id="37" name="Text 35"/>
          <p:cNvSpPr txBox="1"/>
          <p:nvPr/>
        </p:nvSpPr>
        <p:spPr>
          <a:xfrm>
            <a:off x="6281928" y="3849624"/>
            <a:ext cx="2386584" cy="40233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樓宇老化</a:t>
            </a:r>
            <a:endParaRPr lang="en-US" sz="1200" dirty="0"/>
          </a:p>
        </p:txBody>
      </p:sp>
      <p:sp>
        <p:nvSpPr>
          <p:cNvPr id="38" name="Text 36"/>
          <p:cNvSpPr txBox="1"/>
          <p:nvPr/>
        </p:nvSpPr>
        <p:spPr>
          <a:xfrm>
            <a:off x="8796528" y="3849624"/>
            <a:ext cx="786384" cy="40233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二</a:t>
            </a:r>
            <a:endParaRPr lang="en-US" sz="1200" dirty="0"/>
          </a:p>
        </p:txBody>
      </p:sp>
      <p:sp>
        <p:nvSpPr>
          <p:cNvPr id="39" name="Text 37"/>
          <p:cNvSpPr txBox="1"/>
          <p:nvPr/>
        </p:nvSpPr>
        <p:spPr>
          <a:xfrm>
            <a:off x="9710928" y="3849624"/>
            <a:ext cx="1920240" cy="40233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階級</a:t>
            </a:r>
            <a:endParaRPr lang="en-US" sz="1200" dirty="0"/>
          </a:p>
        </p:txBody>
      </p:sp>
      <p:sp>
        <p:nvSpPr>
          <p:cNvPr id="40" name="Shape 38"/>
          <p:cNvSpPr/>
          <p:nvPr/>
        </p:nvSpPr>
        <p:spPr>
          <a:xfrm>
            <a:off x="6281928" y="4251960"/>
            <a:ext cx="5349240" cy="12802"/>
          </a:xfrm>
          <a:prstGeom prst="rect">
            <a:avLst/>
          </a:prstGeom>
          <a:solidFill>
            <a:srgbClr val="C72A09"/>
          </a:solidFill>
          <a:ln/>
        </p:spPr>
      </p:sp>
      <p:sp>
        <p:nvSpPr>
          <p:cNvPr id="41" name="Text 39"/>
          <p:cNvSpPr txBox="1"/>
          <p:nvPr/>
        </p:nvSpPr>
        <p:spPr>
          <a:xfrm>
            <a:off x="6281928" y="4325112"/>
            <a:ext cx="2386584" cy="40233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結構性失衡</a:t>
            </a:r>
            <a:endParaRPr lang="en-US" sz="1200" dirty="0"/>
          </a:p>
        </p:txBody>
      </p:sp>
      <p:sp>
        <p:nvSpPr>
          <p:cNvPr id="42" name="Text 40"/>
          <p:cNvSpPr txBox="1"/>
          <p:nvPr/>
        </p:nvSpPr>
        <p:spPr>
          <a:xfrm>
            <a:off x="8796528" y="4325112"/>
            <a:ext cx="786384" cy="40233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一二三</a:t>
            </a:r>
            <a:endParaRPr lang="en-US" sz="1200" dirty="0"/>
          </a:p>
        </p:txBody>
      </p:sp>
      <p:sp>
        <p:nvSpPr>
          <p:cNvPr id="43" name="Text 41"/>
          <p:cNvSpPr txBox="1"/>
          <p:nvPr/>
        </p:nvSpPr>
        <p:spPr>
          <a:xfrm>
            <a:off x="9710928" y="4325112"/>
            <a:ext cx="1920240" cy="40233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國家</a:t>
            </a:r>
            <a:endParaRPr lang="en-US" sz="1200" dirty="0"/>
          </a:p>
        </p:txBody>
      </p:sp>
      <p:sp>
        <p:nvSpPr>
          <p:cNvPr id="44" name="Shape 42"/>
          <p:cNvSpPr/>
          <p:nvPr/>
        </p:nvSpPr>
        <p:spPr>
          <a:xfrm>
            <a:off x="6281928" y="4727448"/>
            <a:ext cx="5349240" cy="12802"/>
          </a:xfrm>
          <a:prstGeom prst="rect">
            <a:avLst/>
          </a:prstGeom>
          <a:solidFill>
            <a:srgbClr val="C72A0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(08)</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第二部分　現況與趨勢　·　問題一</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樓價：四年回落 31.7%</a:t>
            </a:r>
            <a:endParaRPr lang="en-US" sz="3400" dirty="0"/>
          </a:p>
        </p:txBody>
      </p:sp>
      <p:graphicFrame>
        <p:nvGraphicFramePr>
          <p:cNvPr id="8" name="Chart 0" descr=""/>
          <p:cNvGraphicFramePr/>
          <p:nvPr/>
        </p:nvGraphicFramePr>
        <p:xfrm>
          <a:off x="566928" y="1645920"/>
          <a:ext cx="6675120" cy="39319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7680960" y="1691640"/>
            <a:ext cx="3931920" cy="932688"/>
          </a:xfrm>
          <a:prstGeom prst="rect">
            <a:avLst/>
          </a:prstGeom>
          <a:noFill/>
          <a:ln/>
        </p:spPr>
        <p:txBody>
          <a:bodyPr wrap="square" lIns="0" tIns="0" rIns="0" bIns="0" rtlCol="0" anchor="ctr"/>
          <a:lstStyle/>
          <a:p>
            <a:pPr indent="0" marL="0">
              <a:buNone/>
            </a:pPr>
            <a:r>
              <a:rPr lang="en-US" sz="4600" b="1" dirty="0">
                <a:solidFill>
                  <a:srgbClr val="CA0013"/>
                </a:solidFill>
                <a:latin typeface="Inter" pitchFamily="34" charset="0"/>
                <a:ea typeface="Inter" pitchFamily="34" charset="-122"/>
                <a:cs typeface="Inter" pitchFamily="34" charset="-120"/>
              </a:rPr>
              <a:t>−31.7</a:t>
            </a:r>
            <a:pPr indent="0" marL="0">
              <a:buNone/>
            </a:pPr>
            <a:r>
              <a:rPr lang="en-US" sz="1932" b="1" dirty="0">
                <a:solidFill>
                  <a:srgbClr val="CA0013"/>
                </a:solidFill>
                <a:latin typeface="Microsoft JhengHei" pitchFamily="34" charset="0"/>
                <a:ea typeface="Microsoft JhengHei" pitchFamily="34" charset="-122"/>
                <a:cs typeface="Microsoft JhengHei" pitchFamily="34" charset="-120"/>
              </a:rPr>
              <a:t>%</a:t>
            </a:r>
            <a:endParaRPr lang="en-US" sz="4600" dirty="0"/>
          </a:p>
        </p:txBody>
      </p:sp>
      <p:sp>
        <p:nvSpPr>
          <p:cNvPr id="10" name="Text 7"/>
          <p:cNvSpPr txBox="1"/>
          <p:nvPr/>
        </p:nvSpPr>
        <p:spPr>
          <a:xfrm>
            <a:off x="7680960" y="2624328"/>
            <a:ext cx="393192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2021 → 2025 累計跌幅</a:t>
            </a:r>
            <a:endParaRPr lang="en-US" sz="1300" dirty="0"/>
          </a:p>
        </p:txBody>
      </p:sp>
      <p:sp>
        <p:nvSpPr>
          <p:cNvPr id="11" name="Text 8"/>
          <p:cNvSpPr txBox="1"/>
          <p:nvPr/>
        </p:nvSpPr>
        <p:spPr>
          <a:xfrm>
            <a:off x="7680960" y="2990088"/>
            <a:ext cx="393192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按年：−1.1%、−9.7%、−0.3%、−9.0%、−16.7%</a:t>
            </a:r>
            <a:endParaRPr lang="en-US" sz="1050" dirty="0"/>
          </a:p>
        </p:txBody>
      </p:sp>
      <p:sp>
        <p:nvSpPr>
          <p:cNvPr id="12" name="Shape 9"/>
          <p:cNvSpPr/>
          <p:nvPr/>
        </p:nvSpPr>
        <p:spPr>
          <a:xfrm>
            <a:off x="7680960" y="3977640"/>
            <a:ext cx="3931920" cy="18288"/>
          </a:xfrm>
          <a:prstGeom prst="rect">
            <a:avLst/>
          </a:prstGeom>
          <a:solidFill>
            <a:srgbClr val="C72A09"/>
          </a:solidFill>
          <a:ln/>
        </p:spPr>
      </p:sp>
      <p:sp>
        <p:nvSpPr>
          <p:cNvPr id="13" name="Text 10"/>
          <p:cNvSpPr txBox="1"/>
          <p:nvPr/>
        </p:nvSpPr>
        <p:spPr>
          <a:xfrm>
            <a:off x="7680960" y="4114800"/>
            <a:ext cx="3931920" cy="932688"/>
          </a:xfrm>
          <a:prstGeom prst="rect">
            <a:avLst/>
          </a:prstGeom>
          <a:noFill/>
          <a:ln/>
        </p:spPr>
        <p:txBody>
          <a:bodyPr wrap="square" lIns="0" tIns="0" rIns="0" bIns="0" rtlCol="0" anchor="ctr"/>
          <a:lstStyle/>
          <a:p>
            <a:pPr indent="0" marL="0">
              <a:buNone/>
            </a:pPr>
            <a:r>
              <a:rPr lang="en-US" sz="3400" b="1" dirty="0">
                <a:solidFill>
                  <a:srgbClr val="CA0013"/>
                </a:solidFill>
                <a:latin typeface="Inter" pitchFamily="34" charset="0"/>
                <a:ea typeface="Inter" pitchFamily="34" charset="-122"/>
                <a:cs typeface="Inter" pitchFamily="34" charset="-120"/>
              </a:rPr>
              <a:t>−45.9</a:t>
            </a:r>
            <a:pPr indent="0" marL="0">
              <a:buNone/>
            </a:pPr>
            <a:r>
              <a:rPr lang="en-US" sz="1428" b="1" dirty="0">
                <a:solidFill>
                  <a:srgbClr val="CA0013"/>
                </a:solidFill>
                <a:latin typeface="Microsoft JhengHei" pitchFamily="34" charset="0"/>
                <a:ea typeface="Microsoft JhengHei" pitchFamily="34" charset="-122"/>
                <a:cs typeface="Microsoft JhengHei" pitchFamily="34" charset="-120"/>
              </a:rPr>
              <a:t>%</a:t>
            </a:r>
            <a:endParaRPr lang="en-US" sz="3400" dirty="0"/>
          </a:p>
        </p:txBody>
      </p:sp>
      <p:sp>
        <p:nvSpPr>
          <p:cNvPr id="14" name="Text 11"/>
          <p:cNvSpPr txBox="1"/>
          <p:nvPr/>
        </p:nvSpPr>
        <p:spPr>
          <a:xfrm>
            <a:off x="7680960" y="5047488"/>
            <a:ext cx="393192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成交量</a:t>
            </a:r>
            <a:endParaRPr lang="en-US" sz="1300" dirty="0"/>
          </a:p>
        </p:txBody>
      </p:sp>
      <p:sp>
        <p:nvSpPr>
          <p:cNvPr id="15" name="Text 12"/>
          <p:cNvSpPr txBox="1"/>
          <p:nvPr/>
        </p:nvSpPr>
        <p:spPr>
          <a:xfrm>
            <a:off x="7680960" y="5413248"/>
            <a:ext cx="393192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住宅買賣 6,001 宗（2021）→ 3,245 宗（2025）</a:t>
            </a:r>
            <a:endParaRPr lang="en-US" sz="1050" dirty="0"/>
          </a:p>
        </p:txBody>
      </p:sp>
      <p:sp>
        <p:nvSpPr>
          <p:cNvPr id="16" name="Text 13"/>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統計暨普查局《私人建築及不動產交易》；*2022 年由 2023 年數值反推</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(09)</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第二部分　現況與趨勢　·　問題一</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收入：近三年只升 5%</a:t>
            </a:r>
            <a:endParaRPr lang="en-US" sz="3400" dirty="0"/>
          </a:p>
        </p:txBody>
      </p:sp>
      <p:graphicFrame>
        <p:nvGraphicFramePr>
          <p:cNvPr id="8" name="Chart 0" descr=""/>
          <p:cNvGraphicFramePr/>
          <p:nvPr/>
        </p:nvGraphicFramePr>
        <p:xfrm>
          <a:off x="566928" y="1645920"/>
          <a:ext cx="6035040" cy="39319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858000" y="1691640"/>
            <a:ext cx="1331366" cy="658368"/>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月收入中位數</a:t>
            </a:r>
            <a:endParaRPr lang="en-US" sz="1150" dirty="0"/>
          </a:p>
        </p:txBody>
      </p:sp>
      <p:sp>
        <p:nvSpPr>
          <p:cNvPr id="10" name="Text 7"/>
          <p:cNvSpPr txBox="1"/>
          <p:nvPr/>
        </p:nvSpPr>
        <p:spPr>
          <a:xfrm>
            <a:off x="8260690" y="1691640"/>
            <a:ext cx="3352190" cy="658368"/>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各年第 4 季，澳門元。本地居民 19,000 → 20,000 元（+5.3%）</a:t>
            </a:r>
            <a:endParaRPr lang="en-US" sz="1150" dirty="0"/>
          </a:p>
        </p:txBody>
      </p:sp>
      <p:sp>
        <p:nvSpPr>
          <p:cNvPr id="11" name="Shape 8"/>
          <p:cNvSpPr/>
          <p:nvPr/>
        </p:nvSpPr>
        <p:spPr>
          <a:xfrm>
            <a:off x="6858000" y="2331720"/>
            <a:ext cx="4754880" cy="12802"/>
          </a:xfrm>
          <a:prstGeom prst="rect">
            <a:avLst/>
          </a:prstGeom>
          <a:solidFill>
            <a:srgbClr val="C72A09"/>
          </a:solidFill>
          <a:ln/>
        </p:spPr>
      </p:sp>
      <p:sp>
        <p:nvSpPr>
          <p:cNvPr id="12" name="Text 9"/>
          <p:cNvSpPr txBox="1"/>
          <p:nvPr/>
        </p:nvSpPr>
        <p:spPr>
          <a:xfrm>
            <a:off x="6858000" y="2441448"/>
            <a:ext cx="1331366" cy="658368"/>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住戶月平均收入</a:t>
            </a:r>
            <a:endParaRPr lang="en-US" sz="1150" dirty="0"/>
          </a:p>
        </p:txBody>
      </p:sp>
      <p:sp>
        <p:nvSpPr>
          <p:cNvPr id="13" name="Text 10"/>
          <p:cNvSpPr txBox="1"/>
          <p:nvPr/>
        </p:nvSpPr>
        <p:spPr>
          <a:xfrm>
            <a:off x="8260690" y="2441448"/>
            <a:ext cx="3352190" cy="658368"/>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58,835 元（2023/24）；平均數，含資產與轉移收入，易被高收入拉高</a:t>
            </a:r>
            <a:endParaRPr lang="en-US" sz="1150" dirty="0"/>
          </a:p>
        </p:txBody>
      </p:sp>
      <p:sp>
        <p:nvSpPr>
          <p:cNvPr id="14" name="Shape 11"/>
          <p:cNvSpPr/>
          <p:nvPr/>
        </p:nvSpPr>
        <p:spPr>
          <a:xfrm>
            <a:off x="6858000" y="3081528"/>
            <a:ext cx="4754880" cy="12802"/>
          </a:xfrm>
          <a:prstGeom prst="rect">
            <a:avLst/>
          </a:prstGeom>
          <a:solidFill>
            <a:srgbClr val="C72A09"/>
          </a:solidFill>
          <a:ln/>
        </p:spPr>
      </p:sp>
      <p:sp>
        <p:nvSpPr>
          <p:cNvPr id="15" name="Text 12"/>
          <p:cNvSpPr txBox="1"/>
          <p:nvPr/>
        </p:nvSpPr>
        <p:spPr>
          <a:xfrm>
            <a:off x="6858000" y="3191256"/>
            <a:ext cx="1331366" cy="658368"/>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每戶人數</a:t>
            </a:r>
            <a:endParaRPr lang="en-US" sz="1150" dirty="0"/>
          </a:p>
        </p:txBody>
      </p:sp>
      <p:sp>
        <p:nvSpPr>
          <p:cNvPr id="16" name="Text 13"/>
          <p:cNvSpPr txBox="1"/>
          <p:nvPr/>
        </p:nvSpPr>
        <p:spPr>
          <a:xfrm>
            <a:off x="8260690" y="3191256"/>
            <a:ext cx="3352190" cy="658368"/>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2.83 人（2017/18：3.04 人）</a:t>
            </a:r>
            <a:endParaRPr lang="en-US" sz="1150" dirty="0"/>
          </a:p>
        </p:txBody>
      </p:sp>
      <p:sp>
        <p:nvSpPr>
          <p:cNvPr id="17" name="Shape 14"/>
          <p:cNvSpPr/>
          <p:nvPr/>
        </p:nvSpPr>
        <p:spPr>
          <a:xfrm>
            <a:off x="6858000" y="3831336"/>
            <a:ext cx="4754880" cy="12802"/>
          </a:xfrm>
          <a:prstGeom prst="rect">
            <a:avLst/>
          </a:prstGeom>
          <a:solidFill>
            <a:srgbClr val="C72A09"/>
          </a:solidFill>
          <a:ln/>
        </p:spPr>
      </p:sp>
      <p:sp>
        <p:nvSpPr>
          <p:cNvPr id="18" name="Text 15"/>
          <p:cNvSpPr txBox="1"/>
          <p:nvPr/>
        </p:nvSpPr>
        <p:spPr>
          <a:xfrm>
            <a:off x="6858000" y="3941064"/>
            <a:ext cx="1331366" cy="658368"/>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失業率</a:t>
            </a:r>
            <a:endParaRPr lang="en-US" sz="1150" dirty="0"/>
          </a:p>
        </p:txBody>
      </p:sp>
      <p:sp>
        <p:nvSpPr>
          <p:cNvPr id="19" name="Text 16"/>
          <p:cNvSpPr txBox="1"/>
          <p:nvPr/>
        </p:nvSpPr>
        <p:spPr>
          <a:xfrm>
            <a:off x="8260690" y="3941064"/>
            <a:ext cx="3352190" cy="658368"/>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2024 年第 4 季：總體 1.7%，本地居民 2.3%（就業調查）</a:t>
            </a:r>
            <a:endParaRPr lang="en-US" sz="1150" dirty="0"/>
          </a:p>
        </p:txBody>
      </p:sp>
      <p:sp>
        <p:nvSpPr>
          <p:cNvPr id="20" name="Shape 17"/>
          <p:cNvSpPr/>
          <p:nvPr/>
        </p:nvSpPr>
        <p:spPr>
          <a:xfrm>
            <a:off x="6858000" y="4581144"/>
            <a:ext cx="4754880" cy="12802"/>
          </a:xfrm>
          <a:prstGeom prst="rect">
            <a:avLst/>
          </a:prstGeom>
          <a:solidFill>
            <a:srgbClr val="C72A09"/>
          </a:solidFill>
          <a:ln/>
        </p:spPr>
      </p:sp>
      <p:sp>
        <p:nvSpPr>
          <p:cNvPr id="21" name="Text 18"/>
          <p:cNvSpPr txBox="1"/>
          <p:nvPr/>
        </p:nvSpPr>
        <p:spPr>
          <a:xfrm>
            <a:off x="6858000" y="4690872"/>
            <a:ext cx="1331366" cy="658368"/>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注意</a:t>
            </a:r>
            <a:endParaRPr lang="en-US" sz="1150" dirty="0"/>
          </a:p>
        </p:txBody>
      </p:sp>
      <p:sp>
        <p:nvSpPr>
          <p:cNvPr id="22" name="Text 19"/>
          <p:cNvSpPr txBox="1"/>
          <p:nvPr/>
        </p:nvSpPr>
        <p:spPr>
          <a:xfrm>
            <a:off x="8260690" y="4690872"/>
            <a:ext cx="3352190" cy="658368"/>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官方新聞稿未公布住戶收入中位數，下頁以兩種口徑推算</a:t>
            </a:r>
            <a:endParaRPr lang="en-US" sz="1150" dirty="0"/>
          </a:p>
        </p:txBody>
      </p:sp>
      <p:sp>
        <p:nvSpPr>
          <p:cNvPr id="23" name="Shape 20"/>
          <p:cNvSpPr/>
          <p:nvPr/>
        </p:nvSpPr>
        <p:spPr>
          <a:xfrm>
            <a:off x="6858000" y="5330952"/>
            <a:ext cx="4754880" cy="12802"/>
          </a:xfrm>
          <a:prstGeom prst="rect">
            <a:avLst/>
          </a:prstGeom>
          <a:solidFill>
            <a:srgbClr val="C72A09"/>
          </a:solidFill>
          <a:ln/>
        </p:spPr>
      </p:sp>
      <p:sp>
        <p:nvSpPr>
          <p:cNvPr id="24" name="Text 21"/>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統計暨普查局《就業調查》《住戶收支調查 2023/24》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(10)</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第二部分　現況與趨勢　·　問題一</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700 呎單位：首期與月供</a:t>
            </a:r>
            <a:endParaRPr lang="en-US" sz="3400" dirty="0"/>
          </a:p>
        </p:txBody>
      </p:sp>
      <p:sp>
        <p:nvSpPr>
          <p:cNvPr id="8" name="Text 6"/>
          <p:cNvSpPr txBox="1"/>
          <p:nvPr/>
        </p:nvSpPr>
        <p:spPr>
          <a:xfrm>
            <a:off x="566928" y="1572768"/>
            <a:ext cx="7680960" cy="365760"/>
          </a:xfrm>
          <a:prstGeom prst="rect">
            <a:avLst/>
          </a:prstGeom>
          <a:noFill/>
          <a:ln/>
        </p:spPr>
        <p:txBody>
          <a:bodyPr wrap="square" lIns="0" tIns="0" rIns="0" bIns="0" rtlCol="0" anchor="ctr"/>
          <a:lstStyle/>
          <a:p>
            <a:pPr indent="0" marL="0">
              <a:buNone/>
            </a:pPr>
            <a:r>
              <a:rPr lang="en-US" sz="1350" b="1" dirty="0">
                <a:solidFill>
                  <a:srgbClr val="CA0013"/>
                </a:solidFill>
                <a:latin typeface="Microsoft JhengHei" pitchFamily="34" charset="0"/>
                <a:ea typeface="Microsoft JhengHei" pitchFamily="34" charset="-122"/>
                <a:cs typeface="Microsoft JhengHei" pitchFamily="34" charset="-120"/>
              </a:rPr>
              <a:t>單位：700 呎 ≈ 65 平方米　·　2025 年均價 70,935 元／平方米　→　總價約 461 萬元</a:t>
            </a:r>
            <a:endParaRPr lang="en-US" sz="1350" dirty="0"/>
          </a:p>
        </p:txBody>
      </p:sp>
      <p:sp>
        <p:nvSpPr>
          <p:cNvPr id="9" name="Text 7"/>
          <p:cNvSpPr txBox="1"/>
          <p:nvPr/>
        </p:nvSpPr>
        <p:spPr>
          <a:xfrm>
            <a:off x="566928" y="2103120"/>
            <a:ext cx="2523744" cy="310896"/>
          </a:xfrm>
          <a:prstGeom prst="rect">
            <a:avLst/>
          </a:prstGeom>
          <a:noFill/>
          <a:ln/>
        </p:spPr>
        <p:txBody>
          <a:bodyPr wrap="square" lIns="0" tIns="0" rIns="0" bIns="0" rtlCol="0" anchor="ctr"/>
          <a:lstStyle/>
          <a:p>
            <a:pPr algn="l" indent="0" marL="0">
              <a:buNone/>
            </a:pPr>
            <a:endParaRPr lang="en-US" sz="1100" dirty="0"/>
          </a:p>
        </p:txBody>
      </p:sp>
      <p:sp>
        <p:nvSpPr>
          <p:cNvPr id="10" name="Text 8"/>
          <p:cNvSpPr txBox="1"/>
          <p:nvPr/>
        </p:nvSpPr>
        <p:spPr>
          <a:xfrm>
            <a:off x="3218688" y="2103120"/>
            <a:ext cx="2386584"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70% 成數（至 2025 年底）</a:t>
            </a:r>
            <a:endParaRPr lang="en-US" sz="1100" dirty="0"/>
          </a:p>
        </p:txBody>
      </p:sp>
      <p:sp>
        <p:nvSpPr>
          <p:cNvPr id="11" name="Text 9"/>
          <p:cNvSpPr txBox="1"/>
          <p:nvPr/>
        </p:nvSpPr>
        <p:spPr>
          <a:xfrm>
            <a:off x="5733288" y="2103120"/>
            <a:ext cx="251460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80% 成數（2026-01-01 起）</a:t>
            </a:r>
            <a:endParaRPr lang="en-US" sz="1100" dirty="0"/>
          </a:p>
        </p:txBody>
      </p:sp>
      <p:sp>
        <p:nvSpPr>
          <p:cNvPr id="12" name="Shape 10"/>
          <p:cNvSpPr/>
          <p:nvPr/>
        </p:nvSpPr>
        <p:spPr>
          <a:xfrm>
            <a:off x="566928" y="2450592"/>
            <a:ext cx="7680960" cy="18288"/>
          </a:xfrm>
          <a:prstGeom prst="rect">
            <a:avLst/>
          </a:prstGeom>
          <a:solidFill>
            <a:srgbClr val="C72A09"/>
          </a:solidFill>
          <a:ln/>
        </p:spPr>
      </p:sp>
      <p:sp>
        <p:nvSpPr>
          <p:cNvPr id="13" name="Text 11"/>
          <p:cNvSpPr txBox="1"/>
          <p:nvPr/>
        </p:nvSpPr>
        <p:spPr>
          <a:xfrm>
            <a:off x="566928" y="2542032"/>
            <a:ext cx="2523744" cy="3840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貸款額</a:t>
            </a:r>
            <a:endParaRPr lang="en-US" sz="1200" dirty="0"/>
          </a:p>
        </p:txBody>
      </p:sp>
      <p:sp>
        <p:nvSpPr>
          <p:cNvPr id="14" name="Text 12"/>
          <p:cNvSpPr txBox="1"/>
          <p:nvPr/>
        </p:nvSpPr>
        <p:spPr>
          <a:xfrm>
            <a:off x="3218688" y="2542032"/>
            <a:ext cx="2386584" cy="384048"/>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約 323 萬</a:t>
            </a:r>
            <a:endParaRPr lang="en-US" sz="1200" dirty="0"/>
          </a:p>
        </p:txBody>
      </p:sp>
      <p:sp>
        <p:nvSpPr>
          <p:cNvPr id="15" name="Text 13"/>
          <p:cNvSpPr txBox="1"/>
          <p:nvPr/>
        </p:nvSpPr>
        <p:spPr>
          <a:xfrm>
            <a:off x="5733288" y="2542032"/>
            <a:ext cx="2514600" cy="384048"/>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約 369 萬</a:t>
            </a:r>
            <a:endParaRPr lang="en-US" sz="1200" dirty="0"/>
          </a:p>
        </p:txBody>
      </p:sp>
      <p:sp>
        <p:nvSpPr>
          <p:cNvPr id="16" name="Shape 14"/>
          <p:cNvSpPr/>
          <p:nvPr/>
        </p:nvSpPr>
        <p:spPr>
          <a:xfrm>
            <a:off x="566928" y="2926080"/>
            <a:ext cx="7680960" cy="12802"/>
          </a:xfrm>
          <a:prstGeom prst="rect">
            <a:avLst/>
          </a:prstGeom>
          <a:solidFill>
            <a:srgbClr val="C72A09"/>
          </a:solidFill>
          <a:ln/>
        </p:spPr>
      </p:sp>
      <p:sp>
        <p:nvSpPr>
          <p:cNvPr id="17" name="Text 15"/>
          <p:cNvSpPr txBox="1"/>
          <p:nvPr/>
        </p:nvSpPr>
        <p:spPr>
          <a:xfrm>
            <a:off x="566928" y="2999232"/>
            <a:ext cx="2523744" cy="384048"/>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首期</a:t>
            </a:r>
            <a:endParaRPr lang="en-US" sz="1300" dirty="0"/>
          </a:p>
        </p:txBody>
      </p:sp>
      <p:sp>
        <p:nvSpPr>
          <p:cNvPr id="18" name="Text 16"/>
          <p:cNvSpPr txBox="1"/>
          <p:nvPr/>
        </p:nvSpPr>
        <p:spPr>
          <a:xfrm>
            <a:off x="3218688" y="2999232"/>
            <a:ext cx="2386584" cy="384048"/>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約 138 萬</a:t>
            </a:r>
            <a:endParaRPr lang="en-US" sz="1300" dirty="0"/>
          </a:p>
        </p:txBody>
      </p:sp>
      <p:sp>
        <p:nvSpPr>
          <p:cNvPr id="19" name="Text 17"/>
          <p:cNvSpPr txBox="1"/>
          <p:nvPr/>
        </p:nvSpPr>
        <p:spPr>
          <a:xfrm>
            <a:off x="5733288" y="2999232"/>
            <a:ext cx="2514600" cy="384048"/>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約 92 萬</a:t>
            </a:r>
            <a:endParaRPr lang="en-US" sz="1300" dirty="0"/>
          </a:p>
        </p:txBody>
      </p:sp>
      <p:sp>
        <p:nvSpPr>
          <p:cNvPr id="20" name="Shape 18"/>
          <p:cNvSpPr/>
          <p:nvPr/>
        </p:nvSpPr>
        <p:spPr>
          <a:xfrm>
            <a:off x="566928" y="3383280"/>
            <a:ext cx="7680960" cy="12802"/>
          </a:xfrm>
          <a:prstGeom prst="rect">
            <a:avLst/>
          </a:prstGeom>
          <a:solidFill>
            <a:srgbClr val="C72A09"/>
          </a:solidFill>
          <a:ln/>
        </p:spPr>
      </p:sp>
      <p:sp>
        <p:nvSpPr>
          <p:cNvPr id="21" name="Text 19"/>
          <p:cNvSpPr txBox="1"/>
          <p:nvPr/>
        </p:nvSpPr>
        <p:spPr>
          <a:xfrm>
            <a:off x="566928" y="3456432"/>
            <a:ext cx="2523744" cy="3840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首期 ÷ 雙職年收入 48 萬</a:t>
            </a:r>
            <a:endParaRPr lang="en-US" sz="1200" dirty="0"/>
          </a:p>
        </p:txBody>
      </p:sp>
      <p:sp>
        <p:nvSpPr>
          <p:cNvPr id="22" name="Text 20"/>
          <p:cNvSpPr txBox="1"/>
          <p:nvPr/>
        </p:nvSpPr>
        <p:spPr>
          <a:xfrm>
            <a:off x="3218688" y="3456432"/>
            <a:ext cx="2386584" cy="384048"/>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2.9 年</a:t>
            </a:r>
            <a:endParaRPr lang="en-US" sz="1200" dirty="0"/>
          </a:p>
        </p:txBody>
      </p:sp>
      <p:sp>
        <p:nvSpPr>
          <p:cNvPr id="23" name="Text 21"/>
          <p:cNvSpPr txBox="1"/>
          <p:nvPr/>
        </p:nvSpPr>
        <p:spPr>
          <a:xfrm>
            <a:off x="5733288" y="3456432"/>
            <a:ext cx="2514600" cy="384048"/>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1.9 年</a:t>
            </a:r>
            <a:endParaRPr lang="en-US" sz="1200" dirty="0"/>
          </a:p>
        </p:txBody>
      </p:sp>
      <p:sp>
        <p:nvSpPr>
          <p:cNvPr id="24" name="Shape 22"/>
          <p:cNvSpPr/>
          <p:nvPr/>
        </p:nvSpPr>
        <p:spPr>
          <a:xfrm>
            <a:off x="566928" y="3840480"/>
            <a:ext cx="7680960" cy="12802"/>
          </a:xfrm>
          <a:prstGeom prst="rect">
            <a:avLst/>
          </a:prstGeom>
          <a:solidFill>
            <a:srgbClr val="C72A09"/>
          </a:solidFill>
          <a:ln/>
        </p:spPr>
      </p:sp>
      <p:sp>
        <p:nvSpPr>
          <p:cNvPr id="25" name="Text 23"/>
          <p:cNvSpPr txBox="1"/>
          <p:nvPr/>
        </p:nvSpPr>
        <p:spPr>
          <a:xfrm>
            <a:off x="566928" y="3913632"/>
            <a:ext cx="2523744" cy="384048"/>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月供（假設 30 年、年利率 4%）</a:t>
            </a:r>
            <a:endParaRPr lang="en-US" sz="1300" dirty="0"/>
          </a:p>
        </p:txBody>
      </p:sp>
      <p:sp>
        <p:nvSpPr>
          <p:cNvPr id="26" name="Text 24"/>
          <p:cNvSpPr txBox="1"/>
          <p:nvPr/>
        </p:nvSpPr>
        <p:spPr>
          <a:xfrm>
            <a:off x="3218688" y="3913632"/>
            <a:ext cx="2386584" cy="384048"/>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約 15,400 元</a:t>
            </a:r>
            <a:endParaRPr lang="en-US" sz="1300" dirty="0"/>
          </a:p>
        </p:txBody>
      </p:sp>
      <p:sp>
        <p:nvSpPr>
          <p:cNvPr id="27" name="Text 25"/>
          <p:cNvSpPr txBox="1"/>
          <p:nvPr/>
        </p:nvSpPr>
        <p:spPr>
          <a:xfrm>
            <a:off x="5733288" y="3913632"/>
            <a:ext cx="2514600" cy="384048"/>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約 17,600 元</a:t>
            </a:r>
            <a:endParaRPr lang="en-US" sz="1300" dirty="0"/>
          </a:p>
        </p:txBody>
      </p:sp>
      <p:sp>
        <p:nvSpPr>
          <p:cNvPr id="28" name="Shape 26"/>
          <p:cNvSpPr/>
          <p:nvPr/>
        </p:nvSpPr>
        <p:spPr>
          <a:xfrm>
            <a:off x="566928" y="4297680"/>
            <a:ext cx="7680960" cy="12802"/>
          </a:xfrm>
          <a:prstGeom prst="rect">
            <a:avLst/>
          </a:prstGeom>
          <a:solidFill>
            <a:srgbClr val="C72A09"/>
          </a:solidFill>
          <a:ln/>
        </p:spPr>
      </p:sp>
      <p:sp>
        <p:nvSpPr>
          <p:cNvPr id="29" name="Text 27"/>
          <p:cNvSpPr txBox="1"/>
          <p:nvPr/>
        </p:nvSpPr>
        <p:spPr>
          <a:xfrm>
            <a:off x="566928" y="4370832"/>
            <a:ext cx="2523744" cy="3840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月供 ÷ 雙職月收入 4 萬</a:t>
            </a:r>
            <a:endParaRPr lang="en-US" sz="1200" dirty="0"/>
          </a:p>
        </p:txBody>
      </p:sp>
      <p:sp>
        <p:nvSpPr>
          <p:cNvPr id="30" name="Text 28"/>
          <p:cNvSpPr txBox="1"/>
          <p:nvPr/>
        </p:nvSpPr>
        <p:spPr>
          <a:xfrm>
            <a:off x="3218688" y="4370832"/>
            <a:ext cx="2386584" cy="384048"/>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38.5%</a:t>
            </a:r>
            <a:endParaRPr lang="en-US" sz="1200" dirty="0"/>
          </a:p>
        </p:txBody>
      </p:sp>
      <p:sp>
        <p:nvSpPr>
          <p:cNvPr id="31" name="Text 29"/>
          <p:cNvSpPr txBox="1"/>
          <p:nvPr/>
        </p:nvSpPr>
        <p:spPr>
          <a:xfrm>
            <a:off x="5733288" y="4370832"/>
            <a:ext cx="2514600" cy="384048"/>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44.0%</a:t>
            </a:r>
            <a:endParaRPr lang="en-US" sz="1200" dirty="0"/>
          </a:p>
        </p:txBody>
      </p:sp>
      <p:sp>
        <p:nvSpPr>
          <p:cNvPr id="32" name="Shape 30"/>
          <p:cNvSpPr/>
          <p:nvPr/>
        </p:nvSpPr>
        <p:spPr>
          <a:xfrm>
            <a:off x="566928" y="4754880"/>
            <a:ext cx="7680960" cy="12802"/>
          </a:xfrm>
          <a:prstGeom prst="rect">
            <a:avLst/>
          </a:prstGeom>
          <a:solidFill>
            <a:srgbClr val="C72A09"/>
          </a:solidFill>
          <a:ln/>
        </p:spPr>
      </p:sp>
      <p:sp>
        <p:nvSpPr>
          <p:cNvPr id="33" name="Text 31"/>
          <p:cNvSpPr txBox="1"/>
          <p:nvPr/>
        </p:nvSpPr>
        <p:spPr>
          <a:xfrm>
            <a:off x="566928" y="4828032"/>
            <a:ext cx="2523744" cy="3840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月供 ÷ 住戶月平均收入 58,835</a:t>
            </a:r>
            <a:endParaRPr lang="en-US" sz="1200" dirty="0"/>
          </a:p>
        </p:txBody>
      </p:sp>
      <p:sp>
        <p:nvSpPr>
          <p:cNvPr id="34" name="Text 32"/>
          <p:cNvSpPr txBox="1"/>
          <p:nvPr/>
        </p:nvSpPr>
        <p:spPr>
          <a:xfrm>
            <a:off x="3218688" y="4828032"/>
            <a:ext cx="2386584" cy="384048"/>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26%</a:t>
            </a:r>
            <a:endParaRPr lang="en-US" sz="1200" dirty="0"/>
          </a:p>
        </p:txBody>
      </p:sp>
      <p:sp>
        <p:nvSpPr>
          <p:cNvPr id="35" name="Text 33"/>
          <p:cNvSpPr txBox="1"/>
          <p:nvPr/>
        </p:nvSpPr>
        <p:spPr>
          <a:xfrm>
            <a:off x="5733288" y="4828032"/>
            <a:ext cx="2514600" cy="384048"/>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30%</a:t>
            </a:r>
            <a:endParaRPr lang="en-US" sz="1200" dirty="0"/>
          </a:p>
        </p:txBody>
      </p:sp>
      <p:sp>
        <p:nvSpPr>
          <p:cNvPr id="36" name="Shape 34"/>
          <p:cNvSpPr/>
          <p:nvPr/>
        </p:nvSpPr>
        <p:spPr>
          <a:xfrm>
            <a:off x="566928" y="5212080"/>
            <a:ext cx="7680960" cy="12802"/>
          </a:xfrm>
          <a:prstGeom prst="rect">
            <a:avLst/>
          </a:prstGeom>
          <a:solidFill>
            <a:srgbClr val="C72A09"/>
          </a:solidFill>
          <a:ln/>
        </p:spPr>
      </p:sp>
      <p:sp>
        <p:nvSpPr>
          <p:cNvPr id="37" name="Text 35"/>
          <p:cNvSpPr txBox="1"/>
          <p:nvPr/>
        </p:nvSpPr>
        <p:spPr>
          <a:xfrm>
            <a:off x="8686800" y="1691640"/>
            <a:ext cx="2926080" cy="932688"/>
          </a:xfrm>
          <a:prstGeom prst="rect">
            <a:avLst/>
          </a:prstGeom>
          <a:noFill/>
          <a:ln/>
        </p:spPr>
        <p:txBody>
          <a:bodyPr wrap="square" lIns="0" tIns="0" rIns="0" bIns="0" rtlCol="0" anchor="ctr"/>
          <a:lstStyle/>
          <a:p>
            <a:pPr indent="0" marL="0">
              <a:buNone/>
            </a:pPr>
            <a:r>
              <a:rPr lang="en-US" sz="4200" b="1" dirty="0">
                <a:solidFill>
                  <a:srgbClr val="CA0013"/>
                </a:solidFill>
                <a:latin typeface="Inter" pitchFamily="34" charset="0"/>
                <a:ea typeface="Inter" pitchFamily="34" charset="-122"/>
                <a:cs typeface="Inter" pitchFamily="34" charset="-120"/>
              </a:rPr>
              <a:t>+24.7</a:t>
            </a:r>
            <a:pPr indent="0" marL="0">
              <a:buNone/>
            </a:pPr>
            <a:r>
              <a:rPr lang="en-US" sz="1764" b="1" dirty="0">
                <a:solidFill>
                  <a:srgbClr val="CA0013"/>
                </a:solidFill>
                <a:latin typeface="Microsoft JhengHei" pitchFamily="34" charset="0"/>
                <a:ea typeface="Microsoft JhengHei" pitchFamily="34" charset="-122"/>
                <a:cs typeface="Microsoft JhengHei" pitchFamily="34" charset="-120"/>
              </a:rPr>
              <a:t>%</a:t>
            </a:r>
            <a:endParaRPr lang="en-US" sz="4200" dirty="0"/>
          </a:p>
        </p:txBody>
      </p:sp>
      <p:sp>
        <p:nvSpPr>
          <p:cNvPr id="38" name="Text 36"/>
          <p:cNvSpPr txBox="1"/>
          <p:nvPr/>
        </p:nvSpPr>
        <p:spPr>
          <a:xfrm>
            <a:off x="8686800" y="2624328"/>
            <a:ext cx="292608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新批核住宅按揭</a:t>
            </a:r>
            <a:endParaRPr lang="en-US" sz="1300" dirty="0"/>
          </a:p>
        </p:txBody>
      </p:sp>
      <p:sp>
        <p:nvSpPr>
          <p:cNvPr id="39" name="Text 37"/>
          <p:cNvSpPr txBox="1"/>
          <p:nvPr/>
        </p:nvSpPr>
        <p:spPr>
          <a:xfrm>
            <a:off x="8686800" y="2990088"/>
            <a:ext cx="292608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2026 年第一季按年升幅（金管局）；逾半為七成以上成數</a:t>
            </a:r>
            <a:endParaRPr lang="en-US" sz="1050" dirty="0"/>
          </a:p>
        </p:txBody>
      </p:sp>
      <p:sp>
        <p:nvSpPr>
          <p:cNvPr id="40" name="Shape 38"/>
          <p:cNvSpPr/>
          <p:nvPr/>
        </p:nvSpPr>
        <p:spPr>
          <a:xfrm>
            <a:off x="8686800" y="4160520"/>
            <a:ext cx="2926080" cy="18288"/>
          </a:xfrm>
          <a:prstGeom prst="rect">
            <a:avLst/>
          </a:prstGeom>
          <a:solidFill>
            <a:srgbClr val="C72A09"/>
          </a:solidFill>
          <a:ln/>
        </p:spPr>
      </p:sp>
      <p:sp>
        <p:nvSpPr>
          <p:cNvPr id="41" name="Text 39"/>
          <p:cNvSpPr txBox="1"/>
          <p:nvPr/>
        </p:nvSpPr>
        <p:spPr>
          <a:xfrm>
            <a:off x="8686800" y="4297680"/>
            <a:ext cx="2926080" cy="1371600"/>
          </a:xfrm>
          <a:prstGeom prst="rect">
            <a:avLst/>
          </a:prstGeom>
          <a:noFill/>
          <a:ln/>
        </p:spPr>
        <p:txBody>
          <a:bodyPr wrap="square" lIns="0" tIns="0" rIns="0" bIns="0" rtlCol="0" anchor="t"/>
          <a:lstStyle/>
          <a:p>
            <a:pPr indent="0" marL="0">
              <a:lnSpc>
                <a:spcPct val="152000"/>
              </a:lnSpc>
              <a:buNone/>
            </a:pPr>
            <a:r>
              <a:rPr lang="en-US" sz="1150" dirty="0">
                <a:solidFill>
                  <a:srgbClr val="CA0013"/>
                </a:solidFill>
                <a:latin typeface="Microsoft JhengHei" pitchFamily="34" charset="0"/>
                <a:ea typeface="Microsoft JhengHei" pitchFamily="34" charset="-122"/>
                <a:cs typeface="Microsoft JhengHei" pitchFamily="34" charset="-120"/>
              </a:rPr>
              <a:t>月供為假設值，須以銀行實際報價替換。首期減少約 46 萬，月供多約 2,200 元：門檻由首期轉為長期供款。</a:t>
            </a:r>
            <a:endParaRPr lang="en-US" sz="1150" dirty="0"/>
          </a:p>
        </p:txBody>
      </p:sp>
      <p:sp>
        <p:nvSpPr>
          <p:cNvPr id="42" name="Text 40"/>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金管局；統計暨普查局；本組推算（雙職＝兩名本地居民中位收入）</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(11)</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第二部分　現況與趨勢　·　問題一</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樓價收入比：13 倍降至 9.6 倍</a:t>
            </a:r>
            <a:endParaRPr lang="en-US" sz="3400" dirty="0"/>
          </a:p>
        </p:txBody>
      </p:sp>
      <p:graphicFrame>
        <p:nvGraphicFramePr>
          <p:cNvPr id="8" name="Chart 0" descr=""/>
          <p:cNvGraphicFramePr/>
          <p:nvPr/>
        </p:nvGraphicFramePr>
        <p:xfrm>
          <a:off x="566928" y="1645920"/>
          <a:ext cx="5120640" cy="39319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26480" y="1691640"/>
            <a:ext cx="1316736" cy="64008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國際標準</a:t>
            </a:r>
            <a:endParaRPr lang="en-US" sz="1150" dirty="0"/>
          </a:p>
        </p:txBody>
      </p:sp>
      <p:sp>
        <p:nvSpPr>
          <p:cNvPr id="10" name="Text 7"/>
          <p:cNvSpPr txBox="1"/>
          <p:nvPr/>
        </p:nvSpPr>
        <p:spPr>
          <a:xfrm>
            <a:off x="7525512" y="1691640"/>
            <a:ext cx="4087368" cy="64008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約 3.5–5 倍（高武洲 2017）</a:t>
            </a:r>
            <a:endParaRPr lang="en-US" sz="1150" dirty="0"/>
          </a:p>
        </p:txBody>
      </p:sp>
      <p:sp>
        <p:nvSpPr>
          <p:cNvPr id="11" name="Shape 8"/>
          <p:cNvSpPr/>
          <p:nvPr/>
        </p:nvSpPr>
        <p:spPr>
          <a:xfrm>
            <a:off x="6126480" y="2313432"/>
            <a:ext cx="5486400" cy="12802"/>
          </a:xfrm>
          <a:prstGeom prst="rect">
            <a:avLst/>
          </a:prstGeom>
          <a:solidFill>
            <a:srgbClr val="C72A09"/>
          </a:solidFill>
          <a:ln/>
        </p:spPr>
      </p:sp>
      <p:sp>
        <p:nvSpPr>
          <p:cNvPr id="12" name="Text 9"/>
          <p:cNvSpPr txBox="1"/>
          <p:nvPr/>
        </p:nvSpPr>
        <p:spPr>
          <a:xfrm>
            <a:off x="6126480" y="2423160"/>
            <a:ext cx="1316736" cy="64008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口徑一</a:t>
            </a:r>
            <a:endParaRPr lang="en-US" sz="1150" dirty="0"/>
          </a:p>
        </p:txBody>
      </p:sp>
      <p:sp>
        <p:nvSpPr>
          <p:cNvPr id="13" name="Text 10"/>
          <p:cNvSpPr txBox="1"/>
          <p:nvPr/>
        </p:nvSpPr>
        <p:spPr>
          <a:xfrm>
            <a:off x="7525512" y="2423160"/>
            <a:ext cx="4087368" cy="64008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雙職本地居民中位收入：2025 年 9.6 倍（左圖各年第 4 季收入）</a:t>
            </a:r>
            <a:endParaRPr lang="en-US" sz="1150" dirty="0"/>
          </a:p>
        </p:txBody>
      </p:sp>
      <p:sp>
        <p:nvSpPr>
          <p:cNvPr id="14" name="Shape 11"/>
          <p:cNvSpPr/>
          <p:nvPr/>
        </p:nvSpPr>
        <p:spPr>
          <a:xfrm>
            <a:off x="6126480" y="3044952"/>
            <a:ext cx="5486400" cy="12802"/>
          </a:xfrm>
          <a:prstGeom prst="rect">
            <a:avLst/>
          </a:prstGeom>
          <a:solidFill>
            <a:srgbClr val="C72A09"/>
          </a:solidFill>
          <a:ln/>
        </p:spPr>
      </p:sp>
      <p:sp>
        <p:nvSpPr>
          <p:cNvPr id="15" name="Text 12"/>
          <p:cNvSpPr txBox="1"/>
          <p:nvPr/>
        </p:nvSpPr>
        <p:spPr>
          <a:xfrm>
            <a:off x="6126480" y="3154680"/>
            <a:ext cx="1316736" cy="64008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口徑二</a:t>
            </a:r>
            <a:endParaRPr lang="en-US" sz="1150" dirty="0"/>
          </a:p>
        </p:txBody>
      </p:sp>
      <p:sp>
        <p:nvSpPr>
          <p:cNvPr id="16" name="Text 13"/>
          <p:cNvSpPr txBox="1"/>
          <p:nvPr/>
        </p:nvSpPr>
        <p:spPr>
          <a:xfrm>
            <a:off x="7525512" y="3154680"/>
            <a:ext cx="4087368" cy="64008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住戶月平均收入 58,835 元：2025 年約 6.5 倍，屬偏低估計</a:t>
            </a:r>
            <a:endParaRPr lang="en-US" sz="1150" dirty="0"/>
          </a:p>
        </p:txBody>
      </p:sp>
      <p:sp>
        <p:nvSpPr>
          <p:cNvPr id="17" name="Shape 14"/>
          <p:cNvSpPr/>
          <p:nvPr/>
        </p:nvSpPr>
        <p:spPr>
          <a:xfrm>
            <a:off x="6126480" y="3776472"/>
            <a:ext cx="5486400" cy="12802"/>
          </a:xfrm>
          <a:prstGeom prst="rect">
            <a:avLst/>
          </a:prstGeom>
          <a:solidFill>
            <a:srgbClr val="C72A09"/>
          </a:solidFill>
          <a:ln/>
        </p:spPr>
      </p:sp>
      <p:sp>
        <p:nvSpPr>
          <p:cNvPr id="18" name="Text 15"/>
          <p:cNvSpPr txBox="1"/>
          <p:nvPr/>
        </p:nvSpPr>
        <p:spPr>
          <a:xfrm>
            <a:off x="6126480" y="3886200"/>
            <a:ext cx="1316736" cy="64008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單一收入者</a:t>
            </a:r>
            <a:endParaRPr lang="en-US" sz="1150" dirty="0"/>
          </a:p>
        </p:txBody>
      </p:sp>
      <p:sp>
        <p:nvSpPr>
          <p:cNvPr id="19" name="Text 16"/>
          <p:cNvSpPr txBox="1"/>
          <p:nvPr/>
        </p:nvSpPr>
        <p:spPr>
          <a:xfrm>
            <a:off x="7525512" y="3886200"/>
            <a:ext cx="4087368" cy="64008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本地居民中位收入：約 19 倍</a:t>
            </a:r>
            <a:endParaRPr lang="en-US" sz="1150" dirty="0"/>
          </a:p>
        </p:txBody>
      </p:sp>
      <p:sp>
        <p:nvSpPr>
          <p:cNvPr id="20" name="Shape 17"/>
          <p:cNvSpPr/>
          <p:nvPr/>
        </p:nvSpPr>
        <p:spPr>
          <a:xfrm>
            <a:off x="6126480" y="4507992"/>
            <a:ext cx="5486400" cy="12802"/>
          </a:xfrm>
          <a:prstGeom prst="rect">
            <a:avLst/>
          </a:prstGeom>
          <a:solidFill>
            <a:srgbClr val="C72A09"/>
          </a:solidFill>
          <a:ln/>
        </p:spPr>
      </p:sp>
      <p:sp>
        <p:nvSpPr>
          <p:cNvPr id="21" name="Text 18"/>
          <p:cNvSpPr txBox="1"/>
          <p:nvPr/>
        </p:nvSpPr>
        <p:spPr>
          <a:xfrm>
            <a:off x="6126480" y="4617720"/>
            <a:ext cx="1316736" cy="64008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結論</a:t>
            </a:r>
            <a:endParaRPr lang="en-US" sz="1150" dirty="0"/>
          </a:p>
        </p:txBody>
      </p:sp>
      <p:sp>
        <p:nvSpPr>
          <p:cNvPr id="22" name="Text 19"/>
          <p:cNvSpPr txBox="1"/>
          <p:nvPr/>
        </p:nvSpPr>
        <p:spPr>
          <a:xfrm>
            <a:off x="7525512" y="4617720"/>
            <a:ext cx="4087368" cy="64008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兩種口徑都高於 5 倍；改善來自樓價下跌，而非收入上升</a:t>
            </a:r>
            <a:endParaRPr lang="en-US" sz="1150" dirty="0"/>
          </a:p>
        </p:txBody>
      </p:sp>
      <p:sp>
        <p:nvSpPr>
          <p:cNvPr id="23" name="Shape 20"/>
          <p:cNvSpPr/>
          <p:nvPr/>
        </p:nvSpPr>
        <p:spPr>
          <a:xfrm>
            <a:off x="6126480" y="5239512"/>
            <a:ext cx="5486400" cy="12802"/>
          </a:xfrm>
          <a:prstGeom prst="rect">
            <a:avLst/>
          </a:prstGeom>
          <a:solidFill>
            <a:srgbClr val="C72A09"/>
          </a:solidFill>
          <a:ln/>
        </p:spPr>
      </p:sp>
      <p:sp>
        <p:nvSpPr>
          <p:cNvPr id="24" name="Text 21"/>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統計暨普查局；住戶收支調查 2023/24；本組推算（700 呎＝65.03 平方米）</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(12)</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第二部分　現況與趨勢　·　問題一</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誰受影響：青年與租戶</a:t>
            </a:r>
            <a:endParaRPr lang="en-US" sz="3400" dirty="0"/>
          </a:p>
        </p:txBody>
      </p:sp>
      <p:graphicFrame>
        <p:nvGraphicFramePr>
          <p:cNvPr id="8" name="Chart 0" descr=""/>
          <p:cNvGraphicFramePr/>
          <p:nvPr/>
        </p:nvGraphicFramePr>
        <p:xfrm>
          <a:off x="566928" y="1645920"/>
          <a:ext cx="5120640" cy="31089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66928" y="4800600"/>
            <a:ext cx="5120640" cy="310896"/>
          </a:xfrm>
          <a:prstGeom prst="rect">
            <a:avLst/>
          </a:prstGeom>
          <a:noFill/>
          <a:ln/>
        </p:spPr>
        <p:txBody>
          <a:bodyPr wrap="square" lIns="0" tIns="0" rIns="0" bIns="0" rtlCol="0" anchor="t"/>
          <a:lstStyle/>
          <a:p>
            <a:pPr algn="l" indent="0" marL="0">
              <a:lnSpc>
                <a:spcPct val="125000"/>
              </a:lnSpc>
              <a:buNone/>
            </a:pPr>
            <a:r>
              <a:rPr lang="en-US" sz="1050" b="1" spc="60" kern="0" dirty="0">
                <a:solidFill>
                  <a:srgbClr val="CA0013"/>
                </a:solidFill>
                <a:latin typeface="Microsoft JhengHei" pitchFamily="34" charset="0"/>
                <a:ea typeface="Microsoft JhengHei" pitchFamily="34" charset="-122"/>
                <a:cs typeface="Microsoft JhengHei" pitchFamily="34" charset="-120"/>
              </a:rPr>
              <a:t>青年指標 2024 年社會調查（N=2,348）</a:t>
            </a:r>
            <a:endParaRPr lang="en-US" sz="1050" dirty="0"/>
          </a:p>
        </p:txBody>
      </p:sp>
      <p:sp>
        <p:nvSpPr>
          <p:cNvPr id="10" name="Text 7"/>
          <p:cNvSpPr txBox="1"/>
          <p:nvPr/>
        </p:nvSpPr>
        <p:spPr>
          <a:xfrm>
            <a:off x="6126480" y="1691640"/>
            <a:ext cx="1097280" cy="566928"/>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自置與租住</a:t>
            </a:r>
            <a:endParaRPr lang="en-US" sz="1100" dirty="0"/>
          </a:p>
        </p:txBody>
      </p:sp>
      <p:sp>
        <p:nvSpPr>
          <p:cNvPr id="11" name="Text 8"/>
          <p:cNvSpPr txBox="1"/>
          <p:nvPr/>
        </p:nvSpPr>
        <p:spPr>
          <a:xfrm>
            <a:off x="7306056" y="1691640"/>
            <a:ext cx="4306824" cy="566928"/>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自置 73.4%（148,091 戶）；租住 39,148 戶（19.3%）（2021 人口普查）</a:t>
            </a:r>
            <a:endParaRPr lang="en-US" sz="1100" dirty="0"/>
          </a:p>
        </p:txBody>
      </p:sp>
      <p:sp>
        <p:nvSpPr>
          <p:cNvPr id="12" name="Shape 9"/>
          <p:cNvSpPr/>
          <p:nvPr/>
        </p:nvSpPr>
        <p:spPr>
          <a:xfrm>
            <a:off x="6126480" y="2240280"/>
            <a:ext cx="5486400" cy="12802"/>
          </a:xfrm>
          <a:prstGeom prst="rect">
            <a:avLst/>
          </a:prstGeom>
          <a:solidFill>
            <a:srgbClr val="C72A09"/>
          </a:solidFill>
          <a:ln/>
        </p:spPr>
      </p:sp>
      <p:sp>
        <p:nvSpPr>
          <p:cNvPr id="13" name="Text 10"/>
          <p:cNvSpPr txBox="1"/>
          <p:nvPr/>
        </p:nvSpPr>
        <p:spPr>
          <a:xfrm>
            <a:off x="6126480" y="2350008"/>
            <a:ext cx="1097280" cy="566928"/>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青年租住</a:t>
            </a:r>
            <a:endParaRPr lang="en-US" sz="1100" dirty="0"/>
          </a:p>
        </p:txBody>
      </p:sp>
      <p:sp>
        <p:nvSpPr>
          <p:cNvPr id="14" name="Text 11"/>
          <p:cNvSpPr txBox="1"/>
          <p:nvPr/>
        </p:nvSpPr>
        <p:spPr>
          <a:xfrm>
            <a:off x="7306056" y="2350008"/>
            <a:ext cx="4306824" cy="566928"/>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租用私人樓宇 10.6%（2018）→ 23.1%（2024）；各期問卷口徑不同，只作方向參考</a:t>
            </a:r>
            <a:endParaRPr lang="en-US" sz="1100" dirty="0"/>
          </a:p>
        </p:txBody>
      </p:sp>
      <p:sp>
        <p:nvSpPr>
          <p:cNvPr id="15" name="Shape 12"/>
          <p:cNvSpPr/>
          <p:nvPr/>
        </p:nvSpPr>
        <p:spPr>
          <a:xfrm>
            <a:off x="6126480" y="2898648"/>
            <a:ext cx="5486400" cy="12802"/>
          </a:xfrm>
          <a:prstGeom prst="rect">
            <a:avLst/>
          </a:prstGeom>
          <a:solidFill>
            <a:srgbClr val="C72A09"/>
          </a:solidFill>
          <a:ln/>
        </p:spPr>
      </p:sp>
      <p:sp>
        <p:nvSpPr>
          <p:cNvPr id="16" name="Text 13"/>
          <p:cNvSpPr txBox="1"/>
          <p:nvPr/>
        </p:nvSpPr>
        <p:spPr>
          <a:xfrm>
            <a:off x="6126480" y="3008376"/>
            <a:ext cx="1097280" cy="566928"/>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青年開支</a:t>
            </a:r>
            <a:endParaRPr lang="en-US" sz="1100" dirty="0"/>
          </a:p>
        </p:txBody>
      </p:sp>
      <p:sp>
        <p:nvSpPr>
          <p:cNvPr id="17" name="Text 14"/>
          <p:cNvSpPr txBox="1"/>
          <p:nvPr/>
        </p:nvSpPr>
        <p:spPr>
          <a:xfrm>
            <a:off x="7306056" y="3008376"/>
            <a:ext cx="4306824" cy="566928"/>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已婚無子女青年 61.4% 以住屋為主要開支（未婚無子女 21.4%）</a:t>
            </a:r>
            <a:endParaRPr lang="en-US" sz="1100" dirty="0"/>
          </a:p>
        </p:txBody>
      </p:sp>
      <p:sp>
        <p:nvSpPr>
          <p:cNvPr id="18" name="Shape 15"/>
          <p:cNvSpPr/>
          <p:nvPr/>
        </p:nvSpPr>
        <p:spPr>
          <a:xfrm>
            <a:off x="6126480" y="3557016"/>
            <a:ext cx="5486400" cy="12802"/>
          </a:xfrm>
          <a:prstGeom prst="rect">
            <a:avLst/>
          </a:prstGeom>
          <a:solidFill>
            <a:srgbClr val="C72A09"/>
          </a:solidFill>
          <a:ln/>
        </p:spPr>
      </p:sp>
      <p:sp>
        <p:nvSpPr>
          <p:cNvPr id="19" name="Text 16"/>
          <p:cNvSpPr txBox="1"/>
          <p:nvPr/>
        </p:nvSpPr>
        <p:spPr>
          <a:xfrm>
            <a:off x="6126480" y="3666744"/>
            <a:ext cx="1097280" cy="566928"/>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提醒</a:t>
            </a:r>
            <a:endParaRPr lang="en-US" sz="1100" dirty="0"/>
          </a:p>
        </p:txBody>
      </p:sp>
      <p:sp>
        <p:nvSpPr>
          <p:cNvPr id="20" name="Text 17"/>
          <p:cNvSpPr txBox="1"/>
          <p:nvPr/>
        </p:nvSpPr>
        <p:spPr>
          <a:xfrm>
            <a:off x="7306056" y="3666744"/>
            <a:ext cx="4306824" cy="566928"/>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住在購買的私樓不等於自己買，可能是住父母的樓，有待訪問驗證</a:t>
            </a:r>
            <a:endParaRPr lang="en-US" sz="1100" dirty="0"/>
          </a:p>
        </p:txBody>
      </p:sp>
      <p:sp>
        <p:nvSpPr>
          <p:cNvPr id="21" name="Shape 18"/>
          <p:cNvSpPr/>
          <p:nvPr/>
        </p:nvSpPr>
        <p:spPr>
          <a:xfrm>
            <a:off x="6126480" y="4215384"/>
            <a:ext cx="5486400" cy="12802"/>
          </a:xfrm>
          <a:prstGeom prst="rect">
            <a:avLst/>
          </a:prstGeom>
          <a:solidFill>
            <a:srgbClr val="C72A09"/>
          </a:solidFill>
          <a:ln/>
        </p:spPr>
      </p:sp>
      <p:sp>
        <p:nvSpPr>
          <p:cNvPr id="22" name="Shape 19"/>
          <p:cNvSpPr/>
          <p:nvPr/>
        </p:nvSpPr>
        <p:spPr>
          <a:xfrm>
            <a:off x="6126480" y="4526280"/>
            <a:ext cx="5486400" cy="1097280"/>
          </a:xfrm>
          <a:prstGeom prst="rect">
            <a:avLst/>
          </a:prstGeom>
          <a:solidFill>
            <a:srgbClr val="EEEBE3"/>
          </a:solidFill>
          <a:ln w="12700">
            <a:solidFill>
              <a:srgbClr val="CA0013"/>
            </a:solidFill>
            <a:prstDash val="dash"/>
          </a:ln>
        </p:spPr>
      </p:sp>
      <p:sp>
        <p:nvSpPr>
          <p:cNvPr id="23" name="Text 20"/>
          <p:cNvSpPr txBox="1"/>
          <p:nvPr/>
        </p:nvSpPr>
        <p:spPr>
          <a:xfrm>
            <a:off x="6309360" y="4636008"/>
            <a:ext cx="5120640" cy="310896"/>
          </a:xfrm>
          <a:prstGeom prst="rect">
            <a:avLst/>
          </a:prstGeom>
          <a:noFill/>
          <a:ln/>
        </p:spPr>
        <p:txBody>
          <a:bodyPr wrap="square" lIns="0" tIns="0" rIns="0" bIns="0" rtlCol="0" anchor="t"/>
          <a:lstStyle/>
          <a:p>
            <a:pPr algn="l" indent="0" marL="0">
              <a:lnSpc>
                <a:spcPct val="125000"/>
              </a:lnSpc>
              <a:buNone/>
            </a:pPr>
            <a:r>
              <a:rPr lang="en-US" sz="1000" b="1" spc="200" kern="0" dirty="0">
                <a:solidFill>
                  <a:srgbClr val="CA0013"/>
                </a:solidFill>
                <a:latin typeface="Microsoft JhengHei" pitchFamily="34" charset="0"/>
                <a:ea typeface="Microsoft JhengHei" pitchFamily="34" charset="-122"/>
                <a:cs typeface="Microsoft JhengHei" pitchFamily="34" charset="-120"/>
              </a:rPr>
              <a:t>訪問引用位</a:t>
            </a:r>
            <a:endParaRPr lang="en-US" sz="1000" dirty="0"/>
          </a:p>
        </p:txBody>
      </p:sp>
      <p:sp>
        <p:nvSpPr>
          <p:cNvPr id="24" name="Text 21"/>
          <p:cNvSpPr txBox="1"/>
          <p:nvPr/>
        </p:nvSpPr>
        <p:spPr>
          <a:xfrm>
            <a:off x="6309360" y="4892040"/>
            <a:ext cx="5120640" cy="274320"/>
          </a:xfrm>
          <a:prstGeom prst="rect">
            <a:avLst/>
          </a:prstGeom>
          <a:noFill/>
          <a:ln/>
        </p:spPr>
        <p:txBody>
          <a:bodyPr wrap="square" lIns="0" tIns="0" rIns="0" bIns="0" rtlCol="0" anchor="t"/>
          <a:lstStyle/>
          <a:p>
            <a:pPr indent="0" marL="0">
              <a:buNone/>
            </a:pPr>
            <a:r>
              <a:rPr lang="en-US" sz="1150" b="1" dirty="0">
                <a:solidFill>
                  <a:srgbClr val="CA0013"/>
                </a:solidFill>
                <a:latin typeface="Microsoft JhengHei" pitchFamily="34" charset="0"/>
                <a:ea typeface="Microsoft JhengHei" pitchFamily="34" charset="-122"/>
                <a:cs typeface="Microsoft JhengHei" pitchFamily="34" charset="-120"/>
              </a:rPr>
              <a:t>受訪者＿＿（地產從業員／青年組織）</a:t>
            </a:r>
            <a:endParaRPr lang="en-US" sz="1150" dirty="0"/>
          </a:p>
        </p:txBody>
      </p:sp>
      <p:sp>
        <p:nvSpPr>
          <p:cNvPr id="25" name="Text 22"/>
          <p:cNvSpPr txBox="1"/>
          <p:nvPr/>
        </p:nvSpPr>
        <p:spPr>
          <a:xfrm>
            <a:off x="6309360" y="5148072"/>
            <a:ext cx="5120640" cy="438912"/>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追問：青年首置最大困難是首期、收入，還是家庭支援？租住比例上升的原因？</a:t>
            </a:r>
            <a:endParaRPr lang="en-US" sz="1050" dirty="0"/>
          </a:p>
        </p:txBody>
      </p:sp>
      <p:sp>
        <p:nvSpPr>
          <p:cNvPr id="26" name="Text 23"/>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統計暨普查局 2021 人口普查；教青局《澳門青年指標》</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(13)</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第二部分　現況與趨勢　·　問題一</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2023 年起：樓價跌，租金升</a:t>
            </a:r>
            <a:endParaRPr lang="en-US" sz="3400" dirty="0"/>
          </a:p>
        </p:txBody>
      </p:sp>
      <p:graphicFrame>
        <p:nvGraphicFramePr>
          <p:cNvPr id="8" name="Chart 0" descr=""/>
          <p:cNvGraphicFramePr/>
          <p:nvPr/>
        </p:nvGraphicFramePr>
        <p:xfrm>
          <a:off x="566928" y="1645920"/>
          <a:ext cx="5852160" cy="37947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66928" y="5468112"/>
            <a:ext cx="5852160" cy="310896"/>
          </a:xfrm>
          <a:prstGeom prst="rect">
            <a:avLst/>
          </a:prstGeom>
          <a:noFill/>
          <a:ln/>
        </p:spPr>
        <p:txBody>
          <a:bodyPr wrap="square" lIns="0" tIns="0" rIns="0" bIns="0" rtlCol="0" anchor="t"/>
          <a:lstStyle/>
          <a:p>
            <a:pPr algn="l" indent="0" marL="0">
              <a:lnSpc>
                <a:spcPct val="125000"/>
              </a:lnSpc>
              <a:buNone/>
            </a:pPr>
            <a:r>
              <a:rPr lang="en-US" sz="1050" b="1" spc="60" kern="0" dirty="0">
                <a:solidFill>
                  <a:srgbClr val="CA0013"/>
                </a:solidFill>
                <a:latin typeface="Microsoft JhengHei" pitchFamily="34" charset="0"/>
                <a:ea typeface="Microsoft JhengHei" pitchFamily="34" charset="-122"/>
                <a:cs typeface="Microsoft JhengHei" pitchFamily="34" charset="-120"/>
              </a:rPr>
              <a:t>指數：2023 年＝100</a:t>
            </a:r>
            <a:endParaRPr lang="en-US" sz="1050" dirty="0"/>
          </a:p>
        </p:txBody>
      </p:sp>
      <p:sp>
        <p:nvSpPr>
          <p:cNvPr id="10" name="Text 7"/>
          <p:cNvSpPr txBox="1"/>
          <p:nvPr/>
        </p:nvSpPr>
        <p:spPr>
          <a:xfrm>
            <a:off x="6858000" y="1691640"/>
            <a:ext cx="4754880" cy="932688"/>
          </a:xfrm>
          <a:prstGeom prst="rect">
            <a:avLst/>
          </a:prstGeom>
          <a:noFill/>
          <a:ln/>
        </p:spPr>
        <p:txBody>
          <a:bodyPr wrap="square" lIns="0" tIns="0" rIns="0" bIns="0" rtlCol="0" anchor="ctr"/>
          <a:lstStyle/>
          <a:p>
            <a:pPr indent="0" marL="0">
              <a:buNone/>
            </a:pPr>
            <a:r>
              <a:rPr lang="en-US" sz="5000" b="1" dirty="0">
                <a:solidFill>
                  <a:srgbClr val="CA0013"/>
                </a:solidFill>
                <a:latin typeface="Inter" pitchFamily="34" charset="0"/>
                <a:ea typeface="Inter" pitchFamily="34" charset="-122"/>
                <a:cs typeface="Inter" pitchFamily="34" charset="-120"/>
              </a:rPr>
              <a:t>43</a:t>
            </a:r>
            <a:pPr indent="0" marL="0">
              <a:buNone/>
            </a:pPr>
            <a:r>
              <a:rPr lang="en-US" sz="2100" b="1" dirty="0">
                <a:solidFill>
                  <a:srgbClr val="CA0013"/>
                </a:solidFill>
                <a:latin typeface="Microsoft JhengHei" pitchFamily="34" charset="0"/>
                <a:ea typeface="Microsoft JhengHei" pitchFamily="34" charset="-122"/>
                <a:cs typeface="Microsoft JhengHei" pitchFamily="34" charset="-120"/>
              </a:rPr>
              <a:t> 年</a:t>
            </a:r>
            <a:endParaRPr lang="en-US" sz="5000" dirty="0"/>
          </a:p>
        </p:txBody>
      </p:sp>
      <p:sp>
        <p:nvSpPr>
          <p:cNvPr id="11" name="Text 8"/>
          <p:cNvSpPr txBox="1"/>
          <p:nvPr/>
        </p:nvSpPr>
        <p:spPr>
          <a:xfrm>
            <a:off x="6858000" y="2624328"/>
            <a:ext cx="475488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買一個單位＝約 43 年租金（2025）</a:t>
            </a:r>
            <a:endParaRPr lang="en-US" sz="1300" dirty="0"/>
          </a:p>
        </p:txBody>
      </p:sp>
      <p:sp>
        <p:nvSpPr>
          <p:cNvPr id="12" name="Text 9"/>
          <p:cNvSpPr txBox="1"/>
          <p:nvPr/>
        </p:nvSpPr>
        <p:spPr>
          <a:xfrm>
            <a:off x="6858000" y="2990088"/>
            <a:ext cx="475488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2023 年 59 年 → 2024 年 52 年；毛租金回報 1.7% → 2.4%</a:t>
            </a:r>
            <a:endParaRPr lang="en-US" sz="1050" dirty="0"/>
          </a:p>
        </p:txBody>
      </p:sp>
      <p:sp>
        <p:nvSpPr>
          <p:cNvPr id="13" name="Shape 10"/>
          <p:cNvSpPr/>
          <p:nvPr/>
        </p:nvSpPr>
        <p:spPr>
          <a:xfrm>
            <a:off x="6858000" y="3977640"/>
            <a:ext cx="4754880" cy="18288"/>
          </a:xfrm>
          <a:prstGeom prst="rect">
            <a:avLst/>
          </a:prstGeom>
          <a:solidFill>
            <a:srgbClr val="C72A09"/>
          </a:solidFill>
          <a:ln/>
        </p:spPr>
      </p:sp>
      <p:sp>
        <p:nvSpPr>
          <p:cNvPr id="14" name="Text 11"/>
          <p:cNvSpPr txBox="1"/>
          <p:nvPr/>
        </p:nvSpPr>
        <p:spPr>
          <a:xfrm>
            <a:off x="6858000" y="4114800"/>
            <a:ext cx="4754880" cy="1463040"/>
          </a:xfrm>
          <a:prstGeom prst="rect">
            <a:avLst/>
          </a:prstGeom>
          <a:noFill/>
          <a:ln/>
        </p:spPr>
        <p:txBody>
          <a:bodyPr wrap="square" lIns="0" tIns="0" rIns="0" bIns="0" rtlCol="0" anchor="t"/>
          <a:lstStyle/>
          <a:p>
            <a:pPr indent="0" marL="0">
              <a:lnSpc>
                <a:spcPct val="152000"/>
              </a:lnSpc>
              <a:buNone/>
            </a:pPr>
            <a:r>
              <a:rPr lang="en-US" sz="1150" dirty="0">
                <a:solidFill>
                  <a:srgbClr val="CA0013"/>
                </a:solidFill>
                <a:latin typeface="Microsoft JhengHei" pitchFamily="34" charset="0"/>
                <a:ea typeface="Microsoft JhengHei" pitchFamily="34" charset="-122"/>
                <a:cs typeface="Microsoft JhengHei" pitchFamily="34" charset="-120"/>
              </a:rPr>
              <a:t>價格與租金口徑不同（成交均價對租約申報均價），只作粗略指標。2025 年橫切面：小單位（少於 50 平方米）每平方米售價最低（67,826 元），租金卻最高（168 元）。</a:t>
            </a:r>
            <a:endParaRPr lang="en-US" sz="1150" dirty="0"/>
          </a:p>
        </p:txBody>
      </p:sp>
      <p:sp>
        <p:nvSpPr>
          <p:cNvPr id="15" name="Text 12"/>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統計暨普查局《私人建築及不動產交易》《租金統計》；2023 年前租金亦曾下跌（二手資料，待補）</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(14)</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第二部分　現況與趨勢　·　問題二</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舊樓：樓齡高，未必危險</a:t>
            </a:r>
            <a:endParaRPr lang="en-US" sz="3400" dirty="0"/>
          </a:p>
        </p:txBody>
      </p:sp>
      <p:sp>
        <p:nvSpPr>
          <p:cNvPr id="8" name="Text 6"/>
          <p:cNvSpPr txBox="1"/>
          <p:nvPr/>
        </p:nvSpPr>
        <p:spPr>
          <a:xfrm>
            <a:off x="566928" y="1645920"/>
            <a:ext cx="3383280" cy="310896"/>
          </a:xfrm>
          <a:prstGeom prst="rect">
            <a:avLst/>
          </a:prstGeom>
          <a:noFill/>
          <a:ln/>
        </p:spPr>
        <p:txBody>
          <a:bodyPr wrap="square" lIns="0" tIns="0" rIns="0" bIns="0" rtlCol="0" anchor="t"/>
          <a:lstStyle/>
          <a:p>
            <a:pPr algn="l" indent="0" marL="0">
              <a:lnSpc>
                <a:spcPct val="125000"/>
              </a:lnSpc>
              <a:buNone/>
            </a:pPr>
            <a:r>
              <a:rPr lang="en-US" sz="1200" b="1" spc="200" kern="0" dirty="0">
                <a:solidFill>
                  <a:srgbClr val="CA0013"/>
                </a:solidFill>
                <a:latin typeface="Microsoft JhengHei" pitchFamily="34" charset="0"/>
                <a:ea typeface="Microsoft JhengHei" pitchFamily="34" charset="-122"/>
                <a:cs typeface="Microsoft JhengHei" pitchFamily="34" charset="-120"/>
              </a:rPr>
              <a:t>第一層　樓齡</a:t>
            </a:r>
            <a:endParaRPr lang="en-US" sz="1200" dirty="0"/>
          </a:p>
        </p:txBody>
      </p:sp>
      <p:sp>
        <p:nvSpPr>
          <p:cNvPr id="9" name="Shape 7"/>
          <p:cNvSpPr/>
          <p:nvPr/>
        </p:nvSpPr>
        <p:spPr>
          <a:xfrm>
            <a:off x="566928" y="2011680"/>
            <a:ext cx="3383280" cy="18288"/>
          </a:xfrm>
          <a:prstGeom prst="rect">
            <a:avLst/>
          </a:prstGeom>
          <a:solidFill>
            <a:srgbClr val="C72A09"/>
          </a:solidFill>
          <a:ln/>
        </p:spPr>
      </p:sp>
      <p:sp>
        <p:nvSpPr>
          <p:cNvPr id="10" name="Text 8"/>
          <p:cNvSpPr txBox="1"/>
          <p:nvPr/>
        </p:nvSpPr>
        <p:spPr>
          <a:xfrm>
            <a:off x="566928" y="2121408"/>
            <a:ext cx="3383280" cy="932688"/>
          </a:xfrm>
          <a:prstGeom prst="rect">
            <a:avLst/>
          </a:prstGeom>
          <a:noFill/>
          <a:ln/>
        </p:spPr>
        <p:txBody>
          <a:bodyPr wrap="square" lIns="0" tIns="0" rIns="0" bIns="0" rtlCol="0" anchor="ctr"/>
          <a:lstStyle/>
          <a:p>
            <a:pPr indent="0" marL="0">
              <a:buNone/>
            </a:pPr>
            <a:r>
              <a:rPr lang="en-US" sz="4600" b="1" dirty="0">
                <a:solidFill>
                  <a:srgbClr val="CA0013"/>
                </a:solidFill>
                <a:latin typeface="Inter" pitchFamily="34" charset="0"/>
                <a:ea typeface="Inter" pitchFamily="34" charset="-122"/>
                <a:cs typeface="Inter" pitchFamily="34" charset="-120"/>
              </a:rPr>
              <a:t>≈4,800</a:t>
            </a:r>
            <a:pPr indent="0" marL="0">
              <a:buNone/>
            </a:pPr>
            <a:r>
              <a:rPr lang="en-US" sz="1932" b="1" dirty="0">
                <a:solidFill>
                  <a:srgbClr val="CA0013"/>
                </a:solidFill>
                <a:latin typeface="Microsoft JhengHei" pitchFamily="34" charset="0"/>
                <a:ea typeface="Microsoft JhengHei" pitchFamily="34" charset="-122"/>
                <a:cs typeface="Microsoft JhengHei" pitchFamily="34" charset="-120"/>
              </a:rPr>
              <a:t> 幢</a:t>
            </a:r>
            <a:endParaRPr lang="en-US" sz="4600" dirty="0"/>
          </a:p>
        </p:txBody>
      </p:sp>
      <p:sp>
        <p:nvSpPr>
          <p:cNvPr id="11" name="Text 9"/>
          <p:cNvSpPr txBox="1"/>
          <p:nvPr/>
        </p:nvSpPr>
        <p:spPr>
          <a:xfrm>
            <a:off x="566928" y="3054096"/>
            <a:ext cx="338328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樓齡 30 年以上</a:t>
            </a:r>
            <a:endParaRPr lang="en-US" sz="1300" dirty="0"/>
          </a:p>
        </p:txBody>
      </p:sp>
      <p:sp>
        <p:nvSpPr>
          <p:cNvPr id="12" name="Text 10"/>
          <p:cNvSpPr txBox="1"/>
          <p:nvPr/>
        </p:nvSpPr>
        <p:spPr>
          <a:xfrm>
            <a:off x="566928" y="3419856"/>
            <a:ext cx="338328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報道數字；另有 5,173 幢（2019）之說，口徑與出處待核，不作趨勢比較</a:t>
            </a:r>
            <a:endParaRPr lang="en-US" sz="1050" dirty="0"/>
          </a:p>
        </p:txBody>
      </p:sp>
      <p:sp>
        <p:nvSpPr>
          <p:cNvPr id="13" name="Text 11"/>
          <p:cNvSpPr txBox="1"/>
          <p:nvPr/>
        </p:nvSpPr>
        <p:spPr>
          <a:xfrm>
            <a:off x="4407408" y="1645920"/>
            <a:ext cx="3383280" cy="310896"/>
          </a:xfrm>
          <a:prstGeom prst="rect">
            <a:avLst/>
          </a:prstGeom>
          <a:noFill/>
          <a:ln/>
        </p:spPr>
        <p:txBody>
          <a:bodyPr wrap="square" lIns="0" tIns="0" rIns="0" bIns="0" rtlCol="0" anchor="t"/>
          <a:lstStyle/>
          <a:p>
            <a:pPr algn="l" indent="0" marL="0">
              <a:lnSpc>
                <a:spcPct val="125000"/>
              </a:lnSpc>
              <a:buNone/>
            </a:pPr>
            <a:r>
              <a:rPr lang="en-US" sz="1200" b="1" spc="200" kern="0" dirty="0">
                <a:solidFill>
                  <a:srgbClr val="CA0013"/>
                </a:solidFill>
                <a:latin typeface="Microsoft JhengHei" pitchFamily="34" charset="0"/>
                <a:ea typeface="Microsoft JhengHei" pitchFamily="34" charset="-122"/>
                <a:cs typeface="Microsoft JhengHei" pitchFamily="34" charset="-120"/>
              </a:rPr>
              <a:t>第二層　失修</a:t>
            </a:r>
            <a:endParaRPr lang="en-US" sz="1200" dirty="0"/>
          </a:p>
        </p:txBody>
      </p:sp>
      <p:sp>
        <p:nvSpPr>
          <p:cNvPr id="14" name="Shape 12"/>
          <p:cNvSpPr/>
          <p:nvPr/>
        </p:nvSpPr>
        <p:spPr>
          <a:xfrm>
            <a:off x="4407408" y="2011680"/>
            <a:ext cx="3383280" cy="18288"/>
          </a:xfrm>
          <a:prstGeom prst="rect">
            <a:avLst/>
          </a:prstGeom>
          <a:solidFill>
            <a:srgbClr val="C72A09"/>
          </a:solidFill>
          <a:ln/>
        </p:spPr>
      </p:sp>
      <p:sp>
        <p:nvSpPr>
          <p:cNvPr id="15" name="Text 13"/>
          <p:cNvSpPr txBox="1"/>
          <p:nvPr/>
        </p:nvSpPr>
        <p:spPr>
          <a:xfrm>
            <a:off x="4407408" y="2121408"/>
            <a:ext cx="3383280" cy="932688"/>
          </a:xfrm>
          <a:prstGeom prst="rect">
            <a:avLst/>
          </a:prstGeom>
          <a:noFill/>
          <a:ln/>
        </p:spPr>
        <p:txBody>
          <a:bodyPr wrap="square" lIns="0" tIns="0" rIns="0" bIns="0" rtlCol="0" anchor="ctr"/>
          <a:lstStyle/>
          <a:p>
            <a:pPr indent="0" marL="0">
              <a:buNone/>
            </a:pPr>
            <a:r>
              <a:rPr lang="en-US" sz="4600" b="1" dirty="0">
                <a:solidFill>
                  <a:srgbClr val="CA0013"/>
                </a:solidFill>
                <a:latin typeface="Inter" pitchFamily="34" charset="0"/>
                <a:ea typeface="Inter" pitchFamily="34" charset="-122"/>
                <a:cs typeface="Inter" pitchFamily="34" charset="-120"/>
              </a:rPr>
              <a:t>84</a:t>
            </a:r>
            <a:pPr indent="0" marL="0">
              <a:buNone/>
            </a:pPr>
            <a:r>
              <a:rPr lang="en-US" sz="1932" b="1" dirty="0">
                <a:solidFill>
                  <a:srgbClr val="CA0013"/>
                </a:solidFill>
                <a:latin typeface="Microsoft JhengHei" pitchFamily="34" charset="0"/>
                <a:ea typeface="Microsoft JhengHei" pitchFamily="34" charset="-122"/>
                <a:cs typeface="Microsoft JhengHei" pitchFamily="34" charset="-120"/>
              </a:rPr>
              <a:t> 宗</a:t>
            </a:r>
            <a:endParaRPr lang="en-US" sz="4600" dirty="0"/>
          </a:p>
        </p:txBody>
      </p:sp>
      <p:sp>
        <p:nvSpPr>
          <p:cNvPr id="16" name="Text 14"/>
          <p:cNvSpPr txBox="1"/>
          <p:nvPr/>
        </p:nvSpPr>
        <p:spPr>
          <a:xfrm>
            <a:off x="4407408" y="3054096"/>
            <a:ext cx="338328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通知業權人檢查維修</a:t>
            </a:r>
            <a:endParaRPr lang="en-US" sz="1300" dirty="0"/>
          </a:p>
        </p:txBody>
      </p:sp>
      <p:sp>
        <p:nvSpPr>
          <p:cNvPr id="17" name="Text 15"/>
          <p:cNvSpPr txBox="1"/>
          <p:nvPr/>
        </p:nvSpPr>
        <p:spPr>
          <a:xfrm>
            <a:off x="4407408" y="3419856"/>
            <a:ext cx="338328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2026 年首季，土地工務局因失修巡查 106 次</a:t>
            </a:r>
            <a:endParaRPr lang="en-US" sz="1050" dirty="0"/>
          </a:p>
        </p:txBody>
      </p:sp>
      <p:sp>
        <p:nvSpPr>
          <p:cNvPr id="18" name="Text 16"/>
          <p:cNvSpPr txBox="1"/>
          <p:nvPr/>
        </p:nvSpPr>
        <p:spPr>
          <a:xfrm>
            <a:off x="8247888" y="1645920"/>
            <a:ext cx="3383280" cy="310896"/>
          </a:xfrm>
          <a:prstGeom prst="rect">
            <a:avLst/>
          </a:prstGeom>
          <a:noFill/>
          <a:ln/>
        </p:spPr>
        <p:txBody>
          <a:bodyPr wrap="square" lIns="0" tIns="0" rIns="0" bIns="0" rtlCol="0" anchor="t"/>
          <a:lstStyle/>
          <a:p>
            <a:pPr algn="l" indent="0" marL="0">
              <a:lnSpc>
                <a:spcPct val="125000"/>
              </a:lnSpc>
              <a:buNone/>
            </a:pPr>
            <a:r>
              <a:rPr lang="en-US" sz="1200" b="1" spc="200" kern="0" dirty="0">
                <a:solidFill>
                  <a:srgbClr val="CA0013"/>
                </a:solidFill>
                <a:latin typeface="Microsoft JhengHei" pitchFamily="34" charset="0"/>
                <a:ea typeface="Microsoft JhengHei" pitchFamily="34" charset="-122"/>
                <a:cs typeface="Microsoft JhengHei" pitchFamily="34" charset="-120"/>
              </a:rPr>
              <a:t>第三層　殘危</a:t>
            </a:r>
            <a:endParaRPr lang="en-US" sz="1200" dirty="0"/>
          </a:p>
        </p:txBody>
      </p:sp>
      <p:sp>
        <p:nvSpPr>
          <p:cNvPr id="19" name="Shape 17"/>
          <p:cNvSpPr/>
          <p:nvPr/>
        </p:nvSpPr>
        <p:spPr>
          <a:xfrm>
            <a:off x="8247888" y="2011680"/>
            <a:ext cx="3383280" cy="18288"/>
          </a:xfrm>
          <a:prstGeom prst="rect">
            <a:avLst/>
          </a:prstGeom>
          <a:solidFill>
            <a:srgbClr val="C72A09"/>
          </a:solidFill>
          <a:ln/>
        </p:spPr>
      </p:sp>
      <p:sp>
        <p:nvSpPr>
          <p:cNvPr id="20" name="Text 18"/>
          <p:cNvSpPr txBox="1"/>
          <p:nvPr/>
        </p:nvSpPr>
        <p:spPr>
          <a:xfrm>
            <a:off x="8247888" y="2121408"/>
            <a:ext cx="3383280" cy="932688"/>
          </a:xfrm>
          <a:prstGeom prst="rect">
            <a:avLst/>
          </a:prstGeom>
          <a:noFill/>
          <a:ln/>
        </p:spPr>
        <p:txBody>
          <a:bodyPr wrap="square" lIns="0" tIns="0" rIns="0" bIns="0" rtlCol="0" anchor="ctr"/>
          <a:lstStyle/>
          <a:p>
            <a:pPr indent="0" marL="0">
              <a:buNone/>
            </a:pPr>
            <a:r>
              <a:rPr lang="en-US" sz="4600" b="1" dirty="0">
                <a:solidFill>
                  <a:srgbClr val="CA0013"/>
                </a:solidFill>
                <a:latin typeface="Inter" pitchFamily="34" charset="0"/>
                <a:ea typeface="Inter" pitchFamily="34" charset="-122"/>
                <a:cs typeface="Inter" pitchFamily="34" charset="-120"/>
              </a:rPr>
              <a:t>3</a:t>
            </a:r>
            <a:pPr indent="0" marL="0">
              <a:buNone/>
            </a:pPr>
            <a:r>
              <a:rPr lang="en-US" sz="1932" b="1" dirty="0">
                <a:solidFill>
                  <a:srgbClr val="CA0013"/>
                </a:solidFill>
                <a:latin typeface="Microsoft JhengHei" pitchFamily="34" charset="0"/>
                <a:ea typeface="Microsoft JhengHei" pitchFamily="34" charset="-122"/>
                <a:cs typeface="Microsoft JhengHei" pitchFamily="34" charset="-120"/>
              </a:rPr>
              <a:t> 幢</a:t>
            </a:r>
            <a:endParaRPr lang="en-US" sz="4600" dirty="0"/>
          </a:p>
        </p:txBody>
      </p:sp>
      <p:sp>
        <p:nvSpPr>
          <p:cNvPr id="21" name="Text 19"/>
          <p:cNvSpPr txBox="1"/>
          <p:nvPr/>
        </p:nvSpPr>
        <p:spPr>
          <a:xfrm>
            <a:off x="8247888" y="3054096"/>
            <a:ext cx="338328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2026 年 4 月清拆</a:t>
            </a:r>
            <a:endParaRPr lang="en-US" sz="1300" dirty="0"/>
          </a:p>
        </p:txBody>
      </p:sp>
      <p:sp>
        <p:nvSpPr>
          <p:cNvPr id="22" name="Text 20"/>
          <p:cNvSpPr txBox="1"/>
          <p:nvPr/>
        </p:nvSpPr>
        <p:spPr>
          <a:xfrm>
            <a:off x="8247888" y="3419856"/>
            <a:ext cx="338328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老饕巷、關前正街、鍾家里；經檢驗委員會證實，業權人逾期不拆，由局方代拆</a:t>
            </a:r>
            <a:endParaRPr lang="en-US" sz="1050" dirty="0"/>
          </a:p>
        </p:txBody>
      </p:sp>
      <p:sp>
        <p:nvSpPr>
          <p:cNvPr id="23" name="Shape 21"/>
          <p:cNvSpPr/>
          <p:nvPr/>
        </p:nvSpPr>
        <p:spPr>
          <a:xfrm>
            <a:off x="4023360" y="2587752"/>
            <a:ext cx="310896" cy="0"/>
          </a:xfrm>
          <a:prstGeom prst="line">
            <a:avLst/>
          </a:prstGeom>
          <a:noFill/>
          <a:ln w="28575">
            <a:solidFill>
              <a:srgbClr val="CA0013"/>
            </a:solidFill>
            <a:prstDash val="solid"/>
            <a:tailEnd type="triangle"/>
          </a:ln>
        </p:spPr>
      </p:sp>
      <p:sp>
        <p:nvSpPr>
          <p:cNvPr id="24" name="Shape 22"/>
          <p:cNvSpPr/>
          <p:nvPr/>
        </p:nvSpPr>
        <p:spPr>
          <a:xfrm>
            <a:off x="7863840" y="2587752"/>
            <a:ext cx="310896" cy="0"/>
          </a:xfrm>
          <a:prstGeom prst="line">
            <a:avLst/>
          </a:prstGeom>
          <a:noFill/>
          <a:ln w="28575">
            <a:solidFill>
              <a:srgbClr val="CA0013"/>
            </a:solidFill>
            <a:prstDash val="solid"/>
            <a:tailEnd type="triangle"/>
          </a:ln>
        </p:spPr>
      </p:sp>
      <p:sp>
        <p:nvSpPr>
          <p:cNvPr id="25" name="Shape 23"/>
          <p:cNvSpPr/>
          <p:nvPr/>
        </p:nvSpPr>
        <p:spPr>
          <a:xfrm>
            <a:off x="566928" y="4343400"/>
            <a:ext cx="11057839" cy="18288"/>
          </a:xfrm>
          <a:prstGeom prst="rect">
            <a:avLst/>
          </a:prstGeom>
          <a:solidFill>
            <a:srgbClr val="C72A09"/>
          </a:solidFill>
          <a:ln/>
        </p:spPr>
      </p:sp>
      <p:sp>
        <p:nvSpPr>
          <p:cNvPr id="26" name="Text 24"/>
          <p:cNvSpPr txBox="1"/>
          <p:nvPr/>
        </p:nvSpPr>
        <p:spPr>
          <a:xfrm>
            <a:off x="566928" y="4526280"/>
            <a:ext cx="530352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怎樣讀這三層</a:t>
            </a:r>
            <a:endParaRPr lang="en-US" sz="1200" dirty="0"/>
          </a:p>
        </p:txBody>
      </p:sp>
      <p:sp>
        <p:nvSpPr>
          <p:cNvPr id="27" name="Text 25"/>
          <p:cNvSpPr txBox="1"/>
          <p:nvPr/>
        </p:nvSpPr>
        <p:spPr>
          <a:xfrm>
            <a:off x="566928" y="4846320"/>
            <a:ext cx="5303520" cy="868680"/>
          </a:xfrm>
          <a:prstGeom prst="rect">
            <a:avLst/>
          </a:prstGeom>
          <a:noFill/>
          <a:ln/>
        </p:spPr>
        <p:txBody>
          <a:bodyPr wrap="square" lIns="0" tIns="0" rIns="0" bIns="0" rtlCol="0" anchor="t"/>
          <a:lstStyle/>
          <a:p>
            <a:pPr indent="0" marL="0">
              <a:lnSpc>
                <a:spcPct val="140000"/>
              </a:lnSpc>
              <a:buNone/>
            </a:pPr>
            <a:r>
              <a:rPr lang="en-US" sz="1150" dirty="0">
                <a:solidFill>
                  <a:srgbClr val="CA0013"/>
                </a:solidFill>
                <a:latin typeface="Microsoft JhengHei" pitchFamily="34" charset="0"/>
                <a:ea typeface="Microsoft JhengHei" pitchFamily="34" charset="-122"/>
                <a:cs typeface="Microsoft JhengHei" pitchFamily="34" charset="-120"/>
              </a:rPr>
              <a:t>樓齡是背景，失修是過程，殘危是結果。樓齡高的樓宇是高風險群體，但樓齡本身不等於失修或殘危；不能以樓齡單獨判定危樓，也不能以三幢清拆推斷整體。</a:t>
            </a:r>
            <a:endParaRPr lang="en-US" sz="1150" dirty="0"/>
          </a:p>
        </p:txBody>
      </p:sp>
      <p:sp>
        <p:nvSpPr>
          <p:cNvPr id="28" name="Text 26"/>
          <p:cNvSpPr txBox="1"/>
          <p:nvPr/>
        </p:nvSpPr>
        <p:spPr>
          <a:xfrm>
            <a:off x="6400800" y="4526280"/>
            <a:ext cx="521208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資料缺口</a:t>
            </a:r>
            <a:endParaRPr lang="en-US" sz="1200" dirty="0"/>
          </a:p>
        </p:txBody>
      </p:sp>
      <p:sp>
        <p:nvSpPr>
          <p:cNvPr id="29" name="Text 27"/>
          <p:cNvSpPr txBox="1"/>
          <p:nvPr/>
        </p:nvSpPr>
        <p:spPr>
          <a:xfrm>
            <a:off x="6400800" y="4846320"/>
            <a:ext cx="5212080" cy="868680"/>
          </a:xfrm>
          <a:prstGeom prst="rect">
            <a:avLst/>
          </a:prstGeom>
          <a:noFill/>
          <a:ln/>
        </p:spPr>
        <p:txBody>
          <a:bodyPr wrap="square" lIns="0" tIns="0" rIns="0" bIns="0" rtlCol="0" anchor="t"/>
          <a:lstStyle/>
          <a:p>
            <a:pPr indent="0" marL="0">
              <a:lnSpc>
                <a:spcPct val="140000"/>
              </a:lnSpc>
              <a:buNone/>
            </a:pPr>
            <a:r>
              <a:rPr lang="en-US" sz="1150" dirty="0">
                <a:solidFill>
                  <a:srgbClr val="CA0013"/>
                </a:solidFill>
                <a:latin typeface="Microsoft JhengHei" pitchFamily="34" charset="0"/>
                <a:ea typeface="Microsoft JhengHei" pitchFamily="34" charset="-122"/>
                <a:cs typeface="Microsoft JhengHei" pitchFamily="34" charset="-120"/>
              </a:rPr>
              <a:t>官方未見按年公布的三層時間序列。本組沒有單一來源可支持「五年趨勢」，只呈現現況；措施三建議把分級資料公開。</a:t>
            </a:r>
            <a:endParaRPr lang="en-US" sz="1150" dirty="0"/>
          </a:p>
        </p:txBody>
      </p:sp>
      <p:sp>
        <p:nvSpPr>
          <p:cNvPr id="30" name="Text 28"/>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土地工務局新聞稿（2026-05-03）；樓齡幢數為報道數字</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(15)</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第二部分　現況與趨勢　·　問題二</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都更法：業權門檻與程序</a:t>
            </a:r>
            <a:endParaRPr lang="en-US" sz="3400" dirty="0"/>
          </a:p>
        </p:txBody>
      </p:sp>
      <p:sp>
        <p:nvSpPr>
          <p:cNvPr id="8" name="Text 6"/>
          <p:cNvSpPr txBox="1"/>
          <p:nvPr/>
        </p:nvSpPr>
        <p:spPr>
          <a:xfrm>
            <a:off x="566928" y="1600200"/>
            <a:ext cx="566928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第 6 條：啟動強制參與重建所需業權比例</a:t>
            </a:r>
            <a:endParaRPr lang="en-US" sz="1200" dirty="0"/>
          </a:p>
        </p:txBody>
      </p:sp>
      <p:sp>
        <p:nvSpPr>
          <p:cNvPr id="9" name="Text 7"/>
          <p:cNvSpPr txBox="1"/>
          <p:nvPr/>
        </p:nvSpPr>
        <p:spPr>
          <a:xfrm>
            <a:off x="566928" y="1984248"/>
            <a:ext cx="4169664"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樓宇狀況</a:t>
            </a:r>
            <a:endParaRPr lang="en-US" sz="1100" dirty="0"/>
          </a:p>
        </p:txBody>
      </p:sp>
      <p:sp>
        <p:nvSpPr>
          <p:cNvPr id="10" name="Text 8"/>
          <p:cNvSpPr txBox="1"/>
          <p:nvPr/>
        </p:nvSpPr>
        <p:spPr>
          <a:xfrm>
            <a:off x="4864608" y="1984248"/>
            <a:ext cx="137160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所需業權</a:t>
            </a:r>
            <a:endParaRPr lang="en-US" sz="1100" dirty="0"/>
          </a:p>
        </p:txBody>
      </p:sp>
      <p:sp>
        <p:nvSpPr>
          <p:cNvPr id="11" name="Shape 9"/>
          <p:cNvSpPr/>
          <p:nvPr/>
        </p:nvSpPr>
        <p:spPr>
          <a:xfrm>
            <a:off x="566928" y="2331720"/>
            <a:ext cx="5669280" cy="18288"/>
          </a:xfrm>
          <a:prstGeom prst="rect">
            <a:avLst/>
          </a:prstGeom>
          <a:solidFill>
            <a:srgbClr val="C72A09"/>
          </a:solidFill>
          <a:ln/>
        </p:spPr>
      </p:sp>
      <p:sp>
        <p:nvSpPr>
          <p:cNvPr id="12" name="Text 10"/>
          <p:cNvSpPr txBox="1"/>
          <p:nvPr/>
        </p:nvSpPr>
        <p:spPr>
          <a:xfrm>
            <a:off x="566928" y="2423160"/>
            <a:ext cx="4169664" cy="402336"/>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樓齡 30 至 40 年</a:t>
            </a:r>
            <a:endParaRPr lang="en-US" sz="1300" dirty="0"/>
          </a:p>
        </p:txBody>
      </p:sp>
      <p:sp>
        <p:nvSpPr>
          <p:cNvPr id="13" name="Text 11"/>
          <p:cNvSpPr txBox="1"/>
          <p:nvPr/>
        </p:nvSpPr>
        <p:spPr>
          <a:xfrm>
            <a:off x="4864608" y="2423160"/>
            <a:ext cx="1371600" cy="402336"/>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85%</a:t>
            </a:r>
            <a:endParaRPr lang="en-US" sz="1300" dirty="0"/>
          </a:p>
        </p:txBody>
      </p:sp>
      <p:sp>
        <p:nvSpPr>
          <p:cNvPr id="14" name="Shape 12"/>
          <p:cNvSpPr/>
          <p:nvPr/>
        </p:nvSpPr>
        <p:spPr>
          <a:xfrm>
            <a:off x="566928" y="2825496"/>
            <a:ext cx="5669280" cy="12802"/>
          </a:xfrm>
          <a:prstGeom prst="rect">
            <a:avLst/>
          </a:prstGeom>
          <a:solidFill>
            <a:srgbClr val="C72A09"/>
          </a:solidFill>
          <a:ln/>
        </p:spPr>
      </p:sp>
      <p:sp>
        <p:nvSpPr>
          <p:cNvPr id="15" name="Text 13"/>
          <p:cNvSpPr txBox="1"/>
          <p:nvPr/>
        </p:nvSpPr>
        <p:spPr>
          <a:xfrm>
            <a:off x="566928" y="2898648"/>
            <a:ext cx="4169664" cy="40233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樓齡 30 至 40 年，且少於 7 個獨立單位</a:t>
            </a:r>
            <a:endParaRPr lang="en-US" sz="1200" dirty="0"/>
          </a:p>
        </p:txBody>
      </p:sp>
      <p:sp>
        <p:nvSpPr>
          <p:cNvPr id="16" name="Text 14"/>
          <p:cNvSpPr txBox="1"/>
          <p:nvPr/>
        </p:nvSpPr>
        <p:spPr>
          <a:xfrm>
            <a:off x="4864608" y="2898648"/>
            <a:ext cx="1371600" cy="40233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80%</a:t>
            </a:r>
            <a:endParaRPr lang="en-US" sz="1200" dirty="0"/>
          </a:p>
        </p:txBody>
      </p:sp>
      <p:sp>
        <p:nvSpPr>
          <p:cNvPr id="17" name="Shape 15"/>
          <p:cNvSpPr/>
          <p:nvPr/>
        </p:nvSpPr>
        <p:spPr>
          <a:xfrm>
            <a:off x="566928" y="3300984"/>
            <a:ext cx="5669280" cy="12802"/>
          </a:xfrm>
          <a:prstGeom prst="rect">
            <a:avLst/>
          </a:prstGeom>
          <a:solidFill>
            <a:srgbClr val="C72A09"/>
          </a:solidFill>
          <a:ln/>
        </p:spPr>
      </p:sp>
      <p:sp>
        <p:nvSpPr>
          <p:cNvPr id="18" name="Text 16"/>
          <p:cNvSpPr txBox="1"/>
          <p:nvPr/>
        </p:nvSpPr>
        <p:spPr>
          <a:xfrm>
            <a:off x="566928" y="3374136"/>
            <a:ext cx="4169664" cy="40233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樓齡 40 年以上</a:t>
            </a:r>
            <a:endParaRPr lang="en-US" sz="1200" dirty="0"/>
          </a:p>
        </p:txBody>
      </p:sp>
      <p:sp>
        <p:nvSpPr>
          <p:cNvPr id="19" name="Text 17"/>
          <p:cNvSpPr txBox="1"/>
          <p:nvPr/>
        </p:nvSpPr>
        <p:spPr>
          <a:xfrm>
            <a:off x="4864608" y="3374136"/>
            <a:ext cx="1371600" cy="40233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80%</a:t>
            </a:r>
            <a:endParaRPr lang="en-US" sz="1200" dirty="0"/>
          </a:p>
        </p:txBody>
      </p:sp>
      <p:sp>
        <p:nvSpPr>
          <p:cNvPr id="20" name="Shape 18"/>
          <p:cNvSpPr/>
          <p:nvPr/>
        </p:nvSpPr>
        <p:spPr>
          <a:xfrm>
            <a:off x="566928" y="3776472"/>
            <a:ext cx="5669280" cy="12802"/>
          </a:xfrm>
          <a:prstGeom prst="rect">
            <a:avLst/>
          </a:prstGeom>
          <a:solidFill>
            <a:srgbClr val="C72A09"/>
          </a:solidFill>
          <a:ln/>
        </p:spPr>
      </p:sp>
      <p:sp>
        <p:nvSpPr>
          <p:cNvPr id="21" name="Text 19"/>
          <p:cNvSpPr txBox="1"/>
          <p:nvPr/>
        </p:nvSpPr>
        <p:spPr>
          <a:xfrm>
            <a:off x="566928" y="3849624"/>
            <a:ext cx="4169664" cy="40233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殘破或危害公共衛生及人身安全，被命令全部拆卸</a:t>
            </a:r>
            <a:endParaRPr lang="en-US" sz="1200" dirty="0"/>
          </a:p>
        </p:txBody>
      </p:sp>
      <p:sp>
        <p:nvSpPr>
          <p:cNvPr id="22" name="Text 20"/>
          <p:cNvSpPr txBox="1"/>
          <p:nvPr/>
        </p:nvSpPr>
        <p:spPr>
          <a:xfrm>
            <a:off x="4864608" y="3849624"/>
            <a:ext cx="1371600" cy="40233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60%</a:t>
            </a:r>
            <a:endParaRPr lang="en-US" sz="1200" dirty="0"/>
          </a:p>
        </p:txBody>
      </p:sp>
      <p:sp>
        <p:nvSpPr>
          <p:cNvPr id="23" name="Shape 21"/>
          <p:cNvSpPr/>
          <p:nvPr/>
        </p:nvSpPr>
        <p:spPr>
          <a:xfrm>
            <a:off x="566928" y="4251960"/>
            <a:ext cx="5669280" cy="12802"/>
          </a:xfrm>
          <a:prstGeom prst="rect">
            <a:avLst/>
          </a:prstGeom>
          <a:solidFill>
            <a:srgbClr val="C72A09"/>
          </a:solidFill>
          <a:ln/>
        </p:spPr>
      </p:sp>
      <p:sp>
        <p:nvSpPr>
          <p:cNvPr id="24" name="Text 22"/>
          <p:cNvSpPr txBox="1"/>
          <p:nvPr/>
        </p:nvSpPr>
        <p:spPr>
          <a:xfrm>
            <a:off x="566928" y="4526280"/>
            <a:ext cx="566928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門檻的兩面</a:t>
            </a:r>
            <a:endParaRPr lang="en-US" sz="1200" dirty="0"/>
          </a:p>
        </p:txBody>
      </p:sp>
      <p:sp>
        <p:nvSpPr>
          <p:cNvPr id="25" name="Text 23"/>
          <p:cNvSpPr txBox="1"/>
          <p:nvPr/>
        </p:nvSpPr>
        <p:spPr>
          <a:xfrm>
            <a:off x="566928" y="4846320"/>
            <a:ext cx="5669280" cy="868680"/>
          </a:xfrm>
          <a:prstGeom prst="rect">
            <a:avLst/>
          </a:prstGeom>
          <a:noFill/>
          <a:ln/>
        </p:spPr>
        <p:txBody>
          <a:bodyPr wrap="square" lIns="0" tIns="0" rIns="0" bIns="0" rtlCol="0" anchor="t"/>
          <a:lstStyle/>
          <a:p>
            <a:pPr indent="0" marL="0">
              <a:lnSpc>
                <a:spcPct val="140000"/>
              </a:lnSpc>
              <a:buNone/>
            </a:pPr>
            <a:r>
              <a:rPr lang="en-US" sz="1150" dirty="0">
                <a:solidFill>
                  <a:srgbClr val="CA0013"/>
                </a:solidFill>
                <a:latin typeface="Microsoft JhengHei" pitchFamily="34" charset="0"/>
                <a:ea typeface="Microsoft JhengHei" pitchFamily="34" charset="-122"/>
                <a:cs typeface="Microsoft JhengHei" pitchFamily="34" charset="-120"/>
              </a:rPr>
              <a:t>業權比例按分層所有權設定憑證所載份額計算，樓齡自使用准照日起計（第 7 條）。門檻不要求全體同意：不同意的業主可經仲裁裁決被強制參與（第 21 條）。</a:t>
            </a:r>
            <a:endParaRPr lang="en-US" sz="1150" dirty="0"/>
          </a:p>
        </p:txBody>
      </p:sp>
      <p:sp>
        <p:nvSpPr>
          <p:cNvPr id="26" name="Text 24"/>
          <p:cNvSpPr txBox="1"/>
          <p:nvPr/>
        </p:nvSpPr>
        <p:spPr>
          <a:xfrm>
            <a:off x="6766560" y="1645920"/>
            <a:ext cx="1163117" cy="64008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公佈與生效</a:t>
            </a:r>
            <a:endParaRPr lang="en-US" sz="1100" dirty="0"/>
          </a:p>
        </p:txBody>
      </p:sp>
      <p:sp>
        <p:nvSpPr>
          <p:cNvPr id="27" name="Text 25"/>
          <p:cNvSpPr txBox="1"/>
          <p:nvPr/>
        </p:nvSpPr>
        <p:spPr>
          <a:xfrm>
            <a:off x="8002372" y="1645920"/>
            <a:ext cx="3610508" cy="64008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2022-12-28 公佈（公報第 52 期）；2023-06-01 起生效（第 43 條）</a:t>
            </a:r>
            <a:endParaRPr lang="en-US" sz="1100" dirty="0"/>
          </a:p>
        </p:txBody>
      </p:sp>
      <p:sp>
        <p:nvSpPr>
          <p:cNvPr id="28" name="Shape 26"/>
          <p:cNvSpPr/>
          <p:nvPr/>
        </p:nvSpPr>
        <p:spPr>
          <a:xfrm>
            <a:off x="6766560" y="2267712"/>
            <a:ext cx="4846320" cy="12802"/>
          </a:xfrm>
          <a:prstGeom prst="rect">
            <a:avLst/>
          </a:prstGeom>
          <a:solidFill>
            <a:srgbClr val="C72A09"/>
          </a:solidFill>
          <a:ln/>
        </p:spPr>
      </p:sp>
      <p:sp>
        <p:nvSpPr>
          <p:cNvPr id="29" name="Text 27"/>
          <p:cNvSpPr txBox="1"/>
          <p:nvPr/>
        </p:nvSpPr>
        <p:spPr>
          <a:xfrm>
            <a:off x="6766560" y="2377440"/>
            <a:ext cx="1163117" cy="566928"/>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決定者</a:t>
            </a:r>
            <a:endParaRPr lang="en-US" sz="1100" dirty="0"/>
          </a:p>
        </p:txBody>
      </p:sp>
      <p:sp>
        <p:nvSpPr>
          <p:cNvPr id="30" name="Text 28"/>
          <p:cNvSpPr txBox="1"/>
          <p:nvPr/>
        </p:nvSpPr>
        <p:spPr>
          <a:xfrm>
            <a:off x="8002372" y="2377440"/>
            <a:ext cx="3610508" cy="566928"/>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由所有權人決定是否重建；都更公司提供支援（第 3、4 條）</a:t>
            </a:r>
            <a:endParaRPr lang="en-US" sz="1100" dirty="0"/>
          </a:p>
        </p:txBody>
      </p:sp>
      <p:sp>
        <p:nvSpPr>
          <p:cNvPr id="31" name="Shape 29"/>
          <p:cNvSpPr/>
          <p:nvPr/>
        </p:nvSpPr>
        <p:spPr>
          <a:xfrm>
            <a:off x="6766560" y="2926080"/>
            <a:ext cx="4846320" cy="12802"/>
          </a:xfrm>
          <a:prstGeom prst="rect">
            <a:avLst/>
          </a:prstGeom>
          <a:solidFill>
            <a:srgbClr val="C72A09"/>
          </a:solidFill>
          <a:ln/>
        </p:spPr>
      </p:sp>
      <p:sp>
        <p:nvSpPr>
          <p:cNvPr id="32" name="Text 30"/>
          <p:cNvSpPr txBox="1"/>
          <p:nvPr/>
        </p:nvSpPr>
        <p:spPr>
          <a:xfrm>
            <a:off x="6766560" y="3035808"/>
            <a:ext cx="1163117" cy="896112"/>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爭議</a:t>
            </a:r>
            <a:endParaRPr lang="en-US" sz="1100" dirty="0"/>
          </a:p>
        </p:txBody>
      </p:sp>
      <p:sp>
        <p:nvSpPr>
          <p:cNvPr id="33" name="Text 31"/>
          <p:cNvSpPr txBox="1"/>
          <p:nvPr/>
        </p:nvSpPr>
        <p:spPr>
          <a:xfrm>
            <a:off x="8002372" y="3035808"/>
            <a:ext cx="3610508" cy="896112"/>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強制參與重建的爭議須經必要仲裁；仲裁庭須考慮方案對被申請人有否明顯不公平，包括負擔與臨時安置（第 16、18 條）</a:t>
            </a:r>
            <a:endParaRPr lang="en-US" sz="1100" dirty="0"/>
          </a:p>
        </p:txBody>
      </p:sp>
      <p:sp>
        <p:nvSpPr>
          <p:cNvPr id="34" name="Shape 32"/>
          <p:cNvSpPr/>
          <p:nvPr/>
        </p:nvSpPr>
        <p:spPr>
          <a:xfrm>
            <a:off x="6766560" y="3913632"/>
            <a:ext cx="4846320" cy="12802"/>
          </a:xfrm>
          <a:prstGeom prst="rect">
            <a:avLst/>
          </a:prstGeom>
          <a:solidFill>
            <a:srgbClr val="C72A09"/>
          </a:solidFill>
          <a:ln/>
        </p:spPr>
      </p:sp>
      <p:sp>
        <p:nvSpPr>
          <p:cNvPr id="35" name="Text 33"/>
          <p:cNvSpPr txBox="1"/>
          <p:nvPr/>
        </p:nvSpPr>
        <p:spPr>
          <a:xfrm>
            <a:off x="6766560" y="4023360"/>
            <a:ext cx="1163117" cy="64008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費用</a:t>
            </a:r>
            <a:endParaRPr lang="en-US" sz="1100" dirty="0"/>
          </a:p>
        </p:txBody>
      </p:sp>
      <p:sp>
        <p:nvSpPr>
          <p:cNvPr id="36" name="Text 34"/>
          <p:cNvSpPr txBox="1"/>
          <p:nvPr/>
        </p:nvSpPr>
        <p:spPr>
          <a:xfrm>
            <a:off x="8002372" y="4023360"/>
            <a:ext cx="3610508" cy="64008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重建負擔按單位份額分攤；代墊者對重建後單位有優先受償權（第 34 條）</a:t>
            </a:r>
            <a:endParaRPr lang="en-US" sz="1100" dirty="0"/>
          </a:p>
        </p:txBody>
      </p:sp>
      <p:sp>
        <p:nvSpPr>
          <p:cNvPr id="37" name="Shape 35"/>
          <p:cNvSpPr/>
          <p:nvPr/>
        </p:nvSpPr>
        <p:spPr>
          <a:xfrm>
            <a:off x="6766560" y="4645152"/>
            <a:ext cx="4846320" cy="12802"/>
          </a:xfrm>
          <a:prstGeom prst="rect">
            <a:avLst/>
          </a:prstGeom>
          <a:solidFill>
            <a:srgbClr val="C72A09"/>
          </a:solidFill>
          <a:ln/>
        </p:spPr>
      </p:sp>
      <p:sp>
        <p:nvSpPr>
          <p:cNvPr id="38" name="Text 36"/>
          <p:cNvSpPr txBox="1"/>
          <p:nvPr/>
        </p:nvSpPr>
        <p:spPr>
          <a:xfrm>
            <a:off x="6766560" y="4754880"/>
            <a:ext cx="1163117" cy="64008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期限</a:t>
            </a:r>
            <a:endParaRPr lang="en-US" sz="1100" dirty="0"/>
          </a:p>
        </p:txBody>
      </p:sp>
      <p:sp>
        <p:nvSpPr>
          <p:cNvPr id="39" name="Text 37"/>
          <p:cNvSpPr txBox="1"/>
          <p:nvPr/>
        </p:nvSpPr>
        <p:spPr>
          <a:xfrm>
            <a:off x="8002372" y="4754880"/>
            <a:ext cx="3610508" cy="64008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重建協議 4 年內未取得全體同意或工程准照即失效（第 9 條）；生效滿 5 年後檢討（第 41 條）</a:t>
            </a:r>
            <a:endParaRPr lang="en-US" sz="1100" dirty="0"/>
          </a:p>
        </p:txBody>
      </p:sp>
      <p:sp>
        <p:nvSpPr>
          <p:cNvPr id="40" name="Shape 38"/>
          <p:cNvSpPr/>
          <p:nvPr/>
        </p:nvSpPr>
        <p:spPr>
          <a:xfrm>
            <a:off x="6766560" y="5376672"/>
            <a:ext cx="4846320" cy="12802"/>
          </a:xfrm>
          <a:prstGeom prst="rect">
            <a:avLst/>
          </a:prstGeom>
          <a:solidFill>
            <a:srgbClr val="C72A09"/>
          </a:solidFill>
          <a:ln/>
        </p:spPr>
      </p:sp>
      <p:sp>
        <p:nvSpPr>
          <p:cNvPr id="41" name="Text 39"/>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第 18/2022 號法律《都市更新法律制度》（公報原文）</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(16)</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6.jpeg">    </p:cNvPr>
          <p:cNvPicPr>
            <a:picLocks noChangeAspect="1"/>
          </p:cNvPicPr>
          <p:nvPr/>
        </p:nvPicPr>
        <p:blipFill>
          <a:blip r:embed="rId1"/>
          <a:srcRect l="0" r="0" t="0" b="0"/>
          <a:stretch/>
        </p:blipFill>
        <p:spPr>
          <a:xfrm>
            <a:off x="8549640" y="0"/>
            <a:ext cx="3642055" cy="5806440"/>
          </a:xfrm>
          <a:prstGeom prst="rect">
            <a:avLst/>
          </a:prstGeom>
        </p:spPr>
      </p:pic>
      <p:sp>
        <p:nvSpPr>
          <p:cNvPr id="7"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第二部分　現況與趨勢　·　問題二</a:t>
            </a:r>
            <a:endParaRPr lang="en-US" sz="1200" dirty="0"/>
          </a:p>
        </p:txBody>
      </p:sp>
      <p:sp>
        <p:nvSpPr>
          <p:cNvPr id="8" name="Text 5"/>
          <p:cNvSpPr txBox="1"/>
          <p:nvPr/>
        </p:nvSpPr>
        <p:spPr>
          <a:xfrm>
            <a:off x="566928" y="749808"/>
            <a:ext cx="78638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祐漢七棟樓群：首個更新項目</a:t>
            </a:r>
            <a:endParaRPr lang="en-US" sz="3400" dirty="0"/>
          </a:p>
        </p:txBody>
      </p:sp>
      <p:sp>
        <p:nvSpPr>
          <p:cNvPr id="9" name="Text 6"/>
          <p:cNvSpPr txBox="1"/>
          <p:nvPr/>
        </p:nvSpPr>
        <p:spPr>
          <a:xfrm>
            <a:off x="566928" y="1600200"/>
            <a:ext cx="2423160" cy="932688"/>
          </a:xfrm>
          <a:prstGeom prst="rect">
            <a:avLst/>
          </a:prstGeom>
          <a:noFill/>
          <a:ln/>
        </p:spPr>
        <p:txBody>
          <a:bodyPr wrap="square" lIns="0" tIns="0" rIns="0" bIns="0" rtlCol="0" anchor="ctr"/>
          <a:lstStyle/>
          <a:p>
            <a:pPr indent="0" marL="0">
              <a:buNone/>
            </a:pPr>
            <a:r>
              <a:rPr lang="en-US" sz="3600" b="1" dirty="0">
                <a:solidFill>
                  <a:srgbClr val="CA0013"/>
                </a:solidFill>
                <a:latin typeface="Inter" pitchFamily="34" charset="0"/>
                <a:ea typeface="Inter" pitchFamily="34" charset="-122"/>
                <a:cs typeface="Inter" pitchFamily="34" charset="-120"/>
              </a:rPr>
              <a:t>46</a:t>
            </a:r>
            <a:pPr indent="0" marL="0">
              <a:buNone/>
            </a:pPr>
            <a:r>
              <a:rPr lang="en-US" sz="1512" b="1" dirty="0">
                <a:solidFill>
                  <a:srgbClr val="CA0013"/>
                </a:solidFill>
                <a:latin typeface="Microsoft JhengHei" pitchFamily="34" charset="0"/>
                <a:ea typeface="Microsoft JhengHei" pitchFamily="34" charset="-122"/>
                <a:cs typeface="Microsoft JhengHei" pitchFamily="34" charset="-120"/>
              </a:rPr>
              <a:t> 幢</a:t>
            </a:r>
            <a:endParaRPr lang="en-US" sz="3600" dirty="0"/>
          </a:p>
        </p:txBody>
      </p:sp>
      <p:sp>
        <p:nvSpPr>
          <p:cNvPr id="10" name="Text 7"/>
          <p:cNvSpPr txBox="1"/>
          <p:nvPr/>
        </p:nvSpPr>
        <p:spPr>
          <a:xfrm>
            <a:off x="566928" y="2532888"/>
            <a:ext cx="242316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7 個地塊</a:t>
            </a:r>
            <a:endParaRPr lang="en-US" sz="1300" dirty="0"/>
          </a:p>
        </p:txBody>
      </p:sp>
      <p:sp>
        <p:nvSpPr>
          <p:cNvPr id="11" name="Text 8"/>
          <p:cNvSpPr txBox="1"/>
          <p:nvPr/>
        </p:nvSpPr>
        <p:spPr>
          <a:xfrm>
            <a:off x="566928" y="2898648"/>
            <a:ext cx="242316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康泰、吉祥、順利、興隆、牡丹、萬壽、勝意</a:t>
            </a:r>
            <a:endParaRPr lang="en-US" sz="1050" dirty="0"/>
          </a:p>
        </p:txBody>
      </p:sp>
      <p:sp>
        <p:nvSpPr>
          <p:cNvPr id="12" name="Text 9"/>
          <p:cNvSpPr txBox="1"/>
          <p:nvPr/>
        </p:nvSpPr>
        <p:spPr>
          <a:xfrm>
            <a:off x="3172968" y="1600200"/>
            <a:ext cx="2423160" cy="932688"/>
          </a:xfrm>
          <a:prstGeom prst="rect">
            <a:avLst/>
          </a:prstGeom>
          <a:noFill/>
          <a:ln/>
        </p:spPr>
        <p:txBody>
          <a:bodyPr wrap="square" lIns="0" tIns="0" rIns="0" bIns="0" rtlCol="0" anchor="ctr"/>
          <a:lstStyle/>
          <a:p>
            <a:pPr indent="0" marL="0">
              <a:buNone/>
            </a:pPr>
            <a:r>
              <a:rPr lang="en-US" sz="3600" b="1" dirty="0">
                <a:solidFill>
                  <a:srgbClr val="CA0013"/>
                </a:solidFill>
                <a:latin typeface="Inter" pitchFamily="34" charset="0"/>
                <a:ea typeface="Inter" pitchFamily="34" charset="-122"/>
                <a:cs typeface="Inter" pitchFamily="34" charset="-120"/>
              </a:rPr>
              <a:t>2,000+</a:t>
            </a:r>
            <a:pPr indent="0" marL="0">
              <a:buNone/>
            </a:pPr>
            <a:r>
              <a:rPr lang="en-US" sz="1512" b="1" dirty="0">
                <a:solidFill>
                  <a:srgbClr val="CA0013"/>
                </a:solidFill>
                <a:latin typeface="Microsoft JhengHei" pitchFamily="34" charset="0"/>
                <a:ea typeface="Microsoft JhengHei" pitchFamily="34" charset="-122"/>
                <a:cs typeface="Microsoft JhengHei" pitchFamily="34" charset="-120"/>
              </a:rPr>
              <a:t> 戶</a:t>
            </a:r>
            <a:endParaRPr lang="en-US" sz="3600" dirty="0"/>
          </a:p>
        </p:txBody>
      </p:sp>
      <p:sp>
        <p:nvSpPr>
          <p:cNvPr id="13" name="Text 10"/>
          <p:cNvSpPr txBox="1"/>
          <p:nvPr/>
        </p:nvSpPr>
        <p:spPr>
          <a:xfrm>
            <a:off x="3172968" y="2532888"/>
            <a:ext cx="242316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業主已與都更公司溝通</a:t>
            </a:r>
            <a:endParaRPr lang="en-US" sz="1300" dirty="0"/>
          </a:p>
        </p:txBody>
      </p:sp>
      <p:sp>
        <p:nvSpPr>
          <p:cNvPr id="14" name="Text 11"/>
          <p:cNvSpPr txBox="1"/>
          <p:nvPr/>
        </p:nvSpPr>
        <p:spPr>
          <a:xfrm>
            <a:off x="3172968" y="2898648"/>
            <a:ext cx="242316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住商戶共 2,556 戶〔報道，待核〕</a:t>
            </a:r>
            <a:endParaRPr lang="en-US" sz="1050" dirty="0"/>
          </a:p>
        </p:txBody>
      </p:sp>
      <p:sp>
        <p:nvSpPr>
          <p:cNvPr id="15" name="Text 12"/>
          <p:cNvSpPr txBox="1"/>
          <p:nvPr/>
        </p:nvSpPr>
        <p:spPr>
          <a:xfrm>
            <a:off x="5779008" y="1600200"/>
            <a:ext cx="2423160" cy="932688"/>
          </a:xfrm>
          <a:prstGeom prst="rect">
            <a:avLst/>
          </a:prstGeom>
          <a:noFill/>
          <a:ln/>
        </p:spPr>
        <p:txBody>
          <a:bodyPr wrap="square" lIns="0" tIns="0" rIns="0" bIns="0" rtlCol="0" anchor="ctr"/>
          <a:lstStyle/>
          <a:p>
            <a:pPr indent="0" marL="0">
              <a:buNone/>
            </a:pPr>
            <a:r>
              <a:rPr lang="en-US" sz="3600" b="1" dirty="0">
                <a:solidFill>
                  <a:srgbClr val="CA0013"/>
                </a:solidFill>
                <a:latin typeface="Inter" pitchFamily="34" charset="0"/>
                <a:ea typeface="Inter" pitchFamily="34" charset="-122"/>
                <a:cs typeface="Inter" pitchFamily="34" charset="-120"/>
              </a:rPr>
              <a:t>2,803</a:t>
            </a:r>
            <a:pPr indent="0" marL="0">
              <a:buNone/>
            </a:pPr>
            <a:r>
              <a:rPr lang="en-US" sz="1512" b="1" dirty="0">
                <a:solidFill>
                  <a:srgbClr val="CA0013"/>
                </a:solidFill>
                <a:latin typeface="Microsoft JhengHei" pitchFamily="34" charset="0"/>
                <a:ea typeface="Microsoft JhengHei" pitchFamily="34" charset="-122"/>
                <a:cs typeface="Microsoft JhengHei" pitchFamily="34" charset="-120"/>
              </a:rPr>
              <a:t> 個</a:t>
            </a:r>
            <a:endParaRPr lang="en-US" sz="3600" dirty="0"/>
          </a:p>
        </p:txBody>
      </p:sp>
      <p:sp>
        <p:nvSpPr>
          <p:cNvPr id="16" name="Text 13"/>
          <p:cNvSpPr txBox="1"/>
          <p:nvPr/>
        </p:nvSpPr>
        <p:spPr>
          <a:xfrm>
            <a:off x="5779008" y="2532888"/>
            <a:ext cx="242316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暫住房單位</a:t>
            </a:r>
            <a:endParaRPr lang="en-US" sz="1300" dirty="0"/>
          </a:p>
        </p:txBody>
      </p:sp>
      <p:sp>
        <p:nvSpPr>
          <p:cNvPr id="17" name="Text 14"/>
          <p:cNvSpPr txBox="1"/>
          <p:nvPr/>
        </p:nvSpPr>
        <p:spPr>
          <a:xfrm>
            <a:off x="5779008" y="2898648"/>
            <a:ext cx="242316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供受都更影響的業權人過渡租住</a:t>
            </a:r>
            <a:endParaRPr lang="en-US" sz="1050" dirty="0"/>
          </a:p>
        </p:txBody>
      </p:sp>
      <p:sp>
        <p:nvSpPr>
          <p:cNvPr id="18" name="Shape 15"/>
          <p:cNvSpPr/>
          <p:nvPr/>
        </p:nvSpPr>
        <p:spPr>
          <a:xfrm>
            <a:off x="566928" y="3794760"/>
            <a:ext cx="7680960" cy="18288"/>
          </a:xfrm>
          <a:prstGeom prst="rect">
            <a:avLst/>
          </a:prstGeom>
          <a:solidFill>
            <a:srgbClr val="C72A09"/>
          </a:solidFill>
          <a:ln/>
        </p:spPr>
      </p:sp>
      <p:sp>
        <p:nvSpPr>
          <p:cNvPr id="19" name="Text 16"/>
          <p:cNvSpPr txBox="1"/>
          <p:nvPr/>
        </p:nvSpPr>
        <p:spPr>
          <a:xfrm>
            <a:off x="566928" y="3931920"/>
            <a:ext cx="921715" cy="45720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方案</a:t>
            </a:r>
            <a:endParaRPr lang="en-US" sz="1150" dirty="0"/>
          </a:p>
        </p:txBody>
      </p:sp>
      <p:sp>
        <p:nvSpPr>
          <p:cNvPr id="20" name="Text 17"/>
          <p:cNvSpPr txBox="1"/>
          <p:nvPr/>
        </p:nvSpPr>
        <p:spPr>
          <a:xfrm>
            <a:off x="1603858" y="3931920"/>
            <a:ext cx="6644030" cy="45720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存量優化：不增加住宅戶數；低層樓宇整合為 30 層高樓，原單位數量不變</a:t>
            </a:r>
            <a:endParaRPr lang="en-US" sz="1150" dirty="0"/>
          </a:p>
        </p:txBody>
      </p:sp>
      <p:sp>
        <p:nvSpPr>
          <p:cNvPr id="21" name="Shape 18"/>
          <p:cNvSpPr/>
          <p:nvPr/>
        </p:nvSpPr>
        <p:spPr>
          <a:xfrm>
            <a:off x="566928" y="4370832"/>
            <a:ext cx="7680960" cy="12802"/>
          </a:xfrm>
          <a:prstGeom prst="rect">
            <a:avLst/>
          </a:prstGeom>
          <a:solidFill>
            <a:srgbClr val="C72A09"/>
          </a:solidFill>
          <a:ln/>
        </p:spPr>
      </p:sp>
      <p:sp>
        <p:nvSpPr>
          <p:cNvPr id="22" name="Text 19"/>
          <p:cNvSpPr txBox="1"/>
          <p:nvPr/>
        </p:nvSpPr>
        <p:spPr>
          <a:xfrm>
            <a:off x="566928" y="4480560"/>
            <a:ext cx="921715" cy="45720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管理</a:t>
            </a:r>
            <a:endParaRPr lang="en-US" sz="1150" dirty="0"/>
          </a:p>
        </p:txBody>
      </p:sp>
      <p:sp>
        <p:nvSpPr>
          <p:cNvPr id="23" name="Text 20"/>
          <p:cNvSpPr txBox="1"/>
          <p:nvPr/>
        </p:nvSpPr>
        <p:spPr>
          <a:xfrm>
            <a:off x="1603858" y="4480560"/>
            <a:ext cx="6644030" cy="45720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7 個地塊 46 幢已全數成立管理機關（2024-09）；都更公司協助設立共同儲備基金</a:t>
            </a:r>
            <a:endParaRPr lang="en-US" sz="1150" dirty="0"/>
          </a:p>
        </p:txBody>
      </p:sp>
      <p:sp>
        <p:nvSpPr>
          <p:cNvPr id="24" name="Shape 21"/>
          <p:cNvSpPr/>
          <p:nvPr/>
        </p:nvSpPr>
        <p:spPr>
          <a:xfrm>
            <a:off x="566928" y="4919472"/>
            <a:ext cx="7680960" cy="12802"/>
          </a:xfrm>
          <a:prstGeom prst="rect">
            <a:avLst/>
          </a:prstGeom>
          <a:solidFill>
            <a:srgbClr val="C72A09"/>
          </a:solidFill>
          <a:ln/>
        </p:spPr>
      </p:sp>
      <p:sp>
        <p:nvSpPr>
          <p:cNvPr id="25" name="Text 22"/>
          <p:cNvSpPr txBox="1"/>
          <p:nvPr/>
        </p:nvSpPr>
        <p:spPr>
          <a:xfrm>
            <a:off x="566928" y="5029200"/>
            <a:ext cx="921715" cy="45720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進展</a:t>
            </a:r>
            <a:endParaRPr lang="en-US" sz="1150" dirty="0"/>
          </a:p>
        </p:txBody>
      </p:sp>
      <p:sp>
        <p:nvSpPr>
          <p:cNvPr id="26" name="Text 23"/>
          <p:cNvSpPr txBox="1"/>
          <p:nvPr/>
        </p:nvSpPr>
        <p:spPr>
          <a:xfrm>
            <a:off x="1603858" y="5029200"/>
            <a:ext cx="6644030" cy="45720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大部分業主已簽名申請規劃條件圖；2026-07 起結構及電力聯合巡查</a:t>
            </a:r>
            <a:endParaRPr lang="en-US" sz="1150" dirty="0"/>
          </a:p>
        </p:txBody>
      </p:sp>
      <p:sp>
        <p:nvSpPr>
          <p:cNvPr id="27" name="Shape 24"/>
          <p:cNvSpPr/>
          <p:nvPr/>
        </p:nvSpPr>
        <p:spPr>
          <a:xfrm>
            <a:off x="566928" y="5468112"/>
            <a:ext cx="7680960" cy="12802"/>
          </a:xfrm>
          <a:prstGeom prst="rect">
            <a:avLst/>
          </a:prstGeom>
          <a:solidFill>
            <a:srgbClr val="C72A09"/>
          </a:solidFill>
          <a:ln/>
        </p:spPr>
      </p:sp>
      <p:sp>
        <p:nvSpPr>
          <p:cNvPr id="28" name="Text 25"/>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澳門都市更新股份有限公司新聞稿（2024-09-20）；土地工務局（2026-07）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(17)</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第二部分　現況與趨勢　·　問題二</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舊樓租金較低，長者住戶增加</a:t>
            </a:r>
            <a:endParaRPr lang="en-US" sz="3400" dirty="0"/>
          </a:p>
        </p:txBody>
      </p:sp>
      <p:graphicFrame>
        <p:nvGraphicFramePr>
          <p:cNvPr id="8" name="Chart 0" descr=""/>
          <p:cNvGraphicFramePr/>
          <p:nvPr/>
        </p:nvGraphicFramePr>
        <p:xfrm>
          <a:off x="566928" y="1600200"/>
          <a:ext cx="5212080" cy="30175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66928" y="4663440"/>
            <a:ext cx="5212080" cy="310896"/>
          </a:xfrm>
          <a:prstGeom prst="rect">
            <a:avLst/>
          </a:prstGeom>
          <a:noFill/>
          <a:ln/>
        </p:spPr>
        <p:txBody>
          <a:bodyPr wrap="square" lIns="0" tIns="0" rIns="0" bIns="0" rtlCol="0" anchor="t"/>
          <a:lstStyle/>
          <a:p>
            <a:pPr algn="l" indent="0" marL="0">
              <a:lnSpc>
                <a:spcPct val="125000"/>
              </a:lnSpc>
              <a:buNone/>
            </a:pPr>
            <a:r>
              <a:rPr lang="en-US" sz="1050" b="1" spc="60" kern="0" dirty="0">
                <a:solidFill>
                  <a:srgbClr val="CA0013"/>
                </a:solidFill>
                <a:latin typeface="Microsoft JhengHei" pitchFamily="34" charset="0"/>
                <a:ea typeface="Microsoft JhengHei" pitchFamily="34" charset="-122"/>
                <a:cs typeface="Microsoft JhengHei" pitchFamily="34" charset="-120"/>
              </a:rPr>
              <a:t>每平方米平均租金（澳門元），2025 全年，按樓齡</a:t>
            </a:r>
            <a:endParaRPr lang="en-US" sz="1050" dirty="0"/>
          </a:p>
        </p:txBody>
      </p:sp>
      <p:sp>
        <p:nvSpPr>
          <p:cNvPr id="10" name="Text 7"/>
          <p:cNvSpPr txBox="1"/>
          <p:nvPr/>
        </p:nvSpPr>
        <p:spPr>
          <a:xfrm>
            <a:off x="566928" y="5029200"/>
            <a:ext cx="5212080" cy="640080"/>
          </a:xfrm>
          <a:prstGeom prst="rect">
            <a:avLst/>
          </a:prstGeom>
          <a:noFill/>
          <a:ln/>
        </p:spPr>
        <p:txBody>
          <a:bodyPr wrap="square" lIns="0" tIns="0" rIns="0" bIns="0" rtlCol="0" anchor="t"/>
          <a:lstStyle/>
          <a:p>
            <a:pPr indent="0" marL="0">
              <a:lnSpc>
                <a:spcPct val="140000"/>
              </a:lnSpc>
              <a:buNone/>
            </a:pPr>
            <a:r>
              <a:rPr lang="en-US" sz="1150" dirty="0">
                <a:solidFill>
                  <a:srgbClr val="CA0013"/>
                </a:solidFill>
                <a:latin typeface="Microsoft JhengHei" pitchFamily="34" charset="0"/>
                <a:ea typeface="Microsoft JhengHei" pitchFamily="34" charset="-122"/>
                <a:cs typeface="Microsoft JhengHei" pitchFamily="34" charset="-120"/>
              </a:rPr>
              <a:t>舊樓租金較低，反映居住條件較差，是後面階級與租隙分析的線索。</a:t>
            </a:r>
            <a:endParaRPr lang="en-US" sz="1150" dirty="0"/>
          </a:p>
        </p:txBody>
      </p:sp>
      <p:sp>
        <p:nvSpPr>
          <p:cNvPr id="11" name="Text 8"/>
          <p:cNvSpPr txBox="1"/>
          <p:nvPr/>
        </p:nvSpPr>
        <p:spPr>
          <a:xfrm>
            <a:off x="6309360" y="1645920"/>
            <a:ext cx="1060704" cy="585216"/>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租金</a:t>
            </a:r>
            <a:endParaRPr lang="en-US" sz="1100" dirty="0"/>
          </a:p>
        </p:txBody>
      </p:sp>
      <p:sp>
        <p:nvSpPr>
          <p:cNvPr id="12" name="Text 9"/>
          <p:cNvSpPr txBox="1"/>
          <p:nvPr/>
        </p:nvSpPr>
        <p:spPr>
          <a:xfrm>
            <a:off x="7449617" y="1645920"/>
            <a:ext cx="4163263" cy="585216"/>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樓齡 30 年以上 119 元，約為 5 年及以下新樓（182 元）的 65%</a:t>
            </a:r>
            <a:endParaRPr lang="en-US" sz="1100" dirty="0"/>
          </a:p>
        </p:txBody>
      </p:sp>
      <p:sp>
        <p:nvSpPr>
          <p:cNvPr id="13" name="Shape 10"/>
          <p:cNvSpPr/>
          <p:nvPr/>
        </p:nvSpPr>
        <p:spPr>
          <a:xfrm>
            <a:off x="6309360" y="2212848"/>
            <a:ext cx="5303520" cy="12802"/>
          </a:xfrm>
          <a:prstGeom prst="rect">
            <a:avLst/>
          </a:prstGeom>
          <a:solidFill>
            <a:srgbClr val="C72A09"/>
          </a:solidFill>
          <a:ln/>
        </p:spPr>
      </p:sp>
      <p:sp>
        <p:nvSpPr>
          <p:cNvPr id="14" name="Text 11"/>
          <p:cNvSpPr txBox="1"/>
          <p:nvPr/>
        </p:nvSpPr>
        <p:spPr>
          <a:xfrm>
            <a:off x="6309360" y="2322576"/>
            <a:ext cx="1060704" cy="585216"/>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長者住戶</a:t>
            </a:r>
            <a:endParaRPr lang="en-US" sz="1100" dirty="0"/>
          </a:p>
        </p:txBody>
      </p:sp>
      <p:sp>
        <p:nvSpPr>
          <p:cNvPr id="15" name="Text 12"/>
          <p:cNvSpPr txBox="1"/>
          <p:nvPr/>
        </p:nvSpPr>
        <p:spPr>
          <a:xfrm>
            <a:off x="7449617" y="2322576"/>
            <a:ext cx="4163263" cy="585216"/>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10,989 戶（2012/13）→ 18,223 戶（2017/18），+65.8%；佔住戶 6.1% → 9.5%</a:t>
            </a:r>
            <a:endParaRPr lang="en-US" sz="1100" dirty="0"/>
          </a:p>
        </p:txBody>
      </p:sp>
      <p:sp>
        <p:nvSpPr>
          <p:cNvPr id="16" name="Shape 13"/>
          <p:cNvSpPr/>
          <p:nvPr/>
        </p:nvSpPr>
        <p:spPr>
          <a:xfrm>
            <a:off x="6309360" y="2889504"/>
            <a:ext cx="5303520" cy="12802"/>
          </a:xfrm>
          <a:prstGeom prst="rect">
            <a:avLst/>
          </a:prstGeom>
          <a:solidFill>
            <a:srgbClr val="C72A09"/>
          </a:solidFill>
          <a:ln/>
        </p:spPr>
      </p:sp>
      <p:sp>
        <p:nvSpPr>
          <p:cNvPr id="17" name="Text 14"/>
          <p:cNvSpPr txBox="1"/>
          <p:nvPr/>
        </p:nvSpPr>
        <p:spPr>
          <a:xfrm>
            <a:off x="6309360" y="2999232"/>
            <a:ext cx="1060704" cy="585216"/>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人口老化</a:t>
            </a:r>
            <a:endParaRPr lang="en-US" sz="1100" dirty="0"/>
          </a:p>
        </p:txBody>
      </p:sp>
      <p:sp>
        <p:nvSpPr>
          <p:cNvPr id="18" name="Text 15"/>
          <p:cNvSpPr txBox="1"/>
          <p:nvPr/>
        </p:nvSpPr>
        <p:spPr>
          <a:xfrm>
            <a:off x="7449617" y="2999232"/>
            <a:ext cx="4163263" cy="585216"/>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65 歲以上 12.1%（2021）；統計局 2016 年預測 2036 年 19.9%</a:t>
            </a:r>
            <a:endParaRPr lang="en-US" sz="1100" dirty="0"/>
          </a:p>
        </p:txBody>
      </p:sp>
      <p:sp>
        <p:nvSpPr>
          <p:cNvPr id="19" name="Shape 16"/>
          <p:cNvSpPr/>
          <p:nvPr/>
        </p:nvSpPr>
        <p:spPr>
          <a:xfrm>
            <a:off x="6309360" y="3566160"/>
            <a:ext cx="5303520" cy="12802"/>
          </a:xfrm>
          <a:prstGeom prst="rect">
            <a:avLst/>
          </a:prstGeom>
          <a:solidFill>
            <a:srgbClr val="C72A09"/>
          </a:solidFill>
          <a:ln/>
        </p:spPr>
      </p:sp>
      <p:sp>
        <p:nvSpPr>
          <p:cNvPr id="20" name="Text 17"/>
          <p:cNvSpPr txBox="1"/>
          <p:nvPr/>
        </p:nvSpPr>
        <p:spPr>
          <a:xfrm>
            <a:off x="6309360" y="3675888"/>
            <a:ext cx="1060704" cy="585216"/>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長者公寓</a:t>
            </a:r>
            <a:endParaRPr lang="en-US" sz="1100" dirty="0"/>
          </a:p>
        </p:txBody>
      </p:sp>
      <p:sp>
        <p:nvSpPr>
          <p:cNvPr id="21" name="Text 18"/>
          <p:cNvSpPr txBox="1"/>
          <p:nvPr/>
        </p:nvSpPr>
        <p:spPr>
          <a:xfrm>
            <a:off x="7449617" y="3675888"/>
            <a:ext cx="4163263" cy="585216"/>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近四成居於唐樓的長者希望即時入住長者公寓（政策研究 2022）</a:t>
            </a:r>
            <a:endParaRPr lang="en-US" sz="1100" dirty="0"/>
          </a:p>
        </p:txBody>
      </p:sp>
      <p:sp>
        <p:nvSpPr>
          <p:cNvPr id="22" name="Shape 19"/>
          <p:cNvSpPr/>
          <p:nvPr/>
        </p:nvSpPr>
        <p:spPr>
          <a:xfrm>
            <a:off x="6309360" y="4242816"/>
            <a:ext cx="5303520" cy="12802"/>
          </a:xfrm>
          <a:prstGeom prst="rect">
            <a:avLst/>
          </a:prstGeom>
          <a:solidFill>
            <a:srgbClr val="C72A09"/>
          </a:solidFill>
          <a:ln/>
        </p:spPr>
      </p:sp>
      <p:sp>
        <p:nvSpPr>
          <p:cNvPr id="23" name="Shape 20"/>
          <p:cNvSpPr/>
          <p:nvPr/>
        </p:nvSpPr>
        <p:spPr>
          <a:xfrm>
            <a:off x="6309360" y="4434840"/>
            <a:ext cx="5303520" cy="1234440"/>
          </a:xfrm>
          <a:prstGeom prst="rect">
            <a:avLst/>
          </a:prstGeom>
          <a:solidFill>
            <a:srgbClr val="EEEBE3"/>
          </a:solidFill>
          <a:ln w="12700">
            <a:solidFill>
              <a:srgbClr val="CA0013"/>
            </a:solidFill>
            <a:prstDash val="dash"/>
          </a:ln>
        </p:spPr>
      </p:sp>
      <p:sp>
        <p:nvSpPr>
          <p:cNvPr id="24" name="Text 21"/>
          <p:cNvSpPr txBox="1"/>
          <p:nvPr/>
        </p:nvSpPr>
        <p:spPr>
          <a:xfrm>
            <a:off x="6492240" y="4544568"/>
            <a:ext cx="4937760" cy="310896"/>
          </a:xfrm>
          <a:prstGeom prst="rect">
            <a:avLst/>
          </a:prstGeom>
          <a:noFill/>
          <a:ln/>
        </p:spPr>
        <p:txBody>
          <a:bodyPr wrap="square" lIns="0" tIns="0" rIns="0" bIns="0" rtlCol="0" anchor="t"/>
          <a:lstStyle/>
          <a:p>
            <a:pPr algn="l" indent="0" marL="0">
              <a:lnSpc>
                <a:spcPct val="125000"/>
              </a:lnSpc>
              <a:buNone/>
            </a:pPr>
            <a:r>
              <a:rPr lang="en-US" sz="1000" b="1" spc="200" kern="0" dirty="0">
                <a:solidFill>
                  <a:srgbClr val="CA0013"/>
                </a:solidFill>
                <a:latin typeface="Microsoft JhengHei" pitchFamily="34" charset="0"/>
                <a:ea typeface="Microsoft JhengHei" pitchFamily="34" charset="-122"/>
                <a:cs typeface="Microsoft JhengHei" pitchFamily="34" charset="-120"/>
              </a:rPr>
              <a:t>訪問引用位</a:t>
            </a:r>
            <a:endParaRPr lang="en-US" sz="1000" dirty="0"/>
          </a:p>
        </p:txBody>
      </p:sp>
      <p:sp>
        <p:nvSpPr>
          <p:cNvPr id="25" name="Text 22"/>
          <p:cNvSpPr txBox="1"/>
          <p:nvPr/>
        </p:nvSpPr>
        <p:spPr>
          <a:xfrm>
            <a:off x="6492240" y="4800600"/>
            <a:ext cx="4937760" cy="274320"/>
          </a:xfrm>
          <a:prstGeom prst="rect">
            <a:avLst/>
          </a:prstGeom>
          <a:noFill/>
          <a:ln/>
        </p:spPr>
        <p:txBody>
          <a:bodyPr wrap="square" lIns="0" tIns="0" rIns="0" bIns="0" rtlCol="0" anchor="t"/>
          <a:lstStyle/>
          <a:p>
            <a:pPr indent="0" marL="0">
              <a:buNone/>
            </a:pPr>
            <a:r>
              <a:rPr lang="en-US" sz="1150" b="1" dirty="0">
                <a:solidFill>
                  <a:srgbClr val="CA0013"/>
                </a:solidFill>
                <a:latin typeface="Microsoft JhengHei" pitchFamily="34" charset="0"/>
                <a:ea typeface="Microsoft JhengHei" pitchFamily="34" charset="-122"/>
                <a:cs typeface="Microsoft JhengHei" pitchFamily="34" charset="-120"/>
              </a:rPr>
              <a:t>受訪者＿＿（社團／都更公司／舊區居民）</a:t>
            </a:r>
            <a:endParaRPr lang="en-US" sz="1150" dirty="0"/>
          </a:p>
        </p:txBody>
      </p:sp>
      <p:sp>
        <p:nvSpPr>
          <p:cNvPr id="26" name="Text 23"/>
          <p:cNvSpPr txBox="1"/>
          <p:nvPr/>
        </p:nvSpPr>
        <p:spPr>
          <a:xfrm>
            <a:off x="6492240" y="5056632"/>
            <a:ext cx="4937760" cy="576072"/>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追問：舊區居民為何搬不走或不願搬？重建的租金、回遷、安置最擔心什麼？</a:t>
            </a:r>
            <a:endParaRPr lang="en-US" sz="1050" dirty="0"/>
          </a:p>
        </p:txBody>
      </p:sp>
      <p:sp>
        <p:nvSpPr>
          <p:cNvPr id="27" name="Text 24"/>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統計暨普查局《租金統計》2025；政策研究和區域發展局（2022）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(18)</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第二部分　現況與趨勢　·　問題二</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重建的四重障礙</a:t>
            </a:r>
            <a:endParaRPr lang="en-US" sz="3400" dirty="0"/>
          </a:p>
        </p:txBody>
      </p:sp>
      <p:sp>
        <p:nvSpPr>
          <p:cNvPr id="8" name="Text 6"/>
          <p:cNvSpPr txBox="1"/>
          <p:nvPr/>
        </p:nvSpPr>
        <p:spPr>
          <a:xfrm>
            <a:off x="566928" y="1600200"/>
            <a:ext cx="5303520" cy="310896"/>
          </a:xfrm>
          <a:prstGeom prst="rect">
            <a:avLst/>
          </a:prstGeom>
          <a:noFill/>
          <a:ln/>
        </p:spPr>
        <p:txBody>
          <a:bodyPr wrap="square" lIns="0" tIns="0" rIns="0" bIns="0" rtlCol="0" anchor="t"/>
          <a:lstStyle/>
          <a:p>
            <a:pPr algn="l" indent="0" marL="0">
              <a:lnSpc>
                <a:spcPct val="125000"/>
              </a:lnSpc>
              <a:buNone/>
            </a:pPr>
            <a:r>
              <a:rPr lang="en-US" sz="1150" b="1" spc="240" kern="0" dirty="0">
                <a:solidFill>
                  <a:srgbClr val="CA0013"/>
                </a:solidFill>
                <a:latin typeface="Microsoft JhengHei" pitchFamily="34" charset="0"/>
                <a:ea typeface="Microsoft JhengHei" pitchFamily="34" charset="-122"/>
                <a:cs typeface="Microsoft JhengHei" pitchFamily="34" charset="-120"/>
              </a:rPr>
              <a:t>障礙一</a:t>
            </a:r>
            <a:endParaRPr lang="en-US" sz="1150" dirty="0"/>
          </a:p>
        </p:txBody>
      </p:sp>
      <p:sp>
        <p:nvSpPr>
          <p:cNvPr id="9" name="Text 7"/>
          <p:cNvSpPr txBox="1"/>
          <p:nvPr/>
        </p:nvSpPr>
        <p:spPr>
          <a:xfrm>
            <a:off x="566928" y="1892808"/>
            <a:ext cx="5303520" cy="411480"/>
          </a:xfrm>
          <a:prstGeom prst="rect">
            <a:avLst/>
          </a:prstGeom>
          <a:noFill/>
          <a:ln/>
        </p:spPr>
        <p:txBody>
          <a:bodyPr wrap="square" lIns="0" tIns="0" rIns="0" bIns="0" rtlCol="0" anchor="t"/>
          <a:lstStyle/>
          <a:p>
            <a:pPr indent="0" marL="0">
              <a:buNone/>
            </a:pPr>
            <a:r>
              <a:rPr lang="en-US" sz="2000" b="1" dirty="0">
                <a:solidFill>
                  <a:srgbClr val="CA0013"/>
                </a:solidFill>
                <a:latin typeface="Microsoft JhengHei" pitchFamily="34" charset="0"/>
                <a:ea typeface="Microsoft JhengHei" pitchFamily="34" charset="-122"/>
                <a:cs typeface="Microsoft JhengHei" pitchFamily="34" charset="-120"/>
              </a:rPr>
              <a:t>門檻與業主聯絡</a:t>
            </a:r>
            <a:endParaRPr lang="en-US" sz="2000" dirty="0"/>
          </a:p>
        </p:txBody>
      </p:sp>
      <p:sp>
        <p:nvSpPr>
          <p:cNvPr id="10" name="Shape 8"/>
          <p:cNvSpPr/>
          <p:nvPr/>
        </p:nvSpPr>
        <p:spPr>
          <a:xfrm>
            <a:off x="566928" y="2377440"/>
            <a:ext cx="5303520" cy="18288"/>
          </a:xfrm>
          <a:prstGeom prst="rect">
            <a:avLst/>
          </a:prstGeom>
          <a:solidFill>
            <a:srgbClr val="C72A09"/>
          </a:solidFill>
          <a:ln/>
        </p:spPr>
      </p:sp>
      <p:sp>
        <p:nvSpPr>
          <p:cNvPr id="11" name="Text 9"/>
          <p:cNvSpPr txBox="1"/>
          <p:nvPr/>
        </p:nvSpPr>
        <p:spPr>
          <a:xfrm>
            <a:off x="566928" y="2496312"/>
            <a:ext cx="5303520" cy="1097280"/>
          </a:xfrm>
          <a:prstGeom prst="rect">
            <a:avLst/>
          </a:prstGeom>
          <a:noFill/>
          <a:ln/>
        </p:spPr>
        <p:txBody>
          <a:bodyPr wrap="square" lIns="0" tIns="0" rIns="0" bIns="0" rtlCol="0" anchor="t"/>
          <a:lstStyle/>
          <a:p>
            <a:pPr indent="0" marL="0">
              <a:lnSpc>
                <a:spcPct val="140000"/>
              </a:lnSpc>
              <a:buNone/>
            </a:pPr>
            <a:r>
              <a:rPr lang="en-US" sz="1150" dirty="0">
                <a:solidFill>
                  <a:srgbClr val="CA0013"/>
                </a:solidFill>
                <a:latin typeface="Microsoft JhengHei" pitchFamily="34" charset="0"/>
                <a:ea typeface="Microsoft JhengHei" pitchFamily="34" charset="-122"/>
                <a:cs typeface="Microsoft JhengHei" pitchFamily="34" charset="-120"/>
              </a:rPr>
              <a:t>85%／80% 仍要求絕大多數業主同意。官方稱祐漢仍需聯絡身處海外的業主；不同意者須經仲裁強制參與。</a:t>
            </a:r>
            <a:endParaRPr lang="en-US" sz="1150" dirty="0"/>
          </a:p>
        </p:txBody>
      </p:sp>
      <p:sp>
        <p:nvSpPr>
          <p:cNvPr id="12" name="Text 10"/>
          <p:cNvSpPr txBox="1"/>
          <p:nvPr/>
        </p:nvSpPr>
        <p:spPr>
          <a:xfrm>
            <a:off x="6327648" y="1600200"/>
            <a:ext cx="5303520" cy="310896"/>
          </a:xfrm>
          <a:prstGeom prst="rect">
            <a:avLst/>
          </a:prstGeom>
          <a:noFill/>
          <a:ln/>
        </p:spPr>
        <p:txBody>
          <a:bodyPr wrap="square" lIns="0" tIns="0" rIns="0" bIns="0" rtlCol="0" anchor="t"/>
          <a:lstStyle/>
          <a:p>
            <a:pPr algn="l" indent="0" marL="0">
              <a:lnSpc>
                <a:spcPct val="125000"/>
              </a:lnSpc>
              <a:buNone/>
            </a:pPr>
            <a:r>
              <a:rPr lang="en-US" sz="1150" b="1" spc="240" kern="0" dirty="0">
                <a:solidFill>
                  <a:srgbClr val="CA0013"/>
                </a:solidFill>
                <a:latin typeface="Microsoft JhengHei" pitchFamily="34" charset="0"/>
                <a:ea typeface="Microsoft JhengHei" pitchFamily="34" charset="-122"/>
                <a:cs typeface="Microsoft JhengHei" pitchFamily="34" charset="-120"/>
              </a:rPr>
              <a:t>障礙二</a:t>
            </a:r>
            <a:endParaRPr lang="en-US" sz="1150" dirty="0"/>
          </a:p>
        </p:txBody>
      </p:sp>
      <p:sp>
        <p:nvSpPr>
          <p:cNvPr id="13" name="Text 11"/>
          <p:cNvSpPr txBox="1"/>
          <p:nvPr/>
        </p:nvSpPr>
        <p:spPr>
          <a:xfrm>
            <a:off x="6327648" y="1892808"/>
            <a:ext cx="5303520" cy="411480"/>
          </a:xfrm>
          <a:prstGeom prst="rect">
            <a:avLst/>
          </a:prstGeom>
          <a:noFill/>
          <a:ln/>
        </p:spPr>
        <p:txBody>
          <a:bodyPr wrap="square" lIns="0" tIns="0" rIns="0" bIns="0" rtlCol="0" anchor="t"/>
          <a:lstStyle/>
          <a:p>
            <a:pPr indent="0" marL="0">
              <a:buNone/>
            </a:pPr>
            <a:r>
              <a:rPr lang="en-US" sz="2000" b="1" dirty="0">
                <a:solidFill>
                  <a:srgbClr val="CA0013"/>
                </a:solidFill>
                <a:latin typeface="Microsoft JhengHei" pitchFamily="34" charset="0"/>
                <a:ea typeface="Microsoft JhengHei" pitchFamily="34" charset="-122"/>
                <a:cs typeface="Microsoft JhengHei" pitchFamily="34" charset="-120"/>
              </a:rPr>
              <a:t>維修與管理</a:t>
            </a:r>
            <a:endParaRPr lang="en-US" sz="2000" dirty="0"/>
          </a:p>
        </p:txBody>
      </p:sp>
      <p:sp>
        <p:nvSpPr>
          <p:cNvPr id="14" name="Shape 12"/>
          <p:cNvSpPr/>
          <p:nvPr/>
        </p:nvSpPr>
        <p:spPr>
          <a:xfrm>
            <a:off x="6327648" y="2377440"/>
            <a:ext cx="5303520" cy="18288"/>
          </a:xfrm>
          <a:prstGeom prst="rect">
            <a:avLst/>
          </a:prstGeom>
          <a:solidFill>
            <a:srgbClr val="C72A09"/>
          </a:solidFill>
          <a:ln/>
        </p:spPr>
      </p:sp>
      <p:sp>
        <p:nvSpPr>
          <p:cNvPr id="15" name="Text 13"/>
          <p:cNvSpPr txBox="1"/>
          <p:nvPr/>
        </p:nvSpPr>
        <p:spPr>
          <a:xfrm>
            <a:off x="6327648" y="2496312"/>
            <a:ext cx="5303520" cy="1097280"/>
          </a:xfrm>
          <a:prstGeom prst="rect">
            <a:avLst/>
          </a:prstGeom>
          <a:noFill/>
          <a:ln/>
        </p:spPr>
        <p:txBody>
          <a:bodyPr wrap="square" lIns="0" tIns="0" rIns="0" bIns="0" rtlCol="0" anchor="t"/>
          <a:lstStyle/>
          <a:p>
            <a:pPr indent="0" marL="0">
              <a:lnSpc>
                <a:spcPct val="140000"/>
              </a:lnSpc>
              <a:buNone/>
            </a:pPr>
            <a:r>
              <a:rPr lang="en-US" sz="1150" dirty="0">
                <a:solidFill>
                  <a:srgbClr val="CA0013"/>
                </a:solidFill>
                <a:latin typeface="Microsoft JhengHei" pitchFamily="34" charset="0"/>
                <a:ea typeface="Microsoft JhengHei" pitchFamily="34" charset="-122"/>
                <a:cs typeface="Microsoft JhengHei" pitchFamily="34" charset="-120"/>
              </a:rPr>
              <a:t>舊樓的管理機關與共同儲備基金並不普遍（俗稱「三無」，官方定義待核）。祐漢由都更公司協助成立管理機關及基金，其餘舊區未見同等公開資料。</a:t>
            </a:r>
            <a:endParaRPr lang="en-US" sz="1150" dirty="0"/>
          </a:p>
        </p:txBody>
      </p:sp>
      <p:sp>
        <p:nvSpPr>
          <p:cNvPr id="16" name="Text 14"/>
          <p:cNvSpPr txBox="1"/>
          <p:nvPr/>
        </p:nvSpPr>
        <p:spPr>
          <a:xfrm>
            <a:off x="566928" y="3657600"/>
            <a:ext cx="5303520" cy="310896"/>
          </a:xfrm>
          <a:prstGeom prst="rect">
            <a:avLst/>
          </a:prstGeom>
          <a:noFill/>
          <a:ln/>
        </p:spPr>
        <p:txBody>
          <a:bodyPr wrap="square" lIns="0" tIns="0" rIns="0" bIns="0" rtlCol="0" anchor="t"/>
          <a:lstStyle/>
          <a:p>
            <a:pPr algn="l" indent="0" marL="0">
              <a:lnSpc>
                <a:spcPct val="125000"/>
              </a:lnSpc>
              <a:buNone/>
            </a:pPr>
            <a:r>
              <a:rPr lang="en-US" sz="1150" b="1" spc="240" kern="0" dirty="0">
                <a:solidFill>
                  <a:srgbClr val="CA0013"/>
                </a:solidFill>
                <a:latin typeface="Microsoft JhengHei" pitchFamily="34" charset="0"/>
                <a:ea typeface="Microsoft JhengHei" pitchFamily="34" charset="-122"/>
                <a:cs typeface="Microsoft JhengHei" pitchFamily="34" charset="-120"/>
              </a:rPr>
              <a:t>障礙三</a:t>
            </a:r>
            <a:endParaRPr lang="en-US" sz="1150" dirty="0"/>
          </a:p>
        </p:txBody>
      </p:sp>
      <p:sp>
        <p:nvSpPr>
          <p:cNvPr id="17" name="Text 15"/>
          <p:cNvSpPr txBox="1"/>
          <p:nvPr/>
        </p:nvSpPr>
        <p:spPr>
          <a:xfrm>
            <a:off x="566928" y="3950208"/>
            <a:ext cx="5303520" cy="411480"/>
          </a:xfrm>
          <a:prstGeom prst="rect">
            <a:avLst/>
          </a:prstGeom>
          <a:noFill/>
          <a:ln/>
        </p:spPr>
        <p:txBody>
          <a:bodyPr wrap="square" lIns="0" tIns="0" rIns="0" bIns="0" rtlCol="0" anchor="t"/>
          <a:lstStyle/>
          <a:p>
            <a:pPr indent="0" marL="0">
              <a:buNone/>
            </a:pPr>
            <a:r>
              <a:rPr lang="en-US" sz="2000" b="1" dirty="0">
                <a:solidFill>
                  <a:srgbClr val="CA0013"/>
                </a:solidFill>
                <a:latin typeface="Microsoft JhengHei" pitchFamily="34" charset="0"/>
                <a:ea typeface="Microsoft JhengHei" pitchFamily="34" charset="-122"/>
                <a:cs typeface="Microsoft JhengHei" pitchFamily="34" charset="-120"/>
              </a:rPr>
              <a:t>安置與置換</a:t>
            </a:r>
            <a:endParaRPr lang="en-US" sz="2000" dirty="0"/>
          </a:p>
        </p:txBody>
      </p:sp>
      <p:sp>
        <p:nvSpPr>
          <p:cNvPr id="18" name="Shape 16"/>
          <p:cNvSpPr/>
          <p:nvPr/>
        </p:nvSpPr>
        <p:spPr>
          <a:xfrm>
            <a:off x="566928" y="4434840"/>
            <a:ext cx="5303520" cy="18288"/>
          </a:xfrm>
          <a:prstGeom prst="rect">
            <a:avLst/>
          </a:prstGeom>
          <a:solidFill>
            <a:srgbClr val="C72A09"/>
          </a:solidFill>
          <a:ln/>
        </p:spPr>
      </p:sp>
      <p:sp>
        <p:nvSpPr>
          <p:cNvPr id="19" name="Text 17"/>
          <p:cNvSpPr txBox="1"/>
          <p:nvPr/>
        </p:nvSpPr>
        <p:spPr>
          <a:xfrm>
            <a:off x="566928" y="4553712"/>
            <a:ext cx="5303520" cy="1097280"/>
          </a:xfrm>
          <a:prstGeom prst="rect">
            <a:avLst/>
          </a:prstGeom>
          <a:noFill/>
          <a:ln/>
        </p:spPr>
        <p:txBody>
          <a:bodyPr wrap="square" lIns="0" tIns="0" rIns="0" bIns="0" rtlCol="0" anchor="t"/>
          <a:lstStyle/>
          <a:p>
            <a:pPr indent="0" marL="0">
              <a:lnSpc>
                <a:spcPct val="140000"/>
              </a:lnSpc>
              <a:buNone/>
            </a:pPr>
            <a:r>
              <a:rPr lang="en-US" sz="1150" dirty="0">
                <a:solidFill>
                  <a:srgbClr val="CA0013"/>
                </a:solidFill>
                <a:latin typeface="Microsoft JhengHei" pitchFamily="34" charset="0"/>
                <a:ea typeface="Microsoft JhengHei" pitchFamily="34" charset="-122"/>
                <a:cs typeface="Microsoft JhengHei" pitchFamily="34" charset="-120"/>
              </a:rPr>
              <a:t>暫住房 2,803 個單位（供受都更影響的業權人租住）；黑沙環「P」地段置換房購買期屆滿（2026-01）只有 338 個完成購買。議員指置換房資格限於「因都更被拆卸而無法回遷」的業權人，戶型亦不易對應舊樓（質詢，2026-03）。</a:t>
            </a:r>
            <a:endParaRPr lang="en-US" sz="1150" dirty="0"/>
          </a:p>
        </p:txBody>
      </p:sp>
      <p:sp>
        <p:nvSpPr>
          <p:cNvPr id="20" name="Text 18"/>
          <p:cNvSpPr txBox="1"/>
          <p:nvPr/>
        </p:nvSpPr>
        <p:spPr>
          <a:xfrm>
            <a:off x="6327648" y="3657600"/>
            <a:ext cx="5303520" cy="310896"/>
          </a:xfrm>
          <a:prstGeom prst="rect">
            <a:avLst/>
          </a:prstGeom>
          <a:noFill/>
          <a:ln/>
        </p:spPr>
        <p:txBody>
          <a:bodyPr wrap="square" lIns="0" tIns="0" rIns="0" bIns="0" rtlCol="0" anchor="t"/>
          <a:lstStyle/>
          <a:p>
            <a:pPr algn="l" indent="0" marL="0">
              <a:lnSpc>
                <a:spcPct val="125000"/>
              </a:lnSpc>
              <a:buNone/>
            </a:pPr>
            <a:r>
              <a:rPr lang="en-US" sz="1150" b="1" spc="240" kern="0" dirty="0">
                <a:solidFill>
                  <a:srgbClr val="CA0013"/>
                </a:solidFill>
                <a:latin typeface="Microsoft JhengHei" pitchFamily="34" charset="0"/>
                <a:ea typeface="Microsoft JhengHei" pitchFamily="34" charset="-122"/>
                <a:cs typeface="Microsoft JhengHei" pitchFamily="34" charset="-120"/>
              </a:rPr>
              <a:t>障礙四</a:t>
            </a:r>
            <a:endParaRPr lang="en-US" sz="1150" dirty="0"/>
          </a:p>
        </p:txBody>
      </p:sp>
      <p:sp>
        <p:nvSpPr>
          <p:cNvPr id="21" name="Text 19"/>
          <p:cNvSpPr txBox="1"/>
          <p:nvPr/>
        </p:nvSpPr>
        <p:spPr>
          <a:xfrm>
            <a:off x="6327648" y="3950208"/>
            <a:ext cx="5303520" cy="411480"/>
          </a:xfrm>
          <a:prstGeom prst="rect">
            <a:avLst/>
          </a:prstGeom>
          <a:noFill/>
          <a:ln/>
        </p:spPr>
        <p:txBody>
          <a:bodyPr wrap="square" lIns="0" tIns="0" rIns="0" bIns="0" rtlCol="0" anchor="t"/>
          <a:lstStyle/>
          <a:p>
            <a:pPr indent="0" marL="0">
              <a:buNone/>
            </a:pPr>
            <a:r>
              <a:rPr lang="en-US" sz="2000" b="1" dirty="0">
                <a:solidFill>
                  <a:srgbClr val="CA0013"/>
                </a:solidFill>
                <a:latin typeface="Microsoft JhengHei" pitchFamily="34" charset="0"/>
                <a:ea typeface="Microsoft JhengHei" pitchFamily="34" charset="-122"/>
                <a:cs typeface="Microsoft JhengHei" pitchFamily="34" charset="-120"/>
              </a:rPr>
              <a:t>資料與分級</a:t>
            </a:r>
            <a:endParaRPr lang="en-US" sz="2000" dirty="0"/>
          </a:p>
        </p:txBody>
      </p:sp>
      <p:sp>
        <p:nvSpPr>
          <p:cNvPr id="22" name="Shape 20"/>
          <p:cNvSpPr/>
          <p:nvPr/>
        </p:nvSpPr>
        <p:spPr>
          <a:xfrm>
            <a:off x="6327648" y="4434840"/>
            <a:ext cx="5303520" cy="18288"/>
          </a:xfrm>
          <a:prstGeom prst="rect">
            <a:avLst/>
          </a:prstGeom>
          <a:solidFill>
            <a:srgbClr val="C72A09"/>
          </a:solidFill>
          <a:ln/>
        </p:spPr>
      </p:sp>
      <p:sp>
        <p:nvSpPr>
          <p:cNvPr id="23" name="Text 21"/>
          <p:cNvSpPr txBox="1"/>
          <p:nvPr/>
        </p:nvSpPr>
        <p:spPr>
          <a:xfrm>
            <a:off x="6327648" y="4553712"/>
            <a:ext cx="5303520" cy="1097280"/>
          </a:xfrm>
          <a:prstGeom prst="rect">
            <a:avLst/>
          </a:prstGeom>
          <a:noFill/>
          <a:ln/>
        </p:spPr>
        <p:txBody>
          <a:bodyPr wrap="square" lIns="0" tIns="0" rIns="0" bIns="0" rtlCol="0" anchor="t"/>
          <a:lstStyle/>
          <a:p>
            <a:pPr indent="0" marL="0">
              <a:lnSpc>
                <a:spcPct val="140000"/>
              </a:lnSpc>
              <a:buNone/>
            </a:pPr>
            <a:r>
              <a:rPr lang="en-US" sz="1150" dirty="0">
                <a:solidFill>
                  <a:srgbClr val="CA0013"/>
                </a:solidFill>
                <a:latin typeface="Microsoft JhengHei" pitchFamily="34" charset="0"/>
                <a:ea typeface="Microsoft JhengHei" pitchFamily="34" charset="-122"/>
                <a:cs typeface="Microsoft JhengHei" pitchFamily="34" charset="-120"/>
              </a:rPr>
              <a:t>三層梯度的資料零散；政府至 2026-07 才宣布建立殘舊樓宇資料庫。沒有公開、可比較的時間序列，維修與更新的先後次序難以檢視。</a:t>
            </a:r>
            <a:endParaRPr lang="en-US" sz="1150" dirty="0"/>
          </a:p>
        </p:txBody>
      </p:sp>
      <p:sp>
        <p:nvSpPr>
          <p:cNvPr id="24" name="Text 22"/>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都更公司（2024-09）；議員書面質詢（2026-03）；土地工務局（2026-07）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(19)</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第二部分　現況與趨勢　·　問題三</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五階梯：各階段的供應</a:t>
            </a:r>
            <a:endParaRPr lang="en-US" sz="3400" dirty="0"/>
          </a:p>
        </p:txBody>
      </p:sp>
      <p:sp>
        <p:nvSpPr>
          <p:cNvPr id="8" name="Text 6"/>
          <p:cNvSpPr txBox="1"/>
          <p:nvPr/>
        </p:nvSpPr>
        <p:spPr>
          <a:xfrm>
            <a:off x="566928" y="1600200"/>
            <a:ext cx="1609344"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階梯</a:t>
            </a:r>
            <a:endParaRPr lang="en-US" sz="1100" dirty="0"/>
          </a:p>
        </p:txBody>
      </p:sp>
      <p:sp>
        <p:nvSpPr>
          <p:cNvPr id="9" name="Text 7"/>
          <p:cNvSpPr txBox="1"/>
          <p:nvPr/>
        </p:nvSpPr>
        <p:spPr>
          <a:xfrm>
            <a:off x="2304288" y="1600200"/>
            <a:ext cx="4718304"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供應數字</a:t>
            </a:r>
            <a:endParaRPr lang="en-US" sz="1100" dirty="0"/>
          </a:p>
        </p:txBody>
      </p:sp>
      <p:sp>
        <p:nvSpPr>
          <p:cNvPr id="10" name="Text 8"/>
          <p:cNvSpPr txBox="1"/>
          <p:nvPr/>
        </p:nvSpPr>
        <p:spPr>
          <a:xfrm>
            <a:off x="7150608" y="1600200"/>
            <a:ext cx="4471416"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狀況</a:t>
            </a:r>
            <a:endParaRPr lang="en-US" sz="1100" dirty="0"/>
          </a:p>
        </p:txBody>
      </p:sp>
      <p:sp>
        <p:nvSpPr>
          <p:cNvPr id="11" name="Shape 9"/>
          <p:cNvSpPr/>
          <p:nvPr/>
        </p:nvSpPr>
        <p:spPr>
          <a:xfrm>
            <a:off x="566928" y="1947672"/>
            <a:ext cx="11057839" cy="18288"/>
          </a:xfrm>
          <a:prstGeom prst="rect">
            <a:avLst/>
          </a:prstGeom>
          <a:solidFill>
            <a:srgbClr val="C72A09"/>
          </a:solidFill>
          <a:ln/>
        </p:spPr>
      </p:sp>
      <p:sp>
        <p:nvSpPr>
          <p:cNvPr id="12" name="Text 10"/>
          <p:cNvSpPr txBox="1"/>
          <p:nvPr/>
        </p:nvSpPr>
        <p:spPr>
          <a:xfrm>
            <a:off x="566928" y="2039112"/>
            <a:ext cx="1609344" cy="56692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社會房屋</a:t>
            </a:r>
            <a:endParaRPr lang="en-US" sz="1200" dirty="0"/>
          </a:p>
        </p:txBody>
      </p:sp>
      <p:sp>
        <p:nvSpPr>
          <p:cNvPr id="13" name="Text 11"/>
          <p:cNvSpPr txBox="1"/>
          <p:nvPr/>
        </p:nvSpPr>
        <p:spPr>
          <a:xfrm>
            <a:off x="2304288" y="2039112"/>
            <a:ext cx="4718304" cy="56692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15,037 個，佔住宅單位 6.3%（2021-06）</a:t>
            </a:r>
            <a:endParaRPr lang="en-US" sz="1200" dirty="0"/>
          </a:p>
        </p:txBody>
      </p:sp>
      <p:sp>
        <p:nvSpPr>
          <p:cNvPr id="14" name="Text 12"/>
          <p:cNvSpPr txBox="1"/>
          <p:nvPr/>
        </p:nvSpPr>
        <p:spPr>
          <a:xfrm>
            <a:off x="7150608" y="2039112"/>
            <a:ext cx="4471416" cy="56692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2017 年申請批次：平均 420 日、最長 870 日上樓</a:t>
            </a:r>
            <a:endParaRPr lang="en-US" sz="1200" dirty="0"/>
          </a:p>
        </p:txBody>
      </p:sp>
      <p:sp>
        <p:nvSpPr>
          <p:cNvPr id="15" name="Shape 13"/>
          <p:cNvSpPr/>
          <p:nvPr/>
        </p:nvSpPr>
        <p:spPr>
          <a:xfrm>
            <a:off x="566928" y="2606040"/>
            <a:ext cx="11057839" cy="12802"/>
          </a:xfrm>
          <a:prstGeom prst="rect">
            <a:avLst/>
          </a:prstGeom>
          <a:solidFill>
            <a:srgbClr val="C72A09"/>
          </a:solidFill>
          <a:ln/>
        </p:spPr>
      </p:sp>
      <p:sp>
        <p:nvSpPr>
          <p:cNvPr id="16" name="Text 14"/>
          <p:cNvSpPr txBox="1"/>
          <p:nvPr/>
        </p:nvSpPr>
        <p:spPr>
          <a:xfrm>
            <a:off x="566928" y="2679192"/>
            <a:ext cx="1609344" cy="56692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經濟房屋</a:t>
            </a:r>
            <a:endParaRPr lang="en-US" sz="1200" dirty="0"/>
          </a:p>
        </p:txBody>
      </p:sp>
      <p:sp>
        <p:nvSpPr>
          <p:cNvPr id="17" name="Text 15"/>
          <p:cNvSpPr txBox="1"/>
          <p:nvPr/>
        </p:nvSpPr>
        <p:spPr>
          <a:xfrm>
            <a:off x="2304288" y="2679192"/>
            <a:ext cx="4718304" cy="56692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2019 期 3,017、2021 期 5,254、2023 期 5,415 個，合共 13,686 個</a:t>
            </a:r>
            <a:endParaRPr lang="en-US" sz="1200" dirty="0"/>
          </a:p>
        </p:txBody>
      </p:sp>
      <p:sp>
        <p:nvSpPr>
          <p:cNvPr id="18" name="Text 16"/>
          <p:cNvSpPr txBox="1"/>
          <p:nvPr/>
        </p:nvSpPr>
        <p:spPr>
          <a:xfrm>
            <a:off x="7150608" y="2679192"/>
            <a:ext cx="4471416" cy="56692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2020 年修法後「永遠姓經」；恆常申請短期不設（議員所述）</a:t>
            </a:r>
            <a:endParaRPr lang="en-US" sz="1200" dirty="0"/>
          </a:p>
        </p:txBody>
      </p:sp>
      <p:sp>
        <p:nvSpPr>
          <p:cNvPr id="19" name="Shape 17"/>
          <p:cNvSpPr/>
          <p:nvPr/>
        </p:nvSpPr>
        <p:spPr>
          <a:xfrm>
            <a:off x="566928" y="3246120"/>
            <a:ext cx="11057839" cy="12802"/>
          </a:xfrm>
          <a:prstGeom prst="rect">
            <a:avLst/>
          </a:prstGeom>
          <a:solidFill>
            <a:srgbClr val="C72A09"/>
          </a:solidFill>
          <a:ln/>
        </p:spPr>
      </p:sp>
      <p:sp>
        <p:nvSpPr>
          <p:cNvPr id="20" name="Text 18"/>
          <p:cNvSpPr txBox="1"/>
          <p:nvPr/>
        </p:nvSpPr>
        <p:spPr>
          <a:xfrm>
            <a:off x="566928" y="3319272"/>
            <a:ext cx="1609344" cy="566928"/>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夾心房屋</a:t>
            </a:r>
            <a:endParaRPr lang="en-US" sz="1300" dirty="0"/>
          </a:p>
        </p:txBody>
      </p:sp>
      <p:sp>
        <p:nvSpPr>
          <p:cNvPr id="21" name="Text 19"/>
          <p:cNvSpPr txBox="1"/>
          <p:nvPr/>
        </p:nvSpPr>
        <p:spPr>
          <a:xfrm>
            <a:off x="2304288" y="3319272"/>
            <a:ext cx="4718304" cy="566928"/>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尚未供應</a:t>
            </a:r>
            <a:endParaRPr lang="en-US" sz="1300" dirty="0"/>
          </a:p>
        </p:txBody>
      </p:sp>
      <p:sp>
        <p:nvSpPr>
          <p:cNvPr id="22" name="Text 20"/>
          <p:cNvSpPr txBox="1"/>
          <p:nvPr/>
        </p:nvSpPr>
        <p:spPr>
          <a:xfrm>
            <a:off x="7150608" y="3319272"/>
            <a:ext cx="4471416" cy="566928"/>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2025-12 報道：運輸工務司司長稱需求不太迫切，順利樓北側用途重新思考</a:t>
            </a:r>
            <a:endParaRPr lang="en-US" sz="1300" dirty="0"/>
          </a:p>
        </p:txBody>
      </p:sp>
      <p:sp>
        <p:nvSpPr>
          <p:cNvPr id="23" name="Shape 21"/>
          <p:cNvSpPr/>
          <p:nvPr/>
        </p:nvSpPr>
        <p:spPr>
          <a:xfrm>
            <a:off x="566928" y="3886200"/>
            <a:ext cx="11057839" cy="12802"/>
          </a:xfrm>
          <a:prstGeom prst="rect">
            <a:avLst/>
          </a:prstGeom>
          <a:solidFill>
            <a:srgbClr val="C72A09"/>
          </a:solidFill>
          <a:ln/>
        </p:spPr>
      </p:sp>
      <p:sp>
        <p:nvSpPr>
          <p:cNvPr id="24" name="Text 22"/>
          <p:cNvSpPr txBox="1"/>
          <p:nvPr/>
        </p:nvSpPr>
        <p:spPr>
          <a:xfrm>
            <a:off x="566928" y="3959352"/>
            <a:ext cx="1609344" cy="56692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長者公寓</a:t>
            </a:r>
            <a:endParaRPr lang="en-US" sz="1200" dirty="0"/>
          </a:p>
        </p:txBody>
      </p:sp>
      <p:sp>
        <p:nvSpPr>
          <p:cNvPr id="25" name="Text 23"/>
          <p:cNvSpPr txBox="1"/>
          <p:nvPr/>
        </p:nvSpPr>
        <p:spPr>
          <a:xfrm>
            <a:off x="2304288" y="3959352"/>
            <a:ext cx="4718304" cy="56692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首批已投入服務（研究報告稱 2024-10，待核）</a:t>
            </a:r>
            <a:endParaRPr lang="en-US" sz="1200" dirty="0"/>
          </a:p>
        </p:txBody>
      </p:sp>
      <p:sp>
        <p:nvSpPr>
          <p:cNvPr id="26" name="Text 24"/>
          <p:cNvSpPr txBox="1"/>
          <p:nvPr/>
        </p:nvSpPr>
        <p:spPr>
          <a:xfrm>
            <a:off x="7150608" y="3959352"/>
            <a:ext cx="4471416" cy="56692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研究預測 2025 年總需求 1,845–3,803 戶</a:t>
            </a:r>
            <a:endParaRPr lang="en-US" sz="1200" dirty="0"/>
          </a:p>
        </p:txBody>
      </p:sp>
      <p:sp>
        <p:nvSpPr>
          <p:cNvPr id="27" name="Shape 25"/>
          <p:cNvSpPr/>
          <p:nvPr/>
        </p:nvSpPr>
        <p:spPr>
          <a:xfrm>
            <a:off x="566928" y="4526280"/>
            <a:ext cx="11057839" cy="12802"/>
          </a:xfrm>
          <a:prstGeom prst="rect">
            <a:avLst/>
          </a:prstGeom>
          <a:solidFill>
            <a:srgbClr val="C72A09"/>
          </a:solidFill>
          <a:ln/>
        </p:spPr>
      </p:sp>
      <p:sp>
        <p:nvSpPr>
          <p:cNvPr id="28" name="Text 26"/>
          <p:cNvSpPr txBox="1"/>
          <p:nvPr/>
        </p:nvSpPr>
        <p:spPr>
          <a:xfrm>
            <a:off x="566928" y="4599432"/>
            <a:ext cx="1609344" cy="56692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私人樓宇</a:t>
            </a:r>
            <a:endParaRPr lang="en-US" sz="1200" dirty="0"/>
          </a:p>
        </p:txBody>
      </p:sp>
      <p:sp>
        <p:nvSpPr>
          <p:cNvPr id="29" name="Text 27"/>
          <p:cNvSpPr txBox="1"/>
          <p:nvPr/>
        </p:nvSpPr>
        <p:spPr>
          <a:xfrm>
            <a:off x="2304288" y="4599432"/>
            <a:ext cx="4718304" cy="56692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238,464 個住宅單位，空置 16,655 個（2021-06）</a:t>
            </a:r>
            <a:endParaRPr lang="en-US" sz="1200" dirty="0"/>
          </a:p>
        </p:txBody>
      </p:sp>
      <p:sp>
        <p:nvSpPr>
          <p:cNvPr id="30" name="Text 28"/>
          <p:cNvSpPr txBox="1"/>
          <p:nvPr/>
        </p:nvSpPr>
        <p:spPr>
          <a:xfrm>
            <a:off x="7150608" y="4599432"/>
            <a:ext cx="4471416" cy="56692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住戶 202,700 戶；單位比住戶多 35,764 個</a:t>
            </a:r>
            <a:endParaRPr lang="en-US" sz="1200" dirty="0"/>
          </a:p>
        </p:txBody>
      </p:sp>
      <p:sp>
        <p:nvSpPr>
          <p:cNvPr id="31" name="Shape 29"/>
          <p:cNvSpPr/>
          <p:nvPr/>
        </p:nvSpPr>
        <p:spPr>
          <a:xfrm>
            <a:off x="566928" y="5166360"/>
            <a:ext cx="11057839" cy="12802"/>
          </a:xfrm>
          <a:prstGeom prst="rect">
            <a:avLst/>
          </a:prstGeom>
          <a:solidFill>
            <a:srgbClr val="C72A09"/>
          </a:solidFill>
          <a:ln/>
        </p:spPr>
      </p:sp>
      <p:sp>
        <p:nvSpPr>
          <p:cNvPr id="32" name="Shape 30"/>
          <p:cNvSpPr/>
          <p:nvPr/>
        </p:nvSpPr>
        <p:spPr>
          <a:xfrm>
            <a:off x="566928" y="5349240"/>
            <a:ext cx="11057839" cy="18288"/>
          </a:xfrm>
          <a:prstGeom prst="rect">
            <a:avLst/>
          </a:prstGeom>
          <a:solidFill>
            <a:srgbClr val="C72A09"/>
          </a:solidFill>
          <a:ln/>
        </p:spPr>
      </p:sp>
      <p:sp>
        <p:nvSpPr>
          <p:cNvPr id="33" name="Text 31"/>
          <p:cNvSpPr txBox="1"/>
          <p:nvPr/>
        </p:nvSpPr>
        <p:spPr>
          <a:xfrm>
            <a:off x="566928" y="5422392"/>
            <a:ext cx="11057839" cy="310896"/>
          </a:xfrm>
          <a:prstGeom prst="rect">
            <a:avLst/>
          </a:prstGeom>
          <a:noFill/>
          <a:ln/>
        </p:spPr>
        <p:txBody>
          <a:bodyPr wrap="square" lIns="0" tIns="0" rIns="0" bIns="0" rtlCol="0" anchor="ctr"/>
          <a:lstStyle/>
          <a:p>
            <a:pPr indent="0" marL="0">
              <a:buNone/>
            </a:pPr>
            <a:r>
              <a:rPr lang="en-US" sz="1400" b="1" dirty="0">
                <a:solidFill>
                  <a:srgbClr val="CA0013"/>
                </a:solidFill>
                <a:latin typeface="Microsoft JhengHei" pitchFamily="34" charset="0"/>
                <a:ea typeface="Microsoft JhengHei" pitchFamily="34" charset="-122"/>
                <a:cs typeface="Microsoft JhengHei" pitchFamily="34" charset="-120"/>
              </a:rPr>
              <a:t>五階梯不是一條連續的梯：夾屋缺位，中間收入的家庭沒有對應的階梯。</a:t>
            </a:r>
            <a:endParaRPr lang="en-US" sz="1400" dirty="0"/>
          </a:p>
        </p:txBody>
      </p:sp>
      <p:sp>
        <p:nvSpPr>
          <p:cNvPr id="34" name="Text 32"/>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政策研究和區域發展局（2022）；房屋局；未來房屋需求研究</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(20)</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第二部分　現況與趨勢　·　問題三</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經屋 2023 期：單位夠，戶型不對</a:t>
            </a:r>
            <a:endParaRPr lang="en-US" sz="3400" dirty="0"/>
          </a:p>
        </p:txBody>
      </p:sp>
      <p:graphicFrame>
        <p:nvGraphicFramePr>
          <p:cNvPr id="8" name="Chart 0" descr=""/>
          <p:cNvGraphicFramePr/>
          <p:nvPr/>
        </p:nvGraphicFramePr>
        <p:xfrm>
          <a:off x="566928" y="1600200"/>
          <a:ext cx="5760720" cy="32004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66928" y="4937760"/>
            <a:ext cx="5760720" cy="731520"/>
          </a:xfrm>
          <a:prstGeom prst="rect">
            <a:avLst/>
          </a:prstGeom>
          <a:noFill/>
          <a:ln/>
        </p:spPr>
        <p:txBody>
          <a:bodyPr wrap="square" lIns="0" tIns="0" rIns="0" bIns="0" rtlCol="0" anchor="t"/>
          <a:lstStyle/>
          <a:p>
            <a:pPr indent="0" marL="0">
              <a:lnSpc>
                <a:spcPct val="140000"/>
              </a:lnSpc>
              <a:buNone/>
            </a:pPr>
            <a:r>
              <a:rPr lang="en-US" sz="1100" dirty="0">
                <a:solidFill>
                  <a:srgbClr val="CA0013"/>
                </a:solidFill>
                <a:latin typeface="Microsoft JhengHei" pitchFamily="34" charset="0"/>
                <a:ea typeface="Microsoft JhengHei" pitchFamily="34" charset="-122"/>
                <a:cs typeface="Microsoft JhengHei" pitchFamily="34" charset="-120"/>
              </a:rPr>
              <a:t>個人申請 2,275 份（約 45%）為議員引述房屋局資料，原始數據未取得。一人家團只能申請一房單位。</a:t>
            </a:r>
            <a:endParaRPr lang="en-US" sz="1100" dirty="0"/>
          </a:p>
        </p:txBody>
      </p:sp>
      <p:sp>
        <p:nvSpPr>
          <p:cNvPr id="10" name="Text 7"/>
          <p:cNvSpPr txBox="1"/>
          <p:nvPr/>
        </p:nvSpPr>
        <p:spPr>
          <a:xfrm>
            <a:off x="6766560" y="1600200"/>
            <a:ext cx="3163824"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2023 年期</a:t>
            </a:r>
            <a:endParaRPr lang="en-US" sz="1100" dirty="0"/>
          </a:p>
        </p:txBody>
      </p:sp>
      <p:sp>
        <p:nvSpPr>
          <p:cNvPr id="11" name="Text 8"/>
          <p:cNvSpPr txBox="1"/>
          <p:nvPr/>
        </p:nvSpPr>
        <p:spPr>
          <a:xfrm>
            <a:off x="10058400" y="1600200"/>
            <a:ext cx="155448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數目</a:t>
            </a:r>
            <a:endParaRPr lang="en-US" sz="1100" dirty="0"/>
          </a:p>
        </p:txBody>
      </p:sp>
      <p:sp>
        <p:nvSpPr>
          <p:cNvPr id="12" name="Shape 9"/>
          <p:cNvSpPr/>
          <p:nvPr/>
        </p:nvSpPr>
        <p:spPr>
          <a:xfrm>
            <a:off x="6766560" y="1947672"/>
            <a:ext cx="4846320" cy="18288"/>
          </a:xfrm>
          <a:prstGeom prst="rect">
            <a:avLst/>
          </a:prstGeom>
          <a:solidFill>
            <a:srgbClr val="C72A09"/>
          </a:solidFill>
          <a:ln/>
        </p:spPr>
      </p:sp>
      <p:sp>
        <p:nvSpPr>
          <p:cNvPr id="13" name="Text 10"/>
          <p:cNvSpPr txBox="1"/>
          <p:nvPr/>
        </p:nvSpPr>
        <p:spPr>
          <a:xfrm>
            <a:off x="6766560" y="2039112"/>
            <a:ext cx="3163824"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供應單位</a:t>
            </a:r>
            <a:endParaRPr lang="en-US" sz="1200" dirty="0"/>
          </a:p>
        </p:txBody>
      </p:sp>
      <p:sp>
        <p:nvSpPr>
          <p:cNvPr id="14" name="Text 11"/>
          <p:cNvSpPr txBox="1"/>
          <p:nvPr/>
        </p:nvSpPr>
        <p:spPr>
          <a:xfrm>
            <a:off x="10058400" y="2039112"/>
            <a:ext cx="155448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5,415</a:t>
            </a:r>
            <a:endParaRPr lang="en-US" sz="1200" dirty="0"/>
          </a:p>
        </p:txBody>
      </p:sp>
      <p:sp>
        <p:nvSpPr>
          <p:cNvPr id="15" name="Shape 12"/>
          <p:cNvSpPr/>
          <p:nvPr/>
        </p:nvSpPr>
        <p:spPr>
          <a:xfrm>
            <a:off x="6766560" y="2368296"/>
            <a:ext cx="4846320" cy="12802"/>
          </a:xfrm>
          <a:prstGeom prst="rect">
            <a:avLst/>
          </a:prstGeom>
          <a:solidFill>
            <a:srgbClr val="C72A09"/>
          </a:solidFill>
          <a:ln/>
        </p:spPr>
      </p:sp>
      <p:sp>
        <p:nvSpPr>
          <p:cNvPr id="16" name="Text 13"/>
          <p:cNvSpPr txBox="1"/>
          <p:nvPr/>
        </p:nvSpPr>
        <p:spPr>
          <a:xfrm>
            <a:off x="6766560" y="2441448"/>
            <a:ext cx="3163824"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收到申請</a:t>
            </a:r>
            <a:endParaRPr lang="en-US" sz="1200" dirty="0"/>
          </a:p>
        </p:txBody>
      </p:sp>
      <p:sp>
        <p:nvSpPr>
          <p:cNvPr id="17" name="Text 14"/>
          <p:cNvSpPr txBox="1"/>
          <p:nvPr/>
        </p:nvSpPr>
        <p:spPr>
          <a:xfrm>
            <a:off x="10058400" y="2441448"/>
            <a:ext cx="155448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6,562</a:t>
            </a:r>
            <a:endParaRPr lang="en-US" sz="1200" dirty="0"/>
          </a:p>
        </p:txBody>
      </p:sp>
      <p:sp>
        <p:nvSpPr>
          <p:cNvPr id="18" name="Shape 15"/>
          <p:cNvSpPr/>
          <p:nvPr/>
        </p:nvSpPr>
        <p:spPr>
          <a:xfrm>
            <a:off x="6766560" y="2770632"/>
            <a:ext cx="4846320" cy="12802"/>
          </a:xfrm>
          <a:prstGeom prst="rect">
            <a:avLst/>
          </a:prstGeom>
          <a:solidFill>
            <a:srgbClr val="C72A09"/>
          </a:solidFill>
          <a:ln/>
        </p:spPr>
      </p:sp>
      <p:sp>
        <p:nvSpPr>
          <p:cNvPr id="19" name="Text 16"/>
          <p:cNvSpPr txBox="1"/>
          <p:nvPr/>
        </p:nvSpPr>
        <p:spPr>
          <a:xfrm>
            <a:off x="6766560" y="2843784"/>
            <a:ext cx="3163824"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獲接納申請</a:t>
            </a:r>
            <a:endParaRPr lang="en-US" sz="1200" dirty="0"/>
          </a:p>
        </p:txBody>
      </p:sp>
      <p:sp>
        <p:nvSpPr>
          <p:cNvPr id="20" name="Text 17"/>
          <p:cNvSpPr txBox="1"/>
          <p:nvPr/>
        </p:nvSpPr>
        <p:spPr>
          <a:xfrm>
            <a:off x="10058400" y="2843784"/>
            <a:ext cx="155448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5,076</a:t>
            </a:r>
            <a:endParaRPr lang="en-US" sz="1200" dirty="0"/>
          </a:p>
        </p:txBody>
      </p:sp>
      <p:sp>
        <p:nvSpPr>
          <p:cNvPr id="21" name="Shape 18"/>
          <p:cNvSpPr/>
          <p:nvPr/>
        </p:nvSpPr>
        <p:spPr>
          <a:xfrm>
            <a:off x="6766560" y="3172968"/>
            <a:ext cx="4846320" cy="12802"/>
          </a:xfrm>
          <a:prstGeom prst="rect">
            <a:avLst/>
          </a:prstGeom>
          <a:solidFill>
            <a:srgbClr val="C72A09"/>
          </a:solidFill>
          <a:ln/>
        </p:spPr>
      </p:sp>
      <p:sp>
        <p:nvSpPr>
          <p:cNvPr id="22" name="Text 19"/>
          <p:cNvSpPr txBox="1"/>
          <p:nvPr/>
        </p:nvSpPr>
        <p:spPr>
          <a:xfrm>
            <a:off x="6766560" y="3246120"/>
            <a:ext cx="3163824" cy="329184"/>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取消資格</a:t>
            </a:r>
            <a:endParaRPr lang="en-US" sz="1300" dirty="0"/>
          </a:p>
        </p:txBody>
      </p:sp>
      <p:sp>
        <p:nvSpPr>
          <p:cNvPr id="23" name="Text 20"/>
          <p:cNvSpPr txBox="1"/>
          <p:nvPr/>
        </p:nvSpPr>
        <p:spPr>
          <a:xfrm>
            <a:off x="10058400" y="3246120"/>
            <a:ext cx="1554480" cy="329184"/>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1,486（22.6%）</a:t>
            </a:r>
            <a:endParaRPr lang="en-US" sz="1300" dirty="0"/>
          </a:p>
        </p:txBody>
      </p:sp>
      <p:sp>
        <p:nvSpPr>
          <p:cNvPr id="24" name="Shape 21"/>
          <p:cNvSpPr/>
          <p:nvPr/>
        </p:nvSpPr>
        <p:spPr>
          <a:xfrm>
            <a:off x="6766560" y="3575304"/>
            <a:ext cx="4846320" cy="12802"/>
          </a:xfrm>
          <a:prstGeom prst="rect">
            <a:avLst/>
          </a:prstGeom>
          <a:solidFill>
            <a:srgbClr val="C72A09"/>
          </a:solidFill>
          <a:ln/>
        </p:spPr>
      </p:sp>
      <p:sp>
        <p:nvSpPr>
          <p:cNvPr id="25" name="Text 22"/>
          <p:cNvSpPr txBox="1"/>
          <p:nvPr/>
        </p:nvSpPr>
        <p:spPr>
          <a:xfrm>
            <a:off x="6766560" y="3794760"/>
            <a:ext cx="4846320" cy="640080"/>
          </a:xfrm>
          <a:prstGeom prst="rect">
            <a:avLst/>
          </a:prstGeom>
          <a:noFill/>
          <a:ln/>
        </p:spPr>
        <p:txBody>
          <a:bodyPr wrap="square" lIns="0" tIns="0" rIns="0" bIns="0" rtlCol="0" anchor="t"/>
          <a:lstStyle/>
          <a:p>
            <a:pPr indent="0" marL="0">
              <a:lnSpc>
                <a:spcPct val="140000"/>
              </a:lnSpc>
              <a:buNone/>
            </a:pPr>
            <a:r>
              <a:rPr lang="en-US" sz="1100" dirty="0">
                <a:solidFill>
                  <a:srgbClr val="CA0013"/>
                </a:solidFill>
                <a:latin typeface="Microsoft JhengHei" pitchFamily="34" charset="0"/>
                <a:ea typeface="Microsoft JhengHei" pitchFamily="34" charset="-122"/>
                <a:cs typeface="Microsoft JhengHei" pitchFamily="34" charset="-120"/>
              </a:rPr>
              <a:t>取消原因只有類別，沒有分項人數：收入低於或高於限額、逾期未遞交或未補齊文件、已列於另一份獲許可申請表。</a:t>
            </a:r>
            <a:endParaRPr lang="en-US" sz="1100" dirty="0"/>
          </a:p>
        </p:txBody>
      </p:sp>
      <p:sp>
        <p:nvSpPr>
          <p:cNvPr id="26" name="Shape 23"/>
          <p:cNvSpPr/>
          <p:nvPr/>
        </p:nvSpPr>
        <p:spPr>
          <a:xfrm>
            <a:off x="6766560" y="4526280"/>
            <a:ext cx="4846320" cy="1143000"/>
          </a:xfrm>
          <a:prstGeom prst="rect">
            <a:avLst/>
          </a:prstGeom>
          <a:solidFill>
            <a:srgbClr val="EEEBE3"/>
          </a:solidFill>
          <a:ln w="12700">
            <a:solidFill>
              <a:srgbClr val="CA0013"/>
            </a:solidFill>
            <a:prstDash val="dash"/>
          </a:ln>
        </p:spPr>
      </p:sp>
      <p:sp>
        <p:nvSpPr>
          <p:cNvPr id="27" name="Text 24"/>
          <p:cNvSpPr txBox="1"/>
          <p:nvPr/>
        </p:nvSpPr>
        <p:spPr>
          <a:xfrm>
            <a:off x="6949440" y="4636008"/>
            <a:ext cx="4480560" cy="310896"/>
          </a:xfrm>
          <a:prstGeom prst="rect">
            <a:avLst/>
          </a:prstGeom>
          <a:noFill/>
          <a:ln/>
        </p:spPr>
        <p:txBody>
          <a:bodyPr wrap="square" lIns="0" tIns="0" rIns="0" bIns="0" rtlCol="0" anchor="t"/>
          <a:lstStyle/>
          <a:p>
            <a:pPr algn="l" indent="0" marL="0">
              <a:lnSpc>
                <a:spcPct val="125000"/>
              </a:lnSpc>
              <a:buNone/>
            </a:pPr>
            <a:r>
              <a:rPr lang="en-US" sz="1000" b="1" spc="200" kern="0" dirty="0">
                <a:solidFill>
                  <a:srgbClr val="CA0013"/>
                </a:solidFill>
                <a:latin typeface="Microsoft JhengHei" pitchFamily="34" charset="0"/>
                <a:ea typeface="Microsoft JhengHei" pitchFamily="34" charset="-122"/>
                <a:cs typeface="Microsoft JhengHei" pitchFamily="34" charset="-120"/>
              </a:rPr>
              <a:t>訪問引用位</a:t>
            </a:r>
            <a:endParaRPr lang="en-US" sz="1000" dirty="0"/>
          </a:p>
        </p:txBody>
      </p:sp>
      <p:sp>
        <p:nvSpPr>
          <p:cNvPr id="28" name="Text 25"/>
          <p:cNvSpPr txBox="1"/>
          <p:nvPr/>
        </p:nvSpPr>
        <p:spPr>
          <a:xfrm>
            <a:off x="6949440" y="4892040"/>
            <a:ext cx="4480560" cy="274320"/>
          </a:xfrm>
          <a:prstGeom prst="rect">
            <a:avLst/>
          </a:prstGeom>
          <a:noFill/>
          <a:ln/>
        </p:spPr>
        <p:txBody>
          <a:bodyPr wrap="square" lIns="0" tIns="0" rIns="0" bIns="0" rtlCol="0" anchor="t"/>
          <a:lstStyle/>
          <a:p>
            <a:pPr indent="0" marL="0">
              <a:buNone/>
            </a:pPr>
            <a:r>
              <a:rPr lang="en-US" sz="1150" b="1" dirty="0">
                <a:solidFill>
                  <a:srgbClr val="CA0013"/>
                </a:solidFill>
                <a:latin typeface="Microsoft JhengHei" pitchFamily="34" charset="0"/>
                <a:ea typeface="Microsoft JhengHei" pitchFamily="34" charset="-122"/>
                <a:cs typeface="Microsoft JhengHei" pitchFamily="34" charset="-120"/>
              </a:rPr>
              <a:t>受訪者＿＿（房屋局／社工／輪候居民）</a:t>
            </a:r>
            <a:endParaRPr lang="en-US" sz="1150" dirty="0"/>
          </a:p>
        </p:txBody>
      </p:sp>
      <p:sp>
        <p:nvSpPr>
          <p:cNvPr id="29" name="Text 26"/>
          <p:cNvSpPr txBox="1"/>
          <p:nvPr/>
        </p:nvSpPr>
        <p:spPr>
          <a:xfrm>
            <a:off x="6949440" y="5148072"/>
            <a:ext cx="4480560" cy="484632"/>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追問：一人家團與小單位需求大，輪候時最大的障礙是什麼？</a:t>
            </a:r>
            <a:endParaRPr lang="en-US" sz="1050" dirty="0"/>
          </a:p>
        </p:txBody>
      </p:sp>
      <p:sp>
        <p:nvSpPr>
          <p:cNvPr id="30" name="Text 27"/>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房屋局公告；議員李良汪書面質詢（2025-02）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(21)</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第二部分　現況與趨勢　·　問題三</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公共房屋大事：2019–2026</a:t>
            </a:r>
            <a:endParaRPr lang="en-US" sz="3400" dirty="0"/>
          </a:p>
        </p:txBody>
      </p:sp>
      <p:sp>
        <p:nvSpPr>
          <p:cNvPr id="8" name="Text 6"/>
          <p:cNvSpPr txBox="1"/>
          <p:nvPr/>
        </p:nvSpPr>
        <p:spPr>
          <a:xfrm>
            <a:off x="566928" y="1645920"/>
            <a:ext cx="1243584" cy="475488"/>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2019 期</a:t>
            </a:r>
            <a:endParaRPr lang="en-US" sz="1150" dirty="0"/>
          </a:p>
        </p:txBody>
      </p:sp>
      <p:sp>
        <p:nvSpPr>
          <p:cNvPr id="9" name="Text 7"/>
          <p:cNvSpPr txBox="1"/>
          <p:nvPr/>
        </p:nvSpPr>
        <p:spPr>
          <a:xfrm>
            <a:off x="1920240" y="1645920"/>
            <a:ext cx="5961888" cy="475488"/>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經屋 3,017 個單位；2025-11 報道：2,000 多個家團已選樓，近 1,000 個家團辦理上樓</a:t>
            </a:r>
            <a:endParaRPr lang="en-US" sz="1150" dirty="0"/>
          </a:p>
        </p:txBody>
      </p:sp>
      <p:sp>
        <p:nvSpPr>
          <p:cNvPr id="10" name="Shape 8"/>
          <p:cNvSpPr/>
          <p:nvPr/>
        </p:nvSpPr>
        <p:spPr>
          <a:xfrm>
            <a:off x="566928" y="2103120"/>
            <a:ext cx="7315200" cy="12802"/>
          </a:xfrm>
          <a:prstGeom prst="rect">
            <a:avLst/>
          </a:prstGeom>
          <a:solidFill>
            <a:srgbClr val="C72A09"/>
          </a:solidFill>
          <a:ln/>
        </p:spPr>
      </p:sp>
      <p:sp>
        <p:nvSpPr>
          <p:cNvPr id="11" name="Text 9"/>
          <p:cNvSpPr txBox="1"/>
          <p:nvPr/>
        </p:nvSpPr>
        <p:spPr>
          <a:xfrm>
            <a:off x="566928" y="2212848"/>
            <a:ext cx="1243584" cy="475488"/>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2020</a:t>
            </a:r>
            <a:endParaRPr lang="en-US" sz="1150" dirty="0"/>
          </a:p>
        </p:txBody>
      </p:sp>
      <p:sp>
        <p:nvSpPr>
          <p:cNvPr id="12" name="Text 10"/>
          <p:cNvSpPr txBox="1"/>
          <p:nvPr/>
        </p:nvSpPr>
        <p:spPr>
          <a:xfrm>
            <a:off x="1920240" y="2212848"/>
            <a:ext cx="5961888" cy="475488"/>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經屋修法，「永遠姓經」（議員質詢所述）</a:t>
            </a:r>
            <a:endParaRPr lang="en-US" sz="1150" dirty="0"/>
          </a:p>
        </p:txBody>
      </p:sp>
      <p:sp>
        <p:nvSpPr>
          <p:cNvPr id="13" name="Shape 11"/>
          <p:cNvSpPr/>
          <p:nvPr/>
        </p:nvSpPr>
        <p:spPr>
          <a:xfrm>
            <a:off x="566928" y="2670048"/>
            <a:ext cx="7315200" cy="12802"/>
          </a:xfrm>
          <a:prstGeom prst="rect">
            <a:avLst/>
          </a:prstGeom>
          <a:solidFill>
            <a:srgbClr val="C72A09"/>
          </a:solidFill>
          <a:ln/>
        </p:spPr>
      </p:sp>
      <p:sp>
        <p:nvSpPr>
          <p:cNvPr id="14" name="Text 12"/>
          <p:cNvSpPr txBox="1"/>
          <p:nvPr/>
        </p:nvSpPr>
        <p:spPr>
          <a:xfrm>
            <a:off x="566928" y="2779776"/>
            <a:ext cx="1243584" cy="475488"/>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2021 期</a:t>
            </a:r>
            <a:endParaRPr lang="en-US" sz="1150" dirty="0"/>
          </a:p>
        </p:txBody>
      </p:sp>
      <p:sp>
        <p:nvSpPr>
          <p:cNvPr id="15" name="Text 13"/>
          <p:cNvSpPr txBox="1"/>
          <p:nvPr/>
        </p:nvSpPr>
        <p:spPr>
          <a:xfrm>
            <a:off x="1920240" y="2779776"/>
            <a:ext cx="5961888" cy="475488"/>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經屋 5,254 個單位（新城 A 區 A1–A4、A12）</a:t>
            </a:r>
            <a:endParaRPr lang="en-US" sz="1150" dirty="0"/>
          </a:p>
        </p:txBody>
      </p:sp>
      <p:sp>
        <p:nvSpPr>
          <p:cNvPr id="16" name="Shape 14"/>
          <p:cNvSpPr/>
          <p:nvPr/>
        </p:nvSpPr>
        <p:spPr>
          <a:xfrm>
            <a:off x="566928" y="3236976"/>
            <a:ext cx="7315200" cy="12802"/>
          </a:xfrm>
          <a:prstGeom prst="rect">
            <a:avLst/>
          </a:prstGeom>
          <a:solidFill>
            <a:srgbClr val="C72A09"/>
          </a:solidFill>
          <a:ln/>
        </p:spPr>
      </p:sp>
      <p:sp>
        <p:nvSpPr>
          <p:cNvPr id="17" name="Text 15"/>
          <p:cNvSpPr txBox="1"/>
          <p:nvPr/>
        </p:nvSpPr>
        <p:spPr>
          <a:xfrm>
            <a:off x="566928" y="3346704"/>
            <a:ext cx="1243584" cy="475488"/>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2023 期</a:t>
            </a:r>
            <a:endParaRPr lang="en-US" sz="1150" dirty="0"/>
          </a:p>
        </p:txBody>
      </p:sp>
      <p:sp>
        <p:nvSpPr>
          <p:cNvPr id="18" name="Text 16"/>
          <p:cNvSpPr txBox="1"/>
          <p:nvPr/>
        </p:nvSpPr>
        <p:spPr>
          <a:xfrm>
            <a:off x="1920240" y="3346704"/>
            <a:ext cx="5961888" cy="475488"/>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經屋 5,415 個單位（B5、B7、B8、B11、B12）；收到 6,562 份申請</a:t>
            </a:r>
            <a:endParaRPr lang="en-US" sz="1150" dirty="0"/>
          </a:p>
        </p:txBody>
      </p:sp>
      <p:sp>
        <p:nvSpPr>
          <p:cNvPr id="19" name="Shape 17"/>
          <p:cNvSpPr/>
          <p:nvPr/>
        </p:nvSpPr>
        <p:spPr>
          <a:xfrm>
            <a:off x="566928" y="3803904"/>
            <a:ext cx="7315200" cy="12802"/>
          </a:xfrm>
          <a:prstGeom prst="rect">
            <a:avLst/>
          </a:prstGeom>
          <a:solidFill>
            <a:srgbClr val="C72A09"/>
          </a:solidFill>
          <a:ln/>
        </p:spPr>
      </p:sp>
      <p:sp>
        <p:nvSpPr>
          <p:cNvPr id="20" name="Text 18"/>
          <p:cNvSpPr txBox="1"/>
          <p:nvPr/>
        </p:nvSpPr>
        <p:spPr>
          <a:xfrm>
            <a:off x="566928" y="3913632"/>
            <a:ext cx="1243584" cy="475488"/>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2024</a:t>
            </a:r>
            <a:endParaRPr lang="en-US" sz="1150" dirty="0"/>
          </a:p>
        </p:txBody>
      </p:sp>
      <p:sp>
        <p:nvSpPr>
          <p:cNvPr id="21" name="Text 19"/>
          <p:cNvSpPr txBox="1"/>
          <p:nvPr/>
        </p:nvSpPr>
        <p:spPr>
          <a:xfrm>
            <a:off x="1920240" y="3913632"/>
            <a:ext cx="5961888" cy="475488"/>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暫停新城 A 區 5 個地段經屋項目（議員質詢所述）</a:t>
            </a:r>
            <a:endParaRPr lang="en-US" sz="1150" dirty="0"/>
          </a:p>
        </p:txBody>
      </p:sp>
      <p:sp>
        <p:nvSpPr>
          <p:cNvPr id="22" name="Shape 20"/>
          <p:cNvSpPr/>
          <p:nvPr/>
        </p:nvSpPr>
        <p:spPr>
          <a:xfrm>
            <a:off x="566928" y="4370832"/>
            <a:ext cx="7315200" cy="12802"/>
          </a:xfrm>
          <a:prstGeom prst="rect">
            <a:avLst/>
          </a:prstGeom>
          <a:solidFill>
            <a:srgbClr val="C72A09"/>
          </a:solidFill>
          <a:ln/>
        </p:spPr>
      </p:sp>
      <p:sp>
        <p:nvSpPr>
          <p:cNvPr id="23" name="Text 21"/>
          <p:cNvSpPr txBox="1"/>
          <p:nvPr/>
        </p:nvSpPr>
        <p:spPr>
          <a:xfrm>
            <a:off x="566928" y="4480560"/>
            <a:ext cx="1243584" cy="475488"/>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2025-11</a:t>
            </a:r>
            <a:endParaRPr lang="en-US" sz="1150" dirty="0"/>
          </a:p>
        </p:txBody>
      </p:sp>
      <p:sp>
        <p:nvSpPr>
          <p:cNvPr id="24" name="Text 22"/>
          <p:cNvSpPr txBox="1"/>
          <p:nvPr/>
        </p:nvSpPr>
        <p:spPr>
          <a:xfrm>
            <a:off x="1920240" y="4480560"/>
            <a:ext cx="5961888" cy="475488"/>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房屋局局長：2021、2023 年期經屋售價因溢價金調整將下調</a:t>
            </a:r>
            <a:endParaRPr lang="en-US" sz="1150" dirty="0"/>
          </a:p>
        </p:txBody>
      </p:sp>
      <p:sp>
        <p:nvSpPr>
          <p:cNvPr id="25" name="Shape 23"/>
          <p:cNvSpPr/>
          <p:nvPr/>
        </p:nvSpPr>
        <p:spPr>
          <a:xfrm>
            <a:off x="566928" y="4937760"/>
            <a:ext cx="7315200" cy="12802"/>
          </a:xfrm>
          <a:prstGeom prst="rect">
            <a:avLst/>
          </a:prstGeom>
          <a:solidFill>
            <a:srgbClr val="C72A09"/>
          </a:solidFill>
          <a:ln/>
        </p:spPr>
      </p:sp>
      <p:sp>
        <p:nvSpPr>
          <p:cNvPr id="26" name="Text 24"/>
          <p:cNvSpPr txBox="1"/>
          <p:nvPr/>
        </p:nvSpPr>
        <p:spPr>
          <a:xfrm>
            <a:off x="566928" y="5047488"/>
            <a:ext cx="1243584" cy="475488"/>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2026-01</a:t>
            </a:r>
            <a:endParaRPr lang="en-US" sz="1150" dirty="0"/>
          </a:p>
        </p:txBody>
      </p:sp>
      <p:sp>
        <p:nvSpPr>
          <p:cNvPr id="27" name="Text 25"/>
          <p:cNvSpPr txBox="1"/>
          <p:nvPr/>
        </p:nvSpPr>
        <p:spPr>
          <a:xfrm>
            <a:off x="1920240" y="5047488"/>
            <a:ext cx="5961888" cy="475488"/>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明珠都滙置換房購買期屆滿，只有 338 個完成購買</a:t>
            </a:r>
            <a:endParaRPr lang="en-US" sz="1150" dirty="0"/>
          </a:p>
        </p:txBody>
      </p:sp>
      <p:sp>
        <p:nvSpPr>
          <p:cNvPr id="28" name="Shape 26"/>
          <p:cNvSpPr/>
          <p:nvPr/>
        </p:nvSpPr>
        <p:spPr>
          <a:xfrm>
            <a:off x="566928" y="5504688"/>
            <a:ext cx="7315200" cy="12802"/>
          </a:xfrm>
          <a:prstGeom prst="rect">
            <a:avLst/>
          </a:prstGeom>
          <a:solidFill>
            <a:srgbClr val="C72A09"/>
          </a:solidFill>
          <a:ln/>
        </p:spPr>
      </p:sp>
      <p:sp>
        <p:nvSpPr>
          <p:cNvPr id="29" name="Text 27"/>
          <p:cNvSpPr txBox="1"/>
          <p:nvPr/>
        </p:nvSpPr>
        <p:spPr>
          <a:xfrm>
            <a:off x="8412480" y="1691640"/>
            <a:ext cx="3200400" cy="932688"/>
          </a:xfrm>
          <a:prstGeom prst="rect">
            <a:avLst/>
          </a:prstGeom>
          <a:noFill/>
          <a:ln/>
        </p:spPr>
        <p:txBody>
          <a:bodyPr wrap="square" lIns="0" tIns="0" rIns="0" bIns="0" rtlCol="0" anchor="ctr"/>
          <a:lstStyle/>
          <a:p>
            <a:pPr indent="0" marL="0">
              <a:buNone/>
            </a:pPr>
            <a:r>
              <a:rPr lang="en-US" sz="4400" b="1" dirty="0">
                <a:solidFill>
                  <a:srgbClr val="CA0013"/>
                </a:solidFill>
                <a:latin typeface="Inter" pitchFamily="34" charset="0"/>
                <a:ea typeface="Inter" pitchFamily="34" charset="-122"/>
                <a:cs typeface="Inter" pitchFamily="34" charset="-120"/>
              </a:rPr>
              <a:t>13,686</a:t>
            </a:r>
            <a:pPr indent="0" marL="0">
              <a:buNone/>
            </a:pPr>
            <a:r>
              <a:rPr lang="en-US" sz="1848" b="1" dirty="0">
                <a:solidFill>
                  <a:srgbClr val="CA0013"/>
                </a:solidFill>
                <a:latin typeface="Microsoft JhengHei" pitchFamily="34" charset="0"/>
                <a:ea typeface="Microsoft JhengHei" pitchFamily="34" charset="-122"/>
                <a:cs typeface="Microsoft JhengHei" pitchFamily="34" charset="-120"/>
              </a:rPr>
              <a:t> 個</a:t>
            </a:r>
            <a:endParaRPr lang="en-US" sz="4400" dirty="0"/>
          </a:p>
        </p:txBody>
      </p:sp>
      <p:sp>
        <p:nvSpPr>
          <p:cNvPr id="30" name="Text 28"/>
          <p:cNvSpPr txBox="1"/>
          <p:nvPr/>
        </p:nvSpPr>
        <p:spPr>
          <a:xfrm>
            <a:off x="8412480" y="2624328"/>
            <a:ext cx="320040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三期經屋單位合計</a:t>
            </a:r>
            <a:endParaRPr lang="en-US" sz="1300" dirty="0"/>
          </a:p>
        </p:txBody>
      </p:sp>
      <p:sp>
        <p:nvSpPr>
          <p:cNvPr id="31" name="Text 29"/>
          <p:cNvSpPr txBox="1"/>
          <p:nvPr/>
        </p:nvSpPr>
        <p:spPr>
          <a:xfrm>
            <a:off x="8412480" y="2990088"/>
            <a:ext cx="320040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2019、2021、2023 年期；本組加總</a:t>
            </a:r>
            <a:endParaRPr lang="en-US" sz="1050" dirty="0"/>
          </a:p>
        </p:txBody>
      </p:sp>
      <p:sp>
        <p:nvSpPr>
          <p:cNvPr id="32" name="Shape 30"/>
          <p:cNvSpPr/>
          <p:nvPr/>
        </p:nvSpPr>
        <p:spPr>
          <a:xfrm>
            <a:off x="8412480" y="3749040"/>
            <a:ext cx="3200400" cy="18288"/>
          </a:xfrm>
          <a:prstGeom prst="rect">
            <a:avLst/>
          </a:prstGeom>
          <a:solidFill>
            <a:srgbClr val="C72A09"/>
          </a:solidFill>
          <a:ln/>
        </p:spPr>
      </p:sp>
      <p:sp>
        <p:nvSpPr>
          <p:cNvPr id="33" name="Text 31"/>
          <p:cNvSpPr txBox="1"/>
          <p:nvPr/>
        </p:nvSpPr>
        <p:spPr>
          <a:xfrm>
            <a:off x="8412480" y="3931920"/>
            <a:ext cx="3200400" cy="1371600"/>
          </a:xfrm>
          <a:prstGeom prst="rect">
            <a:avLst/>
          </a:prstGeom>
          <a:noFill/>
          <a:ln/>
        </p:spPr>
        <p:txBody>
          <a:bodyPr wrap="square" lIns="0" tIns="0" rIns="0" bIns="0" rtlCol="0" anchor="t"/>
          <a:lstStyle/>
          <a:p>
            <a:pPr indent="0" marL="0">
              <a:lnSpc>
                <a:spcPct val="140000"/>
              </a:lnSpc>
              <a:buNone/>
            </a:pPr>
            <a:r>
              <a:rPr lang="en-US" sz="1200" b="1" dirty="0">
                <a:solidFill>
                  <a:srgbClr val="CA0013"/>
                </a:solidFill>
                <a:latin typeface="Microsoft JhengHei" pitchFamily="34" charset="0"/>
                <a:ea typeface="Microsoft JhengHei" pitchFamily="34" charset="-122"/>
                <a:cs typeface="Microsoft JhengHei" pitchFamily="34" charset="-120"/>
              </a:rPr>
              <a:t>時間線呈現「批次式」供應：不定期開隊、項目有暫停、售價有調整；下一期何時開始，申請人難以預期（本組解讀）。</a:t>
            </a:r>
            <a:endParaRPr lang="en-US" sz="1200" dirty="0"/>
          </a:p>
        </p:txBody>
      </p:sp>
      <p:sp>
        <p:nvSpPr>
          <p:cNvPr id="34" name="Text 32"/>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房屋局；議員書面質詢（2025-02、2026-03）；報道（2025-11）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(22)</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第二部分　現況與趨勢　·　問題三</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錯配：政府自己怎樣說</a:t>
            </a:r>
            <a:endParaRPr lang="en-US" sz="3400" dirty="0"/>
          </a:p>
        </p:txBody>
      </p:sp>
      <p:sp>
        <p:nvSpPr>
          <p:cNvPr id="8" name="Text 6"/>
          <p:cNvSpPr txBox="1"/>
          <p:nvPr/>
        </p:nvSpPr>
        <p:spPr>
          <a:xfrm>
            <a:off x="566928" y="1645920"/>
            <a:ext cx="5394960" cy="2377440"/>
          </a:xfrm>
          <a:prstGeom prst="rect">
            <a:avLst/>
          </a:prstGeom>
          <a:noFill/>
          <a:ln/>
        </p:spPr>
        <p:txBody>
          <a:bodyPr wrap="square" lIns="0" tIns="0" rIns="0" bIns="0" rtlCol="0" anchor="t"/>
          <a:lstStyle/>
          <a:p>
            <a:pPr indent="0" marL="0">
              <a:lnSpc>
                <a:spcPct val="128000"/>
              </a:lnSpc>
              <a:buNone/>
            </a:pPr>
            <a:r>
              <a:rPr lang="en-US" sz="1900" b="1" dirty="0">
                <a:solidFill>
                  <a:srgbClr val="CA0013"/>
                </a:solidFill>
                <a:latin typeface="Microsoft JhengHei" pitchFamily="34" charset="0"/>
                <a:ea typeface="Microsoft JhengHei" pitchFamily="34" charset="-122"/>
                <a:cs typeface="Microsoft JhengHei" pitchFamily="34" charset="-120"/>
              </a:rPr>
              <a:t>「目前，澳門住宅單位總量超出實際住戶數量，反映出澳門房屋問題主要源於結構與功能性分佈未能滿足居民的實際需求」</a:t>
            </a:r>
            <a:endParaRPr lang="en-US" sz="1900" dirty="0"/>
          </a:p>
        </p:txBody>
      </p:sp>
      <p:sp>
        <p:nvSpPr>
          <p:cNvPr id="9" name="Text 7"/>
          <p:cNvSpPr txBox="1"/>
          <p:nvPr/>
        </p:nvSpPr>
        <p:spPr>
          <a:xfrm>
            <a:off x="566928" y="3246120"/>
            <a:ext cx="5394960" cy="566928"/>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政策研究和區域發展局（2022）《居住用途房屋政策研究》第 18 頁</a:t>
            </a:r>
            <a:endParaRPr lang="en-US" sz="1200" dirty="0"/>
          </a:p>
        </p:txBody>
      </p:sp>
      <p:sp>
        <p:nvSpPr>
          <p:cNvPr id="10" name="Text 8"/>
          <p:cNvSpPr txBox="1"/>
          <p:nvPr/>
        </p:nvSpPr>
        <p:spPr>
          <a:xfrm>
            <a:off x="6492240" y="1600200"/>
            <a:ext cx="512064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錯配的四個證據</a:t>
            </a:r>
            <a:endParaRPr lang="en-US" sz="1200" dirty="0"/>
          </a:p>
        </p:txBody>
      </p:sp>
      <p:sp>
        <p:nvSpPr>
          <p:cNvPr id="11" name="Text 9"/>
          <p:cNvSpPr txBox="1"/>
          <p:nvPr/>
        </p:nvSpPr>
        <p:spPr>
          <a:xfrm>
            <a:off x="6492240" y="1984248"/>
            <a:ext cx="1335024"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項目</a:t>
            </a:r>
            <a:endParaRPr lang="en-US" sz="1100" dirty="0"/>
          </a:p>
        </p:txBody>
      </p:sp>
      <p:sp>
        <p:nvSpPr>
          <p:cNvPr id="12" name="Text 10"/>
          <p:cNvSpPr txBox="1"/>
          <p:nvPr/>
        </p:nvSpPr>
        <p:spPr>
          <a:xfrm>
            <a:off x="7955280" y="1984248"/>
            <a:ext cx="3657600"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數字與出處</a:t>
            </a:r>
            <a:endParaRPr lang="en-US" sz="1100" dirty="0"/>
          </a:p>
        </p:txBody>
      </p:sp>
      <p:sp>
        <p:nvSpPr>
          <p:cNvPr id="13" name="Shape 11"/>
          <p:cNvSpPr/>
          <p:nvPr/>
        </p:nvSpPr>
        <p:spPr>
          <a:xfrm>
            <a:off x="6492240" y="2331720"/>
            <a:ext cx="5120640" cy="18288"/>
          </a:xfrm>
          <a:prstGeom prst="rect">
            <a:avLst/>
          </a:prstGeom>
          <a:solidFill>
            <a:srgbClr val="C72A09"/>
          </a:solidFill>
          <a:ln/>
        </p:spPr>
      </p:sp>
      <p:sp>
        <p:nvSpPr>
          <p:cNvPr id="14" name="Text 12"/>
          <p:cNvSpPr txBox="1"/>
          <p:nvPr/>
        </p:nvSpPr>
        <p:spPr>
          <a:xfrm>
            <a:off x="6492240" y="2423160"/>
            <a:ext cx="1335024" cy="58521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空置住宅</a:t>
            </a:r>
            <a:endParaRPr lang="en-US" sz="1200" dirty="0"/>
          </a:p>
        </p:txBody>
      </p:sp>
      <p:sp>
        <p:nvSpPr>
          <p:cNvPr id="15" name="Text 13"/>
          <p:cNvSpPr txBox="1"/>
          <p:nvPr/>
        </p:nvSpPr>
        <p:spPr>
          <a:xfrm>
            <a:off x="7955280" y="2423160"/>
            <a:ext cx="3657600" cy="58521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1.67 萬（2010 年底）、1.58 萬（2020 年底），十年間幾乎不變</a:t>
            </a:r>
            <a:endParaRPr lang="en-US" sz="1200" dirty="0"/>
          </a:p>
        </p:txBody>
      </p:sp>
      <p:sp>
        <p:nvSpPr>
          <p:cNvPr id="16" name="Shape 14"/>
          <p:cNvSpPr/>
          <p:nvPr/>
        </p:nvSpPr>
        <p:spPr>
          <a:xfrm>
            <a:off x="6492240" y="3008376"/>
            <a:ext cx="5120640" cy="12802"/>
          </a:xfrm>
          <a:prstGeom prst="rect">
            <a:avLst/>
          </a:prstGeom>
          <a:solidFill>
            <a:srgbClr val="C72A09"/>
          </a:solidFill>
          <a:ln/>
        </p:spPr>
      </p:sp>
      <p:sp>
        <p:nvSpPr>
          <p:cNvPr id="17" name="Text 15"/>
          <p:cNvSpPr txBox="1"/>
          <p:nvPr/>
        </p:nvSpPr>
        <p:spPr>
          <a:xfrm>
            <a:off x="6492240" y="3081528"/>
            <a:ext cx="1335024" cy="58521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置換房</a:t>
            </a:r>
            <a:endParaRPr lang="en-US" sz="1200" dirty="0"/>
          </a:p>
        </p:txBody>
      </p:sp>
      <p:sp>
        <p:nvSpPr>
          <p:cNvPr id="18" name="Text 16"/>
          <p:cNvSpPr txBox="1"/>
          <p:nvPr/>
        </p:nvSpPr>
        <p:spPr>
          <a:xfrm>
            <a:off x="7955280" y="3081528"/>
            <a:ext cx="3657600" cy="58521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購買期屆滿只有 338 個完成購買，餘 1,700 多個（議員質詢）</a:t>
            </a:r>
            <a:endParaRPr lang="en-US" sz="1200" dirty="0"/>
          </a:p>
        </p:txBody>
      </p:sp>
      <p:sp>
        <p:nvSpPr>
          <p:cNvPr id="19" name="Shape 17"/>
          <p:cNvSpPr/>
          <p:nvPr/>
        </p:nvSpPr>
        <p:spPr>
          <a:xfrm>
            <a:off x="6492240" y="3666744"/>
            <a:ext cx="5120640" cy="12802"/>
          </a:xfrm>
          <a:prstGeom prst="rect">
            <a:avLst/>
          </a:prstGeom>
          <a:solidFill>
            <a:srgbClr val="C72A09"/>
          </a:solidFill>
          <a:ln/>
        </p:spPr>
      </p:sp>
      <p:sp>
        <p:nvSpPr>
          <p:cNvPr id="20" name="Text 18"/>
          <p:cNvSpPr txBox="1"/>
          <p:nvPr/>
        </p:nvSpPr>
        <p:spPr>
          <a:xfrm>
            <a:off x="6492240" y="3739896"/>
            <a:ext cx="1335024" cy="58521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暫住房</a:t>
            </a:r>
            <a:endParaRPr lang="en-US" sz="1200" dirty="0"/>
          </a:p>
        </p:txBody>
      </p:sp>
      <p:sp>
        <p:nvSpPr>
          <p:cNvPr id="21" name="Text 19"/>
          <p:cNvSpPr txBox="1"/>
          <p:nvPr/>
        </p:nvSpPr>
        <p:spPr>
          <a:xfrm>
            <a:off x="7955280" y="3739896"/>
            <a:ext cx="3657600" cy="58521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2,803 個單位（都更公司，2024）；議員稱至今未作暫住用途</a:t>
            </a:r>
            <a:endParaRPr lang="en-US" sz="1200" dirty="0"/>
          </a:p>
        </p:txBody>
      </p:sp>
      <p:sp>
        <p:nvSpPr>
          <p:cNvPr id="22" name="Shape 20"/>
          <p:cNvSpPr/>
          <p:nvPr/>
        </p:nvSpPr>
        <p:spPr>
          <a:xfrm>
            <a:off x="6492240" y="4325112"/>
            <a:ext cx="5120640" cy="12802"/>
          </a:xfrm>
          <a:prstGeom prst="rect">
            <a:avLst/>
          </a:prstGeom>
          <a:solidFill>
            <a:srgbClr val="C72A09"/>
          </a:solidFill>
          <a:ln/>
        </p:spPr>
      </p:sp>
      <p:sp>
        <p:nvSpPr>
          <p:cNvPr id="23" name="Text 21"/>
          <p:cNvSpPr txBox="1"/>
          <p:nvPr/>
        </p:nvSpPr>
        <p:spPr>
          <a:xfrm>
            <a:off x="6492240" y="4398264"/>
            <a:ext cx="1335024" cy="58521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石排灣經屋</a:t>
            </a:r>
            <a:endParaRPr lang="en-US" sz="1200" dirty="0"/>
          </a:p>
        </p:txBody>
      </p:sp>
      <p:sp>
        <p:nvSpPr>
          <p:cNvPr id="24" name="Text 22"/>
          <p:cNvSpPr txBox="1"/>
          <p:nvPr/>
        </p:nvSpPr>
        <p:spPr>
          <a:xfrm>
            <a:off x="7955280" y="4398264"/>
            <a:ext cx="3657600" cy="58521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空置率 38.9%（2015；半島 4.9%、氹仔 6.8%），歷史對照</a:t>
            </a:r>
            <a:endParaRPr lang="en-US" sz="1200" dirty="0"/>
          </a:p>
        </p:txBody>
      </p:sp>
      <p:sp>
        <p:nvSpPr>
          <p:cNvPr id="25" name="Shape 23"/>
          <p:cNvSpPr/>
          <p:nvPr/>
        </p:nvSpPr>
        <p:spPr>
          <a:xfrm>
            <a:off x="6492240" y="4983480"/>
            <a:ext cx="5120640" cy="12802"/>
          </a:xfrm>
          <a:prstGeom prst="rect">
            <a:avLst/>
          </a:prstGeom>
          <a:solidFill>
            <a:srgbClr val="C72A09"/>
          </a:solidFill>
          <a:ln/>
        </p:spPr>
      </p:sp>
      <p:sp>
        <p:nvSpPr>
          <p:cNvPr id="26" name="Shape 24"/>
          <p:cNvSpPr/>
          <p:nvPr/>
        </p:nvSpPr>
        <p:spPr>
          <a:xfrm>
            <a:off x="566928" y="5257800"/>
            <a:ext cx="11057839" cy="18288"/>
          </a:xfrm>
          <a:prstGeom prst="rect">
            <a:avLst/>
          </a:prstGeom>
          <a:solidFill>
            <a:srgbClr val="C72A09"/>
          </a:solidFill>
          <a:ln/>
        </p:spPr>
      </p:sp>
      <p:sp>
        <p:nvSpPr>
          <p:cNvPr id="27" name="Text 25"/>
          <p:cNvSpPr txBox="1"/>
          <p:nvPr/>
        </p:nvSpPr>
        <p:spPr>
          <a:xfrm>
            <a:off x="566928" y="5349240"/>
            <a:ext cx="11057839" cy="347472"/>
          </a:xfrm>
          <a:prstGeom prst="rect">
            <a:avLst/>
          </a:prstGeom>
          <a:noFill/>
          <a:ln/>
        </p:spPr>
        <p:txBody>
          <a:bodyPr wrap="square" lIns="0" tIns="0" rIns="0" bIns="0" rtlCol="0" anchor="ctr"/>
          <a:lstStyle/>
          <a:p>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空置成因（待售、待租、投資持有等）官方統計未必分項，只作旁證，不作「可即時分配」的結論。</a:t>
            </a:r>
            <a:endParaRPr lang="en-US" sz="1200" dirty="0"/>
          </a:p>
        </p:txBody>
      </p:sp>
      <p:sp>
        <p:nvSpPr>
          <p:cNvPr id="28" name="Text 26"/>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政策研究 2022；議員質詢；都更公司；高武洲（2017）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(23)</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第二部分　現況與趨勢　·　問題三</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夾心階層與夾屋：缺失的一級</a:t>
            </a:r>
            <a:endParaRPr lang="en-US" sz="3400" dirty="0"/>
          </a:p>
        </p:txBody>
      </p:sp>
      <p:sp>
        <p:nvSpPr>
          <p:cNvPr id="8" name="Text 6"/>
          <p:cNvSpPr txBox="1"/>
          <p:nvPr/>
        </p:nvSpPr>
        <p:spPr>
          <a:xfrm>
            <a:off x="566928" y="1645920"/>
            <a:ext cx="1041502" cy="694944"/>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定義一</a:t>
            </a:r>
            <a:endParaRPr lang="en-US" sz="1100" dirty="0"/>
          </a:p>
        </p:txBody>
      </p:sp>
      <p:sp>
        <p:nvSpPr>
          <p:cNvPr id="9" name="Text 7"/>
          <p:cNvSpPr txBox="1"/>
          <p:nvPr/>
        </p:nvSpPr>
        <p:spPr>
          <a:xfrm>
            <a:off x="1700327" y="1645920"/>
            <a:ext cx="4993081" cy="694944"/>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收入超出經屋申請上限，或雖符合經屋資格但輪候排序靠後，又追不上私樓升幅的本地居民（2020 年諮詢文本）</a:t>
            </a:r>
            <a:endParaRPr lang="en-US" sz="1100" dirty="0"/>
          </a:p>
        </p:txBody>
      </p:sp>
      <p:sp>
        <p:nvSpPr>
          <p:cNvPr id="10" name="Shape 8"/>
          <p:cNvSpPr/>
          <p:nvPr/>
        </p:nvSpPr>
        <p:spPr>
          <a:xfrm>
            <a:off x="566928" y="2322576"/>
            <a:ext cx="6126480" cy="12802"/>
          </a:xfrm>
          <a:prstGeom prst="rect">
            <a:avLst/>
          </a:prstGeom>
          <a:solidFill>
            <a:srgbClr val="C72A09"/>
          </a:solidFill>
          <a:ln/>
        </p:spPr>
      </p:sp>
      <p:sp>
        <p:nvSpPr>
          <p:cNvPr id="11" name="Text 9"/>
          <p:cNvSpPr txBox="1"/>
          <p:nvPr/>
        </p:nvSpPr>
        <p:spPr>
          <a:xfrm>
            <a:off x="566928" y="2432304"/>
            <a:ext cx="1041502" cy="694944"/>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定義二</a:t>
            </a:r>
            <a:endParaRPr lang="en-US" sz="1100" dirty="0"/>
          </a:p>
        </p:txBody>
      </p:sp>
      <p:sp>
        <p:nvSpPr>
          <p:cNvPr id="12" name="Text 10"/>
          <p:cNvSpPr txBox="1"/>
          <p:nvPr/>
        </p:nvSpPr>
        <p:spPr>
          <a:xfrm>
            <a:off x="1700327" y="2432304"/>
            <a:ext cx="4993081" cy="694944"/>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只涵蓋收入超出經屋申請上限者</a:t>
            </a:r>
            <a:endParaRPr lang="en-US" sz="1100" dirty="0"/>
          </a:p>
        </p:txBody>
      </p:sp>
      <p:sp>
        <p:nvSpPr>
          <p:cNvPr id="13" name="Shape 11"/>
          <p:cNvSpPr/>
          <p:nvPr/>
        </p:nvSpPr>
        <p:spPr>
          <a:xfrm>
            <a:off x="566928" y="3108960"/>
            <a:ext cx="6126480" cy="12802"/>
          </a:xfrm>
          <a:prstGeom prst="rect">
            <a:avLst/>
          </a:prstGeom>
          <a:solidFill>
            <a:srgbClr val="C72A09"/>
          </a:solidFill>
          <a:ln/>
        </p:spPr>
      </p:sp>
      <p:sp>
        <p:nvSpPr>
          <p:cNvPr id="14" name="Text 12"/>
          <p:cNvSpPr txBox="1"/>
          <p:nvPr/>
        </p:nvSpPr>
        <p:spPr>
          <a:xfrm>
            <a:off x="566928" y="3218688"/>
            <a:ext cx="1041502" cy="694944"/>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政府結論</a:t>
            </a:r>
            <a:endParaRPr lang="en-US" sz="1100" dirty="0"/>
          </a:p>
        </p:txBody>
      </p:sp>
      <p:sp>
        <p:nvSpPr>
          <p:cNvPr id="15" name="Text 13"/>
          <p:cNvSpPr txBox="1"/>
          <p:nvPr/>
        </p:nvSpPr>
        <p:spPr>
          <a:xfrm>
            <a:off x="1700327" y="3218688"/>
            <a:ext cx="4993081" cy="694944"/>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夾屋對應人群為收入超出經屋申請上限者，並兼顧分流經屋排序靠後者（政策研究 2022，第 31 頁）</a:t>
            </a:r>
            <a:endParaRPr lang="en-US" sz="1100" dirty="0"/>
          </a:p>
        </p:txBody>
      </p:sp>
      <p:sp>
        <p:nvSpPr>
          <p:cNvPr id="16" name="Shape 14"/>
          <p:cNvSpPr/>
          <p:nvPr/>
        </p:nvSpPr>
        <p:spPr>
          <a:xfrm>
            <a:off x="566928" y="3895344"/>
            <a:ext cx="6126480" cy="12802"/>
          </a:xfrm>
          <a:prstGeom prst="rect">
            <a:avLst/>
          </a:prstGeom>
          <a:solidFill>
            <a:srgbClr val="C72A09"/>
          </a:solidFill>
          <a:ln/>
        </p:spPr>
      </p:sp>
      <p:sp>
        <p:nvSpPr>
          <p:cNvPr id="17" name="Text 15"/>
          <p:cNvSpPr txBox="1"/>
          <p:nvPr/>
        </p:nvSpPr>
        <p:spPr>
          <a:xfrm>
            <a:off x="566928" y="4005072"/>
            <a:ext cx="1041502" cy="694944"/>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支持度</a:t>
            </a:r>
            <a:endParaRPr lang="en-US" sz="1100" dirty="0"/>
          </a:p>
        </p:txBody>
      </p:sp>
      <p:sp>
        <p:nvSpPr>
          <p:cNvPr id="18" name="Text 16"/>
          <p:cNvSpPr txBox="1"/>
          <p:nvPr/>
        </p:nvSpPr>
        <p:spPr>
          <a:xfrm>
            <a:off x="1700327" y="4005072"/>
            <a:ext cx="4993081" cy="694944"/>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夾屋政策支持率約 92.6%（諮詢總結報告，政策研究 2022 引述）</a:t>
            </a:r>
            <a:endParaRPr lang="en-US" sz="1100" dirty="0"/>
          </a:p>
        </p:txBody>
      </p:sp>
      <p:sp>
        <p:nvSpPr>
          <p:cNvPr id="19" name="Shape 17"/>
          <p:cNvSpPr/>
          <p:nvPr/>
        </p:nvSpPr>
        <p:spPr>
          <a:xfrm>
            <a:off x="566928" y="4681728"/>
            <a:ext cx="6126480" cy="12802"/>
          </a:xfrm>
          <a:prstGeom prst="rect">
            <a:avLst/>
          </a:prstGeom>
          <a:solidFill>
            <a:srgbClr val="C72A09"/>
          </a:solidFill>
          <a:ln/>
        </p:spPr>
      </p:sp>
      <p:sp>
        <p:nvSpPr>
          <p:cNvPr id="20" name="Text 18"/>
          <p:cNvSpPr txBox="1"/>
          <p:nvPr/>
        </p:nvSpPr>
        <p:spPr>
          <a:xfrm>
            <a:off x="566928" y="4937760"/>
            <a:ext cx="6126480" cy="603504"/>
          </a:xfrm>
          <a:prstGeom prst="rect">
            <a:avLst/>
          </a:prstGeom>
          <a:noFill/>
          <a:ln/>
        </p:spPr>
        <p:txBody>
          <a:bodyPr wrap="square" lIns="0" tIns="0" rIns="0" bIns="0" rtlCol="0" anchor="t"/>
          <a:lstStyle/>
          <a:p>
            <a:pPr indent="0" marL="0">
              <a:lnSpc>
                <a:spcPct val="130000"/>
              </a:lnSpc>
              <a:buNone/>
            </a:pPr>
            <a:r>
              <a:rPr lang="en-US" sz="1250" b="1" dirty="0">
                <a:solidFill>
                  <a:srgbClr val="CA0013"/>
                </a:solidFill>
                <a:latin typeface="Microsoft JhengHei" pitchFamily="34" charset="0"/>
                <a:ea typeface="Microsoft JhengHei" pitchFamily="34" charset="-122"/>
                <a:cs typeface="Microsoft JhengHei" pitchFamily="34" charset="-120"/>
              </a:rPr>
              <a:t>同一研究預期社屋、經屋供應可滿足需求，唯獨夾屋尚未供應，官方 2025-12 亦稱需求不太迫切。</a:t>
            </a:r>
            <a:endParaRPr lang="en-US" sz="1250" dirty="0"/>
          </a:p>
        </p:txBody>
      </p:sp>
      <p:sp>
        <p:nvSpPr>
          <p:cNvPr id="21" name="Text 19"/>
          <p:cNvSpPr txBox="1"/>
          <p:nvPr/>
        </p:nvSpPr>
        <p:spPr>
          <a:xfrm>
            <a:off x="7223760" y="1600200"/>
            <a:ext cx="4389120" cy="932688"/>
          </a:xfrm>
          <a:prstGeom prst="rect">
            <a:avLst/>
          </a:prstGeom>
          <a:noFill/>
          <a:ln/>
        </p:spPr>
        <p:txBody>
          <a:bodyPr wrap="square" lIns="0" tIns="0" rIns="0" bIns="0" rtlCol="0" anchor="ctr"/>
          <a:lstStyle/>
          <a:p>
            <a:pPr indent="0" marL="0">
              <a:buNone/>
            </a:pPr>
            <a:r>
              <a:rPr lang="en-US" sz="4000" b="1" dirty="0">
                <a:solidFill>
                  <a:srgbClr val="CA0013"/>
                </a:solidFill>
                <a:latin typeface="Inter" pitchFamily="34" charset="0"/>
                <a:ea typeface="Inter" pitchFamily="34" charset="-122"/>
                <a:cs typeface="Inter" pitchFamily="34" charset="-120"/>
              </a:rPr>
              <a:t>939–1,760</a:t>
            </a:r>
            <a:pPr indent="0" marL="0">
              <a:buNone/>
            </a:pPr>
            <a:r>
              <a:rPr lang="en-US" sz="1680" b="1" dirty="0">
                <a:solidFill>
                  <a:srgbClr val="CA0013"/>
                </a:solidFill>
                <a:latin typeface="Microsoft JhengHei" pitchFamily="34" charset="0"/>
                <a:ea typeface="Microsoft JhengHei" pitchFamily="34" charset="-122"/>
                <a:cs typeface="Microsoft JhengHei" pitchFamily="34" charset="-120"/>
              </a:rPr>
              <a:t> 戶</a:t>
            </a:r>
            <a:endParaRPr lang="en-US" sz="4000" dirty="0"/>
          </a:p>
        </p:txBody>
      </p:sp>
      <p:sp>
        <p:nvSpPr>
          <p:cNvPr id="22" name="Text 20"/>
          <p:cNvSpPr txBox="1"/>
          <p:nvPr/>
        </p:nvSpPr>
        <p:spPr>
          <a:xfrm>
            <a:off x="7223760" y="2532888"/>
            <a:ext cx="438912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夾屋每年新增需求</a:t>
            </a:r>
            <a:endParaRPr lang="en-US" sz="1300" dirty="0"/>
          </a:p>
        </p:txBody>
      </p:sp>
      <p:sp>
        <p:nvSpPr>
          <p:cNvPr id="23" name="Text 21"/>
          <p:cNvSpPr txBox="1"/>
          <p:nvPr/>
        </p:nvSpPr>
        <p:spPr>
          <a:xfrm>
            <a:off x="7223760" y="2898648"/>
            <a:ext cx="438912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以「800 萬以下、按揭八成或以上」交易佔比 10.97% 作代理推算</a:t>
            </a:r>
            <a:endParaRPr lang="en-US" sz="1050" dirty="0"/>
          </a:p>
        </p:txBody>
      </p:sp>
      <p:sp>
        <p:nvSpPr>
          <p:cNvPr id="24" name="Shape 22"/>
          <p:cNvSpPr/>
          <p:nvPr/>
        </p:nvSpPr>
        <p:spPr>
          <a:xfrm>
            <a:off x="7223760" y="3657600"/>
            <a:ext cx="4389120" cy="18288"/>
          </a:xfrm>
          <a:prstGeom prst="rect">
            <a:avLst/>
          </a:prstGeom>
          <a:solidFill>
            <a:srgbClr val="C72A09"/>
          </a:solidFill>
          <a:ln/>
        </p:spPr>
      </p:sp>
      <p:sp>
        <p:nvSpPr>
          <p:cNvPr id="25" name="Text 23"/>
          <p:cNvSpPr txBox="1"/>
          <p:nvPr/>
        </p:nvSpPr>
        <p:spPr>
          <a:xfrm>
            <a:off x="7223760" y="3794760"/>
            <a:ext cx="4389120" cy="932688"/>
          </a:xfrm>
          <a:prstGeom prst="rect">
            <a:avLst/>
          </a:prstGeom>
          <a:noFill/>
          <a:ln/>
        </p:spPr>
        <p:txBody>
          <a:bodyPr wrap="square" lIns="0" tIns="0" rIns="0" bIns="0" rtlCol="0" anchor="ctr"/>
          <a:lstStyle/>
          <a:p>
            <a:pPr indent="0" marL="0">
              <a:buNone/>
            </a:pPr>
            <a:r>
              <a:rPr lang="en-US" sz="3400" b="1" dirty="0">
                <a:solidFill>
                  <a:srgbClr val="CA0013"/>
                </a:solidFill>
                <a:latin typeface="Inter" pitchFamily="34" charset="0"/>
                <a:ea typeface="Inter" pitchFamily="34" charset="-122"/>
                <a:cs typeface="Inter" pitchFamily="34" charset="-120"/>
              </a:rPr>
              <a:t>7,737–10,093</a:t>
            </a:r>
            <a:pPr indent="0" marL="0">
              <a:buNone/>
            </a:pPr>
            <a:r>
              <a:rPr lang="en-US" sz="1428" b="1" dirty="0">
                <a:solidFill>
                  <a:srgbClr val="CA0013"/>
                </a:solidFill>
                <a:latin typeface="Microsoft JhengHei" pitchFamily="34" charset="0"/>
                <a:ea typeface="Microsoft JhengHei" pitchFamily="34" charset="-122"/>
                <a:cs typeface="Microsoft JhengHei" pitchFamily="34" charset="-120"/>
              </a:rPr>
              <a:t> 戶</a:t>
            </a:r>
            <a:endParaRPr lang="en-US" sz="3400" dirty="0"/>
          </a:p>
        </p:txBody>
      </p:sp>
      <p:sp>
        <p:nvSpPr>
          <p:cNvPr id="26" name="Text 24"/>
          <p:cNvSpPr txBox="1"/>
          <p:nvPr/>
        </p:nvSpPr>
        <p:spPr>
          <a:xfrm>
            <a:off x="7223760" y="4727448"/>
            <a:ext cx="438912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2030 年總需求上限</a:t>
            </a:r>
            <a:endParaRPr lang="en-US" sz="1300" dirty="0"/>
          </a:p>
        </p:txBody>
      </p:sp>
      <p:sp>
        <p:nvSpPr>
          <p:cNvPr id="27" name="Text 25"/>
          <p:cNvSpPr txBox="1"/>
          <p:nvPr/>
        </p:nvSpPr>
        <p:spPr>
          <a:xfrm>
            <a:off x="7223760" y="5093208"/>
            <a:ext cx="438912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悲觀 7,737、中性 10,093（樂觀 14,348）</a:t>
            </a:r>
            <a:endParaRPr lang="en-US" sz="1050" dirty="0"/>
          </a:p>
        </p:txBody>
      </p:sp>
      <p:sp>
        <p:nvSpPr>
          <p:cNvPr id="28" name="Text 26"/>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夾心階層住房方案諮詢；政策研究 2022；未來房屋需求研究</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(24)</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第二部分　現況與趨勢</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三個問題的現況一覽</a:t>
            </a:r>
            <a:endParaRPr lang="en-US" sz="3400" dirty="0"/>
          </a:p>
        </p:txBody>
      </p:sp>
      <p:sp>
        <p:nvSpPr>
          <p:cNvPr id="8" name="Text 6"/>
          <p:cNvSpPr txBox="1"/>
          <p:nvPr/>
        </p:nvSpPr>
        <p:spPr>
          <a:xfrm>
            <a:off x="566928" y="1600200"/>
            <a:ext cx="2249424"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問題</a:t>
            </a:r>
            <a:endParaRPr lang="en-US" sz="1100" dirty="0"/>
          </a:p>
        </p:txBody>
      </p:sp>
      <p:sp>
        <p:nvSpPr>
          <p:cNvPr id="9" name="Text 7"/>
          <p:cNvSpPr txBox="1"/>
          <p:nvPr/>
        </p:nvSpPr>
        <p:spPr>
          <a:xfrm>
            <a:off x="2944368" y="1600200"/>
            <a:ext cx="4809744"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核心數據</a:t>
            </a:r>
            <a:endParaRPr lang="en-US" sz="1100" dirty="0"/>
          </a:p>
        </p:txBody>
      </p:sp>
      <p:sp>
        <p:nvSpPr>
          <p:cNvPr id="10" name="Text 8"/>
          <p:cNvSpPr txBox="1"/>
          <p:nvPr/>
        </p:nvSpPr>
        <p:spPr>
          <a:xfrm>
            <a:off x="7882128" y="1600200"/>
            <a:ext cx="2066544"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主要來源</a:t>
            </a:r>
            <a:endParaRPr lang="en-US" sz="1100" dirty="0"/>
          </a:p>
        </p:txBody>
      </p:sp>
      <p:sp>
        <p:nvSpPr>
          <p:cNvPr id="11" name="Text 9"/>
          <p:cNvSpPr txBox="1"/>
          <p:nvPr/>
        </p:nvSpPr>
        <p:spPr>
          <a:xfrm>
            <a:off x="10076688" y="1600200"/>
            <a:ext cx="1545336"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證據強度</a:t>
            </a:r>
            <a:endParaRPr lang="en-US" sz="1100" dirty="0"/>
          </a:p>
        </p:txBody>
      </p:sp>
      <p:sp>
        <p:nvSpPr>
          <p:cNvPr id="12" name="Shape 10"/>
          <p:cNvSpPr/>
          <p:nvPr/>
        </p:nvSpPr>
        <p:spPr>
          <a:xfrm>
            <a:off x="566928" y="1947672"/>
            <a:ext cx="11057839" cy="18288"/>
          </a:xfrm>
          <a:prstGeom prst="rect">
            <a:avLst/>
          </a:prstGeom>
          <a:solidFill>
            <a:srgbClr val="C72A09"/>
          </a:solidFill>
          <a:ln/>
        </p:spPr>
      </p:sp>
      <p:sp>
        <p:nvSpPr>
          <p:cNvPr id="13" name="Text 11"/>
          <p:cNvSpPr txBox="1"/>
          <p:nvPr/>
        </p:nvSpPr>
        <p:spPr>
          <a:xfrm>
            <a:off x="566928" y="2039112"/>
            <a:ext cx="2249424" cy="88696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一　樓價與負擔能力</a:t>
            </a:r>
            <a:endParaRPr lang="en-US" sz="1200" dirty="0"/>
          </a:p>
        </p:txBody>
      </p:sp>
      <p:sp>
        <p:nvSpPr>
          <p:cNvPr id="14" name="Text 12"/>
          <p:cNvSpPr txBox="1"/>
          <p:nvPr/>
        </p:nvSpPr>
        <p:spPr>
          <a:xfrm>
            <a:off x="2944368" y="2039112"/>
            <a:ext cx="4809744" cy="88696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樓價 −31.7%（2021–25）；樓價收入比 13.4 → 9.6 倍；租金 2023–25 約 +6%</a:t>
            </a:r>
            <a:endParaRPr lang="en-US" sz="1200" dirty="0"/>
          </a:p>
        </p:txBody>
      </p:sp>
      <p:sp>
        <p:nvSpPr>
          <p:cNvPr id="15" name="Text 13"/>
          <p:cNvSpPr txBox="1"/>
          <p:nvPr/>
        </p:nvSpPr>
        <p:spPr>
          <a:xfrm>
            <a:off x="7882128" y="2039112"/>
            <a:ext cx="2066544" cy="88696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統計暨普查局；本組推算</a:t>
            </a:r>
            <a:endParaRPr lang="en-US" sz="1200" dirty="0"/>
          </a:p>
        </p:txBody>
      </p:sp>
      <p:sp>
        <p:nvSpPr>
          <p:cNvPr id="16" name="Text 14"/>
          <p:cNvSpPr txBox="1"/>
          <p:nvPr/>
        </p:nvSpPr>
        <p:spPr>
          <a:xfrm>
            <a:off x="10076688" y="2039112"/>
            <a:ext cx="1545336" cy="88696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強：官方年度序列；月供為假設</a:t>
            </a:r>
            <a:endParaRPr lang="en-US" sz="1200" dirty="0"/>
          </a:p>
        </p:txBody>
      </p:sp>
      <p:sp>
        <p:nvSpPr>
          <p:cNvPr id="17" name="Shape 15"/>
          <p:cNvSpPr/>
          <p:nvPr/>
        </p:nvSpPr>
        <p:spPr>
          <a:xfrm>
            <a:off x="566928" y="2926080"/>
            <a:ext cx="11057839" cy="12802"/>
          </a:xfrm>
          <a:prstGeom prst="rect">
            <a:avLst/>
          </a:prstGeom>
          <a:solidFill>
            <a:srgbClr val="C72A09"/>
          </a:solidFill>
          <a:ln/>
        </p:spPr>
      </p:sp>
      <p:sp>
        <p:nvSpPr>
          <p:cNvPr id="18" name="Text 16"/>
          <p:cNvSpPr txBox="1"/>
          <p:nvPr/>
        </p:nvSpPr>
        <p:spPr>
          <a:xfrm>
            <a:off x="566928" y="2999232"/>
            <a:ext cx="2249424" cy="88696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二　舊樓與都市更新</a:t>
            </a:r>
            <a:endParaRPr lang="en-US" sz="1200" dirty="0"/>
          </a:p>
        </p:txBody>
      </p:sp>
      <p:sp>
        <p:nvSpPr>
          <p:cNvPr id="19" name="Text 17"/>
          <p:cNvSpPr txBox="1"/>
          <p:nvPr/>
        </p:nvSpPr>
        <p:spPr>
          <a:xfrm>
            <a:off x="2944368" y="2999232"/>
            <a:ext cx="4809744" cy="88696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樓齡 30 年以上約 4,800 幢；失修通知 84 宗、清拆殘危 3 幢（2026 首季）；祐漢 46 幢</a:t>
            </a:r>
            <a:endParaRPr lang="en-US" sz="1200" dirty="0"/>
          </a:p>
        </p:txBody>
      </p:sp>
      <p:sp>
        <p:nvSpPr>
          <p:cNvPr id="20" name="Text 18"/>
          <p:cNvSpPr txBox="1"/>
          <p:nvPr/>
        </p:nvSpPr>
        <p:spPr>
          <a:xfrm>
            <a:off x="7882128" y="2999232"/>
            <a:ext cx="2066544" cy="88696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土地工務局；都更公司；報道</a:t>
            </a:r>
            <a:endParaRPr lang="en-US" sz="1200" dirty="0"/>
          </a:p>
        </p:txBody>
      </p:sp>
      <p:sp>
        <p:nvSpPr>
          <p:cNvPr id="21" name="Text 19"/>
          <p:cNvSpPr txBox="1"/>
          <p:nvPr/>
        </p:nvSpPr>
        <p:spPr>
          <a:xfrm>
            <a:off x="10076688" y="2999232"/>
            <a:ext cx="1545336" cy="88696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中：缺歷年序列</a:t>
            </a:r>
            <a:endParaRPr lang="en-US" sz="1200" dirty="0"/>
          </a:p>
        </p:txBody>
      </p:sp>
      <p:sp>
        <p:nvSpPr>
          <p:cNvPr id="22" name="Shape 20"/>
          <p:cNvSpPr/>
          <p:nvPr/>
        </p:nvSpPr>
        <p:spPr>
          <a:xfrm>
            <a:off x="566928" y="3886200"/>
            <a:ext cx="11057839" cy="12802"/>
          </a:xfrm>
          <a:prstGeom prst="rect">
            <a:avLst/>
          </a:prstGeom>
          <a:solidFill>
            <a:srgbClr val="C72A09"/>
          </a:solidFill>
          <a:ln/>
        </p:spPr>
      </p:sp>
      <p:sp>
        <p:nvSpPr>
          <p:cNvPr id="23" name="Text 21"/>
          <p:cNvSpPr txBox="1"/>
          <p:nvPr/>
        </p:nvSpPr>
        <p:spPr>
          <a:xfrm>
            <a:off x="566928" y="3959352"/>
            <a:ext cx="2249424" cy="88696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三　公共房屋與夾心階層</a:t>
            </a:r>
            <a:endParaRPr lang="en-US" sz="1200" dirty="0"/>
          </a:p>
        </p:txBody>
      </p:sp>
      <p:sp>
        <p:nvSpPr>
          <p:cNvPr id="24" name="Text 22"/>
          <p:cNvSpPr txBox="1"/>
          <p:nvPr/>
        </p:nvSpPr>
        <p:spPr>
          <a:xfrm>
            <a:off x="2944368" y="3959352"/>
            <a:ext cx="4809744" cy="88696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社屋佔 6.3%；經屋 2023 期取消資格 22.6%；置換房 338／2,000+；夾屋尚未供應</a:t>
            </a:r>
            <a:endParaRPr lang="en-US" sz="1200" dirty="0"/>
          </a:p>
        </p:txBody>
      </p:sp>
      <p:sp>
        <p:nvSpPr>
          <p:cNvPr id="25" name="Text 23"/>
          <p:cNvSpPr txBox="1"/>
          <p:nvPr/>
        </p:nvSpPr>
        <p:spPr>
          <a:xfrm>
            <a:off x="7882128" y="3959352"/>
            <a:ext cx="2066544" cy="88696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房屋局；政策研究；議員質詢</a:t>
            </a:r>
            <a:endParaRPr lang="en-US" sz="1200" dirty="0"/>
          </a:p>
        </p:txBody>
      </p:sp>
      <p:sp>
        <p:nvSpPr>
          <p:cNvPr id="26" name="Text 24"/>
          <p:cNvSpPr txBox="1"/>
          <p:nvPr/>
        </p:nvSpPr>
        <p:spPr>
          <a:xfrm>
            <a:off x="10076688" y="3959352"/>
            <a:ext cx="1545336" cy="88696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中：部分為議員引述</a:t>
            </a:r>
            <a:endParaRPr lang="en-US" sz="1200" dirty="0"/>
          </a:p>
        </p:txBody>
      </p:sp>
      <p:sp>
        <p:nvSpPr>
          <p:cNvPr id="27" name="Shape 25"/>
          <p:cNvSpPr/>
          <p:nvPr/>
        </p:nvSpPr>
        <p:spPr>
          <a:xfrm>
            <a:off x="566928" y="4846320"/>
            <a:ext cx="11057839" cy="12802"/>
          </a:xfrm>
          <a:prstGeom prst="rect">
            <a:avLst/>
          </a:prstGeom>
          <a:solidFill>
            <a:srgbClr val="C72A09"/>
          </a:solidFill>
          <a:ln/>
        </p:spPr>
      </p:sp>
      <p:sp>
        <p:nvSpPr>
          <p:cNvPr id="28" name="Shape 26"/>
          <p:cNvSpPr/>
          <p:nvPr/>
        </p:nvSpPr>
        <p:spPr>
          <a:xfrm>
            <a:off x="566928" y="5074920"/>
            <a:ext cx="11057839" cy="18288"/>
          </a:xfrm>
          <a:prstGeom prst="rect">
            <a:avLst/>
          </a:prstGeom>
          <a:solidFill>
            <a:srgbClr val="C72A09"/>
          </a:solidFill>
          <a:ln/>
        </p:spPr>
      </p:sp>
      <p:sp>
        <p:nvSpPr>
          <p:cNvPr id="29" name="Text 27"/>
          <p:cNvSpPr txBox="1"/>
          <p:nvPr/>
        </p:nvSpPr>
        <p:spPr>
          <a:xfrm>
            <a:off x="566928" y="5193792"/>
            <a:ext cx="11057839" cy="365760"/>
          </a:xfrm>
          <a:prstGeom prst="rect">
            <a:avLst/>
          </a:prstGeom>
          <a:noFill/>
          <a:ln/>
        </p:spPr>
        <p:txBody>
          <a:bodyPr wrap="square" lIns="0" tIns="0" rIns="0" bIns="0" rtlCol="0" anchor="ctr"/>
          <a:lstStyle/>
          <a:p>
            <a:pPr indent="0" marL="0">
              <a:buNone/>
            </a:pPr>
            <a:r>
              <a:rPr lang="en-US" sz="1500" b="1" dirty="0">
                <a:solidFill>
                  <a:srgbClr val="CA0013"/>
                </a:solidFill>
                <a:latin typeface="Microsoft JhengHei" pitchFamily="34" charset="0"/>
                <a:ea typeface="Microsoft JhengHei" pitchFamily="34" charset="-122"/>
                <a:cs typeface="Microsoft JhengHei" pitchFamily="34" charset="-120"/>
              </a:rPr>
              <a:t>共同特徵：總量足夠，分配失衡。下一步：是哪些社會因素造成這種分配？</a:t>
            </a:r>
            <a:endParaRPr lang="en-US" sz="1500" dirty="0"/>
          </a:p>
        </p:txBody>
      </p:sp>
      <p:sp>
        <p:nvSpPr>
          <p:cNvPr id="30" name="Text 28"/>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本組整理</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(25)</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第三部分　社會因素</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四個因素，同時影響三個問題</a:t>
            </a:r>
            <a:endParaRPr lang="en-US" sz="3400" dirty="0"/>
          </a:p>
        </p:txBody>
      </p:sp>
      <p:sp>
        <p:nvSpPr>
          <p:cNvPr id="8" name="Text 6"/>
          <p:cNvSpPr txBox="1"/>
          <p:nvPr/>
        </p:nvSpPr>
        <p:spPr>
          <a:xfrm>
            <a:off x="566928" y="1600200"/>
            <a:ext cx="1609344"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因素</a:t>
            </a:r>
            <a:endParaRPr lang="en-US" sz="1100" dirty="0"/>
          </a:p>
        </p:txBody>
      </p:sp>
      <p:sp>
        <p:nvSpPr>
          <p:cNvPr id="9" name="Text 7"/>
          <p:cNvSpPr txBox="1"/>
          <p:nvPr/>
        </p:nvSpPr>
        <p:spPr>
          <a:xfrm>
            <a:off x="2304288" y="1600200"/>
            <a:ext cx="2980944"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問題一　樓價與負擔</a:t>
            </a:r>
            <a:endParaRPr lang="en-US" sz="1100" dirty="0"/>
          </a:p>
        </p:txBody>
      </p:sp>
      <p:sp>
        <p:nvSpPr>
          <p:cNvPr id="10" name="Text 8"/>
          <p:cNvSpPr txBox="1"/>
          <p:nvPr/>
        </p:nvSpPr>
        <p:spPr>
          <a:xfrm>
            <a:off x="5413248" y="1600200"/>
            <a:ext cx="2980944"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問題二　舊樓與更新</a:t>
            </a:r>
            <a:endParaRPr lang="en-US" sz="1100" dirty="0"/>
          </a:p>
        </p:txBody>
      </p:sp>
      <p:sp>
        <p:nvSpPr>
          <p:cNvPr id="11" name="Text 9"/>
          <p:cNvSpPr txBox="1"/>
          <p:nvPr/>
        </p:nvSpPr>
        <p:spPr>
          <a:xfrm>
            <a:off x="8522208" y="1600200"/>
            <a:ext cx="3099816"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問題三　公共房屋</a:t>
            </a:r>
            <a:endParaRPr lang="en-US" sz="1100" dirty="0"/>
          </a:p>
        </p:txBody>
      </p:sp>
      <p:sp>
        <p:nvSpPr>
          <p:cNvPr id="12" name="Shape 10"/>
          <p:cNvSpPr/>
          <p:nvPr/>
        </p:nvSpPr>
        <p:spPr>
          <a:xfrm>
            <a:off x="566928" y="1947672"/>
            <a:ext cx="11057839" cy="18288"/>
          </a:xfrm>
          <a:prstGeom prst="rect">
            <a:avLst/>
          </a:prstGeom>
          <a:solidFill>
            <a:srgbClr val="C72A09"/>
          </a:solidFill>
          <a:ln/>
        </p:spPr>
      </p:sp>
      <p:sp>
        <p:nvSpPr>
          <p:cNvPr id="13" name="Text 11"/>
          <p:cNvSpPr txBox="1"/>
          <p:nvPr/>
        </p:nvSpPr>
        <p:spPr>
          <a:xfrm>
            <a:off x="566928" y="2039112"/>
            <a:ext cx="1609344" cy="8412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經濟</a:t>
            </a:r>
            <a:endParaRPr lang="en-US" sz="1200" dirty="0"/>
          </a:p>
        </p:txBody>
      </p:sp>
      <p:sp>
        <p:nvSpPr>
          <p:cNvPr id="14" name="Text 12"/>
          <p:cNvSpPr txBox="1"/>
          <p:nvPr/>
        </p:nvSpPr>
        <p:spPr>
          <a:xfrm>
            <a:off x="2304288" y="2039112"/>
            <a:ext cx="2980944" cy="8412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收入近三年僅升 5%，樓價回落；首期與家庭資產決定能否入市</a:t>
            </a:r>
            <a:endParaRPr lang="en-US" sz="1200" dirty="0"/>
          </a:p>
        </p:txBody>
      </p:sp>
      <p:sp>
        <p:nvSpPr>
          <p:cNvPr id="15" name="Text 13"/>
          <p:cNvSpPr txBox="1"/>
          <p:nvPr/>
        </p:nvSpPr>
        <p:spPr>
          <a:xfrm>
            <a:off x="5413248" y="2039112"/>
            <a:ext cx="2980944" cy="8412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業主按份額分擔重建負擔（第 8、34 條）；舊樓租金較低</a:t>
            </a:r>
            <a:endParaRPr lang="en-US" sz="1200" dirty="0"/>
          </a:p>
        </p:txBody>
      </p:sp>
      <p:sp>
        <p:nvSpPr>
          <p:cNvPr id="16" name="Text 14"/>
          <p:cNvSpPr txBox="1"/>
          <p:nvPr/>
        </p:nvSpPr>
        <p:spPr>
          <a:xfrm>
            <a:off x="8522208" y="2039112"/>
            <a:ext cx="3099816" cy="8412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收入超出經屋上限、又買不起私樓，成為夾心階層</a:t>
            </a:r>
            <a:endParaRPr lang="en-US" sz="1200" dirty="0"/>
          </a:p>
        </p:txBody>
      </p:sp>
      <p:sp>
        <p:nvSpPr>
          <p:cNvPr id="17" name="Shape 15"/>
          <p:cNvSpPr/>
          <p:nvPr/>
        </p:nvSpPr>
        <p:spPr>
          <a:xfrm>
            <a:off x="566928" y="2880360"/>
            <a:ext cx="11057839" cy="12802"/>
          </a:xfrm>
          <a:prstGeom prst="rect">
            <a:avLst/>
          </a:prstGeom>
          <a:solidFill>
            <a:srgbClr val="C72A09"/>
          </a:solidFill>
          <a:ln/>
        </p:spPr>
      </p:sp>
      <p:sp>
        <p:nvSpPr>
          <p:cNvPr id="18" name="Text 16"/>
          <p:cNvSpPr txBox="1"/>
          <p:nvPr/>
        </p:nvSpPr>
        <p:spPr>
          <a:xfrm>
            <a:off x="566928" y="2953512"/>
            <a:ext cx="1609344" cy="8412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政策與法律</a:t>
            </a:r>
            <a:endParaRPr lang="en-US" sz="1200" dirty="0"/>
          </a:p>
        </p:txBody>
      </p:sp>
      <p:sp>
        <p:nvSpPr>
          <p:cNvPr id="19" name="Text 17"/>
          <p:cNvSpPr txBox="1"/>
          <p:nvPr/>
        </p:nvSpPr>
        <p:spPr>
          <a:xfrm>
            <a:off x="2304288" y="2953512"/>
            <a:ext cx="2980944" cy="8412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按揭成數 70% → 80%，配合印花稅豁免（2026-01-01）</a:t>
            </a:r>
            <a:endParaRPr lang="en-US" sz="1200" dirty="0"/>
          </a:p>
        </p:txBody>
      </p:sp>
      <p:sp>
        <p:nvSpPr>
          <p:cNvPr id="20" name="Text 18"/>
          <p:cNvSpPr txBox="1"/>
          <p:nvPr/>
        </p:nvSpPr>
        <p:spPr>
          <a:xfrm>
            <a:off x="5413248" y="2953512"/>
            <a:ext cx="2980944" cy="8412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都更門檻 85／80／60%；不同意者經仲裁強制參與</a:t>
            </a:r>
            <a:endParaRPr lang="en-US" sz="1200" dirty="0"/>
          </a:p>
        </p:txBody>
      </p:sp>
      <p:sp>
        <p:nvSpPr>
          <p:cNvPr id="21" name="Text 19"/>
          <p:cNvSpPr txBox="1"/>
          <p:nvPr/>
        </p:nvSpPr>
        <p:spPr>
          <a:xfrm>
            <a:off x="8522208" y="2953512"/>
            <a:ext cx="3099816" cy="8412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經屋批次式供應；夾屋尚未供應</a:t>
            </a:r>
            <a:endParaRPr lang="en-US" sz="1200" dirty="0"/>
          </a:p>
        </p:txBody>
      </p:sp>
      <p:sp>
        <p:nvSpPr>
          <p:cNvPr id="22" name="Shape 20"/>
          <p:cNvSpPr/>
          <p:nvPr/>
        </p:nvSpPr>
        <p:spPr>
          <a:xfrm>
            <a:off x="566928" y="3794760"/>
            <a:ext cx="11057839" cy="12802"/>
          </a:xfrm>
          <a:prstGeom prst="rect">
            <a:avLst/>
          </a:prstGeom>
          <a:solidFill>
            <a:srgbClr val="C72A09"/>
          </a:solidFill>
          <a:ln/>
        </p:spPr>
      </p:sp>
      <p:sp>
        <p:nvSpPr>
          <p:cNvPr id="23" name="Text 21"/>
          <p:cNvSpPr txBox="1"/>
          <p:nvPr/>
        </p:nvSpPr>
        <p:spPr>
          <a:xfrm>
            <a:off x="566928" y="3867912"/>
            <a:ext cx="1609344" cy="8412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社會人口</a:t>
            </a:r>
            <a:endParaRPr lang="en-US" sz="1200" dirty="0"/>
          </a:p>
        </p:txBody>
      </p:sp>
      <p:sp>
        <p:nvSpPr>
          <p:cNvPr id="24" name="Text 22"/>
          <p:cNvSpPr txBox="1"/>
          <p:nvPr/>
        </p:nvSpPr>
        <p:spPr>
          <a:xfrm>
            <a:off x="2304288" y="3867912"/>
            <a:ext cx="2980944" cy="8412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戶均人口 3.04 → 2.83；青年租住 10.6% → 23.1%（方向參考）</a:t>
            </a:r>
            <a:endParaRPr lang="en-US" sz="1200" dirty="0"/>
          </a:p>
        </p:txBody>
      </p:sp>
      <p:sp>
        <p:nvSpPr>
          <p:cNvPr id="25" name="Text 23"/>
          <p:cNvSpPr txBox="1"/>
          <p:nvPr/>
        </p:nvSpPr>
        <p:spPr>
          <a:xfrm>
            <a:off x="5413248" y="3867912"/>
            <a:ext cx="2980944" cy="8412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長者住戶 +65.8%；近四成唐樓長者想入住長者公寓</a:t>
            </a:r>
            <a:endParaRPr lang="en-US" sz="1200" dirty="0"/>
          </a:p>
        </p:txBody>
      </p:sp>
      <p:sp>
        <p:nvSpPr>
          <p:cNvPr id="26" name="Text 24"/>
          <p:cNvSpPr txBox="1"/>
          <p:nvPr/>
        </p:nvSpPr>
        <p:spPr>
          <a:xfrm>
            <a:off x="8522208" y="3867912"/>
            <a:ext cx="3099816" cy="8412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個人申請 2,275 份對一房 1,657 個（議員引述）</a:t>
            </a:r>
            <a:endParaRPr lang="en-US" sz="1200" dirty="0"/>
          </a:p>
        </p:txBody>
      </p:sp>
      <p:sp>
        <p:nvSpPr>
          <p:cNvPr id="27" name="Shape 25"/>
          <p:cNvSpPr/>
          <p:nvPr/>
        </p:nvSpPr>
        <p:spPr>
          <a:xfrm>
            <a:off x="566928" y="4709160"/>
            <a:ext cx="11057839" cy="12802"/>
          </a:xfrm>
          <a:prstGeom prst="rect">
            <a:avLst/>
          </a:prstGeom>
          <a:solidFill>
            <a:srgbClr val="C72A09"/>
          </a:solidFill>
          <a:ln/>
        </p:spPr>
      </p:sp>
      <p:sp>
        <p:nvSpPr>
          <p:cNvPr id="28" name="Text 26"/>
          <p:cNvSpPr txBox="1"/>
          <p:nvPr/>
        </p:nvSpPr>
        <p:spPr>
          <a:xfrm>
            <a:off x="566928" y="4782312"/>
            <a:ext cx="1609344" cy="8412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地理與物理環境</a:t>
            </a:r>
            <a:endParaRPr lang="en-US" sz="1200" dirty="0"/>
          </a:p>
        </p:txBody>
      </p:sp>
      <p:sp>
        <p:nvSpPr>
          <p:cNvPr id="29" name="Text 27"/>
          <p:cNvSpPr txBox="1"/>
          <p:nvPr/>
        </p:nvSpPr>
        <p:spPr>
          <a:xfrm>
            <a:off x="2304288" y="4782312"/>
            <a:ext cx="2980944" cy="8412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住宅用地約 2.9 平方公里，填海沉澱期 5–8 年，新供應有時滯</a:t>
            </a:r>
            <a:endParaRPr lang="en-US" sz="1200" dirty="0"/>
          </a:p>
        </p:txBody>
      </p:sp>
      <p:sp>
        <p:nvSpPr>
          <p:cNvPr id="30" name="Text 28"/>
          <p:cNvSpPr txBox="1"/>
          <p:nvPr/>
        </p:nvSpPr>
        <p:spPr>
          <a:xfrm>
            <a:off x="5413248" y="4782312"/>
            <a:ext cx="2980944" cy="8412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樓齡 30 年以上約 4,800 幢；重建須另建暫住房</a:t>
            </a:r>
            <a:endParaRPr lang="en-US" sz="1200" dirty="0"/>
          </a:p>
        </p:txBody>
      </p:sp>
      <p:sp>
        <p:nvSpPr>
          <p:cNvPr id="31" name="Text 29"/>
          <p:cNvSpPr txBox="1"/>
          <p:nvPr/>
        </p:nvSpPr>
        <p:spPr>
          <a:xfrm>
            <a:off x="8522208" y="4782312"/>
            <a:ext cx="3099816" cy="8412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石排灣經屋空置率 38.9%（2015）：位置與配套不對應</a:t>
            </a:r>
            <a:endParaRPr lang="en-US" sz="1200" dirty="0"/>
          </a:p>
        </p:txBody>
      </p:sp>
      <p:sp>
        <p:nvSpPr>
          <p:cNvPr id="32" name="Shape 30"/>
          <p:cNvSpPr/>
          <p:nvPr/>
        </p:nvSpPr>
        <p:spPr>
          <a:xfrm>
            <a:off x="566928" y="5623560"/>
            <a:ext cx="11057839" cy="12802"/>
          </a:xfrm>
          <a:prstGeom prst="rect">
            <a:avLst/>
          </a:prstGeom>
          <a:solidFill>
            <a:srgbClr val="C72A09"/>
          </a:solidFill>
          <a:ln/>
        </p:spPr>
      </p:sp>
      <p:sp>
        <p:nvSpPr>
          <p:cNvPr id="33" name="Text 31"/>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本組整理；數據出處見前文各頁</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(26)</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第三部分　社會因素</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因素一與因素二</a:t>
            </a:r>
            <a:endParaRPr lang="en-US" sz="3400" dirty="0"/>
          </a:p>
        </p:txBody>
      </p:sp>
      <p:sp>
        <p:nvSpPr>
          <p:cNvPr id="8" name="Text 6"/>
          <p:cNvSpPr txBox="1"/>
          <p:nvPr/>
        </p:nvSpPr>
        <p:spPr>
          <a:xfrm>
            <a:off x="566928" y="1554480"/>
            <a:ext cx="5349240" cy="310896"/>
          </a:xfrm>
          <a:prstGeom prst="rect">
            <a:avLst/>
          </a:prstGeom>
          <a:noFill/>
          <a:ln/>
        </p:spPr>
        <p:txBody>
          <a:bodyPr wrap="square" lIns="0" tIns="0" rIns="0" bIns="0" rtlCol="0" anchor="t"/>
          <a:lstStyle/>
          <a:p>
            <a:pPr algn="l" indent="0" marL="0">
              <a:lnSpc>
                <a:spcPct val="125000"/>
              </a:lnSpc>
              <a:buNone/>
            </a:pPr>
            <a:r>
              <a:rPr lang="en-US" sz="1150" b="1" spc="240" kern="0" dirty="0">
                <a:solidFill>
                  <a:srgbClr val="CA0013"/>
                </a:solidFill>
                <a:latin typeface="Microsoft JhengHei" pitchFamily="34" charset="0"/>
                <a:ea typeface="Microsoft JhengHei" pitchFamily="34" charset="-122"/>
                <a:cs typeface="Microsoft JhengHei" pitchFamily="34" charset="-120"/>
              </a:rPr>
              <a:t>因素一</a:t>
            </a:r>
            <a:endParaRPr lang="en-US" sz="1150" dirty="0"/>
          </a:p>
        </p:txBody>
      </p:sp>
      <p:sp>
        <p:nvSpPr>
          <p:cNvPr id="9" name="Text 7"/>
          <p:cNvSpPr txBox="1"/>
          <p:nvPr/>
        </p:nvSpPr>
        <p:spPr>
          <a:xfrm>
            <a:off x="566928" y="1828800"/>
            <a:ext cx="5349240" cy="457200"/>
          </a:xfrm>
          <a:prstGeom prst="rect">
            <a:avLst/>
          </a:prstGeom>
          <a:noFill/>
          <a:ln/>
        </p:spPr>
        <p:txBody>
          <a:bodyPr wrap="square" lIns="0" tIns="0" rIns="0" bIns="0" rtlCol="0" anchor="t"/>
          <a:lstStyle/>
          <a:p>
            <a:pPr indent="0" marL="0">
              <a:buNone/>
            </a:pPr>
            <a:r>
              <a:rPr lang="en-US" sz="2200" b="1" dirty="0">
                <a:solidFill>
                  <a:srgbClr val="CA0013"/>
                </a:solidFill>
                <a:latin typeface="Microsoft JhengHei" pitchFamily="34" charset="0"/>
                <a:ea typeface="Microsoft JhengHei" pitchFamily="34" charset="-122"/>
                <a:cs typeface="Microsoft JhengHei" pitchFamily="34" charset="-120"/>
              </a:rPr>
              <a:t>經濟</a:t>
            </a:r>
            <a:endParaRPr lang="en-US" sz="2200" dirty="0"/>
          </a:p>
        </p:txBody>
      </p:sp>
      <p:sp>
        <p:nvSpPr>
          <p:cNvPr id="10" name="Text 8"/>
          <p:cNvSpPr txBox="1"/>
          <p:nvPr/>
        </p:nvSpPr>
        <p:spPr>
          <a:xfrm>
            <a:off x="566928" y="2331720"/>
            <a:ext cx="5349240" cy="310896"/>
          </a:xfrm>
          <a:prstGeom prst="rect">
            <a:avLst/>
          </a:prstGeom>
          <a:noFill/>
          <a:ln/>
        </p:spPr>
        <p:txBody>
          <a:bodyPr wrap="square" lIns="0" tIns="0" rIns="0" bIns="0" rtlCol="0" anchor="t"/>
          <a:lstStyle/>
          <a:p>
            <a:pPr algn="l" indent="0" marL="0">
              <a:lnSpc>
                <a:spcPct val="125000"/>
              </a:lnSpc>
              <a:buNone/>
            </a:pPr>
            <a:r>
              <a:rPr lang="en-US" sz="1150" b="1" spc="80" kern="0" dirty="0">
                <a:solidFill>
                  <a:srgbClr val="CA0013"/>
                </a:solidFill>
                <a:latin typeface="Microsoft JhengHei" pitchFamily="34" charset="0"/>
                <a:ea typeface="Microsoft JhengHei" pitchFamily="34" charset="-122"/>
                <a:cs typeface="Microsoft JhengHei" pitchFamily="34" charset="-120"/>
              </a:rPr>
              <a:t>收入與資產分配</a:t>
            </a:r>
            <a:endParaRPr lang="en-US" sz="1150" dirty="0"/>
          </a:p>
        </p:txBody>
      </p:sp>
      <p:sp>
        <p:nvSpPr>
          <p:cNvPr id="11" name="Shape 9"/>
          <p:cNvSpPr/>
          <p:nvPr/>
        </p:nvSpPr>
        <p:spPr>
          <a:xfrm>
            <a:off x="566928" y="2697480"/>
            <a:ext cx="5349240" cy="18288"/>
          </a:xfrm>
          <a:prstGeom prst="rect">
            <a:avLst/>
          </a:prstGeom>
          <a:solidFill>
            <a:srgbClr val="C72A09"/>
          </a:solidFill>
          <a:ln/>
        </p:spPr>
      </p:sp>
      <p:sp>
        <p:nvSpPr>
          <p:cNvPr id="12" name="Text 10"/>
          <p:cNvSpPr txBox="1"/>
          <p:nvPr/>
        </p:nvSpPr>
        <p:spPr>
          <a:xfrm>
            <a:off x="566928" y="2816352"/>
            <a:ext cx="909371" cy="822960"/>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機制</a:t>
            </a:r>
            <a:endParaRPr lang="en-US" sz="1200" dirty="0"/>
          </a:p>
        </p:txBody>
      </p:sp>
      <p:sp>
        <p:nvSpPr>
          <p:cNvPr id="13" name="Text 11"/>
          <p:cNvSpPr txBox="1"/>
          <p:nvPr/>
        </p:nvSpPr>
        <p:spPr>
          <a:xfrm>
            <a:off x="1556537" y="2816352"/>
            <a:ext cx="4359631" cy="822960"/>
          </a:xfrm>
          <a:prstGeom prst="rect">
            <a:avLst/>
          </a:prstGeom>
          <a:noFill/>
          <a:ln/>
        </p:spPr>
        <p:txBody>
          <a:bodyPr wrap="square" lIns="0" tIns="0" rIns="0" bIns="0" rtlCol="0" anchor="t"/>
          <a:lstStyle/>
          <a:p>
            <a:pPr indent="0" marL="0">
              <a:lnSpc>
                <a:spcPct val="130000"/>
              </a:lnSpc>
              <a:buNone/>
            </a:pPr>
            <a:r>
              <a:rPr lang="en-US" sz="1200" dirty="0">
                <a:solidFill>
                  <a:srgbClr val="CA0013"/>
                </a:solidFill>
                <a:latin typeface="Microsoft JhengHei" pitchFamily="34" charset="0"/>
                <a:ea typeface="Microsoft JhengHei" pitchFamily="34" charset="-122"/>
                <a:cs typeface="Microsoft JhengHei" pitchFamily="34" charset="-120"/>
              </a:rPr>
              <a:t>誰進得了市場，取決於收入與家庭資產；樓價下跌不等於人人受惠。</a:t>
            </a:r>
            <a:endParaRPr lang="en-US" sz="1200" dirty="0"/>
          </a:p>
        </p:txBody>
      </p:sp>
      <p:sp>
        <p:nvSpPr>
          <p:cNvPr id="14" name="Shape 12"/>
          <p:cNvSpPr/>
          <p:nvPr/>
        </p:nvSpPr>
        <p:spPr>
          <a:xfrm>
            <a:off x="566928" y="3621024"/>
            <a:ext cx="5349240" cy="12802"/>
          </a:xfrm>
          <a:prstGeom prst="rect">
            <a:avLst/>
          </a:prstGeom>
          <a:solidFill>
            <a:srgbClr val="C72A09"/>
          </a:solidFill>
          <a:ln/>
        </p:spPr>
      </p:sp>
      <p:sp>
        <p:nvSpPr>
          <p:cNvPr id="15" name="Text 13"/>
          <p:cNvSpPr txBox="1"/>
          <p:nvPr/>
        </p:nvSpPr>
        <p:spPr>
          <a:xfrm>
            <a:off x="566928" y="3730752"/>
            <a:ext cx="909371" cy="822960"/>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證據</a:t>
            </a:r>
            <a:endParaRPr lang="en-US" sz="1200" dirty="0"/>
          </a:p>
        </p:txBody>
      </p:sp>
      <p:sp>
        <p:nvSpPr>
          <p:cNvPr id="16" name="Text 14"/>
          <p:cNvSpPr txBox="1"/>
          <p:nvPr/>
        </p:nvSpPr>
        <p:spPr>
          <a:xfrm>
            <a:off x="1556537" y="3730752"/>
            <a:ext cx="4359631" cy="822960"/>
          </a:xfrm>
          <a:prstGeom prst="rect">
            <a:avLst/>
          </a:prstGeom>
          <a:noFill/>
          <a:ln/>
        </p:spPr>
        <p:txBody>
          <a:bodyPr wrap="square" lIns="0" tIns="0" rIns="0" bIns="0" rtlCol="0" anchor="t"/>
          <a:lstStyle/>
          <a:p>
            <a:pPr indent="0" marL="0">
              <a:lnSpc>
                <a:spcPct val="130000"/>
              </a:lnSpc>
              <a:buNone/>
            </a:pPr>
            <a:r>
              <a:rPr lang="en-US" sz="1200" dirty="0">
                <a:solidFill>
                  <a:srgbClr val="CA0013"/>
                </a:solidFill>
                <a:latin typeface="Microsoft JhengHei" pitchFamily="34" charset="0"/>
                <a:ea typeface="Microsoft JhengHei" pitchFamily="34" charset="-122"/>
                <a:cs typeface="Microsoft JhengHei" pitchFamily="34" charset="-120"/>
              </a:rPr>
              <a:t>本地居民收入中位數 2023 年 20,000 元、2025 年 20,000 元；樓價 −24.1%；首期約 92–138 萬元。</a:t>
            </a:r>
            <a:endParaRPr lang="en-US" sz="1200" dirty="0"/>
          </a:p>
        </p:txBody>
      </p:sp>
      <p:sp>
        <p:nvSpPr>
          <p:cNvPr id="17" name="Shape 15"/>
          <p:cNvSpPr/>
          <p:nvPr/>
        </p:nvSpPr>
        <p:spPr>
          <a:xfrm>
            <a:off x="566928" y="4535424"/>
            <a:ext cx="5349240" cy="12802"/>
          </a:xfrm>
          <a:prstGeom prst="rect">
            <a:avLst/>
          </a:prstGeom>
          <a:solidFill>
            <a:srgbClr val="C72A09"/>
          </a:solidFill>
          <a:ln/>
        </p:spPr>
      </p:sp>
      <p:sp>
        <p:nvSpPr>
          <p:cNvPr id="18" name="Text 16"/>
          <p:cNvSpPr txBox="1"/>
          <p:nvPr/>
        </p:nvSpPr>
        <p:spPr>
          <a:xfrm>
            <a:off x="566928" y="4645152"/>
            <a:ext cx="909371" cy="822960"/>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限制</a:t>
            </a:r>
            <a:endParaRPr lang="en-US" sz="1200" dirty="0"/>
          </a:p>
        </p:txBody>
      </p:sp>
      <p:sp>
        <p:nvSpPr>
          <p:cNvPr id="19" name="Text 17"/>
          <p:cNvSpPr txBox="1"/>
          <p:nvPr/>
        </p:nvSpPr>
        <p:spPr>
          <a:xfrm>
            <a:off x="1556537" y="4645152"/>
            <a:ext cx="4359631" cy="822960"/>
          </a:xfrm>
          <a:prstGeom prst="rect">
            <a:avLst/>
          </a:prstGeom>
          <a:noFill/>
          <a:ln/>
        </p:spPr>
        <p:txBody>
          <a:bodyPr wrap="square" lIns="0" tIns="0" rIns="0" bIns="0" rtlCol="0" anchor="t"/>
          <a:lstStyle/>
          <a:p>
            <a:pPr indent="0" marL="0">
              <a:lnSpc>
                <a:spcPct val="130000"/>
              </a:lnSpc>
              <a:buNone/>
            </a:pPr>
            <a:r>
              <a:rPr lang="en-US" sz="1200" dirty="0">
                <a:solidFill>
                  <a:srgbClr val="CA0013"/>
                </a:solidFill>
                <a:latin typeface="Microsoft JhengHei" pitchFamily="34" charset="0"/>
                <a:ea typeface="Microsoft JhengHei" pitchFamily="34" charset="-122"/>
                <a:cs typeface="Microsoft JhengHei" pitchFamily="34" charset="-120"/>
              </a:rPr>
              <a:t>官方未公布住戶收入中位數；家庭收入以兩名中位收入者推算。</a:t>
            </a:r>
            <a:endParaRPr lang="en-US" sz="1200" dirty="0"/>
          </a:p>
        </p:txBody>
      </p:sp>
      <p:sp>
        <p:nvSpPr>
          <p:cNvPr id="20" name="Shape 18"/>
          <p:cNvSpPr/>
          <p:nvPr/>
        </p:nvSpPr>
        <p:spPr>
          <a:xfrm>
            <a:off x="566928" y="5449824"/>
            <a:ext cx="5349240" cy="12802"/>
          </a:xfrm>
          <a:prstGeom prst="rect">
            <a:avLst/>
          </a:prstGeom>
          <a:solidFill>
            <a:srgbClr val="C72A09"/>
          </a:solidFill>
          <a:ln/>
        </p:spPr>
      </p:sp>
      <p:sp>
        <p:nvSpPr>
          <p:cNvPr id="21" name="Text 19"/>
          <p:cNvSpPr txBox="1"/>
          <p:nvPr/>
        </p:nvSpPr>
        <p:spPr>
          <a:xfrm>
            <a:off x="6281928" y="1554480"/>
            <a:ext cx="5349240" cy="310896"/>
          </a:xfrm>
          <a:prstGeom prst="rect">
            <a:avLst/>
          </a:prstGeom>
          <a:noFill/>
          <a:ln/>
        </p:spPr>
        <p:txBody>
          <a:bodyPr wrap="square" lIns="0" tIns="0" rIns="0" bIns="0" rtlCol="0" anchor="t"/>
          <a:lstStyle/>
          <a:p>
            <a:pPr algn="l" indent="0" marL="0">
              <a:lnSpc>
                <a:spcPct val="125000"/>
              </a:lnSpc>
              <a:buNone/>
            </a:pPr>
            <a:r>
              <a:rPr lang="en-US" sz="1150" b="1" spc="240" kern="0" dirty="0">
                <a:solidFill>
                  <a:srgbClr val="CA0013"/>
                </a:solidFill>
                <a:latin typeface="Microsoft JhengHei" pitchFamily="34" charset="0"/>
                <a:ea typeface="Microsoft JhengHei" pitchFamily="34" charset="-122"/>
                <a:cs typeface="Microsoft JhengHei" pitchFamily="34" charset="-120"/>
              </a:rPr>
              <a:t>因素二</a:t>
            </a:r>
            <a:endParaRPr lang="en-US" sz="1150" dirty="0"/>
          </a:p>
        </p:txBody>
      </p:sp>
      <p:sp>
        <p:nvSpPr>
          <p:cNvPr id="22" name="Text 20"/>
          <p:cNvSpPr txBox="1"/>
          <p:nvPr/>
        </p:nvSpPr>
        <p:spPr>
          <a:xfrm>
            <a:off x="6281928" y="1828800"/>
            <a:ext cx="5349240" cy="457200"/>
          </a:xfrm>
          <a:prstGeom prst="rect">
            <a:avLst/>
          </a:prstGeom>
          <a:noFill/>
          <a:ln/>
        </p:spPr>
        <p:txBody>
          <a:bodyPr wrap="square" lIns="0" tIns="0" rIns="0" bIns="0" rtlCol="0" anchor="t"/>
          <a:lstStyle/>
          <a:p>
            <a:pPr indent="0" marL="0">
              <a:buNone/>
            </a:pPr>
            <a:r>
              <a:rPr lang="en-US" sz="2200" b="1" dirty="0">
                <a:solidFill>
                  <a:srgbClr val="CA0013"/>
                </a:solidFill>
                <a:latin typeface="Microsoft JhengHei" pitchFamily="34" charset="0"/>
                <a:ea typeface="Microsoft JhengHei" pitchFamily="34" charset="-122"/>
                <a:cs typeface="Microsoft JhengHei" pitchFamily="34" charset="-120"/>
              </a:rPr>
              <a:t>政策與法律</a:t>
            </a:r>
            <a:endParaRPr lang="en-US" sz="2200" dirty="0"/>
          </a:p>
        </p:txBody>
      </p:sp>
      <p:sp>
        <p:nvSpPr>
          <p:cNvPr id="23" name="Text 21"/>
          <p:cNvSpPr txBox="1"/>
          <p:nvPr/>
        </p:nvSpPr>
        <p:spPr>
          <a:xfrm>
            <a:off x="6281928" y="2331720"/>
            <a:ext cx="5349240" cy="310896"/>
          </a:xfrm>
          <a:prstGeom prst="rect">
            <a:avLst/>
          </a:prstGeom>
          <a:noFill/>
          <a:ln/>
        </p:spPr>
        <p:txBody>
          <a:bodyPr wrap="square" lIns="0" tIns="0" rIns="0" bIns="0" rtlCol="0" anchor="t"/>
          <a:lstStyle/>
          <a:p>
            <a:pPr algn="l" indent="0" marL="0">
              <a:lnSpc>
                <a:spcPct val="125000"/>
              </a:lnSpc>
              <a:buNone/>
            </a:pPr>
            <a:r>
              <a:rPr lang="en-US" sz="1150" b="1" spc="80" kern="0" dirty="0">
                <a:solidFill>
                  <a:srgbClr val="CA0013"/>
                </a:solidFill>
                <a:latin typeface="Microsoft JhengHei" pitchFamily="34" charset="0"/>
                <a:ea typeface="Microsoft JhengHei" pitchFamily="34" charset="-122"/>
                <a:cs typeface="Microsoft JhengHei" pitchFamily="34" charset="-120"/>
              </a:rPr>
              <a:t>制度如何劃線</a:t>
            </a:r>
            <a:endParaRPr lang="en-US" sz="1150" dirty="0"/>
          </a:p>
        </p:txBody>
      </p:sp>
      <p:sp>
        <p:nvSpPr>
          <p:cNvPr id="24" name="Shape 22"/>
          <p:cNvSpPr/>
          <p:nvPr/>
        </p:nvSpPr>
        <p:spPr>
          <a:xfrm>
            <a:off x="6281928" y="2697480"/>
            <a:ext cx="5349240" cy="18288"/>
          </a:xfrm>
          <a:prstGeom prst="rect">
            <a:avLst/>
          </a:prstGeom>
          <a:solidFill>
            <a:srgbClr val="C72A09"/>
          </a:solidFill>
          <a:ln/>
        </p:spPr>
      </p:sp>
      <p:sp>
        <p:nvSpPr>
          <p:cNvPr id="25" name="Text 23"/>
          <p:cNvSpPr txBox="1"/>
          <p:nvPr/>
        </p:nvSpPr>
        <p:spPr>
          <a:xfrm>
            <a:off x="6281928" y="2816352"/>
            <a:ext cx="909371" cy="822960"/>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機制</a:t>
            </a:r>
            <a:endParaRPr lang="en-US" sz="1200" dirty="0"/>
          </a:p>
        </p:txBody>
      </p:sp>
      <p:sp>
        <p:nvSpPr>
          <p:cNvPr id="26" name="Text 24"/>
          <p:cNvSpPr txBox="1"/>
          <p:nvPr/>
        </p:nvSpPr>
        <p:spPr>
          <a:xfrm>
            <a:off x="7271537" y="2816352"/>
            <a:ext cx="4359631" cy="822960"/>
          </a:xfrm>
          <a:prstGeom prst="rect">
            <a:avLst/>
          </a:prstGeom>
          <a:noFill/>
          <a:ln/>
        </p:spPr>
        <p:txBody>
          <a:bodyPr wrap="square" lIns="0" tIns="0" rIns="0" bIns="0" rtlCol="0" anchor="t"/>
          <a:lstStyle/>
          <a:p>
            <a:pPr indent="0" marL="0">
              <a:lnSpc>
                <a:spcPct val="130000"/>
              </a:lnSpc>
              <a:buNone/>
            </a:pPr>
            <a:r>
              <a:rPr lang="en-US" sz="1200" dirty="0">
                <a:solidFill>
                  <a:srgbClr val="CA0013"/>
                </a:solidFill>
                <a:latin typeface="Microsoft JhengHei" pitchFamily="34" charset="0"/>
                <a:ea typeface="Microsoft JhengHei" pitchFamily="34" charset="-122"/>
                <a:cs typeface="Microsoft JhengHei" pitchFamily="34" charset="-120"/>
              </a:rPr>
              <a:t>入息限額、業權比例、按揭成數，決定誰能進哪一級、哪些樓能重建。</a:t>
            </a:r>
            <a:endParaRPr lang="en-US" sz="1200" dirty="0"/>
          </a:p>
        </p:txBody>
      </p:sp>
      <p:sp>
        <p:nvSpPr>
          <p:cNvPr id="27" name="Shape 25"/>
          <p:cNvSpPr/>
          <p:nvPr/>
        </p:nvSpPr>
        <p:spPr>
          <a:xfrm>
            <a:off x="6281928" y="3621024"/>
            <a:ext cx="5349240" cy="12802"/>
          </a:xfrm>
          <a:prstGeom prst="rect">
            <a:avLst/>
          </a:prstGeom>
          <a:solidFill>
            <a:srgbClr val="C72A09"/>
          </a:solidFill>
          <a:ln/>
        </p:spPr>
      </p:sp>
      <p:sp>
        <p:nvSpPr>
          <p:cNvPr id="28" name="Text 26"/>
          <p:cNvSpPr txBox="1"/>
          <p:nvPr/>
        </p:nvSpPr>
        <p:spPr>
          <a:xfrm>
            <a:off x="6281928" y="3730752"/>
            <a:ext cx="909371" cy="822960"/>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證據</a:t>
            </a:r>
            <a:endParaRPr lang="en-US" sz="1200" dirty="0"/>
          </a:p>
        </p:txBody>
      </p:sp>
      <p:sp>
        <p:nvSpPr>
          <p:cNvPr id="29" name="Text 27"/>
          <p:cNvSpPr txBox="1"/>
          <p:nvPr/>
        </p:nvSpPr>
        <p:spPr>
          <a:xfrm>
            <a:off x="7271537" y="3730752"/>
            <a:ext cx="4359631" cy="822960"/>
          </a:xfrm>
          <a:prstGeom prst="rect">
            <a:avLst/>
          </a:prstGeom>
          <a:noFill/>
          <a:ln/>
        </p:spPr>
        <p:txBody>
          <a:bodyPr wrap="square" lIns="0" tIns="0" rIns="0" bIns="0" rtlCol="0" anchor="t"/>
          <a:lstStyle/>
          <a:p>
            <a:pPr indent="0" marL="0">
              <a:lnSpc>
                <a:spcPct val="130000"/>
              </a:lnSpc>
              <a:buNone/>
            </a:pPr>
            <a:r>
              <a:rPr lang="en-US" sz="1200" dirty="0">
                <a:solidFill>
                  <a:srgbClr val="CA0013"/>
                </a:solidFill>
                <a:latin typeface="Microsoft JhengHei" pitchFamily="34" charset="0"/>
                <a:ea typeface="Microsoft JhengHei" pitchFamily="34" charset="-122"/>
                <a:cs typeface="Microsoft JhengHei" pitchFamily="34" charset="-120"/>
              </a:rPr>
              <a:t>成數上限 70% → 80%（2026-01-01）；都更門檻 85／80／60%；經屋批次式供應。</a:t>
            </a:r>
            <a:endParaRPr lang="en-US" sz="1200" dirty="0"/>
          </a:p>
        </p:txBody>
      </p:sp>
      <p:sp>
        <p:nvSpPr>
          <p:cNvPr id="30" name="Shape 28"/>
          <p:cNvSpPr/>
          <p:nvPr/>
        </p:nvSpPr>
        <p:spPr>
          <a:xfrm>
            <a:off x="6281928" y="4535424"/>
            <a:ext cx="5349240" cy="12802"/>
          </a:xfrm>
          <a:prstGeom prst="rect">
            <a:avLst/>
          </a:prstGeom>
          <a:solidFill>
            <a:srgbClr val="C72A09"/>
          </a:solidFill>
          <a:ln/>
        </p:spPr>
      </p:sp>
      <p:sp>
        <p:nvSpPr>
          <p:cNvPr id="31" name="Text 29"/>
          <p:cNvSpPr txBox="1"/>
          <p:nvPr/>
        </p:nvSpPr>
        <p:spPr>
          <a:xfrm>
            <a:off x="6281928" y="4645152"/>
            <a:ext cx="909371" cy="822960"/>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限制</a:t>
            </a:r>
            <a:endParaRPr lang="en-US" sz="1200" dirty="0"/>
          </a:p>
        </p:txBody>
      </p:sp>
      <p:sp>
        <p:nvSpPr>
          <p:cNvPr id="32" name="Text 30"/>
          <p:cNvSpPr txBox="1"/>
          <p:nvPr/>
        </p:nvSpPr>
        <p:spPr>
          <a:xfrm>
            <a:off x="7271537" y="4645152"/>
            <a:ext cx="4359631" cy="822960"/>
          </a:xfrm>
          <a:prstGeom prst="rect">
            <a:avLst/>
          </a:prstGeom>
          <a:noFill/>
          <a:ln/>
        </p:spPr>
        <p:txBody>
          <a:bodyPr wrap="square" lIns="0" tIns="0" rIns="0" bIns="0" rtlCol="0" anchor="t"/>
          <a:lstStyle/>
          <a:p>
            <a:pPr indent="0" marL="0">
              <a:lnSpc>
                <a:spcPct val="130000"/>
              </a:lnSpc>
              <a:buNone/>
            </a:pPr>
            <a:r>
              <a:rPr lang="en-US" sz="1200" dirty="0">
                <a:solidFill>
                  <a:srgbClr val="CA0013"/>
                </a:solidFill>
                <a:latin typeface="Microsoft JhengHei" pitchFamily="34" charset="0"/>
                <a:ea typeface="Microsoft JhengHei" pitchFamily="34" charset="-122"/>
                <a:cs typeface="Microsoft JhengHei" pitchFamily="34" charset="-120"/>
              </a:rPr>
              <a:t>首置及價格分段的成數細則未核實；「永遠姓經」等為議員所述。</a:t>
            </a:r>
            <a:endParaRPr lang="en-US" sz="1200" dirty="0"/>
          </a:p>
        </p:txBody>
      </p:sp>
      <p:sp>
        <p:nvSpPr>
          <p:cNvPr id="33" name="Shape 31"/>
          <p:cNvSpPr/>
          <p:nvPr/>
        </p:nvSpPr>
        <p:spPr>
          <a:xfrm>
            <a:off x="6281928" y="5449824"/>
            <a:ext cx="5349240" cy="12802"/>
          </a:xfrm>
          <a:prstGeom prst="rect">
            <a:avLst/>
          </a:prstGeom>
          <a:solidFill>
            <a:srgbClr val="C72A09"/>
          </a:solidFill>
          <a:ln/>
        </p:spPr>
      </p:sp>
      <p:sp>
        <p:nvSpPr>
          <p:cNvPr id="34" name="Text 32"/>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統計暨普查局；金管局；第 18/2022 號法律</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(27)</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第三部分　社會因素</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因素三與因素四</a:t>
            </a:r>
            <a:endParaRPr lang="en-US" sz="3400" dirty="0"/>
          </a:p>
        </p:txBody>
      </p:sp>
      <p:sp>
        <p:nvSpPr>
          <p:cNvPr id="8" name="Text 6"/>
          <p:cNvSpPr txBox="1"/>
          <p:nvPr/>
        </p:nvSpPr>
        <p:spPr>
          <a:xfrm>
            <a:off x="566928" y="1554480"/>
            <a:ext cx="5349240" cy="310896"/>
          </a:xfrm>
          <a:prstGeom prst="rect">
            <a:avLst/>
          </a:prstGeom>
          <a:noFill/>
          <a:ln/>
        </p:spPr>
        <p:txBody>
          <a:bodyPr wrap="square" lIns="0" tIns="0" rIns="0" bIns="0" rtlCol="0" anchor="t"/>
          <a:lstStyle/>
          <a:p>
            <a:pPr algn="l" indent="0" marL="0">
              <a:lnSpc>
                <a:spcPct val="125000"/>
              </a:lnSpc>
              <a:buNone/>
            </a:pPr>
            <a:r>
              <a:rPr lang="en-US" sz="1150" b="1" spc="240" kern="0" dirty="0">
                <a:solidFill>
                  <a:srgbClr val="CA0013"/>
                </a:solidFill>
                <a:latin typeface="Microsoft JhengHei" pitchFamily="34" charset="0"/>
                <a:ea typeface="Microsoft JhengHei" pitchFamily="34" charset="-122"/>
                <a:cs typeface="Microsoft JhengHei" pitchFamily="34" charset="-120"/>
              </a:rPr>
              <a:t>因素三</a:t>
            </a:r>
            <a:endParaRPr lang="en-US" sz="1150" dirty="0"/>
          </a:p>
        </p:txBody>
      </p:sp>
      <p:sp>
        <p:nvSpPr>
          <p:cNvPr id="9" name="Text 7"/>
          <p:cNvSpPr txBox="1"/>
          <p:nvPr/>
        </p:nvSpPr>
        <p:spPr>
          <a:xfrm>
            <a:off x="566928" y="1828800"/>
            <a:ext cx="5349240" cy="457200"/>
          </a:xfrm>
          <a:prstGeom prst="rect">
            <a:avLst/>
          </a:prstGeom>
          <a:noFill/>
          <a:ln/>
        </p:spPr>
        <p:txBody>
          <a:bodyPr wrap="square" lIns="0" tIns="0" rIns="0" bIns="0" rtlCol="0" anchor="t"/>
          <a:lstStyle/>
          <a:p>
            <a:pPr indent="0" marL="0">
              <a:buNone/>
            </a:pPr>
            <a:r>
              <a:rPr lang="en-US" sz="2200" b="1" dirty="0">
                <a:solidFill>
                  <a:srgbClr val="CA0013"/>
                </a:solidFill>
                <a:latin typeface="Microsoft JhengHei" pitchFamily="34" charset="0"/>
                <a:ea typeface="Microsoft JhengHei" pitchFamily="34" charset="-122"/>
                <a:cs typeface="Microsoft JhengHei" pitchFamily="34" charset="-120"/>
              </a:rPr>
              <a:t>社會人口</a:t>
            </a:r>
            <a:endParaRPr lang="en-US" sz="2200" dirty="0"/>
          </a:p>
        </p:txBody>
      </p:sp>
      <p:sp>
        <p:nvSpPr>
          <p:cNvPr id="10" name="Text 8"/>
          <p:cNvSpPr txBox="1"/>
          <p:nvPr/>
        </p:nvSpPr>
        <p:spPr>
          <a:xfrm>
            <a:off x="566928" y="2331720"/>
            <a:ext cx="5349240" cy="310896"/>
          </a:xfrm>
          <a:prstGeom prst="rect">
            <a:avLst/>
          </a:prstGeom>
          <a:noFill/>
          <a:ln/>
        </p:spPr>
        <p:txBody>
          <a:bodyPr wrap="square" lIns="0" tIns="0" rIns="0" bIns="0" rtlCol="0" anchor="t"/>
          <a:lstStyle/>
          <a:p>
            <a:pPr algn="l" indent="0" marL="0">
              <a:lnSpc>
                <a:spcPct val="125000"/>
              </a:lnSpc>
              <a:buNone/>
            </a:pPr>
            <a:r>
              <a:rPr lang="en-US" sz="1150" b="1" spc="80" kern="0" dirty="0">
                <a:solidFill>
                  <a:srgbClr val="CA0013"/>
                </a:solidFill>
                <a:latin typeface="Microsoft JhengHei" pitchFamily="34" charset="0"/>
                <a:ea typeface="Microsoft JhengHei" pitchFamily="34" charset="-122"/>
                <a:cs typeface="Microsoft JhengHei" pitchFamily="34" charset="-120"/>
              </a:rPr>
              <a:t>老化與家庭小型化</a:t>
            </a:r>
            <a:endParaRPr lang="en-US" sz="1150" dirty="0"/>
          </a:p>
        </p:txBody>
      </p:sp>
      <p:sp>
        <p:nvSpPr>
          <p:cNvPr id="11" name="Shape 9"/>
          <p:cNvSpPr/>
          <p:nvPr/>
        </p:nvSpPr>
        <p:spPr>
          <a:xfrm>
            <a:off x="566928" y="2697480"/>
            <a:ext cx="5349240" cy="18288"/>
          </a:xfrm>
          <a:prstGeom prst="rect">
            <a:avLst/>
          </a:prstGeom>
          <a:solidFill>
            <a:srgbClr val="C72A09"/>
          </a:solidFill>
          <a:ln/>
        </p:spPr>
      </p:sp>
      <p:sp>
        <p:nvSpPr>
          <p:cNvPr id="12" name="Text 10"/>
          <p:cNvSpPr txBox="1"/>
          <p:nvPr/>
        </p:nvSpPr>
        <p:spPr>
          <a:xfrm>
            <a:off x="566928" y="2816352"/>
            <a:ext cx="909371" cy="822960"/>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機制</a:t>
            </a:r>
            <a:endParaRPr lang="en-US" sz="1200" dirty="0"/>
          </a:p>
        </p:txBody>
      </p:sp>
      <p:sp>
        <p:nvSpPr>
          <p:cNvPr id="13" name="Text 11"/>
          <p:cNvSpPr txBox="1"/>
          <p:nvPr/>
        </p:nvSpPr>
        <p:spPr>
          <a:xfrm>
            <a:off x="1556537" y="2816352"/>
            <a:ext cx="4359631" cy="822960"/>
          </a:xfrm>
          <a:prstGeom prst="rect">
            <a:avLst/>
          </a:prstGeom>
          <a:noFill/>
          <a:ln/>
        </p:spPr>
        <p:txBody>
          <a:bodyPr wrap="square" lIns="0" tIns="0" rIns="0" bIns="0" rtlCol="0" anchor="t"/>
          <a:lstStyle/>
          <a:p>
            <a:pPr indent="0" marL="0">
              <a:lnSpc>
                <a:spcPct val="130000"/>
              </a:lnSpc>
              <a:buNone/>
            </a:pPr>
            <a:r>
              <a:rPr lang="en-US" sz="1200" dirty="0">
                <a:solidFill>
                  <a:srgbClr val="CA0013"/>
                </a:solidFill>
                <a:latin typeface="Microsoft JhengHei" pitchFamily="34" charset="0"/>
                <a:ea typeface="Microsoft JhengHei" pitchFamily="34" charset="-122"/>
                <a:cs typeface="Microsoft JhengHei" pitchFamily="34" charset="-120"/>
              </a:rPr>
              <a:t>長者增加、家庭縮小，改變誰需要什麼單位、住在什麼樓。</a:t>
            </a:r>
            <a:endParaRPr lang="en-US" sz="1200" dirty="0"/>
          </a:p>
        </p:txBody>
      </p:sp>
      <p:sp>
        <p:nvSpPr>
          <p:cNvPr id="14" name="Shape 12"/>
          <p:cNvSpPr/>
          <p:nvPr/>
        </p:nvSpPr>
        <p:spPr>
          <a:xfrm>
            <a:off x="566928" y="3621024"/>
            <a:ext cx="5349240" cy="12802"/>
          </a:xfrm>
          <a:prstGeom prst="rect">
            <a:avLst/>
          </a:prstGeom>
          <a:solidFill>
            <a:srgbClr val="C72A09"/>
          </a:solidFill>
          <a:ln/>
        </p:spPr>
      </p:sp>
      <p:sp>
        <p:nvSpPr>
          <p:cNvPr id="15" name="Text 13"/>
          <p:cNvSpPr txBox="1"/>
          <p:nvPr/>
        </p:nvSpPr>
        <p:spPr>
          <a:xfrm>
            <a:off x="566928" y="3730752"/>
            <a:ext cx="909371" cy="822960"/>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證據</a:t>
            </a:r>
            <a:endParaRPr lang="en-US" sz="1200" dirty="0"/>
          </a:p>
        </p:txBody>
      </p:sp>
      <p:sp>
        <p:nvSpPr>
          <p:cNvPr id="16" name="Text 14"/>
          <p:cNvSpPr txBox="1"/>
          <p:nvPr/>
        </p:nvSpPr>
        <p:spPr>
          <a:xfrm>
            <a:off x="1556537" y="3730752"/>
            <a:ext cx="4359631" cy="822960"/>
          </a:xfrm>
          <a:prstGeom prst="rect">
            <a:avLst/>
          </a:prstGeom>
          <a:noFill/>
          <a:ln/>
        </p:spPr>
        <p:txBody>
          <a:bodyPr wrap="square" lIns="0" tIns="0" rIns="0" bIns="0" rtlCol="0" anchor="t"/>
          <a:lstStyle/>
          <a:p>
            <a:pPr indent="0" marL="0">
              <a:lnSpc>
                <a:spcPct val="130000"/>
              </a:lnSpc>
              <a:buNone/>
            </a:pPr>
            <a:r>
              <a:rPr lang="en-US" sz="1200" dirty="0">
                <a:solidFill>
                  <a:srgbClr val="CA0013"/>
                </a:solidFill>
                <a:latin typeface="Microsoft JhengHei" pitchFamily="34" charset="0"/>
                <a:ea typeface="Microsoft JhengHei" pitchFamily="34" charset="-122"/>
                <a:cs typeface="Microsoft JhengHei" pitchFamily="34" charset="-120"/>
              </a:rPr>
              <a:t>長者住戶 +65.8%（2012/13→2017/18）；戶均人口 3.04 → 2.83；65 歲以上預測 2036 年 19.9%。</a:t>
            </a:r>
            <a:endParaRPr lang="en-US" sz="1200" dirty="0"/>
          </a:p>
        </p:txBody>
      </p:sp>
      <p:sp>
        <p:nvSpPr>
          <p:cNvPr id="17" name="Shape 15"/>
          <p:cNvSpPr/>
          <p:nvPr/>
        </p:nvSpPr>
        <p:spPr>
          <a:xfrm>
            <a:off x="566928" y="4535424"/>
            <a:ext cx="5349240" cy="12802"/>
          </a:xfrm>
          <a:prstGeom prst="rect">
            <a:avLst/>
          </a:prstGeom>
          <a:solidFill>
            <a:srgbClr val="C72A09"/>
          </a:solidFill>
          <a:ln/>
        </p:spPr>
      </p:sp>
      <p:sp>
        <p:nvSpPr>
          <p:cNvPr id="18" name="Text 16"/>
          <p:cNvSpPr txBox="1"/>
          <p:nvPr/>
        </p:nvSpPr>
        <p:spPr>
          <a:xfrm>
            <a:off x="566928" y="4645152"/>
            <a:ext cx="909371" cy="822960"/>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限制</a:t>
            </a:r>
            <a:endParaRPr lang="en-US" sz="1200" dirty="0"/>
          </a:p>
        </p:txBody>
      </p:sp>
      <p:sp>
        <p:nvSpPr>
          <p:cNvPr id="19" name="Text 17"/>
          <p:cNvSpPr txBox="1"/>
          <p:nvPr/>
        </p:nvSpPr>
        <p:spPr>
          <a:xfrm>
            <a:off x="1556537" y="4645152"/>
            <a:ext cx="4359631" cy="822960"/>
          </a:xfrm>
          <a:prstGeom prst="rect">
            <a:avLst/>
          </a:prstGeom>
          <a:noFill/>
          <a:ln/>
        </p:spPr>
        <p:txBody>
          <a:bodyPr wrap="square" lIns="0" tIns="0" rIns="0" bIns="0" rtlCol="0" anchor="t"/>
          <a:lstStyle/>
          <a:p>
            <a:pPr indent="0" marL="0">
              <a:lnSpc>
                <a:spcPct val="130000"/>
              </a:lnSpc>
              <a:buNone/>
            </a:pPr>
            <a:r>
              <a:rPr lang="en-US" sz="1200" dirty="0">
                <a:solidFill>
                  <a:srgbClr val="CA0013"/>
                </a:solidFill>
                <a:latin typeface="Microsoft JhengHei" pitchFamily="34" charset="0"/>
                <a:ea typeface="Microsoft JhengHei" pitchFamily="34" charset="-122"/>
                <a:cs typeface="Microsoft JhengHei" pitchFamily="34" charset="-120"/>
              </a:rPr>
              <a:t>長者是否集中於舊區、青年有否家庭支援，未有分區或訪問前數據。</a:t>
            </a:r>
            <a:endParaRPr lang="en-US" sz="1200" dirty="0"/>
          </a:p>
        </p:txBody>
      </p:sp>
      <p:sp>
        <p:nvSpPr>
          <p:cNvPr id="20" name="Shape 18"/>
          <p:cNvSpPr/>
          <p:nvPr/>
        </p:nvSpPr>
        <p:spPr>
          <a:xfrm>
            <a:off x="566928" y="5449824"/>
            <a:ext cx="5349240" cy="12802"/>
          </a:xfrm>
          <a:prstGeom prst="rect">
            <a:avLst/>
          </a:prstGeom>
          <a:solidFill>
            <a:srgbClr val="C72A09"/>
          </a:solidFill>
          <a:ln/>
        </p:spPr>
      </p:sp>
      <p:sp>
        <p:nvSpPr>
          <p:cNvPr id="21" name="Text 19"/>
          <p:cNvSpPr txBox="1"/>
          <p:nvPr/>
        </p:nvSpPr>
        <p:spPr>
          <a:xfrm>
            <a:off x="6281928" y="1554480"/>
            <a:ext cx="5349240" cy="310896"/>
          </a:xfrm>
          <a:prstGeom prst="rect">
            <a:avLst/>
          </a:prstGeom>
          <a:noFill/>
          <a:ln/>
        </p:spPr>
        <p:txBody>
          <a:bodyPr wrap="square" lIns="0" tIns="0" rIns="0" bIns="0" rtlCol="0" anchor="t"/>
          <a:lstStyle/>
          <a:p>
            <a:pPr algn="l" indent="0" marL="0">
              <a:lnSpc>
                <a:spcPct val="125000"/>
              </a:lnSpc>
              <a:buNone/>
            </a:pPr>
            <a:r>
              <a:rPr lang="en-US" sz="1150" b="1" spc="240" kern="0" dirty="0">
                <a:solidFill>
                  <a:srgbClr val="CA0013"/>
                </a:solidFill>
                <a:latin typeface="Microsoft JhengHei" pitchFamily="34" charset="0"/>
                <a:ea typeface="Microsoft JhengHei" pitchFamily="34" charset="-122"/>
                <a:cs typeface="Microsoft JhengHei" pitchFamily="34" charset="-120"/>
              </a:rPr>
              <a:t>因素四</a:t>
            </a:r>
            <a:endParaRPr lang="en-US" sz="1150" dirty="0"/>
          </a:p>
        </p:txBody>
      </p:sp>
      <p:sp>
        <p:nvSpPr>
          <p:cNvPr id="22" name="Text 20"/>
          <p:cNvSpPr txBox="1"/>
          <p:nvPr/>
        </p:nvSpPr>
        <p:spPr>
          <a:xfrm>
            <a:off x="6281928" y="1828800"/>
            <a:ext cx="5349240" cy="457200"/>
          </a:xfrm>
          <a:prstGeom prst="rect">
            <a:avLst/>
          </a:prstGeom>
          <a:noFill/>
          <a:ln/>
        </p:spPr>
        <p:txBody>
          <a:bodyPr wrap="square" lIns="0" tIns="0" rIns="0" bIns="0" rtlCol="0" anchor="t"/>
          <a:lstStyle/>
          <a:p>
            <a:pPr indent="0" marL="0">
              <a:buNone/>
            </a:pPr>
            <a:r>
              <a:rPr lang="en-US" sz="2200" b="1" dirty="0">
                <a:solidFill>
                  <a:srgbClr val="CA0013"/>
                </a:solidFill>
                <a:latin typeface="Microsoft JhengHei" pitchFamily="34" charset="0"/>
                <a:ea typeface="Microsoft JhengHei" pitchFamily="34" charset="-122"/>
                <a:cs typeface="Microsoft JhengHei" pitchFamily="34" charset="-120"/>
              </a:rPr>
              <a:t>地理與物理環境</a:t>
            </a:r>
            <a:endParaRPr lang="en-US" sz="2200" dirty="0"/>
          </a:p>
        </p:txBody>
      </p:sp>
      <p:sp>
        <p:nvSpPr>
          <p:cNvPr id="23" name="Text 21"/>
          <p:cNvSpPr txBox="1"/>
          <p:nvPr/>
        </p:nvSpPr>
        <p:spPr>
          <a:xfrm>
            <a:off x="6281928" y="2331720"/>
            <a:ext cx="5349240" cy="310896"/>
          </a:xfrm>
          <a:prstGeom prst="rect">
            <a:avLst/>
          </a:prstGeom>
          <a:noFill/>
          <a:ln/>
        </p:spPr>
        <p:txBody>
          <a:bodyPr wrap="square" lIns="0" tIns="0" rIns="0" bIns="0" rtlCol="0" anchor="t"/>
          <a:lstStyle/>
          <a:p>
            <a:pPr algn="l" indent="0" marL="0">
              <a:lnSpc>
                <a:spcPct val="125000"/>
              </a:lnSpc>
              <a:buNone/>
            </a:pPr>
            <a:r>
              <a:rPr lang="en-US" sz="1150" b="1" spc="80" kern="0" dirty="0">
                <a:solidFill>
                  <a:srgbClr val="CA0013"/>
                </a:solidFill>
                <a:latin typeface="Microsoft JhengHei" pitchFamily="34" charset="0"/>
                <a:ea typeface="Microsoft JhengHei" pitchFamily="34" charset="-122"/>
                <a:cs typeface="Microsoft JhengHei" pitchFamily="34" charset="-120"/>
              </a:rPr>
              <a:t>土地稀缺與存量老化</a:t>
            </a:r>
            <a:endParaRPr lang="en-US" sz="1150" dirty="0"/>
          </a:p>
        </p:txBody>
      </p:sp>
      <p:sp>
        <p:nvSpPr>
          <p:cNvPr id="24" name="Shape 22"/>
          <p:cNvSpPr/>
          <p:nvPr/>
        </p:nvSpPr>
        <p:spPr>
          <a:xfrm>
            <a:off x="6281928" y="2697480"/>
            <a:ext cx="5349240" cy="18288"/>
          </a:xfrm>
          <a:prstGeom prst="rect">
            <a:avLst/>
          </a:prstGeom>
          <a:solidFill>
            <a:srgbClr val="C72A09"/>
          </a:solidFill>
          <a:ln/>
        </p:spPr>
      </p:sp>
      <p:sp>
        <p:nvSpPr>
          <p:cNvPr id="25" name="Text 23"/>
          <p:cNvSpPr txBox="1"/>
          <p:nvPr/>
        </p:nvSpPr>
        <p:spPr>
          <a:xfrm>
            <a:off x="6281928" y="2816352"/>
            <a:ext cx="909371" cy="822960"/>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機制</a:t>
            </a:r>
            <a:endParaRPr lang="en-US" sz="1200" dirty="0"/>
          </a:p>
        </p:txBody>
      </p:sp>
      <p:sp>
        <p:nvSpPr>
          <p:cNvPr id="26" name="Text 24"/>
          <p:cNvSpPr txBox="1"/>
          <p:nvPr/>
        </p:nvSpPr>
        <p:spPr>
          <a:xfrm>
            <a:off x="7271537" y="2816352"/>
            <a:ext cx="4359631" cy="822960"/>
          </a:xfrm>
          <a:prstGeom prst="rect">
            <a:avLst/>
          </a:prstGeom>
          <a:noFill/>
          <a:ln/>
        </p:spPr>
        <p:txBody>
          <a:bodyPr wrap="square" lIns="0" tIns="0" rIns="0" bIns="0" rtlCol="0" anchor="t"/>
          <a:lstStyle/>
          <a:p>
            <a:pPr indent="0" marL="0">
              <a:lnSpc>
                <a:spcPct val="130000"/>
              </a:lnSpc>
              <a:buNone/>
            </a:pPr>
            <a:r>
              <a:rPr lang="en-US" sz="1200" dirty="0">
                <a:solidFill>
                  <a:srgbClr val="CA0013"/>
                </a:solidFill>
                <a:latin typeface="Microsoft JhengHei" pitchFamily="34" charset="0"/>
                <a:ea typeface="Microsoft JhengHei" pitchFamily="34" charset="-122"/>
                <a:cs typeface="Microsoft JhengHei" pitchFamily="34" charset="-120"/>
              </a:rPr>
              <a:t>可建土地有限、填海需時，新供應慢；存量逐年老化，維修更新需求上升。</a:t>
            </a:r>
            <a:endParaRPr lang="en-US" sz="1200" dirty="0"/>
          </a:p>
        </p:txBody>
      </p:sp>
      <p:sp>
        <p:nvSpPr>
          <p:cNvPr id="27" name="Shape 25"/>
          <p:cNvSpPr/>
          <p:nvPr/>
        </p:nvSpPr>
        <p:spPr>
          <a:xfrm>
            <a:off x="6281928" y="3621024"/>
            <a:ext cx="5349240" cy="12802"/>
          </a:xfrm>
          <a:prstGeom prst="rect">
            <a:avLst/>
          </a:prstGeom>
          <a:solidFill>
            <a:srgbClr val="C72A09"/>
          </a:solidFill>
          <a:ln/>
        </p:spPr>
      </p:sp>
      <p:sp>
        <p:nvSpPr>
          <p:cNvPr id="28" name="Text 26"/>
          <p:cNvSpPr txBox="1"/>
          <p:nvPr/>
        </p:nvSpPr>
        <p:spPr>
          <a:xfrm>
            <a:off x="6281928" y="3730752"/>
            <a:ext cx="909371" cy="822960"/>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證據</a:t>
            </a:r>
            <a:endParaRPr lang="en-US" sz="1200" dirty="0"/>
          </a:p>
        </p:txBody>
      </p:sp>
      <p:sp>
        <p:nvSpPr>
          <p:cNvPr id="29" name="Text 27"/>
          <p:cNvSpPr txBox="1"/>
          <p:nvPr/>
        </p:nvSpPr>
        <p:spPr>
          <a:xfrm>
            <a:off x="7271537" y="3730752"/>
            <a:ext cx="4359631" cy="822960"/>
          </a:xfrm>
          <a:prstGeom prst="rect">
            <a:avLst/>
          </a:prstGeom>
          <a:noFill/>
          <a:ln/>
        </p:spPr>
        <p:txBody>
          <a:bodyPr wrap="square" lIns="0" tIns="0" rIns="0" bIns="0" rtlCol="0" anchor="t"/>
          <a:lstStyle/>
          <a:p>
            <a:pPr indent="0" marL="0">
              <a:lnSpc>
                <a:spcPct val="130000"/>
              </a:lnSpc>
              <a:buNone/>
            </a:pPr>
            <a:r>
              <a:rPr lang="en-US" sz="1200" dirty="0">
                <a:solidFill>
                  <a:srgbClr val="CA0013"/>
                </a:solidFill>
                <a:latin typeface="Microsoft JhengHei" pitchFamily="34" charset="0"/>
                <a:ea typeface="Microsoft JhengHei" pitchFamily="34" charset="-122"/>
                <a:cs typeface="Microsoft JhengHei" pitchFamily="34" charset="-120"/>
              </a:rPr>
              <a:t>住宅用地約 2.9 平方公里、填海沉澱期 5–8 年（高武洲 2017，2016 年數字）；舊樓約 4,800 幢。</a:t>
            </a:r>
            <a:endParaRPr lang="en-US" sz="1200" dirty="0"/>
          </a:p>
        </p:txBody>
      </p:sp>
      <p:sp>
        <p:nvSpPr>
          <p:cNvPr id="30" name="Shape 28"/>
          <p:cNvSpPr/>
          <p:nvPr/>
        </p:nvSpPr>
        <p:spPr>
          <a:xfrm>
            <a:off x="6281928" y="4535424"/>
            <a:ext cx="5349240" cy="12802"/>
          </a:xfrm>
          <a:prstGeom prst="rect">
            <a:avLst/>
          </a:prstGeom>
          <a:solidFill>
            <a:srgbClr val="C72A09"/>
          </a:solidFill>
          <a:ln/>
        </p:spPr>
      </p:sp>
      <p:sp>
        <p:nvSpPr>
          <p:cNvPr id="31" name="Text 29"/>
          <p:cNvSpPr txBox="1"/>
          <p:nvPr/>
        </p:nvSpPr>
        <p:spPr>
          <a:xfrm>
            <a:off x="6281928" y="4645152"/>
            <a:ext cx="909371" cy="822960"/>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限制</a:t>
            </a:r>
            <a:endParaRPr lang="en-US" sz="1200" dirty="0"/>
          </a:p>
        </p:txBody>
      </p:sp>
      <p:sp>
        <p:nvSpPr>
          <p:cNvPr id="32" name="Text 30"/>
          <p:cNvSpPr txBox="1"/>
          <p:nvPr/>
        </p:nvSpPr>
        <p:spPr>
          <a:xfrm>
            <a:off x="7271537" y="4645152"/>
            <a:ext cx="4359631" cy="822960"/>
          </a:xfrm>
          <a:prstGeom prst="rect">
            <a:avLst/>
          </a:prstGeom>
          <a:noFill/>
          <a:ln/>
        </p:spPr>
        <p:txBody>
          <a:bodyPr wrap="square" lIns="0" tIns="0" rIns="0" bIns="0" rtlCol="0" anchor="t"/>
          <a:lstStyle/>
          <a:p>
            <a:pPr indent="0" marL="0">
              <a:lnSpc>
                <a:spcPct val="130000"/>
              </a:lnSpc>
              <a:buNone/>
            </a:pPr>
            <a:r>
              <a:rPr lang="en-US" sz="1200" dirty="0">
                <a:solidFill>
                  <a:srgbClr val="CA0013"/>
                </a:solidFill>
                <a:latin typeface="Microsoft JhengHei" pitchFamily="34" charset="0"/>
                <a:ea typeface="Microsoft JhengHei" pitchFamily="34" charset="-122"/>
                <a:cs typeface="Microsoft JhengHei" pitchFamily="34" charset="-120"/>
              </a:rPr>
              <a:t>土地面積為 2016 年數字；空置成因官方未分項。</a:t>
            </a:r>
            <a:endParaRPr lang="en-US" sz="1200" dirty="0"/>
          </a:p>
        </p:txBody>
      </p:sp>
      <p:sp>
        <p:nvSpPr>
          <p:cNvPr id="33" name="Shape 31"/>
          <p:cNvSpPr/>
          <p:nvPr/>
        </p:nvSpPr>
        <p:spPr>
          <a:xfrm>
            <a:off x="6281928" y="5449824"/>
            <a:ext cx="5349240" cy="12802"/>
          </a:xfrm>
          <a:prstGeom prst="rect">
            <a:avLst/>
          </a:prstGeom>
          <a:solidFill>
            <a:srgbClr val="C72A09"/>
          </a:solidFill>
          <a:ln/>
        </p:spPr>
      </p:sp>
      <p:sp>
        <p:nvSpPr>
          <p:cNvPr id="34" name="Text 32"/>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高武洲（2017）；政策研究 2022；統計暨普查局</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(28)</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第四部分　馬克思理論</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三個透鏡，三個問題</a:t>
            </a:r>
            <a:endParaRPr lang="en-US" sz="3400" dirty="0"/>
          </a:p>
        </p:txBody>
      </p:sp>
      <p:sp>
        <p:nvSpPr>
          <p:cNvPr id="8" name="Text 6"/>
          <p:cNvSpPr txBox="1"/>
          <p:nvPr/>
        </p:nvSpPr>
        <p:spPr>
          <a:xfrm>
            <a:off x="566928" y="1600200"/>
            <a:ext cx="2523744"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透鏡</a:t>
            </a:r>
            <a:endParaRPr lang="en-US" sz="1100" dirty="0"/>
          </a:p>
        </p:txBody>
      </p:sp>
      <p:sp>
        <p:nvSpPr>
          <p:cNvPr id="9" name="Text 7"/>
          <p:cNvSpPr txBox="1"/>
          <p:nvPr/>
        </p:nvSpPr>
        <p:spPr>
          <a:xfrm>
            <a:off x="3218688" y="1600200"/>
            <a:ext cx="2660904"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問題一　樓價與負擔</a:t>
            </a:r>
            <a:endParaRPr lang="en-US" sz="1100" dirty="0"/>
          </a:p>
        </p:txBody>
      </p:sp>
      <p:sp>
        <p:nvSpPr>
          <p:cNvPr id="10" name="Text 8"/>
          <p:cNvSpPr txBox="1"/>
          <p:nvPr/>
        </p:nvSpPr>
        <p:spPr>
          <a:xfrm>
            <a:off x="6007608" y="1600200"/>
            <a:ext cx="2660904"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問題二　舊樓與更新</a:t>
            </a:r>
            <a:endParaRPr lang="en-US" sz="1100" dirty="0"/>
          </a:p>
        </p:txBody>
      </p:sp>
      <p:sp>
        <p:nvSpPr>
          <p:cNvPr id="11" name="Text 9"/>
          <p:cNvSpPr txBox="1"/>
          <p:nvPr/>
        </p:nvSpPr>
        <p:spPr>
          <a:xfrm>
            <a:off x="8796528" y="1600200"/>
            <a:ext cx="2825496"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問題三　公共房屋</a:t>
            </a:r>
            <a:endParaRPr lang="en-US" sz="1100" dirty="0"/>
          </a:p>
        </p:txBody>
      </p:sp>
      <p:sp>
        <p:nvSpPr>
          <p:cNvPr id="12" name="Shape 10"/>
          <p:cNvSpPr/>
          <p:nvPr/>
        </p:nvSpPr>
        <p:spPr>
          <a:xfrm>
            <a:off x="566928" y="1947672"/>
            <a:ext cx="11057839" cy="18288"/>
          </a:xfrm>
          <a:prstGeom prst="rect">
            <a:avLst/>
          </a:prstGeom>
          <a:solidFill>
            <a:srgbClr val="C72A09"/>
          </a:solidFill>
          <a:ln/>
        </p:spPr>
      </p:sp>
      <p:sp>
        <p:nvSpPr>
          <p:cNvPr id="13" name="Text 11"/>
          <p:cNvSpPr txBox="1"/>
          <p:nvPr/>
        </p:nvSpPr>
        <p:spPr>
          <a:xfrm>
            <a:off x="566928" y="2039112"/>
            <a:ext cx="2523744" cy="1115568"/>
          </a:xfrm>
          <a:prstGeom prst="rect">
            <a:avLst/>
          </a:prstGeom>
          <a:noFill/>
          <a:ln/>
        </p:spPr>
        <p:txBody>
          <a:bodyPr wrap="square" lIns="0" tIns="0" rIns="0" bIns="0" rtlCol="0" anchor="ctr"/>
          <a:lstStyle/>
          <a:p>
            <a:pPr algn="l" indent="0" marL="0">
              <a:buNone/>
            </a:pPr>
            <a:r>
              <a:rPr lang="en-US" sz="1500" b="1" dirty="0">
                <a:solidFill>
                  <a:srgbClr val="CA0013"/>
                </a:solidFill>
                <a:latin typeface="Microsoft JhengHei" pitchFamily="34" charset="0"/>
                <a:ea typeface="Microsoft JhengHei" pitchFamily="34" charset="-122"/>
                <a:cs typeface="Microsoft JhengHei" pitchFamily="34" charset="-120"/>
              </a:rPr>
              <a:t>商品化</a:t>
            </a:r>
            <a:endParaRPr lang="en-US" sz="1200" dirty="0"/>
          </a:p>
          <a:p>
            <a:pPr algn="l" indent="0" marL="0">
              <a:buNone/>
            </a:pPr>
            <a:r>
              <a:rPr lang="en-US" sz="1050" dirty="0">
                <a:solidFill>
                  <a:srgbClr val="CA0013"/>
                </a:solidFill>
                <a:latin typeface="Microsoft JhengHei" pitchFamily="34" charset="0"/>
                <a:ea typeface="Microsoft JhengHei" pitchFamily="34" charset="-122"/>
                <a:cs typeface="Microsoft JhengHei" pitchFamily="34" charset="-120"/>
              </a:rPr>
              <a:t>住宅既是居所，也是可買賣的資產</a:t>
            </a:r>
            <a:endParaRPr lang="en-US" sz="1200" dirty="0"/>
          </a:p>
        </p:txBody>
      </p:sp>
      <p:sp>
        <p:nvSpPr>
          <p:cNvPr id="14" name="Text 12"/>
          <p:cNvSpPr txBox="1"/>
          <p:nvPr/>
        </p:nvSpPr>
        <p:spPr>
          <a:xfrm>
            <a:off x="3218688" y="2039112"/>
            <a:ext cx="2660904" cy="111556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樓價按資產預期波動；價租比 59 → 43 年，仍高於居住租值</a:t>
            </a:r>
            <a:endParaRPr lang="en-US" sz="1200" dirty="0"/>
          </a:p>
        </p:txBody>
      </p:sp>
      <p:sp>
        <p:nvSpPr>
          <p:cNvPr id="15" name="Text 13"/>
          <p:cNvSpPr txBox="1"/>
          <p:nvPr/>
        </p:nvSpPr>
        <p:spPr>
          <a:xfrm>
            <a:off x="6007608" y="2039112"/>
            <a:ext cx="2660904" cy="111556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更新方案提升「樓宇價值」；重建後價值由市場決定</a:t>
            </a:r>
            <a:endParaRPr lang="en-US" sz="1200" dirty="0"/>
          </a:p>
        </p:txBody>
      </p:sp>
      <p:sp>
        <p:nvSpPr>
          <p:cNvPr id="16" name="Text 14"/>
          <p:cNvSpPr txBox="1"/>
          <p:nvPr/>
        </p:nvSpPr>
        <p:spPr>
          <a:xfrm>
            <a:off x="8796528" y="2039112"/>
            <a:ext cx="2825496" cy="111556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經屋「永遠姓經」限制轉售；夾屋可在一定年限後出售</a:t>
            </a:r>
            <a:endParaRPr lang="en-US" sz="1200" dirty="0"/>
          </a:p>
        </p:txBody>
      </p:sp>
      <p:sp>
        <p:nvSpPr>
          <p:cNvPr id="17" name="Shape 15"/>
          <p:cNvSpPr/>
          <p:nvPr/>
        </p:nvSpPr>
        <p:spPr>
          <a:xfrm>
            <a:off x="566928" y="3154680"/>
            <a:ext cx="11057839" cy="12802"/>
          </a:xfrm>
          <a:prstGeom prst="rect">
            <a:avLst/>
          </a:prstGeom>
          <a:solidFill>
            <a:srgbClr val="C72A09"/>
          </a:solidFill>
          <a:ln/>
        </p:spPr>
      </p:sp>
      <p:sp>
        <p:nvSpPr>
          <p:cNvPr id="18" name="Text 16"/>
          <p:cNvSpPr txBox="1"/>
          <p:nvPr/>
        </p:nvSpPr>
        <p:spPr>
          <a:xfrm>
            <a:off x="566928" y="3227832"/>
            <a:ext cx="2523744" cy="1115568"/>
          </a:xfrm>
          <a:prstGeom prst="rect">
            <a:avLst/>
          </a:prstGeom>
          <a:noFill/>
          <a:ln/>
        </p:spPr>
        <p:txBody>
          <a:bodyPr wrap="square" lIns="0" tIns="0" rIns="0" bIns="0" rtlCol="0" anchor="ctr"/>
          <a:lstStyle/>
          <a:p>
            <a:pPr algn="l" indent="0" marL="0">
              <a:buNone/>
            </a:pPr>
            <a:r>
              <a:rPr lang="en-US" sz="1500" b="1" dirty="0">
                <a:solidFill>
                  <a:srgbClr val="CA0013"/>
                </a:solidFill>
                <a:latin typeface="Microsoft JhengHei" pitchFamily="34" charset="0"/>
                <a:ea typeface="Microsoft JhengHei" pitchFamily="34" charset="-122"/>
                <a:cs typeface="Microsoft JhengHei" pitchFamily="34" charset="-120"/>
              </a:rPr>
              <a:t>階級</a:t>
            </a:r>
            <a:endParaRPr lang="en-US" sz="1200" dirty="0"/>
          </a:p>
          <a:p>
            <a:pPr algn="l" indent="0" marL="0">
              <a:buNone/>
            </a:pPr>
            <a:r>
              <a:rPr lang="en-US" sz="1050" dirty="0">
                <a:solidFill>
                  <a:srgbClr val="CA0013"/>
                </a:solidFill>
                <a:latin typeface="Microsoft JhengHei" pitchFamily="34" charset="0"/>
                <a:ea typeface="Microsoft JhengHei" pitchFamily="34" charset="-122"/>
                <a:cs typeface="Microsoft JhengHei" pitchFamily="34" charset="-120"/>
              </a:rPr>
              <a:t>人因與物業的關係而處於不同位置</a:t>
            </a:r>
            <a:endParaRPr lang="en-US" sz="1200" dirty="0"/>
          </a:p>
        </p:txBody>
      </p:sp>
      <p:sp>
        <p:nvSpPr>
          <p:cNvPr id="19" name="Text 17"/>
          <p:cNvSpPr txBox="1"/>
          <p:nvPr/>
        </p:nvSpPr>
        <p:spPr>
          <a:xfrm>
            <a:off x="3218688" y="3227832"/>
            <a:ext cx="2660904" cy="111556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自置 73.4%，租住 19.3%；租戶付租而不積累資產</a:t>
            </a:r>
            <a:endParaRPr lang="en-US" sz="1200" dirty="0"/>
          </a:p>
        </p:txBody>
      </p:sp>
      <p:sp>
        <p:nvSpPr>
          <p:cNvPr id="20" name="Text 18"/>
          <p:cNvSpPr txBox="1"/>
          <p:nvPr/>
        </p:nvSpPr>
        <p:spPr>
          <a:xfrm>
            <a:off x="6007608" y="3227832"/>
            <a:ext cx="2660904" cy="111556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法律保障業權人；承租人於租約失效後可被強制遷出</a:t>
            </a:r>
            <a:endParaRPr lang="en-US" sz="1200" dirty="0"/>
          </a:p>
        </p:txBody>
      </p:sp>
      <p:sp>
        <p:nvSpPr>
          <p:cNvPr id="21" name="Text 19"/>
          <p:cNvSpPr txBox="1"/>
          <p:nvPr/>
        </p:nvSpPr>
        <p:spPr>
          <a:xfrm>
            <a:off x="8796528" y="3227832"/>
            <a:ext cx="2825496" cy="111556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夾心階層：收入超出上限、又買不起私樓</a:t>
            </a:r>
            <a:endParaRPr lang="en-US" sz="1200" dirty="0"/>
          </a:p>
        </p:txBody>
      </p:sp>
      <p:sp>
        <p:nvSpPr>
          <p:cNvPr id="22" name="Shape 20"/>
          <p:cNvSpPr/>
          <p:nvPr/>
        </p:nvSpPr>
        <p:spPr>
          <a:xfrm>
            <a:off x="566928" y="4343400"/>
            <a:ext cx="11057839" cy="12802"/>
          </a:xfrm>
          <a:prstGeom prst="rect">
            <a:avLst/>
          </a:prstGeom>
          <a:solidFill>
            <a:srgbClr val="C72A09"/>
          </a:solidFill>
          <a:ln/>
        </p:spPr>
      </p:sp>
      <p:sp>
        <p:nvSpPr>
          <p:cNvPr id="23" name="Text 21"/>
          <p:cNvSpPr txBox="1"/>
          <p:nvPr/>
        </p:nvSpPr>
        <p:spPr>
          <a:xfrm>
            <a:off x="566928" y="4416552"/>
            <a:ext cx="2523744" cy="1115568"/>
          </a:xfrm>
          <a:prstGeom prst="rect">
            <a:avLst/>
          </a:prstGeom>
          <a:noFill/>
          <a:ln/>
        </p:spPr>
        <p:txBody>
          <a:bodyPr wrap="square" lIns="0" tIns="0" rIns="0" bIns="0" rtlCol="0" anchor="ctr"/>
          <a:lstStyle/>
          <a:p>
            <a:pPr algn="l" indent="0" marL="0">
              <a:buNone/>
            </a:pPr>
            <a:r>
              <a:rPr lang="en-US" sz="1500" b="1" dirty="0">
                <a:solidFill>
                  <a:srgbClr val="CA0013"/>
                </a:solidFill>
                <a:latin typeface="Microsoft JhengHei" pitchFamily="34" charset="0"/>
                <a:ea typeface="Microsoft JhengHei" pitchFamily="34" charset="-122"/>
                <a:cs typeface="Microsoft JhengHei" pitchFamily="34" charset="-120"/>
              </a:rPr>
              <a:t>國家</a:t>
            </a:r>
            <a:endParaRPr lang="en-US" sz="1200" dirty="0"/>
          </a:p>
          <a:p>
            <a:pPr algn="l" indent="0" marL="0">
              <a:buNone/>
            </a:pPr>
            <a:r>
              <a:rPr lang="en-US" sz="1050" dirty="0">
                <a:solidFill>
                  <a:srgbClr val="CA0013"/>
                </a:solidFill>
                <a:latin typeface="Microsoft JhengHei" pitchFamily="34" charset="0"/>
                <a:ea typeface="Microsoft JhengHei" pitchFamily="34" charset="-122"/>
                <a:cs typeface="Microsoft JhengHei" pitchFamily="34" charset="-120"/>
              </a:rPr>
              <a:t>提供住房以維持再生產，並維護資本積累的秩序</a:t>
            </a:r>
            <a:endParaRPr lang="en-US" sz="1200" dirty="0"/>
          </a:p>
        </p:txBody>
      </p:sp>
      <p:sp>
        <p:nvSpPr>
          <p:cNvPr id="24" name="Text 22"/>
          <p:cNvSpPr txBox="1"/>
          <p:nvPr/>
        </p:nvSpPr>
        <p:spPr>
          <a:xfrm>
            <a:off x="3218688" y="4416552"/>
            <a:ext cx="2660904" cy="111556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成數 70% → 80% 降低首期、增加月供；新批按揭 +24.7%</a:t>
            </a:r>
            <a:endParaRPr lang="en-US" sz="1200" dirty="0"/>
          </a:p>
        </p:txBody>
      </p:sp>
      <p:sp>
        <p:nvSpPr>
          <p:cNvPr id="25" name="Text 23"/>
          <p:cNvSpPr txBox="1"/>
          <p:nvPr/>
        </p:nvSpPr>
        <p:spPr>
          <a:xfrm>
            <a:off x="6007608" y="4416552"/>
            <a:ext cx="2660904" cy="111556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都更由業主決定；暫住房 2,803 個，置換房餘 1,700 多個</a:t>
            </a:r>
            <a:endParaRPr lang="en-US" sz="1200" dirty="0"/>
          </a:p>
        </p:txBody>
      </p:sp>
      <p:sp>
        <p:nvSpPr>
          <p:cNvPr id="26" name="Text 24"/>
          <p:cNvSpPr txBox="1"/>
          <p:nvPr/>
        </p:nvSpPr>
        <p:spPr>
          <a:xfrm>
            <a:off x="8796528" y="4416552"/>
            <a:ext cx="2825496" cy="111556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有財政儲備，卻只批次式供應經屋；夾屋缺位</a:t>
            </a:r>
            <a:endParaRPr lang="en-US" sz="1200" dirty="0"/>
          </a:p>
        </p:txBody>
      </p:sp>
      <p:sp>
        <p:nvSpPr>
          <p:cNvPr id="27" name="Shape 25"/>
          <p:cNvSpPr/>
          <p:nvPr/>
        </p:nvSpPr>
        <p:spPr>
          <a:xfrm>
            <a:off x="566928" y="5532120"/>
            <a:ext cx="11057839" cy="12802"/>
          </a:xfrm>
          <a:prstGeom prst="rect">
            <a:avLst/>
          </a:prstGeom>
          <a:solidFill>
            <a:srgbClr val="C72A09"/>
          </a:solidFill>
          <a:ln/>
        </p:spPr>
      </p:sp>
      <p:sp>
        <p:nvSpPr>
          <p:cNvPr id="28" name="Text 26"/>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本組整理；數據出處見前文各頁</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(29)</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第四部分　馬克思理論　·　透鏡一</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商品化：居所變成資產</a:t>
            </a:r>
            <a:endParaRPr lang="en-US" sz="3400" dirty="0"/>
          </a:p>
        </p:txBody>
      </p:sp>
      <p:graphicFrame>
        <p:nvGraphicFramePr>
          <p:cNvPr id="8" name="Chart 0" descr=""/>
          <p:cNvGraphicFramePr/>
          <p:nvPr/>
        </p:nvGraphicFramePr>
        <p:xfrm>
          <a:off x="566928" y="1600200"/>
          <a:ext cx="4754880" cy="31089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66928" y="4754880"/>
            <a:ext cx="4754880" cy="310896"/>
          </a:xfrm>
          <a:prstGeom prst="rect">
            <a:avLst/>
          </a:prstGeom>
          <a:noFill/>
          <a:ln/>
        </p:spPr>
        <p:txBody>
          <a:bodyPr wrap="square" lIns="0" tIns="0" rIns="0" bIns="0" rtlCol="0" anchor="t"/>
          <a:lstStyle/>
          <a:p>
            <a:pPr algn="l" indent="0" marL="0">
              <a:lnSpc>
                <a:spcPct val="125000"/>
              </a:lnSpc>
              <a:buNone/>
            </a:pPr>
            <a:r>
              <a:rPr lang="en-US" sz="1050" b="1" spc="60" kern="0" dirty="0">
                <a:solidFill>
                  <a:srgbClr val="CA0013"/>
                </a:solidFill>
                <a:latin typeface="Microsoft JhengHei" pitchFamily="34" charset="0"/>
                <a:ea typeface="Microsoft JhengHei" pitchFamily="34" charset="-122"/>
                <a:cs typeface="Microsoft JhengHei" pitchFamily="34" charset="-120"/>
              </a:rPr>
              <a:t>價租比（年）＝每平方米均價 ÷ 全年租金</a:t>
            </a:r>
            <a:endParaRPr lang="en-US" sz="1050" dirty="0"/>
          </a:p>
        </p:txBody>
      </p:sp>
      <p:sp>
        <p:nvSpPr>
          <p:cNvPr id="10" name="Text 7"/>
          <p:cNvSpPr txBox="1"/>
          <p:nvPr/>
        </p:nvSpPr>
        <p:spPr>
          <a:xfrm>
            <a:off x="566928" y="5074920"/>
            <a:ext cx="4754880" cy="548640"/>
          </a:xfrm>
          <a:prstGeom prst="rect">
            <a:avLst/>
          </a:prstGeom>
          <a:noFill/>
          <a:ln/>
        </p:spPr>
        <p:txBody>
          <a:bodyPr wrap="square" lIns="0" tIns="0" rIns="0" bIns="0" rtlCol="0" anchor="t"/>
          <a:lstStyle/>
          <a:p>
            <a:pPr indent="0" marL="0">
              <a:lnSpc>
                <a:spcPct val="140000"/>
              </a:lnSpc>
              <a:buNone/>
            </a:pPr>
            <a:r>
              <a:rPr lang="en-US" sz="1100" dirty="0">
                <a:solidFill>
                  <a:srgbClr val="CA0013"/>
                </a:solidFill>
                <a:latin typeface="Microsoft JhengHei" pitchFamily="34" charset="0"/>
                <a:ea typeface="Microsoft JhengHei" pitchFamily="34" charset="-122"/>
                <a:cs typeface="Microsoft JhengHei" pitchFamily="34" charset="-120"/>
              </a:rPr>
              <a:t>價格為成交均價、租金為租約申報均價，口徑不同，只作粗略指標。</a:t>
            </a:r>
            <a:endParaRPr lang="en-US" sz="1100" dirty="0"/>
          </a:p>
        </p:txBody>
      </p:sp>
      <p:sp>
        <p:nvSpPr>
          <p:cNvPr id="11" name="Text 8"/>
          <p:cNvSpPr txBox="1"/>
          <p:nvPr/>
        </p:nvSpPr>
        <p:spPr>
          <a:xfrm>
            <a:off x="5852160" y="1645920"/>
            <a:ext cx="864108" cy="694944"/>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理論</a:t>
            </a:r>
            <a:endParaRPr lang="en-US" sz="1100" dirty="0"/>
          </a:p>
        </p:txBody>
      </p:sp>
      <p:sp>
        <p:nvSpPr>
          <p:cNvPr id="12" name="Text 9"/>
          <p:cNvSpPr txBox="1"/>
          <p:nvPr/>
        </p:nvSpPr>
        <p:spPr>
          <a:xfrm>
            <a:off x="6802679" y="1645920"/>
            <a:ext cx="4810201" cy="694944"/>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商品有使用價值，也有交換價值；當交換價值支配使用價值，住宅便按資產價值而非居住需要定價。</a:t>
            </a:r>
            <a:endParaRPr lang="en-US" sz="1100" dirty="0"/>
          </a:p>
        </p:txBody>
      </p:sp>
      <p:sp>
        <p:nvSpPr>
          <p:cNvPr id="13" name="Shape 10"/>
          <p:cNvSpPr/>
          <p:nvPr/>
        </p:nvSpPr>
        <p:spPr>
          <a:xfrm>
            <a:off x="5852160" y="2322576"/>
            <a:ext cx="5760720" cy="12802"/>
          </a:xfrm>
          <a:prstGeom prst="rect">
            <a:avLst/>
          </a:prstGeom>
          <a:solidFill>
            <a:srgbClr val="C72A09"/>
          </a:solidFill>
          <a:ln/>
        </p:spPr>
      </p:sp>
      <p:sp>
        <p:nvSpPr>
          <p:cNvPr id="14" name="Text 11"/>
          <p:cNvSpPr txBox="1"/>
          <p:nvPr/>
        </p:nvSpPr>
        <p:spPr>
          <a:xfrm>
            <a:off x="5852160" y="2432304"/>
            <a:ext cx="864108" cy="694944"/>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問題一</a:t>
            </a:r>
            <a:endParaRPr lang="en-US" sz="1100" dirty="0"/>
          </a:p>
        </p:txBody>
      </p:sp>
      <p:sp>
        <p:nvSpPr>
          <p:cNvPr id="15" name="Text 12"/>
          <p:cNvSpPr txBox="1"/>
          <p:nvPr/>
        </p:nvSpPr>
        <p:spPr>
          <a:xfrm>
            <a:off x="6802679" y="2432304"/>
            <a:ext cx="4810201" cy="694944"/>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價租比 59 → 43 年：買樓的價格仍遠高於同一單位的租住價值，可理解為價格含有資產預期（推論）。</a:t>
            </a:r>
            <a:endParaRPr lang="en-US" sz="1100" dirty="0"/>
          </a:p>
        </p:txBody>
      </p:sp>
      <p:sp>
        <p:nvSpPr>
          <p:cNvPr id="16" name="Shape 13"/>
          <p:cNvSpPr/>
          <p:nvPr/>
        </p:nvSpPr>
        <p:spPr>
          <a:xfrm>
            <a:off x="5852160" y="3108960"/>
            <a:ext cx="5760720" cy="12802"/>
          </a:xfrm>
          <a:prstGeom prst="rect">
            <a:avLst/>
          </a:prstGeom>
          <a:solidFill>
            <a:srgbClr val="C72A09"/>
          </a:solidFill>
          <a:ln/>
        </p:spPr>
      </p:sp>
      <p:sp>
        <p:nvSpPr>
          <p:cNvPr id="17" name="Text 14"/>
          <p:cNvSpPr txBox="1"/>
          <p:nvPr/>
        </p:nvSpPr>
        <p:spPr>
          <a:xfrm>
            <a:off x="5852160" y="3218688"/>
            <a:ext cx="864108" cy="694944"/>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問題二</a:t>
            </a:r>
            <a:endParaRPr lang="en-US" sz="1100" dirty="0"/>
          </a:p>
        </p:txBody>
      </p:sp>
      <p:sp>
        <p:nvSpPr>
          <p:cNvPr id="18" name="Text 15"/>
          <p:cNvSpPr txBox="1"/>
          <p:nvPr/>
        </p:nvSpPr>
        <p:spPr>
          <a:xfrm>
            <a:off x="6802679" y="3218688"/>
            <a:ext cx="4810201" cy="694944"/>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祐漢方案以「存量優化」提升「樓宇價值」；重建後單位的資產價值由市場決定（推論）。</a:t>
            </a:r>
            <a:endParaRPr lang="en-US" sz="1100" dirty="0"/>
          </a:p>
        </p:txBody>
      </p:sp>
      <p:sp>
        <p:nvSpPr>
          <p:cNvPr id="19" name="Shape 16"/>
          <p:cNvSpPr/>
          <p:nvPr/>
        </p:nvSpPr>
        <p:spPr>
          <a:xfrm>
            <a:off x="5852160" y="3895344"/>
            <a:ext cx="5760720" cy="12802"/>
          </a:xfrm>
          <a:prstGeom prst="rect">
            <a:avLst/>
          </a:prstGeom>
          <a:solidFill>
            <a:srgbClr val="C72A09"/>
          </a:solidFill>
          <a:ln/>
        </p:spPr>
      </p:sp>
      <p:sp>
        <p:nvSpPr>
          <p:cNvPr id="20" name="Text 17"/>
          <p:cNvSpPr txBox="1"/>
          <p:nvPr/>
        </p:nvSpPr>
        <p:spPr>
          <a:xfrm>
            <a:off x="5852160" y="4005072"/>
            <a:ext cx="864108" cy="694944"/>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問題三</a:t>
            </a:r>
            <a:endParaRPr lang="en-US" sz="1100" dirty="0"/>
          </a:p>
        </p:txBody>
      </p:sp>
      <p:sp>
        <p:nvSpPr>
          <p:cNvPr id="21" name="Text 18"/>
          <p:cNvSpPr txBox="1"/>
          <p:nvPr/>
        </p:nvSpPr>
        <p:spPr>
          <a:xfrm>
            <a:off x="6802679" y="4005072"/>
            <a:ext cx="4810201" cy="694944"/>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經屋「永遠姓經」限制轉售；夾屋屬私人房屋，可在一定年限後出售，兩者處理商品化的方向不同。</a:t>
            </a:r>
            <a:endParaRPr lang="en-US" sz="1100" dirty="0"/>
          </a:p>
        </p:txBody>
      </p:sp>
      <p:sp>
        <p:nvSpPr>
          <p:cNvPr id="22" name="Shape 19"/>
          <p:cNvSpPr/>
          <p:nvPr/>
        </p:nvSpPr>
        <p:spPr>
          <a:xfrm>
            <a:off x="5852160" y="4681728"/>
            <a:ext cx="5760720" cy="12802"/>
          </a:xfrm>
          <a:prstGeom prst="rect">
            <a:avLst/>
          </a:prstGeom>
          <a:solidFill>
            <a:srgbClr val="C72A09"/>
          </a:solidFill>
          <a:ln/>
        </p:spPr>
      </p:sp>
      <p:sp>
        <p:nvSpPr>
          <p:cNvPr id="23" name="Text 20"/>
          <p:cNvSpPr txBox="1"/>
          <p:nvPr/>
        </p:nvSpPr>
        <p:spPr>
          <a:xfrm>
            <a:off x="5852160" y="4791456"/>
            <a:ext cx="864108" cy="694944"/>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界線</a:t>
            </a:r>
            <a:endParaRPr lang="en-US" sz="1100" dirty="0"/>
          </a:p>
        </p:txBody>
      </p:sp>
      <p:sp>
        <p:nvSpPr>
          <p:cNvPr id="24" name="Text 21"/>
          <p:cNvSpPr txBox="1"/>
          <p:nvPr/>
        </p:nvSpPr>
        <p:spPr>
          <a:xfrm>
            <a:off x="6802679" y="4791456"/>
            <a:ext cx="4810201" cy="694944"/>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可以證明的是價格與租值的距離，不能證明買家的動機；空置成因官方未分項，不作論證。</a:t>
            </a:r>
            <a:endParaRPr lang="en-US" sz="1100" dirty="0"/>
          </a:p>
        </p:txBody>
      </p:sp>
      <p:sp>
        <p:nvSpPr>
          <p:cNvPr id="25" name="Shape 22"/>
          <p:cNvSpPr/>
          <p:nvPr/>
        </p:nvSpPr>
        <p:spPr>
          <a:xfrm>
            <a:off x="5852160" y="5468112"/>
            <a:ext cx="5760720" cy="12802"/>
          </a:xfrm>
          <a:prstGeom prst="rect">
            <a:avLst/>
          </a:prstGeom>
          <a:solidFill>
            <a:srgbClr val="C72A09"/>
          </a:solidFill>
          <a:ln/>
        </p:spPr>
      </p:sp>
      <p:sp>
        <p:nvSpPr>
          <p:cNvPr id="26" name="Text 23"/>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統計暨普查局；都更公司；政策研究 2022；本組推算</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(30)</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2.jpeg">    </p:cNvPr>
          <p:cNvPicPr>
            <a:picLocks noChangeAspect="1"/>
          </p:cNvPicPr>
          <p:nvPr/>
        </p:nvPicPr>
        <p:blipFill>
          <a:blip r:embed="rId1"/>
          <a:srcRect l="0" r="0" t="0" b="0"/>
          <a:stretch/>
        </p:blipFill>
        <p:spPr>
          <a:xfrm>
            <a:off x="8869680" y="0"/>
            <a:ext cx="3322015" cy="5806440"/>
          </a:xfrm>
          <a:prstGeom prst="rect">
            <a:avLst/>
          </a:prstGeom>
        </p:spPr>
      </p:pic>
      <p:sp>
        <p:nvSpPr>
          <p:cNvPr id="7"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第四部分　馬克思理論　·　透鏡二</a:t>
            </a:r>
            <a:endParaRPr lang="en-US" sz="1200" dirty="0"/>
          </a:p>
        </p:txBody>
      </p:sp>
      <p:sp>
        <p:nvSpPr>
          <p:cNvPr id="8" name="Text 5"/>
          <p:cNvSpPr txBox="1"/>
          <p:nvPr/>
        </p:nvSpPr>
        <p:spPr>
          <a:xfrm>
            <a:off x="566928" y="749808"/>
            <a:ext cx="795528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階級：有物業與沒有物業</a:t>
            </a:r>
            <a:endParaRPr lang="en-US" sz="3400" dirty="0"/>
          </a:p>
        </p:txBody>
      </p:sp>
      <p:sp>
        <p:nvSpPr>
          <p:cNvPr id="9" name="Text 6"/>
          <p:cNvSpPr txBox="1"/>
          <p:nvPr/>
        </p:nvSpPr>
        <p:spPr>
          <a:xfrm>
            <a:off x="566928" y="1600200"/>
            <a:ext cx="1336853" cy="475488"/>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理論</a:t>
            </a:r>
            <a:endParaRPr lang="en-US" sz="1100" dirty="0"/>
          </a:p>
        </p:txBody>
      </p:sp>
      <p:sp>
        <p:nvSpPr>
          <p:cNvPr id="10" name="Text 7"/>
          <p:cNvSpPr txBox="1"/>
          <p:nvPr/>
        </p:nvSpPr>
        <p:spPr>
          <a:xfrm>
            <a:off x="2021738" y="1600200"/>
            <a:ext cx="6409030" cy="475488"/>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階級是人與資產的關係：有物業者在升值中獲益，無物業者付租而不積累資產。</a:t>
            </a:r>
            <a:endParaRPr lang="en-US" sz="1100" dirty="0"/>
          </a:p>
        </p:txBody>
      </p:sp>
      <p:sp>
        <p:nvSpPr>
          <p:cNvPr id="11" name="Shape 8"/>
          <p:cNvSpPr/>
          <p:nvPr/>
        </p:nvSpPr>
        <p:spPr>
          <a:xfrm>
            <a:off x="566928" y="2057400"/>
            <a:ext cx="7863840" cy="12802"/>
          </a:xfrm>
          <a:prstGeom prst="rect">
            <a:avLst/>
          </a:prstGeom>
          <a:solidFill>
            <a:srgbClr val="C72A09"/>
          </a:solidFill>
          <a:ln/>
        </p:spPr>
      </p:sp>
      <p:sp>
        <p:nvSpPr>
          <p:cNvPr id="12" name="Text 9"/>
          <p:cNvSpPr txBox="1"/>
          <p:nvPr/>
        </p:nvSpPr>
        <p:spPr>
          <a:xfrm>
            <a:off x="566928" y="2167128"/>
            <a:ext cx="1336853" cy="475488"/>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自置與租住</a:t>
            </a:r>
            <a:endParaRPr lang="en-US" sz="1100" dirty="0"/>
          </a:p>
        </p:txBody>
      </p:sp>
      <p:sp>
        <p:nvSpPr>
          <p:cNvPr id="13" name="Text 10"/>
          <p:cNvSpPr txBox="1"/>
          <p:nvPr/>
        </p:nvSpPr>
        <p:spPr>
          <a:xfrm>
            <a:off x="2021738" y="2167128"/>
            <a:ext cx="6409030" cy="475488"/>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自置 73.4%（148,091 戶），租住 39,148 戶（19.3%）（2021 人口普查）</a:t>
            </a:r>
            <a:endParaRPr lang="en-US" sz="1100" dirty="0"/>
          </a:p>
        </p:txBody>
      </p:sp>
      <p:sp>
        <p:nvSpPr>
          <p:cNvPr id="14" name="Shape 11"/>
          <p:cNvSpPr/>
          <p:nvPr/>
        </p:nvSpPr>
        <p:spPr>
          <a:xfrm>
            <a:off x="566928" y="2624328"/>
            <a:ext cx="7863840" cy="12802"/>
          </a:xfrm>
          <a:prstGeom prst="rect">
            <a:avLst/>
          </a:prstGeom>
          <a:solidFill>
            <a:srgbClr val="C72A09"/>
          </a:solidFill>
          <a:ln/>
        </p:spPr>
      </p:sp>
      <p:sp>
        <p:nvSpPr>
          <p:cNvPr id="15" name="Text 12"/>
          <p:cNvSpPr txBox="1"/>
          <p:nvPr/>
        </p:nvSpPr>
        <p:spPr>
          <a:xfrm>
            <a:off x="566928" y="2734056"/>
            <a:ext cx="1336853" cy="475488"/>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租金梯度</a:t>
            </a:r>
            <a:endParaRPr lang="en-US" sz="1100" dirty="0"/>
          </a:p>
        </p:txBody>
      </p:sp>
      <p:sp>
        <p:nvSpPr>
          <p:cNvPr id="16" name="Text 13"/>
          <p:cNvSpPr txBox="1"/>
          <p:nvPr/>
        </p:nvSpPr>
        <p:spPr>
          <a:xfrm>
            <a:off x="2021738" y="2734056"/>
            <a:ext cx="6409030" cy="475488"/>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舊樓租金 119 元、新樓 182 元；小單位（少於 50 平方米）售價最低而租金最高（168 元）</a:t>
            </a:r>
            <a:endParaRPr lang="en-US" sz="1100" dirty="0"/>
          </a:p>
        </p:txBody>
      </p:sp>
      <p:sp>
        <p:nvSpPr>
          <p:cNvPr id="17" name="Shape 14"/>
          <p:cNvSpPr/>
          <p:nvPr/>
        </p:nvSpPr>
        <p:spPr>
          <a:xfrm>
            <a:off x="566928" y="3191256"/>
            <a:ext cx="7863840" cy="12802"/>
          </a:xfrm>
          <a:prstGeom prst="rect">
            <a:avLst/>
          </a:prstGeom>
          <a:solidFill>
            <a:srgbClr val="C72A09"/>
          </a:solidFill>
          <a:ln/>
        </p:spPr>
      </p:sp>
      <p:sp>
        <p:nvSpPr>
          <p:cNvPr id="18" name="Text 15"/>
          <p:cNvSpPr txBox="1"/>
          <p:nvPr/>
        </p:nvSpPr>
        <p:spPr>
          <a:xfrm>
            <a:off x="566928" y="3300984"/>
            <a:ext cx="1336853" cy="475488"/>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青年</a:t>
            </a:r>
            <a:endParaRPr lang="en-US" sz="1100" dirty="0"/>
          </a:p>
        </p:txBody>
      </p:sp>
      <p:sp>
        <p:nvSpPr>
          <p:cNvPr id="19" name="Text 16"/>
          <p:cNvSpPr txBox="1"/>
          <p:nvPr/>
        </p:nvSpPr>
        <p:spPr>
          <a:xfrm>
            <a:off x="2021738" y="3300984"/>
            <a:ext cx="6409030" cy="475488"/>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租用私樓 10.6%（2018）→ 23.1%（2024）；住在購買的私樓不等於自己買，是否靠家庭資產待訪問驗證</a:t>
            </a:r>
            <a:endParaRPr lang="en-US" sz="1100" dirty="0"/>
          </a:p>
        </p:txBody>
      </p:sp>
      <p:sp>
        <p:nvSpPr>
          <p:cNvPr id="20" name="Shape 17"/>
          <p:cNvSpPr/>
          <p:nvPr/>
        </p:nvSpPr>
        <p:spPr>
          <a:xfrm>
            <a:off x="566928" y="3758184"/>
            <a:ext cx="7863840" cy="12802"/>
          </a:xfrm>
          <a:prstGeom prst="rect">
            <a:avLst/>
          </a:prstGeom>
          <a:solidFill>
            <a:srgbClr val="C72A09"/>
          </a:solidFill>
          <a:ln/>
        </p:spPr>
      </p:sp>
      <p:sp>
        <p:nvSpPr>
          <p:cNvPr id="21" name="Text 18"/>
          <p:cNvSpPr txBox="1"/>
          <p:nvPr/>
        </p:nvSpPr>
        <p:spPr>
          <a:xfrm>
            <a:off x="566928" y="3867912"/>
            <a:ext cx="1336853" cy="475488"/>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業權人與租戶</a:t>
            </a:r>
            <a:endParaRPr lang="en-US" sz="1100" dirty="0"/>
          </a:p>
        </p:txBody>
      </p:sp>
      <p:sp>
        <p:nvSpPr>
          <p:cNvPr id="22" name="Text 19"/>
          <p:cNvSpPr txBox="1"/>
          <p:nvPr/>
        </p:nvSpPr>
        <p:spPr>
          <a:xfrm>
            <a:off x="2021738" y="3867912"/>
            <a:ext cx="6409030" cy="475488"/>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都更法保障業權人（門檻、仲裁、回遷分配）；承租人於租約失效後可被強制遷出（第 36 條）</a:t>
            </a:r>
            <a:endParaRPr lang="en-US" sz="1100" dirty="0"/>
          </a:p>
        </p:txBody>
      </p:sp>
      <p:sp>
        <p:nvSpPr>
          <p:cNvPr id="23" name="Shape 20"/>
          <p:cNvSpPr/>
          <p:nvPr/>
        </p:nvSpPr>
        <p:spPr>
          <a:xfrm>
            <a:off x="566928" y="4325112"/>
            <a:ext cx="7863840" cy="12802"/>
          </a:xfrm>
          <a:prstGeom prst="rect">
            <a:avLst/>
          </a:prstGeom>
          <a:solidFill>
            <a:srgbClr val="C72A09"/>
          </a:solidFill>
          <a:ln/>
        </p:spPr>
      </p:sp>
      <p:sp>
        <p:nvSpPr>
          <p:cNvPr id="24" name="Text 21"/>
          <p:cNvSpPr txBox="1"/>
          <p:nvPr/>
        </p:nvSpPr>
        <p:spPr>
          <a:xfrm>
            <a:off x="566928" y="4434840"/>
            <a:ext cx="1336853" cy="475488"/>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租隙提示</a:t>
            </a:r>
            <a:endParaRPr lang="en-US" sz="1100" dirty="0"/>
          </a:p>
        </p:txBody>
      </p:sp>
      <p:sp>
        <p:nvSpPr>
          <p:cNvPr id="25" name="Text 22"/>
          <p:cNvSpPr txBox="1"/>
          <p:nvPr/>
        </p:nvSpPr>
        <p:spPr>
          <a:xfrm>
            <a:off x="2021738" y="4434840"/>
            <a:ext cx="6409030" cy="475488"/>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黑沙環及祐漢區租金 121 元、黑沙環新填海區 165 元，差約 36%；只作粗略代理，不是租隙的正式計算</a:t>
            </a:r>
            <a:endParaRPr lang="en-US" sz="1100" dirty="0"/>
          </a:p>
        </p:txBody>
      </p:sp>
      <p:sp>
        <p:nvSpPr>
          <p:cNvPr id="26" name="Shape 23"/>
          <p:cNvSpPr/>
          <p:nvPr/>
        </p:nvSpPr>
        <p:spPr>
          <a:xfrm>
            <a:off x="566928" y="4892040"/>
            <a:ext cx="7863840" cy="12802"/>
          </a:xfrm>
          <a:prstGeom prst="rect">
            <a:avLst/>
          </a:prstGeom>
          <a:solidFill>
            <a:srgbClr val="C72A09"/>
          </a:solidFill>
          <a:ln/>
        </p:spPr>
      </p:sp>
      <p:sp>
        <p:nvSpPr>
          <p:cNvPr id="27" name="Text 24"/>
          <p:cNvSpPr txBox="1"/>
          <p:nvPr/>
        </p:nvSpPr>
        <p:spPr>
          <a:xfrm>
            <a:off x="566928" y="5001768"/>
            <a:ext cx="1336853" cy="475488"/>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風險提示</a:t>
            </a:r>
            <a:endParaRPr lang="en-US" sz="1100" dirty="0"/>
          </a:p>
        </p:txBody>
      </p:sp>
      <p:sp>
        <p:nvSpPr>
          <p:cNvPr id="28" name="Text 25"/>
          <p:cNvSpPr txBox="1"/>
          <p:nvPr/>
        </p:nvSpPr>
        <p:spPr>
          <a:xfrm>
            <a:off x="2021738" y="5001768"/>
            <a:ext cx="6409030" cy="475488"/>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剝奪式積累（Harvey）：若補償或安置不足，更新的增值可能由資本取得；本組未有證據顯示已發生</a:t>
            </a:r>
            <a:endParaRPr lang="en-US" sz="1100" dirty="0"/>
          </a:p>
        </p:txBody>
      </p:sp>
      <p:sp>
        <p:nvSpPr>
          <p:cNvPr id="29" name="Shape 26"/>
          <p:cNvSpPr/>
          <p:nvPr/>
        </p:nvSpPr>
        <p:spPr>
          <a:xfrm>
            <a:off x="566928" y="5458968"/>
            <a:ext cx="7863840" cy="12802"/>
          </a:xfrm>
          <a:prstGeom prst="rect">
            <a:avLst/>
          </a:prstGeom>
          <a:solidFill>
            <a:srgbClr val="C72A09"/>
          </a:solidFill>
          <a:ln/>
        </p:spPr>
      </p:sp>
      <p:sp>
        <p:nvSpPr>
          <p:cNvPr id="30" name="Text 27"/>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統計暨普查局；教青局；第 18/2022 號法律；Harvey (1978)；Smith (1979)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(31)</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第四部分　馬克思理論　·　透鏡三</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國家：提供與調節，有邊界</a:t>
            </a:r>
            <a:endParaRPr lang="en-US" sz="3400" dirty="0"/>
          </a:p>
        </p:txBody>
      </p:sp>
      <p:sp>
        <p:nvSpPr>
          <p:cNvPr id="8" name="Text 6"/>
          <p:cNvSpPr txBox="1"/>
          <p:nvPr/>
        </p:nvSpPr>
        <p:spPr>
          <a:xfrm>
            <a:off x="566928" y="1645920"/>
            <a:ext cx="946404" cy="694944"/>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理論</a:t>
            </a:r>
            <a:endParaRPr lang="en-US" sz="1100" dirty="0"/>
          </a:p>
        </p:txBody>
      </p:sp>
      <p:sp>
        <p:nvSpPr>
          <p:cNvPr id="9" name="Text 7"/>
          <p:cNvSpPr txBox="1"/>
          <p:nvPr/>
        </p:nvSpPr>
        <p:spPr>
          <a:xfrm>
            <a:off x="1607972" y="1645920"/>
            <a:ext cx="5268316" cy="694944"/>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國家提供住房以維持勞動力再生產，同時維護資本積累的秩序，介入有雙重性。</a:t>
            </a:r>
            <a:endParaRPr lang="en-US" sz="1100" dirty="0"/>
          </a:p>
        </p:txBody>
      </p:sp>
      <p:sp>
        <p:nvSpPr>
          <p:cNvPr id="10" name="Shape 8"/>
          <p:cNvSpPr/>
          <p:nvPr/>
        </p:nvSpPr>
        <p:spPr>
          <a:xfrm>
            <a:off x="566928" y="2322576"/>
            <a:ext cx="6309360" cy="12802"/>
          </a:xfrm>
          <a:prstGeom prst="rect">
            <a:avLst/>
          </a:prstGeom>
          <a:solidFill>
            <a:srgbClr val="C72A09"/>
          </a:solidFill>
          <a:ln/>
        </p:spPr>
      </p:sp>
      <p:sp>
        <p:nvSpPr>
          <p:cNvPr id="11" name="Text 9"/>
          <p:cNvSpPr txBox="1"/>
          <p:nvPr/>
        </p:nvSpPr>
        <p:spPr>
          <a:xfrm>
            <a:off x="566928" y="2432304"/>
            <a:ext cx="946404" cy="694944"/>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提供</a:t>
            </a:r>
            <a:endParaRPr lang="en-US" sz="1100" dirty="0"/>
          </a:p>
        </p:txBody>
      </p:sp>
      <p:sp>
        <p:nvSpPr>
          <p:cNvPr id="12" name="Text 10"/>
          <p:cNvSpPr txBox="1"/>
          <p:nvPr/>
        </p:nvSpPr>
        <p:spPr>
          <a:xfrm>
            <a:off x="1607972" y="2432304"/>
            <a:ext cx="5268316" cy="694944"/>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社屋 15,037 個（6.3%）；經屋三期共 13,686 個；五階梯制度（政策研究 2022）</a:t>
            </a:r>
            <a:endParaRPr lang="en-US" sz="1100" dirty="0"/>
          </a:p>
        </p:txBody>
      </p:sp>
      <p:sp>
        <p:nvSpPr>
          <p:cNvPr id="13" name="Shape 11"/>
          <p:cNvSpPr/>
          <p:nvPr/>
        </p:nvSpPr>
        <p:spPr>
          <a:xfrm>
            <a:off x="566928" y="3108960"/>
            <a:ext cx="6309360" cy="12802"/>
          </a:xfrm>
          <a:prstGeom prst="rect">
            <a:avLst/>
          </a:prstGeom>
          <a:solidFill>
            <a:srgbClr val="C72A09"/>
          </a:solidFill>
          <a:ln/>
        </p:spPr>
      </p:sp>
      <p:sp>
        <p:nvSpPr>
          <p:cNvPr id="14" name="Text 12"/>
          <p:cNvSpPr txBox="1"/>
          <p:nvPr/>
        </p:nvSpPr>
        <p:spPr>
          <a:xfrm>
            <a:off x="566928" y="3218688"/>
            <a:ext cx="946404" cy="694944"/>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工具</a:t>
            </a:r>
            <a:endParaRPr lang="en-US" sz="1100" dirty="0"/>
          </a:p>
        </p:txBody>
      </p:sp>
      <p:sp>
        <p:nvSpPr>
          <p:cNvPr id="15" name="Text 13"/>
          <p:cNvSpPr txBox="1"/>
          <p:nvPr/>
        </p:nvSpPr>
        <p:spPr>
          <a:xfrm>
            <a:off x="1607972" y="3218688"/>
            <a:ext cx="5268316" cy="694944"/>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按揭成數 70% → 80%，配合印花稅豁免（2026-01-01）；新批核住宅按揭 2026 首季 +24.7%</a:t>
            </a:r>
            <a:endParaRPr lang="en-US" sz="1100" dirty="0"/>
          </a:p>
        </p:txBody>
      </p:sp>
      <p:sp>
        <p:nvSpPr>
          <p:cNvPr id="16" name="Shape 14"/>
          <p:cNvSpPr/>
          <p:nvPr/>
        </p:nvSpPr>
        <p:spPr>
          <a:xfrm>
            <a:off x="566928" y="3895344"/>
            <a:ext cx="6309360" cy="12802"/>
          </a:xfrm>
          <a:prstGeom prst="rect">
            <a:avLst/>
          </a:prstGeom>
          <a:solidFill>
            <a:srgbClr val="C72A09"/>
          </a:solidFill>
          <a:ln/>
        </p:spPr>
      </p:sp>
      <p:sp>
        <p:nvSpPr>
          <p:cNvPr id="17" name="Text 15"/>
          <p:cNvSpPr txBox="1"/>
          <p:nvPr/>
        </p:nvSpPr>
        <p:spPr>
          <a:xfrm>
            <a:off x="566928" y="4005072"/>
            <a:ext cx="946404" cy="694944"/>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資源</a:t>
            </a:r>
            <a:endParaRPr lang="en-US" sz="1100" dirty="0"/>
          </a:p>
        </p:txBody>
      </p:sp>
      <p:sp>
        <p:nvSpPr>
          <p:cNvPr id="18" name="Text 16"/>
          <p:cNvSpPr txBox="1"/>
          <p:nvPr/>
        </p:nvSpPr>
        <p:spPr>
          <a:xfrm>
            <a:off x="1607972" y="4005072"/>
            <a:ext cx="5268316" cy="694944"/>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財政儲備資產 4,351.3 億元（2016-04）；2024 年底約 6,162.1 億元〔二手文章，待核〕</a:t>
            </a:r>
            <a:endParaRPr lang="en-US" sz="1100" dirty="0"/>
          </a:p>
        </p:txBody>
      </p:sp>
      <p:sp>
        <p:nvSpPr>
          <p:cNvPr id="19" name="Shape 17"/>
          <p:cNvSpPr/>
          <p:nvPr/>
        </p:nvSpPr>
        <p:spPr>
          <a:xfrm>
            <a:off x="566928" y="4681728"/>
            <a:ext cx="6309360" cy="12802"/>
          </a:xfrm>
          <a:prstGeom prst="rect">
            <a:avLst/>
          </a:prstGeom>
          <a:solidFill>
            <a:srgbClr val="C72A09"/>
          </a:solidFill>
          <a:ln/>
        </p:spPr>
      </p:sp>
      <p:sp>
        <p:nvSpPr>
          <p:cNvPr id="20" name="Text 18"/>
          <p:cNvSpPr txBox="1"/>
          <p:nvPr/>
        </p:nvSpPr>
        <p:spPr>
          <a:xfrm>
            <a:off x="566928" y="4791456"/>
            <a:ext cx="946404" cy="694944"/>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界線</a:t>
            </a:r>
            <a:endParaRPr lang="en-US" sz="1100" dirty="0"/>
          </a:p>
        </p:txBody>
      </p:sp>
      <p:sp>
        <p:nvSpPr>
          <p:cNvPr id="21" name="Text 19"/>
          <p:cNvSpPr txBox="1"/>
          <p:nvPr/>
        </p:nvSpPr>
        <p:spPr>
          <a:xfrm>
            <a:off x="1607972" y="4791456"/>
            <a:ext cx="5268316" cy="694944"/>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夾屋屬私人房屋，可在一定年限後轉售；經屋轉讓受限：政策在商品化與去商品化之間取捨。</a:t>
            </a:r>
            <a:endParaRPr lang="en-US" sz="1100" dirty="0"/>
          </a:p>
        </p:txBody>
      </p:sp>
      <p:sp>
        <p:nvSpPr>
          <p:cNvPr id="22" name="Shape 20"/>
          <p:cNvSpPr/>
          <p:nvPr/>
        </p:nvSpPr>
        <p:spPr>
          <a:xfrm>
            <a:off x="566928" y="5468112"/>
            <a:ext cx="6309360" cy="12802"/>
          </a:xfrm>
          <a:prstGeom prst="rect">
            <a:avLst/>
          </a:prstGeom>
          <a:solidFill>
            <a:srgbClr val="C72A09"/>
          </a:solidFill>
          <a:ln/>
        </p:spPr>
      </p:sp>
      <p:sp>
        <p:nvSpPr>
          <p:cNvPr id="23" name="Text 21"/>
          <p:cNvSpPr txBox="1"/>
          <p:nvPr/>
        </p:nvSpPr>
        <p:spPr>
          <a:xfrm>
            <a:off x="7315200" y="1691640"/>
            <a:ext cx="4297680" cy="2377440"/>
          </a:xfrm>
          <a:prstGeom prst="rect">
            <a:avLst/>
          </a:prstGeom>
          <a:noFill/>
          <a:ln/>
        </p:spPr>
        <p:txBody>
          <a:bodyPr wrap="square" lIns="0" tIns="0" rIns="0" bIns="0" rtlCol="0" anchor="t"/>
          <a:lstStyle/>
          <a:p>
            <a:pPr indent="0" marL="0">
              <a:lnSpc>
                <a:spcPct val="128000"/>
              </a:lnSpc>
              <a:buNone/>
            </a:pPr>
            <a:r>
              <a:rPr lang="en-US" sz="1600" b="1" dirty="0">
                <a:solidFill>
                  <a:srgbClr val="CA0013"/>
                </a:solidFill>
                <a:latin typeface="Microsoft JhengHei" pitchFamily="34" charset="0"/>
                <a:ea typeface="Microsoft JhengHei" pitchFamily="34" charset="-122"/>
                <a:cs typeface="Microsoft JhengHei" pitchFamily="34" charset="-120"/>
              </a:rPr>
              <a:t>「如果直接轉為面向公眾出售，可能會失去當初作為都市更新用途的政策原意，同時也可能會影響到私人房地產市場」</a:t>
            </a:r>
            <a:endParaRPr lang="en-US" sz="1600" dirty="0"/>
          </a:p>
        </p:txBody>
      </p:sp>
      <p:sp>
        <p:nvSpPr>
          <p:cNvPr id="24" name="Text 22"/>
          <p:cNvSpPr txBox="1"/>
          <p:nvPr/>
        </p:nvSpPr>
        <p:spPr>
          <a:xfrm>
            <a:off x="7315200" y="3291840"/>
            <a:ext cx="4297680" cy="566928"/>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議員高岸聲書面質詢（2026-03）中的陳述，非政府官方立場</a:t>
            </a:r>
            <a:endParaRPr lang="en-US" sz="1200" dirty="0"/>
          </a:p>
        </p:txBody>
      </p:sp>
      <p:sp>
        <p:nvSpPr>
          <p:cNvPr id="25" name="Text 23"/>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政策研究 2022；金管局；高武洲（2017）；議員質詢</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(32)</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第五部分　紓解措施</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四項措施，對應四個發現</a:t>
            </a:r>
            <a:endParaRPr lang="en-US" sz="3400" dirty="0"/>
          </a:p>
        </p:txBody>
      </p:sp>
      <p:sp>
        <p:nvSpPr>
          <p:cNvPr id="8" name="Text 6"/>
          <p:cNvSpPr txBox="1"/>
          <p:nvPr/>
        </p:nvSpPr>
        <p:spPr>
          <a:xfrm>
            <a:off x="566928" y="1600200"/>
            <a:ext cx="4626864"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發現</a:t>
            </a:r>
            <a:endParaRPr lang="en-US" sz="1100" dirty="0"/>
          </a:p>
        </p:txBody>
      </p:sp>
      <p:sp>
        <p:nvSpPr>
          <p:cNvPr id="9" name="Text 7"/>
          <p:cNvSpPr txBox="1"/>
          <p:nvPr/>
        </p:nvSpPr>
        <p:spPr>
          <a:xfrm>
            <a:off x="5321808" y="1600200"/>
            <a:ext cx="3529584"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對應措施</a:t>
            </a:r>
            <a:endParaRPr lang="en-US" sz="1100" dirty="0"/>
          </a:p>
        </p:txBody>
      </p:sp>
      <p:sp>
        <p:nvSpPr>
          <p:cNvPr id="10" name="Text 8"/>
          <p:cNvSpPr txBox="1"/>
          <p:nvPr/>
        </p:nvSpPr>
        <p:spPr>
          <a:xfrm>
            <a:off x="8979408" y="1600200"/>
            <a:ext cx="2642616"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依據</a:t>
            </a:r>
            <a:endParaRPr lang="en-US" sz="1100" dirty="0"/>
          </a:p>
        </p:txBody>
      </p:sp>
      <p:sp>
        <p:nvSpPr>
          <p:cNvPr id="11" name="Shape 9"/>
          <p:cNvSpPr/>
          <p:nvPr/>
        </p:nvSpPr>
        <p:spPr>
          <a:xfrm>
            <a:off x="566928" y="1947672"/>
            <a:ext cx="11057839" cy="18288"/>
          </a:xfrm>
          <a:prstGeom prst="rect">
            <a:avLst/>
          </a:prstGeom>
          <a:solidFill>
            <a:srgbClr val="C72A09"/>
          </a:solidFill>
          <a:ln/>
        </p:spPr>
      </p:sp>
      <p:sp>
        <p:nvSpPr>
          <p:cNvPr id="12" name="Text 10"/>
          <p:cNvSpPr txBox="1"/>
          <p:nvPr/>
        </p:nvSpPr>
        <p:spPr>
          <a:xfrm>
            <a:off x="566928" y="2039112"/>
            <a:ext cx="4626864" cy="54864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首期與月供仍高：樓價收入比 6.5–9.6 倍（問題一）</a:t>
            </a:r>
            <a:endParaRPr lang="en-US" sz="1200" dirty="0"/>
          </a:p>
        </p:txBody>
      </p:sp>
      <p:sp>
        <p:nvSpPr>
          <p:cNvPr id="13" name="Text 11"/>
          <p:cNvSpPr txBox="1"/>
          <p:nvPr/>
        </p:nvSpPr>
        <p:spPr>
          <a:xfrm>
            <a:off x="5321808" y="2039112"/>
            <a:ext cx="3529584" cy="54864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措施一　首置家庭支援與負擔指標</a:t>
            </a:r>
            <a:endParaRPr lang="en-US" sz="1200" dirty="0"/>
          </a:p>
        </p:txBody>
      </p:sp>
      <p:sp>
        <p:nvSpPr>
          <p:cNvPr id="14" name="Text 12"/>
          <p:cNvSpPr txBox="1"/>
          <p:nvPr/>
        </p:nvSpPr>
        <p:spPr>
          <a:xfrm>
            <a:off x="8979408" y="2039112"/>
            <a:ext cx="2642616" cy="54864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2009 年利息補貼與信用擔保</a:t>
            </a:r>
            <a:endParaRPr lang="en-US" sz="1200" dirty="0"/>
          </a:p>
        </p:txBody>
      </p:sp>
      <p:sp>
        <p:nvSpPr>
          <p:cNvPr id="15" name="Shape 13"/>
          <p:cNvSpPr/>
          <p:nvPr/>
        </p:nvSpPr>
        <p:spPr>
          <a:xfrm>
            <a:off x="566928" y="2587752"/>
            <a:ext cx="11057839" cy="12802"/>
          </a:xfrm>
          <a:prstGeom prst="rect">
            <a:avLst/>
          </a:prstGeom>
          <a:solidFill>
            <a:srgbClr val="C72A09"/>
          </a:solidFill>
          <a:ln/>
        </p:spPr>
      </p:sp>
      <p:sp>
        <p:nvSpPr>
          <p:cNvPr id="16" name="Text 14"/>
          <p:cNvSpPr txBox="1"/>
          <p:nvPr/>
        </p:nvSpPr>
        <p:spPr>
          <a:xfrm>
            <a:off x="566928" y="2660904"/>
            <a:ext cx="4626864" cy="54864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租戶與輪候者承受租金與等待：租金約 +6%，社屋 2017 年批次平均輪候 420 日（問題一、三）</a:t>
            </a:r>
            <a:endParaRPr lang="en-US" sz="1200" dirty="0"/>
          </a:p>
        </p:txBody>
      </p:sp>
      <p:sp>
        <p:nvSpPr>
          <p:cNvPr id="17" name="Text 15"/>
          <p:cNvSpPr txBox="1"/>
          <p:nvPr/>
        </p:nvSpPr>
        <p:spPr>
          <a:xfrm>
            <a:off x="5321808" y="2660904"/>
            <a:ext cx="3529584" cy="54864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措施二　重啟租金津貼</a:t>
            </a:r>
            <a:endParaRPr lang="en-US" sz="1200" dirty="0"/>
          </a:p>
        </p:txBody>
      </p:sp>
      <p:sp>
        <p:nvSpPr>
          <p:cNvPr id="18" name="Text 16"/>
          <p:cNvSpPr txBox="1"/>
          <p:nvPr/>
        </p:nvSpPr>
        <p:spPr>
          <a:xfrm>
            <a:off x="8979408" y="2660904"/>
            <a:ext cx="2642616" cy="54864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2008–2010 年租金津貼</a:t>
            </a:r>
            <a:endParaRPr lang="en-US" sz="1200" dirty="0"/>
          </a:p>
        </p:txBody>
      </p:sp>
      <p:sp>
        <p:nvSpPr>
          <p:cNvPr id="19" name="Shape 17"/>
          <p:cNvSpPr/>
          <p:nvPr/>
        </p:nvSpPr>
        <p:spPr>
          <a:xfrm>
            <a:off x="566928" y="3209544"/>
            <a:ext cx="11057839" cy="12802"/>
          </a:xfrm>
          <a:prstGeom prst="rect">
            <a:avLst/>
          </a:prstGeom>
          <a:solidFill>
            <a:srgbClr val="C72A09"/>
          </a:solidFill>
          <a:ln/>
        </p:spPr>
      </p:sp>
      <p:sp>
        <p:nvSpPr>
          <p:cNvPr id="20" name="Text 18"/>
          <p:cNvSpPr txBox="1"/>
          <p:nvPr/>
        </p:nvSpPr>
        <p:spPr>
          <a:xfrm>
            <a:off x="566928" y="3282696"/>
            <a:ext cx="4626864" cy="54864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舊樓資料零散、安置錯配：暫住房 2,803 個、置換房 338／2,000+（問題二）</a:t>
            </a:r>
            <a:endParaRPr lang="en-US" sz="1200" dirty="0"/>
          </a:p>
        </p:txBody>
      </p:sp>
      <p:sp>
        <p:nvSpPr>
          <p:cNvPr id="21" name="Text 19"/>
          <p:cNvSpPr txBox="1"/>
          <p:nvPr/>
        </p:nvSpPr>
        <p:spPr>
          <a:xfrm>
            <a:off x="5321808" y="3282696"/>
            <a:ext cx="3529584" cy="54864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措施三　分級公開、維修優先、置換房檢討</a:t>
            </a:r>
            <a:endParaRPr lang="en-US" sz="1200" dirty="0"/>
          </a:p>
        </p:txBody>
      </p:sp>
      <p:sp>
        <p:nvSpPr>
          <p:cNvPr id="22" name="Text 20"/>
          <p:cNvSpPr txBox="1"/>
          <p:nvPr/>
        </p:nvSpPr>
        <p:spPr>
          <a:xfrm>
            <a:off x="8979408" y="3282696"/>
            <a:ext cx="2642616" cy="54864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三層梯度；議員質詢</a:t>
            </a:r>
            <a:endParaRPr lang="en-US" sz="1200" dirty="0"/>
          </a:p>
        </p:txBody>
      </p:sp>
      <p:sp>
        <p:nvSpPr>
          <p:cNvPr id="23" name="Shape 21"/>
          <p:cNvSpPr/>
          <p:nvPr/>
        </p:nvSpPr>
        <p:spPr>
          <a:xfrm>
            <a:off x="566928" y="3831336"/>
            <a:ext cx="11057839" cy="12802"/>
          </a:xfrm>
          <a:prstGeom prst="rect">
            <a:avLst/>
          </a:prstGeom>
          <a:solidFill>
            <a:srgbClr val="C72A09"/>
          </a:solidFill>
          <a:ln/>
        </p:spPr>
      </p:sp>
      <p:sp>
        <p:nvSpPr>
          <p:cNvPr id="24" name="Text 22"/>
          <p:cNvSpPr txBox="1"/>
          <p:nvPr/>
        </p:nvSpPr>
        <p:spPr>
          <a:xfrm>
            <a:off x="566928" y="3904488"/>
            <a:ext cx="4626864" cy="54864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經屋批次供應、一房不足、夾屋缺位（問題三）</a:t>
            </a:r>
            <a:endParaRPr lang="en-US" sz="1200" dirty="0"/>
          </a:p>
        </p:txBody>
      </p:sp>
      <p:sp>
        <p:nvSpPr>
          <p:cNvPr id="25" name="Text 23"/>
          <p:cNvSpPr txBox="1"/>
          <p:nvPr/>
        </p:nvSpPr>
        <p:spPr>
          <a:xfrm>
            <a:off x="5321808" y="3904488"/>
            <a:ext cx="3529584" cy="54864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措施四　恆常申請、戶型匹配、夾屋時間表</a:t>
            </a:r>
            <a:endParaRPr lang="en-US" sz="1200" dirty="0"/>
          </a:p>
        </p:txBody>
      </p:sp>
      <p:sp>
        <p:nvSpPr>
          <p:cNvPr id="26" name="Text 24"/>
          <p:cNvSpPr txBox="1"/>
          <p:nvPr/>
        </p:nvSpPr>
        <p:spPr>
          <a:xfrm>
            <a:off x="8979408" y="3904488"/>
            <a:ext cx="2642616" cy="54864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政策研究建議；房屋局公告</a:t>
            </a:r>
            <a:endParaRPr lang="en-US" sz="1200" dirty="0"/>
          </a:p>
        </p:txBody>
      </p:sp>
      <p:sp>
        <p:nvSpPr>
          <p:cNvPr id="27" name="Shape 25"/>
          <p:cNvSpPr/>
          <p:nvPr/>
        </p:nvSpPr>
        <p:spPr>
          <a:xfrm>
            <a:off x="566928" y="4453128"/>
            <a:ext cx="11057839" cy="12802"/>
          </a:xfrm>
          <a:prstGeom prst="rect">
            <a:avLst/>
          </a:prstGeom>
          <a:solidFill>
            <a:srgbClr val="C72A09"/>
          </a:solidFill>
          <a:ln/>
        </p:spPr>
      </p:sp>
      <p:sp>
        <p:nvSpPr>
          <p:cNvPr id="28" name="Shape 26"/>
          <p:cNvSpPr/>
          <p:nvPr/>
        </p:nvSpPr>
        <p:spPr>
          <a:xfrm>
            <a:off x="566928" y="4572000"/>
            <a:ext cx="11057839" cy="1097280"/>
          </a:xfrm>
          <a:prstGeom prst="rect">
            <a:avLst/>
          </a:prstGeom>
          <a:solidFill>
            <a:srgbClr val="EEEBE3"/>
          </a:solidFill>
          <a:ln w="12700">
            <a:solidFill>
              <a:srgbClr val="CA0013"/>
            </a:solidFill>
            <a:prstDash val="dash"/>
          </a:ln>
        </p:spPr>
      </p:sp>
      <p:sp>
        <p:nvSpPr>
          <p:cNvPr id="29" name="Text 27"/>
          <p:cNvSpPr txBox="1"/>
          <p:nvPr/>
        </p:nvSpPr>
        <p:spPr>
          <a:xfrm>
            <a:off x="749808" y="4681728"/>
            <a:ext cx="10692079" cy="310896"/>
          </a:xfrm>
          <a:prstGeom prst="rect">
            <a:avLst/>
          </a:prstGeom>
          <a:noFill/>
          <a:ln/>
        </p:spPr>
        <p:txBody>
          <a:bodyPr wrap="square" lIns="0" tIns="0" rIns="0" bIns="0" rtlCol="0" anchor="t"/>
          <a:lstStyle/>
          <a:p>
            <a:pPr algn="l" indent="0" marL="0">
              <a:lnSpc>
                <a:spcPct val="125000"/>
              </a:lnSpc>
              <a:buNone/>
            </a:pPr>
            <a:r>
              <a:rPr lang="en-US" sz="1000" b="1" spc="200" kern="0" dirty="0">
                <a:solidFill>
                  <a:srgbClr val="CA0013"/>
                </a:solidFill>
                <a:latin typeface="Microsoft JhengHei" pitchFamily="34" charset="0"/>
                <a:ea typeface="Microsoft JhengHei" pitchFamily="34" charset="-122"/>
                <a:cs typeface="Microsoft JhengHei" pitchFamily="34" charset="-120"/>
              </a:rPr>
              <a:t>訪問引用位</a:t>
            </a:r>
            <a:endParaRPr lang="en-US" sz="1000" dirty="0"/>
          </a:p>
        </p:txBody>
      </p:sp>
      <p:sp>
        <p:nvSpPr>
          <p:cNvPr id="30" name="Text 28"/>
          <p:cNvSpPr txBox="1"/>
          <p:nvPr/>
        </p:nvSpPr>
        <p:spPr>
          <a:xfrm>
            <a:off x="749808" y="4937760"/>
            <a:ext cx="10692079" cy="274320"/>
          </a:xfrm>
          <a:prstGeom prst="rect">
            <a:avLst/>
          </a:prstGeom>
          <a:noFill/>
          <a:ln/>
        </p:spPr>
        <p:txBody>
          <a:bodyPr wrap="square" lIns="0" tIns="0" rIns="0" bIns="0" rtlCol="0" anchor="t"/>
          <a:lstStyle/>
          <a:p>
            <a:pPr indent="0" marL="0">
              <a:buNone/>
            </a:pPr>
            <a:r>
              <a:rPr lang="en-US" sz="1150" b="1" dirty="0">
                <a:solidFill>
                  <a:srgbClr val="CA0013"/>
                </a:solidFill>
                <a:latin typeface="Microsoft JhengHei" pitchFamily="34" charset="0"/>
                <a:ea typeface="Microsoft JhengHei" pitchFamily="34" charset="-122"/>
                <a:cs typeface="Microsoft JhengHei" pitchFamily="34" charset="-120"/>
              </a:rPr>
              <a:t>受訪者＿＿（政策／社福／地產）</a:t>
            </a:r>
            <a:endParaRPr lang="en-US" sz="1150" dirty="0"/>
          </a:p>
        </p:txBody>
      </p:sp>
      <p:sp>
        <p:nvSpPr>
          <p:cNvPr id="31" name="Text 29"/>
          <p:cNvSpPr txBox="1"/>
          <p:nvPr/>
        </p:nvSpPr>
        <p:spPr>
          <a:xfrm>
            <a:off x="749808" y="5193792"/>
            <a:ext cx="10692079" cy="438912"/>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追問：四項措施哪一項最可行？誰會反對？政府最缺的是資源、資料還是決心？</a:t>
            </a:r>
            <a:endParaRPr lang="en-US" sz="1050" dirty="0"/>
          </a:p>
        </p:txBody>
      </p:sp>
      <p:sp>
        <p:nvSpPr>
          <p:cNvPr id="32" name="Text 30"/>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本組整理</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(33)</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第五部分　紓解措施</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措施一與措施二</a:t>
            </a:r>
            <a:endParaRPr lang="en-US" sz="3400" dirty="0"/>
          </a:p>
        </p:txBody>
      </p:sp>
      <p:sp>
        <p:nvSpPr>
          <p:cNvPr id="8" name="Text 6"/>
          <p:cNvSpPr txBox="1"/>
          <p:nvPr/>
        </p:nvSpPr>
        <p:spPr>
          <a:xfrm>
            <a:off x="566928" y="1554480"/>
            <a:ext cx="5349240" cy="310896"/>
          </a:xfrm>
          <a:prstGeom prst="rect">
            <a:avLst/>
          </a:prstGeom>
          <a:noFill/>
          <a:ln/>
        </p:spPr>
        <p:txBody>
          <a:bodyPr wrap="square" lIns="0" tIns="0" rIns="0" bIns="0" rtlCol="0" anchor="t"/>
          <a:lstStyle/>
          <a:p>
            <a:pPr algn="l" indent="0" marL="0">
              <a:lnSpc>
                <a:spcPct val="125000"/>
              </a:lnSpc>
              <a:buNone/>
            </a:pPr>
            <a:r>
              <a:rPr lang="en-US" sz="1150" b="1" spc="200" kern="0" dirty="0">
                <a:solidFill>
                  <a:srgbClr val="CA0013"/>
                </a:solidFill>
                <a:latin typeface="Microsoft JhengHei" pitchFamily="34" charset="0"/>
                <a:ea typeface="Microsoft JhengHei" pitchFamily="34" charset="-122"/>
                <a:cs typeface="Microsoft JhengHei" pitchFamily="34" charset="-120"/>
              </a:rPr>
              <a:t>措施一　針對問題一</a:t>
            </a:r>
            <a:endParaRPr lang="en-US" sz="1150" dirty="0"/>
          </a:p>
        </p:txBody>
      </p:sp>
      <p:sp>
        <p:nvSpPr>
          <p:cNvPr id="9" name="Text 7"/>
          <p:cNvSpPr txBox="1"/>
          <p:nvPr/>
        </p:nvSpPr>
        <p:spPr>
          <a:xfrm>
            <a:off x="566928" y="1847088"/>
            <a:ext cx="5349240" cy="411480"/>
          </a:xfrm>
          <a:prstGeom prst="rect">
            <a:avLst/>
          </a:prstGeom>
          <a:noFill/>
          <a:ln/>
        </p:spPr>
        <p:txBody>
          <a:bodyPr wrap="square" lIns="0" tIns="0" rIns="0" bIns="0" rtlCol="0" anchor="t"/>
          <a:lstStyle/>
          <a:p>
            <a:pPr indent="0" marL="0">
              <a:lnSpc>
                <a:spcPct val="105000"/>
              </a:lnSpc>
              <a:buNone/>
            </a:pPr>
            <a:r>
              <a:rPr lang="en-US" sz="2000" b="1" dirty="0">
                <a:solidFill>
                  <a:srgbClr val="CA0013"/>
                </a:solidFill>
                <a:latin typeface="Microsoft JhengHei" pitchFamily="34" charset="0"/>
                <a:ea typeface="Microsoft JhengHei" pitchFamily="34" charset="-122"/>
                <a:cs typeface="Microsoft JhengHei" pitchFamily="34" charset="-120"/>
              </a:rPr>
              <a:t>首置家庭支援與負擔指標</a:t>
            </a:r>
            <a:endParaRPr lang="en-US" sz="2000" dirty="0"/>
          </a:p>
        </p:txBody>
      </p:sp>
      <p:sp>
        <p:nvSpPr>
          <p:cNvPr id="10" name="Shape 8"/>
          <p:cNvSpPr/>
          <p:nvPr/>
        </p:nvSpPr>
        <p:spPr>
          <a:xfrm>
            <a:off x="566928" y="2331720"/>
            <a:ext cx="5349240" cy="18288"/>
          </a:xfrm>
          <a:prstGeom prst="rect">
            <a:avLst/>
          </a:prstGeom>
          <a:solidFill>
            <a:srgbClr val="C72A09"/>
          </a:solidFill>
          <a:ln/>
        </p:spPr>
      </p:sp>
      <p:sp>
        <p:nvSpPr>
          <p:cNvPr id="11" name="Text 9"/>
          <p:cNvSpPr txBox="1"/>
          <p:nvPr/>
        </p:nvSpPr>
        <p:spPr>
          <a:xfrm>
            <a:off x="566928" y="2441448"/>
            <a:ext cx="909371" cy="54864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對象</a:t>
            </a:r>
            <a:endParaRPr lang="en-US" sz="1100" dirty="0"/>
          </a:p>
        </p:txBody>
      </p:sp>
      <p:sp>
        <p:nvSpPr>
          <p:cNvPr id="12" name="Text 10"/>
          <p:cNvSpPr txBox="1"/>
          <p:nvPr/>
        </p:nvSpPr>
        <p:spPr>
          <a:xfrm>
            <a:off x="1556537" y="2441448"/>
            <a:ext cx="4359631" cy="54864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首次置業、自住的澳門居民家庭；設樓價上限（可參考研究採用的 800 萬元）</a:t>
            </a:r>
            <a:endParaRPr lang="en-US" sz="1100" dirty="0"/>
          </a:p>
        </p:txBody>
      </p:sp>
      <p:sp>
        <p:nvSpPr>
          <p:cNvPr id="13" name="Shape 11"/>
          <p:cNvSpPr/>
          <p:nvPr/>
        </p:nvSpPr>
        <p:spPr>
          <a:xfrm>
            <a:off x="566928" y="2971800"/>
            <a:ext cx="5349240" cy="12802"/>
          </a:xfrm>
          <a:prstGeom prst="rect">
            <a:avLst/>
          </a:prstGeom>
          <a:solidFill>
            <a:srgbClr val="C72A09"/>
          </a:solidFill>
          <a:ln/>
        </p:spPr>
      </p:sp>
      <p:sp>
        <p:nvSpPr>
          <p:cNvPr id="14" name="Text 12"/>
          <p:cNvSpPr txBox="1"/>
          <p:nvPr/>
        </p:nvSpPr>
        <p:spPr>
          <a:xfrm>
            <a:off x="566928" y="3081528"/>
            <a:ext cx="909371" cy="54864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做法</a:t>
            </a:r>
            <a:endParaRPr lang="en-US" sz="1100" dirty="0"/>
          </a:p>
        </p:txBody>
      </p:sp>
      <p:sp>
        <p:nvSpPr>
          <p:cNvPr id="15" name="Text 13"/>
          <p:cNvSpPr txBox="1"/>
          <p:nvPr/>
        </p:nvSpPr>
        <p:spPr>
          <a:xfrm>
            <a:off x="1556537" y="3081528"/>
            <a:ext cx="4359631" cy="54864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恢復利息補貼與信用擔保；逐季公布「首期＋月供佔家庭收入比」</a:t>
            </a:r>
            <a:endParaRPr lang="en-US" sz="1100" dirty="0"/>
          </a:p>
        </p:txBody>
      </p:sp>
      <p:sp>
        <p:nvSpPr>
          <p:cNvPr id="16" name="Shape 14"/>
          <p:cNvSpPr/>
          <p:nvPr/>
        </p:nvSpPr>
        <p:spPr>
          <a:xfrm>
            <a:off x="566928" y="3611880"/>
            <a:ext cx="5349240" cy="12802"/>
          </a:xfrm>
          <a:prstGeom prst="rect">
            <a:avLst/>
          </a:prstGeom>
          <a:solidFill>
            <a:srgbClr val="C72A09"/>
          </a:solidFill>
          <a:ln/>
        </p:spPr>
      </p:sp>
      <p:sp>
        <p:nvSpPr>
          <p:cNvPr id="17" name="Text 15"/>
          <p:cNvSpPr txBox="1"/>
          <p:nvPr/>
        </p:nvSpPr>
        <p:spPr>
          <a:xfrm>
            <a:off x="566928" y="3721608"/>
            <a:ext cx="909371" cy="54864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先例</a:t>
            </a:r>
            <a:endParaRPr lang="en-US" sz="1100" dirty="0"/>
          </a:p>
        </p:txBody>
      </p:sp>
      <p:sp>
        <p:nvSpPr>
          <p:cNvPr id="18" name="Text 16"/>
          <p:cNvSpPr txBox="1"/>
          <p:nvPr/>
        </p:nvSpPr>
        <p:spPr>
          <a:xfrm>
            <a:off x="1556537" y="3721608"/>
            <a:ext cx="4359631" cy="54864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2009 年兩項制度分別補貼 2,296 及 1,711 個家庭（2009 年底）</a:t>
            </a:r>
            <a:endParaRPr lang="en-US" sz="1100" dirty="0"/>
          </a:p>
        </p:txBody>
      </p:sp>
      <p:sp>
        <p:nvSpPr>
          <p:cNvPr id="19" name="Shape 17"/>
          <p:cNvSpPr/>
          <p:nvPr/>
        </p:nvSpPr>
        <p:spPr>
          <a:xfrm>
            <a:off x="566928" y="4251960"/>
            <a:ext cx="5349240" cy="12802"/>
          </a:xfrm>
          <a:prstGeom prst="rect">
            <a:avLst/>
          </a:prstGeom>
          <a:solidFill>
            <a:srgbClr val="C72A09"/>
          </a:solidFill>
          <a:ln/>
        </p:spPr>
      </p:sp>
      <p:sp>
        <p:nvSpPr>
          <p:cNvPr id="20" name="Text 18"/>
          <p:cNvSpPr txBox="1"/>
          <p:nvPr/>
        </p:nvSpPr>
        <p:spPr>
          <a:xfrm>
            <a:off x="566928" y="4361688"/>
            <a:ext cx="909371" cy="54864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部門</a:t>
            </a:r>
            <a:endParaRPr lang="en-US" sz="1100" dirty="0"/>
          </a:p>
        </p:txBody>
      </p:sp>
      <p:sp>
        <p:nvSpPr>
          <p:cNvPr id="21" name="Text 19"/>
          <p:cNvSpPr txBox="1"/>
          <p:nvPr/>
        </p:nvSpPr>
        <p:spPr>
          <a:xfrm>
            <a:off x="1556537" y="4361688"/>
            <a:ext cx="4359631" cy="54864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房屋局、金融管理局、統計暨普查局</a:t>
            </a:r>
            <a:endParaRPr lang="en-US" sz="1100" dirty="0"/>
          </a:p>
        </p:txBody>
      </p:sp>
      <p:sp>
        <p:nvSpPr>
          <p:cNvPr id="22" name="Shape 20"/>
          <p:cNvSpPr/>
          <p:nvPr/>
        </p:nvSpPr>
        <p:spPr>
          <a:xfrm>
            <a:off x="566928" y="4892040"/>
            <a:ext cx="5349240" cy="12802"/>
          </a:xfrm>
          <a:prstGeom prst="rect">
            <a:avLst/>
          </a:prstGeom>
          <a:solidFill>
            <a:srgbClr val="C72A09"/>
          </a:solidFill>
          <a:ln/>
        </p:spPr>
      </p:sp>
      <p:sp>
        <p:nvSpPr>
          <p:cNvPr id="23" name="Text 21"/>
          <p:cNvSpPr txBox="1"/>
          <p:nvPr/>
        </p:nvSpPr>
        <p:spPr>
          <a:xfrm>
            <a:off x="566928" y="5001768"/>
            <a:ext cx="909371" cy="54864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限制</a:t>
            </a:r>
            <a:endParaRPr lang="en-US" sz="1100" dirty="0"/>
          </a:p>
        </p:txBody>
      </p:sp>
      <p:sp>
        <p:nvSpPr>
          <p:cNvPr id="24" name="Text 22"/>
          <p:cNvSpPr txBox="1"/>
          <p:nvPr/>
        </p:nvSpPr>
        <p:spPr>
          <a:xfrm>
            <a:off x="1556537" y="5001768"/>
            <a:ext cx="4359631" cy="54864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需求端補貼可能推高價格：須設價格上限、自住年限與檢討期</a:t>
            </a:r>
            <a:endParaRPr lang="en-US" sz="1100" dirty="0"/>
          </a:p>
        </p:txBody>
      </p:sp>
      <p:sp>
        <p:nvSpPr>
          <p:cNvPr id="25" name="Shape 23"/>
          <p:cNvSpPr/>
          <p:nvPr/>
        </p:nvSpPr>
        <p:spPr>
          <a:xfrm>
            <a:off x="566928" y="5532120"/>
            <a:ext cx="5349240" cy="12802"/>
          </a:xfrm>
          <a:prstGeom prst="rect">
            <a:avLst/>
          </a:prstGeom>
          <a:solidFill>
            <a:srgbClr val="C72A09"/>
          </a:solidFill>
          <a:ln/>
        </p:spPr>
      </p:sp>
      <p:sp>
        <p:nvSpPr>
          <p:cNvPr id="26" name="Text 24"/>
          <p:cNvSpPr txBox="1"/>
          <p:nvPr/>
        </p:nvSpPr>
        <p:spPr>
          <a:xfrm>
            <a:off x="6281928" y="1554480"/>
            <a:ext cx="5349240" cy="310896"/>
          </a:xfrm>
          <a:prstGeom prst="rect">
            <a:avLst/>
          </a:prstGeom>
          <a:noFill/>
          <a:ln/>
        </p:spPr>
        <p:txBody>
          <a:bodyPr wrap="square" lIns="0" tIns="0" rIns="0" bIns="0" rtlCol="0" anchor="t"/>
          <a:lstStyle/>
          <a:p>
            <a:pPr algn="l" indent="0" marL="0">
              <a:lnSpc>
                <a:spcPct val="125000"/>
              </a:lnSpc>
              <a:buNone/>
            </a:pPr>
            <a:r>
              <a:rPr lang="en-US" sz="1150" b="1" spc="200" kern="0" dirty="0">
                <a:solidFill>
                  <a:srgbClr val="CA0013"/>
                </a:solidFill>
                <a:latin typeface="Microsoft JhengHei" pitchFamily="34" charset="0"/>
                <a:ea typeface="Microsoft JhengHei" pitchFamily="34" charset="-122"/>
                <a:cs typeface="Microsoft JhengHei" pitchFamily="34" charset="-120"/>
              </a:rPr>
              <a:t>措施二　針對問題一、三</a:t>
            </a:r>
            <a:endParaRPr lang="en-US" sz="1150" dirty="0"/>
          </a:p>
        </p:txBody>
      </p:sp>
      <p:sp>
        <p:nvSpPr>
          <p:cNvPr id="27" name="Text 25"/>
          <p:cNvSpPr txBox="1"/>
          <p:nvPr/>
        </p:nvSpPr>
        <p:spPr>
          <a:xfrm>
            <a:off x="6281928" y="1847088"/>
            <a:ext cx="5349240" cy="411480"/>
          </a:xfrm>
          <a:prstGeom prst="rect">
            <a:avLst/>
          </a:prstGeom>
          <a:noFill/>
          <a:ln/>
        </p:spPr>
        <p:txBody>
          <a:bodyPr wrap="square" lIns="0" tIns="0" rIns="0" bIns="0" rtlCol="0" anchor="t"/>
          <a:lstStyle/>
          <a:p>
            <a:pPr indent="0" marL="0">
              <a:lnSpc>
                <a:spcPct val="105000"/>
              </a:lnSpc>
              <a:buNone/>
            </a:pPr>
            <a:r>
              <a:rPr lang="en-US" sz="2000" b="1" dirty="0">
                <a:solidFill>
                  <a:srgbClr val="CA0013"/>
                </a:solidFill>
                <a:latin typeface="Microsoft JhengHei" pitchFamily="34" charset="0"/>
                <a:ea typeface="Microsoft JhengHei" pitchFamily="34" charset="-122"/>
                <a:cs typeface="Microsoft JhengHei" pitchFamily="34" charset="-120"/>
              </a:rPr>
              <a:t>重啟租金津貼，與租金連動</a:t>
            </a:r>
            <a:endParaRPr lang="en-US" sz="2000" dirty="0"/>
          </a:p>
        </p:txBody>
      </p:sp>
      <p:sp>
        <p:nvSpPr>
          <p:cNvPr id="28" name="Shape 26"/>
          <p:cNvSpPr/>
          <p:nvPr/>
        </p:nvSpPr>
        <p:spPr>
          <a:xfrm>
            <a:off x="6281928" y="2331720"/>
            <a:ext cx="5349240" cy="18288"/>
          </a:xfrm>
          <a:prstGeom prst="rect">
            <a:avLst/>
          </a:prstGeom>
          <a:solidFill>
            <a:srgbClr val="C72A09"/>
          </a:solidFill>
          <a:ln/>
        </p:spPr>
      </p:sp>
      <p:sp>
        <p:nvSpPr>
          <p:cNvPr id="29" name="Text 27"/>
          <p:cNvSpPr txBox="1"/>
          <p:nvPr/>
        </p:nvSpPr>
        <p:spPr>
          <a:xfrm>
            <a:off x="6281928" y="2441448"/>
            <a:ext cx="909371" cy="54864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對象</a:t>
            </a:r>
            <a:endParaRPr lang="en-US" sz="1100" dirty="0"/>
          </a:p>
        </p:txBody>
      </p:sp>
      <p:sp>
        <p:nvSpPr>
          <p:cNvPr id="30" name="Text 28"/>
          <p:cNvSpPr txBox="1"/>
          <p:nvPr/>
        </p:nvSpPr>
        <p:spPr>
          <a:xfrm>
            <a:off x="7271537" y="2441448"/>
            <a:ext cx="4359631" cy="54864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輪候社屋或經屋、在私樓租住的低收入家團</a:t>
            </a:r>
            <a:endParaRPr lang="en-US" sz="1100" dirty="0"/>
          </a:p>
        </p:txBody>
      </p:sp>
      <p:sp>
        <p:nvSpPr>
          <p:cNvPr id="31" name="Shape 29"/>
          <p:cNvSpPr/>
          <p:nvPr/>
        </p:nvSpPr>
        <p:spPr>
          <a:xfrm>
            <a:off x="6281928" y="2971800"/>
            <a:ext cx="5349240" cy="12802"/>
          </a:xfrm>
          <a:prstGeom prst="rect">
            <a:avLst/>
          </a:prstGeom>
          <a:solidFill>
            <a:srgbClr val="C72A09"/>
          </a:solidFill>
          <a:ln/>
        </p:spPr>
      </p:sp>
      <p:sp>
        <p:nvSpPr>
          <p:cNvPr id="32" name="Text 30"/>
          <p:cNvSpPr txBox="1"/>
          <p:nvPr/>
        </p:nvSpPr>
        <p:spPr>
          <a:xfrm>
            <a:off x="6281928" y="3081528"/>
            <a:ext cx="909371" cy="54864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做法</a:t>
            </a:r>
            <a:endParaRPr lang="en-US" sz="1100" dirty="0"/>
          </a:p>
        </p:txBody>
      </p:sp>
      <p:sp>
        <p:nvSpPr>
          <p:cNvPr id="33" name="Text 31"/>
          <p:cNvSpPr txBox="1"/>
          <p:nvPr/>
        </p:nvSpPr>
        <p:spPr>
          <a:xfrm>
            <a:off x="7271537" y="3081528"/>
            <a:ext cx="4359631" cy="54864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按家團人數定額發放；金額按最新租金統計重估，每年檢討</a:t>
            </a:r>
            <a:endParaRPr lang="en-US" sz="1100" dirty="0"/>
          </a:p>
        </p:txBody>
      </p:sp>
      <p:sp>
        <p:nvSpPr>
          <p:cNvPr id="34" name="Shape 32"/>
          <p:cNvSpPr/>
          <p:nvPr/>
        </p:nvSpPr>
        <p:spPr>
          <a:xfrm>
            <a:off x="6281928" y="3611880"/>
            <a:ext cx="5349240" cy="12802"/>
          </a:xfrm>
          <a:prstGeom prst="rect">
            <a:avLst/>
          </a:prstGeom>
          <a:solidFill>
            <a:srgbClr val="C72A09"/>
          </a:solidFill>
          <a:ln/>
        </p:spPr>
      </p:sp>
      <p:sp>
        <p:nvSpPr>
          <p:cNvPr id="35" name="Text 33"/>
          <p:cNvSpPr txBox="1"/>
          <p:nvPr/>
        </p:nvSpPr>
        <p:spPr>
          <a:xfrm>
            <a:off x="6281928" y="3721608"/>
            <a:ext cx="909371" cy="54864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先例</a:t>
            </a:r>
            <a:endParaRPr lang="en-US" sz="1100" dirty="0"/>
          </a:p>
        </p:txBody>
      </p:sp>
      <p:sp>
        <p:nvSpPr>
          <p:cNvPr id="36" name="Text 34"/>
          <p:cNvSpPr txBox="1"/>
          <p:nvPr/>
        </p:nvSpPr>
        <p:spPr>
          <a:xfrm>
            <a:off x="7271537" y="3721608"/>
            <a:ext cx="4359631" cy="54864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2008 年起：1–2 人家團每月 750 元、3 人或以上 1,100 元；審批 2,079 個家團</a:t>
            </a:r>
            <a:endParaRPr lang="en-US" sz="1100" dirty="0"/>
          </a:p>
        </p:txBody>
      </p:sp>
      <p:sp>
        <p:nvSpPr>
          <p:cNvPr id="37" name="Shape 35"/>
          <p:cNvSpPr/>
          <p:nvPr/>
        </p:nvSpPr>
        <p:spPr>
          <a:xfrm>
            <a:off x="6281928" y="4251960"/>
            <a:ext cx="5349240" cy="12802"/>
          </a:xfrm>
          <a:prstGeom prst="rect">
            <a:avLst/>
          </a:prstGeom>
          <a:solidFill>
            <a:srgbClr val="C72A09"/>
          </a:solidFill>
          <a:ln/>
        </p:spPr>
      </p:sp>
      <p:sp>
        <p:nvSpPr>
          <p:cNvPr id="38" name="Text 36"/>
          <p:cNvSpPr txBox="1"/>
          <p:nvPr/>
        </p:nvSpPr>
        <p:spPr>
          <a:xfrm>
            <a:off x="6281928" y="4361688"/>
            <a:ext cx="909371" cy="54864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部門</a:t>
            </a:r>
            <a:endParaRPr lang="en-US" sz="1100" dirty="0"/>
          </a:p>
        </p:txBody>
      </p:sp>
      <p:sp>
        <p:nvSpPr>
          <p:cNvPr id="39" name="Text 37"/>
          <p:cNvSpPr txBox="1"/>
          <p:nvPr/>
        </p:nvSpPr>
        <p:spPr>
          <a:xfrm>
            <a:off x="7271537" y="4361688"/>
            <a:ext cx="4359631" cy="54864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房屋局、社會工作局</a:t>
            </a:r>
            <a:endParaRPr lang="en-US" sz="1100" dirty="0"/>
          </a:p>
        </p:txBody>
      </p:sp>
      <p:sp>
        <p:nvSpPr>
          <p:cNvPr id="40" name="Shape 38"/>
          <p:cNvSpPr/>
          <p:nvPr/>
        </p:nvSpPr>
        <p:spPr>
          <a:xfrm>
            <a:off x="6281928" y="4892040"/>
            <a:ext cx="5349240" cy="12802"/>
          </a:xfrm>
          <a:prstGeom prst="rect">
            <a:avLst/>
          </a:prstGeom>
          <a:solidFill>
            <a:srgbClr val="C72A09"/>
          </a:solidFill>
          <a:ln/>
        </p:spPr>
      </p:sp>
      <p:sp>
        <p:nvSpPr>
          <p:cNvPr id="41" name="Text 39"/>
          <p:cNvSpPr txBox="1"/>
          <p:nvPr/>
        </p:nvSpPr>
        <p:spPr>
          <a:xfrm>
            <a:off x="6281928" y="5001768"/>
            <a:ext cx="909371" cy="54864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限制</a:t>
            </a:r>
            <a:endParaRPr lang="en-US" sz="1100" dirty="0"/>
          </a:p>
        </p:txBody>
      </p:sp>
      <p:sp>
        <p:nvSpPr>
          <p:cNvPr id="42" name="Text 40"/>
          <p:cNvSpPr txBox="1"/>
          <p:nvPr/>
        </p:nvSpPr>
        <p:spPr>
          <a:xfrm>
            <a:off x="7271537" y="5001768"/>
            <a:ext cx="4359631" cy="54864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租金可能吸收津貼（租金 2023–25 約 +6%）；屬過渡措施，不增加供應</a:t>
            </a:r>
            <a:endParaRPr lang="en-US" sz="1100" dirty="0"/>
          </a:p>
        </p:txBody>
      </p:sp>
      <p:sp>
        <p:nvSpPr>
          <p:cNvPr id="43" name="Shape 41"/>
          <p:cNvSpPr/>
          <p:nvPr/>
        </p:nvSpPr>
        <p:spPr>
          <a:xfrm>
            <a:off x="6281928" y="5532120"/>
            <a:ext cx="5349240" cy="12802"/>
          </a:xfrm>
          <a:prstGeom prst="rect">
            <a:avLst/>
          </a:prstGeom>
          <a:solidFill>
            <a:srgbClr val="C72A09"/>
          </a:solidFill>
          <a:ln/>
        </p:spPr>
      </p:sp>
      <p:sp>
        <p:nvSpPr>
          <p:cNvPr id="44" name="Text 42"/>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王于漸等（2010）；統計暨普查局；房屋局</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(34)</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第五部分　紓解措施</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措施三與措施四</a:t>
            </a:r>
            <a:endParaRPr lang="en-US" sz="3400" dirty="0"/>
          </a:p>
        </p:txBody>
      </p:sp>
      <p:sp>
        <p:nvSpPr>
          <p:cNvPr id="8" name="Text 6"/>
          <p:cNvSpPr txBox="1"/>
          <p:nvPr/>
        </p:nvSpPr>
        <p:spPr>
          <a:xfrm>
            <a:off x="566928" y="1554480"/>
            <a:ext cx="5349240" cy="310896"/>
          </a:xfrm>
          <a:prstGeom prst="rect">
            <a:avLst/>
          </a:prstGeom>
          <a:noFill/>
          <a:ln/>
        </p:spPr>
        <p:txBody>
          <a:bodyPr wrap="square" lIns="0" tIns="0" rIns="0" bIns="0" rtlCol="0" anchor="t"/>
          <a:lstStyle/>
          <a:p>
            <a:pPr algn="l" indent="0" marL="0">
              <a:lnSpc>
                <a:spcPct val="125000"/>
              </a:lnSpc>
              <a:buNone/>
            </a:pPr>
            <a:r>
              <a:rPr lang="en-US" sz="1150" b="1" spc="200" kern="0" dirty="0">
                <a:solidFill>
                  <a:srgbClr val="CA0013"/>
                </a:solidFill>
                <a:latin typeface="Microsoft JhengHei" pitchFamily="34" charset="0"/>
                <a:ea typeface="Microsoft JhengHei" pitchFamily="34" charset="-122"/>
                <a:cs typeface="Microsoft JhengHei" pitchFamily="34" charset="-120"/>
              </a:rPr>
              <a:t>措施三　針對問題二</a:t>
            </a:r>
            <a:endParaRPr lang="en-US" sz="1150" dirty="0"/>
          </a:p>
        </p:txBody>
      </p:sp>
      <p:sp>
        <p:nvSpPr>
          <p:cNvPr id="9" name="Text 7"/>
          <p:cNvSpPr txBox="1"/>
          <p:nvPr/>
        </p:nvSpPr>
        <p:spPr>
          <a:xfrm>
            <a:off x="566928" y="1847088"/>
            <a:ext cx="5349240" cy="411480"/>
          </a:xfrm>
          <a:prstGeom prst="rect">
            <a:avLst/>
          </a:prstGeom>
          <a:noFill/>
          <a:ln/>
        </p:spPr>
        <p:txBody>
          <a:bodyPr wrap="square" lIns="0" tIns="0" rIns="0" bIns="0" rtlCol="0" anchor="t"/>
          <a:lstStyle/>
          <a:p>
            <a:pPr indent="0" marL="0">
              <a:lnSpc>
                <a:spcPct val="105000"/>
              </a:lnSpc>
              <a:buNone/>
            </a:pPr>
            <a:r>
              <a:rPr lang="en-US" sz="2000" b="1" dirty="0">
                <a:solidFill>
                  <a:srgbClr val="CA0013"/>
                </a:solidFill>
                <a:latin typeface="Microsoft JhengHei" pitchFamily="34" charset="0"/>
                <a:ea typeface="Microsoft JhengHei" pitchFamily="34" charset="-122"/>
                <a:cs typeface="Microsoft JhengHei" pitchFamily="34" charset="-120"/>
              </a:rPr>
              <a:t>殘舊樓宇分級公開，維修優先</a:t>
            </a:r>
            <a:endParaRPr lang="en-US" sz="2000" dirty="0"/>
          </a:p>
        </p:txBody>
      </p:sp>
      <p:sp>
        <p:nvSpPr>
          <p:cNvPr id="10" name="Shape 8"/>
          <p:cNvSpPr/>
          <p:nvPr/>
        </p:nvSpPr>
        <p:spPr>
          <a:xfrm>
            <a:off x="566928" y="2331720"/>
            <a:ext cx="5349240" cy="18288"/>
          </a:xfrm>
          <a:prstGeom prst="rect">
            <a:avLst/>
          </a:prstGeom>
          <a:solidFill>
            <a:srgbClr val="C72A09"/>
          </a:solidFill>
          <a:ln/>
        </p:spPr>
      </p:sp>
      <p:sp>
        <p:nvSpPr>
          <p:cNvPr id="11" name="Text 9"/>
          <p:cNvSpPr txBox="1"/>
          <p:nvPr/>
        </p:nvSpPr>
        <p:spPr>
          <a:xfrm>
            <a:off x="566928" y="2441448"/>
            <a:ext cx="909371" cy="54864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對象</a:t>
            </a:r>
            <a:endParaRPr lang="en-US" sz="1100" dirty="0"/>
          </a:p>
        </p:txBody>
      </p:sp>
      <p:sp>
        <p:nvSpPr>
          <p:cNvPr id="12" name="Text 10"/>
          <p:cNvSpPr txBox="1"/>
          <p:nvPr/>
        </p:nvSpPr>
        <p:spPr>
          <a:xfrm>
            <a:off x="1556537" y="2441448"/>
            <a:ext cx="4359631" cy="54864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樓齡 30 年以上、已被通知失修的樓宇；長者住戶較多者優先</a:t>
            </a:r>
            <a:endParaRPr lang="en-US" sz="1100" dirty="0"/>
          </a:p>
        </p:txBody>
      </p:sp>
      <p:sp>
        <p:nvSpPr>
          <p:cNvPr id="13" name="Shape 11"/>
          <p:cNvSpPr/>
          <p:nvPr/>
        </p:nvSpPr>
        <p:spPr>
          <a:xfrm>
            <a:off x="566928" y="2971800"/>
            <a:ext cx="5349240" cy="12802"/>
          </a:xfrm>
          <a:prstGeom prst="rect">
            <a:avLst/>
          </a:prstGeom>
          <a:solidFill>
            <a:srgbClr val="C72A09"/>
          </a:solidFill>
          <a:ln/>
        </p:spPr>
      </p:sp>
      <p:sp>
        <p:nvSpPr>
          <p:cNvPr id="14" name="Text 12"/>
          <p:cNvSpPr txBox="1"/>
          <p:nvPr/>
        </p:nvSpPr>
        <p:spPr>
          <a:xfrm>
            <a:off x="566928" y="3081528"/>
            <a:ext cx="909371" cy="54864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做法</a:t>
            </a:r>
            <a:endParaRPr lang="en-US" sz="1100" dirty="0"/>
          </a:p>
        </p:txBody>
      </p:sp>
      <p:sp>
        <p:nvSpPr>
          <p:cNvPr id="15" name="Text 13"/>
          <p:cNvSpPr txBox="1"/>
          <p:nvPr/>
        </p:nvSpPr>
        <p:spPr>
          <a:xfrm>
            <a:off x="1556537" y="3081528"/>
            <a:ext cx="4359631" cy="54864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按「樓齡—失修—殘危」逐年公布幢數；維修資助按失修級別與長者住戶排序</a:t>
            </a:r>
            <a:endParaRPr lang="en-US" sz="1100" dirty="0"/>
          </a:p>
        </p:txBody>
      </p:sp>
      <p:sp>
        <p:nvSpPr>
          <p:cNvPr id="16" name="Shape 14"/>
          <p:cNvSpPr/>
          <p:nvPr/>
        </p:nvSpPr>
        <p:spPr>
          <a:xfrm>
            <a:off x="566928" y="3611880"/>
            <a:ext cx="5349240" cy="12802"/>
          </a:xfrm>
          <a:prstGeom prst="rect">
            <a:avLst/>
          </a:prstGeom>
          <a:solidFill>
            <a:srgbClr val="C72A09"/>
          </a:solidFill>
          <a:ln/>
        </p:spPr>
      </p:sp>
      <p:sp>
        <p:nvSpPr>
          <p:cNvPr id="17" name="Text 15"/>
          <p:cNvSpPr txBox="1"/>
          <p:nvPr/>
        </p:nvSpPr>
        <p:spPr>
          <a:xfrm>
            <a:off x="566928" y="3721608"/>
            <a:ext cx="909371" cy="54864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置換</a:t>
            </a:r>
            <a:endParaRPr lang="en-US" sz="1100" dirty="0"/>
          </a:p>
        </p:txBody>
      </p:sp>
      <p:sp>
        <p:nvSpPr>
          <p:cNvPr id="18" name="Text 16"/>
          <p:cNvSpPr txBox="1"/>
          <p:nvPr/>
        </p:nvSpPr>
        <p:spPr>
          <a:xfrm>
            <a:off x="1556537" y="3721608"/>
            <a:ext cx="4359631" cy="54864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放寬置換房「無法回遷」資格；增設小戶型；訂明回遷與租金安排</a:t>
            </a:r>
            <a:endParaRPr lang="en-US" sz="1100" dirty="0"/>
          </a:p>
        </p:txBody>
      </p:sp>
      <p:sp>
        <p:nvSpPr>
          <p:cNvPr id="19" name="Shape 17"/>
          <p:cNvSpPr/>
          <p:nvPr/>
        </p:nvSpPr>
        <p:spPr>
          <a:xfrm>
            <a:off x="566928" y="4251960"/>
            <a:ext cx="5349240" cy="12802"/>
          </a:xfrm>
          <a:prstGeom prst="rect">
            <a:avLst/>
          </a:prstGeom>
          <a:solidFill>
            <a:srgbClr val="C72A09"/>
          </a:solidFill>
          <a:ln/>
        </p:spPr>
      </p:sp>
      <p:sp>
        <p:nvSpPr>
          <p:cNvPr id="20" name="Text 18"/>
          <p:cNvSpPr txBox="1"/>
          <p:nvPr/>
        </p:nvSpPr>
        <p:spPr>
          <a:xfrm>
            <a:off x="566928" y="4361688"/>
            <a:ext cx="909371" cy="54864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部門</a:t>
            </a:r>
            <a:endParaRPr lang="en-US" sz="1100" dirty="0"/>
          </a:p>
        </p:txBody>
      </p:sp>
      <p:sp>
        <p:nvSpPr>
          <p:cNvPr id="21" name="Text 19"/>
          <p:cNvSpPr txBox="1"/>
          <p:nvPr/>
        </p:nvSpPr>
        <p:spPr>
          <a:xfrm>
            <a:off x="1556537" y="4361688"/>
            <a:ext cx="4359631" cy="54864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土地工務局、都更公司、房屋局</a:t>
            </a:r>
            <a:endParaRPr lang="en-US" sz="1100" dirty="0"/>
          </a:p>
        </p:txBody>
      </p:sp>
      <p:sp>
        <p:nvSpPr>
          <p:cNvPr id="22" name="Shape 20"/>
          <p:cNvSpPr/>
          <p:nvPr/>
        </p:nvSpPr>
        <p:spPr>
          <a:xfrm>
            <a:off x="566928" y="4892040"/>
            <a:ext cx="5349240" cy="12802"/>
          </a:xfrm>
          <a:prstGeom prst="rect">
            <a:avLst/>
          </a:prstGeom>
          <a:solidFill>
            <a:srgbClr val="C72A09"/>
          </a:solidFill>
          <a:ln/>
        </p:spPr>
      </p:sp>
      <p:sp>
        <p:nvSpPr>
          <p:cNvPr id="23" name="Text 21"/>
          <p:cNvSpPr txBox="1"/>
          <p:nvPr/>
        </p:nvSpPr>
        <p:spPr>
          <a:xfrm>
            <a:off x="566928" y="5001768"/>
            <a:ext cx="909371" cy="54864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限制</a:t>
            </a:r>
            <a:endParaRPr lang="en-US" sz="1100" dirty="0"/>
          </a:p>
        </p:txBody>
      </p:sp>
      <p:sp>
        <p:nvSpPr>
          <p:cNvPr id="24" name="Text 22"/>
          <p:cNvSpPr txBox="1"/>
          <p:nvPr/>
        </p:nvSpPr>
        <p:spPr>
          <a:xfrm>
            <a:off x="1556537" y="5001768"/>
            <a:ext cx="4359631" cy="54864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資料公開涉及私隱與樓價；維修資助不能取代重建</a:t>
            </a:r>
            <a:endParaRPr lang="en-US" sz="1100" dirty="0"/>
          </a:p>
        </p:txBody>
      </p:sp>
      <p:sp>
        <p:nvSpPr>
          <p:cNvPr id="25" name="Shape 23"/>
          <p:cNvSpPr/>
          <p:nvPr/>
        </p:nvSpPr>
        <p:spPr>
          <a:xfrm>
            <a:off x="566928" y="5532120"/>
            <a:ext cx="5349240" cy="12802"/>
          </a:xfrm>
          <a:prstGeom prst="rect">
            <a:avLst/>
          </a:prstGeom>
          <a:solidFill>
            <a:srgbClr val="C72A09"/>
          </a:solidFill>
          <a:ln/>
        </p:spPr>
      </p:sp>
      <p:sp>
        <p:nvSpPr>
          <p:cNvPr id="26" name="Text 24"/>
          <p:cNvSpPr txBox="1"/>
          <p:nvPr/>
        </p:nvSpPr>
        <p:spPr>
          <a:xfrm>
            <a:off x="6281928" y="1554480"/>
            <a:ext cx="5349240" cy="310896"/>
          </a:xfrm>
          <a:prstGeom prst="rect">
            <a:avLst/>
          </a:prstGeom>
          <a:noFill/>
          <a:ln/>
        </p:spPr>
        <p:txBody>
          <a:bodyPr wrap="square" lIns="0" tIns="0" rIns="0" bIns="0" rtlCol="0" anchor="t"/>
          <a:lstStyle/>
          <a:p>
            <a:pPr algn="l" indent="0" marL="0">
              <a:lnSpc>
                <a:spcPct val="125000"/>
              </a:lnSpc>
              <a:buNone/>
            </a:pPr>
            <a:r>
              <a:rPr lang="en-US" sz="1150" b="1" spc="200" kern="0" dirty="0">
                <a:solidFill>
                  <a:srgbClr val="CA0013"/>
                </a:solidFill>
                <a:latin typeface="Microsoft JhengHei" pitchFamily="34" charset="0"/>
                <a:ea typeface="Microsoft JhengHei" pitchFamily="34" charset="-122"/>
                <a:cs typeface="Microsoft JhengHei" pitchFamily="34" charset="-120"/>
              </a:rPr>
              <a:t>措施四　針對問題三</a:t>
            </a:r>
            <a:endParaRPr lang="en-US" sz="1150" dirty="0"/>
          </a:p>
        </p:txBody>
      </p:sp>
      <p:sp>
        <p:nvSpPr>
          <p:cNvPr id="27" name="Text 25"/>
          <p:cNvSpPr txBox="1"/>
          <p:nvPr/>
        </p:nvSpPr>
        <p:spPr>
          <a:xfrm>
            <a:off x="6281928" y="1847088"/>
            <a:ext cx="5349240" cy="411480"/>
          </a:xfrm>
          <a:prstGeom prst="rect">
            <a:avLst/>
          </a:prstGeom>
          <a:noFill/>
          <a:ln/>
        </p:spPr>
        <p:txBody>
          <a:bodyPr wrap="square" lIns="0" tIns="0" rIns="0" bIns="0" rtlCol="0" anchor="t"/>
          <a:lstStyle/>
          <a:p>
            <a:pPr indent="0" marL="0">
              <a:lnSpc>
                <a:spcPct val="105000"/>
              </a:lnSpc>
              <a:buNone/>
            </a:pPr>
            <a:r>
              <a:rPr lang="en-US" sz="2000" b="1" dirty="0">
                <a:solidFill>
                  <a:srgbClr val="CA0013"/>
                </a:solidFill>
                <a:latin typeface="Microsoft JhengHei" pitchFamily="34" charset="0"/>
                <a:ea typeface="Microsoft JhengHei" pitchFamily="34" charset="-122"/>
                <a:cs typeface="Microsoft JhengHei" pitchFamily="34" charset="-120"/>
              </a:rPr>
              <a:t>經屋恆常申請、戶型匹配、夾屋時間表</a:t>
            </a:r>
            <a:endParaRPr lang="en-US" sz="2000" dirty="0"/>
          </a:p>
        </p:txBody>
      </p:sp>
      <p:sp>
        <p:nvSpPr>
          <p:cNvPr id="28" name="Shape 26"/>
          <p:cNvSpPr/>
          <p:nvPr/>
        </p:nvSpPr>
        <p:spPr>
          <a:xfrm>
            <a:off x="6281928" y="2331720"/>
            <a:ext cx="5349240" cy="18288"/>
          </a:xfrm>
          <a:prstGeom prst="rect">
            <a:avLst/>
          </a:prstGeom>
          <a:solidFill>
            <a:srgbClr val="C72A09"/>
          </a:solidFill>
          <a:ln/>
        </p:spPr>
      </p:sp>
      <p:sp>
        <p:nvSpPr>
          <p:cNvPr id="29" name="Text 27"/>
          <p:cNvSpPr txBox="1"/>
          <p:nvPr/>
        </p:nvSpPr>
        <p:spPr>
          <a:xfrm>
            <a:off x="6281928" y="2441448"/>
            <a:ext cx="909371" cy="54864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對象</a:t>
            </a:r>
            <a:endParaRPr lang="en-US" sz="1100" dirty="0"/>
          </a:p>
        </p:txBody>
      </p:sp>
      <p:sp>
        <p:nvSpPr>
          <p:cNvPr id="30" name="Text 28"/>
          <p:cNvSpPr txBox="1"/>
          <p:nvPr/>
        </p:nvSpPr>
        <p:spPr>
          <a:xfrm>
            <a:off x="7271537" y="2441448"/>
            <a:ext cx="4359631" cy="54864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一人家團與中間收入家庭</a:t>
            </a:r>
            <a:endParaRPr lang="en-US" sz="1100" dirty="0"/>
          </a:p>
        </p:txBody>
      </p:sp>
      <p:sp>
        <p:nvSpPr>
          <p:cNvPr id="31" name="Shape 29"/>
          <p:cNvSpPr/>
          <p:nvPr/>
        </p:nvSpPr>
        <p:spPr>
          <a:xfrm>
            <a:off x="6281928" y="2971800"/>
            <a:ext cx="5349240" cy="12802"/>
          </a:xfrm>
          <a:prstGeom prst="rect">
            <a:avLst/>
          </a:prstGeom>
          <a:solidFill>
            <a:srgbClr val="C72A09"/>
          </a:solidFill>
          <a:ln/>
        </p:spPr>
      </p:sp>
      <p:sp>
        <p:nvSpPr>
          <p:cNvPr id="32" name="Text 30"/>
          <p:cNvSpPr txBox="1"/>
          <p:nvPr/>
        </p:nvSpPr>
        <p:spPr>
          <a:xfrm>
            <a:off x="6281928" y="3081528"/>
            <a:ext cx="909371" cy="54864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做法</a:t>
            </a:r>
            <a:endParaRPr lang="en-US" sz="1100" dirty="0"/>
          </a:p>
        </p:txBody>
      </p:sp>
      <p:sp>
        <p:nvSpPr>
          <p:cNvPr id="33" name="Text 31"/>
          <p:cNvSpPr txBox="1"/>
          <p:nvPr/>
        </p:nvSpPr>
        <p:spPr>
          <a:xfrm>
            <a:off x="7271537" y="3081528"/>
            <a:ext cx="4359631" cy="54864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供應充足時開放恆常申請或公布固定時間表；按申請結構增加一房及小戶型</a:t>
            </a:r>
            <a:endParaRPr lang="en-US" sz="1100" dirty="0"/>
          </a:p>
        </p:txBody>
      </p:sp>
      <p:sp>
        <p:nvSpPr>
          <p:cNvPr id="34" name="Shape 32"/>
          <p:cNvSpPr/>
          <p:nvPr/>
        </p:nvSpPr>
        <p:spPr>
          <a:xfrm>
            <a:off x="6281928" y="3611880"/>
            <a:ext cx="5349240" cy="12802"/>
          </a:xfrm>
          <a:prstGeom prst="rect">
            <a:avLst/>
          </a:prstGeom>
          <a:solidFill>
            <a:srgbClr val="C72A09"/>
          </a:solidFill>
          <a:ln/>
        </p:spPr>
      </p:sp>
      <p:sp>
        <p:nvSpPr>
          <p:cNvPr id="35" name="Text 33"/>
          <p:cNvSpPr txBox="1"/>
          <p:nvPr/>
        </p:nvSpPr>
        <p:spPr>
          <a:xfrm>
            <a:off x="6281928" y="3721608"/>
            <a:ext cx="909371" cy="54864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公開</a:t>
            </a:r>
            <a:endParaRPr lang="en-US" sz="1100" dirty="0"/>
          </a:p>
        </p:txBody>
      </p:sp>
      <p:sp>
        <p:nvSpPr>
          <p:cNvPr id="36" name="Text 34"/>
          <p:cNvSpPr txBox="1"/>
          <p:nvPr/>
        </p:nvSpPr>
        <p:spPr>
          <a:xfrm>
            <a:off x="7271537" y="3721608"/>
            <a:ext cx="4359631" cy="54864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公開取消資格原因的分項人數；公布夾屋地點、單位數及時間表，或說明取消理由</a:t>
            </a:r>
            <a:endParaRPr lang="en-US" sz="1100" dirty="0"/>
          </a:p>
        </p:txBody>
      </p:sp>
      <p:sp>
        <p:nvSpPr>
          <p:cNvPr id="37" name="Shape 35"/>
          <p:cNvSpPr/>
          <p:nvPr/>
        </p:nvSpPr>
        <p:spPr>
          <a:xfrm>
            <a:off x="6281928" y="4251960"/>
            <a:ext cx="5349240" cy="12802"/>
          </a:xfrm>
          <a:prstGeom prst="rect">
            <a:avLst/>
          </a:prstGeom>
          <a:solidFill>
            <a:srgbClr val="C72A09"/>
          </a:solidFill>
          <a:ln/>
        </p:spPr>
      </p:sp>
      <p:sp>
        <p:nvSpPr>
          <p:cNvPr id="38" name="Text 36"/>
          <p:cNvSpPr txBox="1"/>
          <p:nvPr/>
        </p:nvSpPr>
        <p:spPr>
          <a:xfrm>
            <a:off x="6281928" y="4361688"/>
            <a:ext cx="909371" cy="54864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部門</a:t>
            </a:r>
            <a:endParaRPr lang="en-US" sz="1100" dirty="0"/>
          </a:p>
        </p:txBody>
      </p:sp>
      <p:sp>
        <p:nvSpPr>
          <p:cNvPr id="39" name="Text 37"/>
          <p:cNvSpPr txBox="1"/>
          <p:nvPr/>
        </p:nvSpPr>
        <p:spPr>
          <a:xfrm>
            <a:off x="7271537" y="4361688"/>
            <a:ext cx="4359631" cy="54864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房屋局、運輸工務司</a:t>
            </a:r>
            <a:endParaRPr lang="en-US" sz="1100" dirty="0"/>
          </a:p>
        </p:txBody>
      </p:sp>
      <p:sp>
        <p:nvSpPr>
          <p:cNvPr id="40" name="Shape 38"/>
          <p:cNvSpPr/>
          <p:nvPr/>
        </p:nvSpPr>
        <p:spPr>
          <a:xfrm>
            <a:off x="6281928" y="4892040"/>
            <a:ext cx="5349240" cy="12802"/>
          </a:xfrm>
          <a:prstGeom prst="rect">
            <a:avLst/>
          </a:prstGeom>
          <a:solidFill>
            <a:srgbClr val="C72A09"/>
          </a:solidFill>
          <a:ln/>
        </p:spPr>
      </p:sp>
      <p:sp>
        <p:nvSpPr>
          <p:cNvPr id="41" name="Text 39"/>
          <p:cNvSpPr txBox="1"/>
          <p:nvPr/>
        </p:nvSpPr>
        <p:spPr>
          <a:xfrm>
            <a:off x="6281928" y="5001768"/>
            <a:ext cx="909371" cy="548640"/>
          </a:xfrm>
          <a:prstGeom prst="rect">
            <a:avLst/>
          </a:prstGeom>
          <a:noFill/>
          <a:ln/>
        </p:spPr>
        <p:txBody>
          <a:bodyPr wrap="square" lIns="0" tIns="0" rIns="0" bIns="0" rtlCol="0" anchor="t"/>
          <a:lstStyle/>
          <a:p>
            <a:pPr algn="l" indent="0" marL="0">
              <a:lnSpc>
                <a:spcPct val="125000"/>
              </a:lnSpc>
              <a:buNone/>
            </a:pPr>
            <a:r>
              <a:rPr lang="en-US" sz="1100" b="1" spc="160" kern="0" dirty="0">
                <a:solidFill>
                  <a:srgbClr val="CA0013"/>
                </a:solidFill>
                <a:latin typeface="Microsoft JhengHei" pitchFamily="34" charset="0"/>
                <a:ea typeface="Microsoft JhengHei" pitchFamily="34" charset="-122"/>
                <a:cs typeface="Microsoft JhengHei" pitchFamily="34" charset="-120"/>
              </a:rPr>
              <a:t>限制</a:t>
            </a:r>
            <a:endParaRPr lang="en-US" sz="1100" dirty="0"/>
          </a:p>
        </p:txBody>
      </p:sp>
      <p:sp>
        <p:nvSpPr>
          <p:cNvPr id="42" name="Text 40"/>
          <p:cNvSpPr txBox="1"/>
          <p:nvPr/>
        </p:nvSpPr>
        <p:spPr>
          <a:xfrm>
            <a:off x="7271537" y="5001768"/>
            <a:ext cx="4359631" cy="548640"/>
          </a:xfrm>
          <a:prstGeom prst="rect">
            <a:avLst/>
          </a:prstGeom>
          <a:noFill/>
          <a:ln/>
        </p:spPr>
        <p:txBody>
          <a:bodyPr wrap="square" lIns="0" tIns="0" rIns="0" bIns="0" rtlCol="0" anchor="t"/>
          <a:lstStyle/>
          <a:p>
            <a:pPr indent="0" marL="0">
              <a:lnSpc>
                <a:spcPct val="130000"/>
              </a:lnSpc>
              <a:buNone/>
            </a:pPr>
            <a:r>
              <a:rPr lang="en-US" sz="1100" dirty="0">
                <a:solidFill>
                  <a:srgbClr val="CA0013"/>
                </a:solidFill>
                <a:latin typeface="Microsoft JhengHei" pitchFamily="34" charset="0"/>
                <a:ea typeface="Microsoft JhengHei" pitchFamily="34" charset="-122"/>
                <a:cs typeface="Microsoft JhengHei" pitchFamily="34" charset="-120"/>
              </a:rPr>
              <a:t>夾屋定價須高於經屋、低於私樓，轉售規則須先立法</a:t>
            </a:r>
            <a:endParaRPr lang="en-US" sz="1100" dirty="0"/>
          </a:p>
        </p:txBody>
      </p:sp>
      <p:sp>
        <p:nvSpPr>
          <p:cNvPr id="43" name="Shape 41"/>
          <p:cNvSpPr/>
          <p:nvPr/>
        </p:nvSpPr>
        <p:spPr>
          <a:xfrm>
            <a:off x="6281928" y="5532120"/>
            <a:ext cx="5349240" cy="12802"/>
          </a:xfrm>
          <a:prstGeom prst="rect">
            <a:avLst/>
          </a:prstGeom>
          <a:solidFill>
            <a:srgbClr val="C72A09"/>
          </a:solidFill>
          <a:ln/>
        </p:spPr>
      </p:sp>
      <p:sp>
        <p:nvSpPr>
          <p:cNvPr id="44" name="Text 42"/>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政策研究 2022；未來房屋需求研究；議員質詢；土地工務局</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(35)</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第六部分　總結</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三個問題，如何連在一起</a:t>
            </a:r>
            <a:endParaRPr lang="en-US" sz="3400" dirty="0"/>
          </a:p>
        </p:txBody>
      </p:sp>
      <p:sp>
        <p:nvSpPr>
          <p:cNvPr id="8" name="Shape 6"/>
          <p:cNvSpPr/>
          <p:nvPr/>
        </p:nvSpPr>
        <p:spPr>
          <a:xfrm>
            <a:off x="566928" y="1600200"/>
            <a:ext cx="3383280" cy="1371600"/>
          </a:xfrm>
          <a:prstGeom prst="rect">
            <a:avLst/>
          </a:prstGeom>
          <a:solidFill>
            <a:srgbClr val="EEEBE3"/>
          </a:solidFill>
          <a:ln w="15875">
            <a:solidFill>
              <a:srgbClr val="CA0013"/>
            </a:solidFill>
            <a:prstDash val="solid"/>
          </a:ln>
        </p:spPr>
      </p:sp>
      <p:sp>
        <p:nvSpPr>
          <p:cNvPr id="9" name="Text 7"/>
          <p:cNvSpPr txBox="1"/>
          <p:nvPr/>
        </p:nvSpPr>
        <p:spPr>
          <a:xfrm>
            <a:off x="749808" y="1728216"/>
            <a:ext cx="3017520" cy="310896"/>
          </a:xfrm>
          <a:prstGeom prst="rect">
            <a:avLst/>
          </a:prstGeom>
          <a:noFill/>
          <a:ln/>
        </p:spPr>
        <p:txBody>
          <a:bodyPr wrap="square" lIns="0" tIns="0" rIns="0" bIns="0" rtlCol="0" anchor="t"/>
          <a:lstStyle/>
          <a:p>
            <a:pPr algn="l" indent="0" marL="0">
              <a:lnSpc>
                <a:spcPct val="125000"/>
              </a:lnSpc>
              <a:buNone/>
            </a:pPr>
            <a:r>
              <a:rPr lang="en-US" sz="1050" b="1" spc="240" kern="0" dirty="0">
                <a:solidFill>
                  <a:srgbClr val="CA0013"/>
                </a:solidFill>
                <a:latin typeface="Microsoft JhengHei" pitchFamily="34" charset="0"/>
                <a:ea typeface="Microsoft JhengHei" pitchFamily="34" charset="-122"/>
                <a:cs typeface="Microsoft JhengHei" pitchFamily="34" charset="-120"/>
              </a:rPr>
              <a:t>問題一</a:t>
            </a:r>
            <a:endParaRPr lang="en-US" sz="1050" dirty="0"/>
          </a:p>
        </p:txBody>
      </p:sp>
      <p:sp>
        <p:nvSpPr>
          <p:cNvPr id="10" name="Text 8"/>
          <p:cNvSpPr txBox="1"/>
          <p:nvPr/>
        </p:nvSpPr>
        <p:spPr>
          <a:xfrm>
            <a:off x="749808" y="1984248"/>
            <a:ext cx="3017520" cy="384048"/>
          </a:xfrm>
          <a:prstGeom prst="rect">
            <a:avLst/>
          </a:prstGeom>
          <a:noFill/>
          <a:ln/>
        </p:spPr>
        <p:txBody>
          <a:bodyPr wrap="square" lIns="0" tIns="0" rIns="0" bIns="0" rtlCol="0" anchor="t"/>
          <a:lstStyle/>
          <a:p>
            <a:pPr indent="0" marL="0">
              <a:buNone/>
            </a:pPr>
            <a:r>
              <a:rPr lang="en-US" sz="1800" b="1" dirty="0">
                <a:solidFill>
                  <a:srgbClr val="CA0013"/>
                </a:solidFill>
                <a:latin typeface="Microsoft JhengHei" pitchFamily="34" charset="0"/>
                <a:ea typeface="Microsoft JhengHei" pitchFamily="34" charset="-122"/>
                <a:cs typeface="Microsoft JhengHei" pitchFamily="34" charset="-120"/>
              </a:rPr>
              <a:t>私樓價格與負擔</a:t>
            </a:r>
            <a:endParaRPr lang="en-US" sz="1800" dirty="0"/>
          </a:p>
        </p:txBody>
      </p:sp>
      <p:sp>
        <p:nvSpPr>
          <p:cNvPr id="11" name="Text 9"/>
          <p:cNvSpPr txBox="1"/>
          <p:nvPr/>
        </p:nvSpPr>
        <p:spPr>
          <a:xfrm>
            <a:off x="749808" y="2423160"/>
            <a:ext cx="3017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樓價 −31.7%；樓價收入比 6.5–9.6 倍</a:t>
            </a:r>
            <a:endParaRPr lang="en-US" sz="1050" dirty="0"/>
          </a:p>
        </p:txBody>
      </p:sp>
      <p:sp>
        <p:nvSpPr>
          <p:cNvPr id="12" name="Shape 10"/>
          <p:cNvSpPr/>
          <p:nvPr/>
        </p:nvSpPr>
        <p:spPr>
          <a:xfrm>
            <a:off x="8241487" y="1600200"/>
            <a:ext cx="3383280" cy="1371600"/>
          </a:xfrm>
          <a:prstGeom prst="rect">
            <a:avLst/>
          </a:prstGeom>
          <a:solidFill>
            <a:srgbClr val="EEEBE3"/>
          </a:solidFill>
          <a:ln w="15875">
            <a:solidFill>
              <a:srgbClr val="CA0013"/>
            </a:solidFill>
            <a:prstDash val="solid"/>
          </a:ln>
        </p:spPr>
      </p:sp>
      <p:sp>
        <p:nvSpPr>
          <p:cNvPr id="13" name="Text 11"/>
          <p:cNvSpPr txBox="1"/>
          <p:nvPr/>
        </p:nvSpPr>
        <p:spPr>
          <a:xfrm>
            <a:off x="8424367" y="1728216"/>
            <a:ext cx="3017520" cy="310896"/>
          </a:xfrm>
          <a:prstGeom prst="rect">
            <a:avLst/>
          </a:prstGeom>
          <a:noFill/>
          <a:ln/>
        </p:spPr>
        <p:txBody>
          <a:bodyPr wrap="square" lIns="0" tIns="0" rIns="0" bIns="0" rtlCol="0" anchor="t"/>
          <a:lstStyle/>
          <a:p>
            <a:pPr algn="l" indent="0" marL="0">
              <a:lnSpc>
                <a:spcPct val="125000"/>
              </a:lnSpc>
              <a:buNone/>
            </a:pPr>
            <a:r>
              <a:rPr lang="en-US" sz="1050" b="1" spc="240" kern="0" dirty="0">
                <a:solidFill>
                  <a:srgbClr val="CA0013"/>
                </a:solidFill>
                <a:latin typeface="Microsoft JhengHei" pitchFamily="34" charset="0"/>
                <a:ea typeface="Microsoft JhengHei" pitchFamily="34" charset="-122"/>
                <a:cs typeface="Microsoft JhengHei" pitchFamily="34" charset="-120"/>
              </a:rPr>
              <a:t>問題二</a:t>
            </a:r>
            <a:endParaRPr lang="en-US" sz="1050" dirty="0"/>
          </a:p>
        </p:txBody>
      </p:sp>
      <p:sp>
        <p:nvSpPr>
          <p:cNvPr id="14" name="Text 12"/>
          <p:cNvSpPr txBox="1"/>
          <p:nvPr/>
        </p:nvSpPr>
        <p:spPr>
          <a:xfrm>
            <a:off x="8424367" y="1984248"/>
            <a:ext cx="3017520" cy="384048"/>
          </a:xfrm>
          <a:prstGeom prst="rect">
            <a:avLst/>
          </a:prstGeom>
          <a:noFill/>
          <a:ln/>
        </p:spPr>
        <p:txBody>
          <a:bodyPr wrap="square" lIns="0" tIns="0" rIns="0" bIns="0" rtlCol="0" anchor="t"/>
          <a:lstStyle/>
          <a:p>
            <a:pPr indent="0" marL="0">
              <a:buNone/>
            </a:pPr>
            <a:r>
              <a:rPr lang="en-US" sz="1800" b="1" dirty="0">
                <a:solidFill>
                  <a:srgbClr val="CA0013"/>
                </a:solidFill>
                <a:latin typeface="Microsoft JhengHei" pitchFamily="34" charset="0"/>
                <a:ea typeface="Microsoft JhengHei" pitchFamily="34" charset="-122"/>
                <a:cs typeface="Microsoft JhengHei" pitchFamily="34" charset="-120"/>
              </a:rPr>
              <a:t>舊樓與都市更新</a:t>
            </a:r>
            <a:endParaRPr lang="en-US" sz="1800" dirty="0"/>
          </a:p>
        </p:txBody>
      </p:sp>
      <p:sp>
        <p:nvSpPr>
          <p:cNvPr id="15" name="Text 13"/>
          <p:cNvSpPr txBox="1"/>
          <p:nvPr/>
        </p:nvSpPr>
        <p:spPr>
          <a:xfrm>
            <a:off x="8424367" y="2423160"/>
            <a:ext cx="3017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失修通知 84 宗；祐漢 46 幢；置換房餘 1,700 多個</a:t>
            </a:r>
            <a:endParaRPr lang="en-US" sz="1050" dirty="0"/>
          </a:p>
        </p:txBody>
      </p:sp>
      <p:sp>
        <p:nvSpPr>
          <p:cNvPr id="16" name="Shape 14"/>
          <p:cNvSpPr/>
          <p:nvPr/>
        </p:nvSpPr>
        <p:spPr>
          <a:xfrm>
            <a:off x="4404208" y="3611880"/>
            <a:ext cx="3383280" cy="1371600"/>
          </a:xfrm>
          <a:prstGeom prst="rect">
            <a:avLst/>
          </a:prstGeom>
          <a:solidFill>
            <a:srgbClr val="EEEBE3"/>
          </a:solidFill>
          <a:ln w="15875">
            <a:solidFill>
              <a:srgbClr val="CA0013"/>
            </a:solidFill>
            <a:prstDash val="solid"/>
          </a:ln>
        </p:spPr>
      </p:sp>
      <p:sp>
        <p:nvSpPr>
          <p:cNvPr id="17" name="Text 15"/>
          <p:cNvSpPr txBox="1"/>
          <p:nvPr/>
        </p:nvSpPr>
        <p:spPr>
          <a:xfrm>
            <a:off x="4587088" y="3739896"/>
            <a:ext cx="3017520" cy="310896"/>
          </a:xfrm>
          <a:prstGeom prst="rect">
            <a:avLst/>
          </a:prstGeom>
          <a:noFill/>
          <a:ln/>
        </p:spPr>
        <p:txBody>
          <a:bodyPr wrap="square" lIns="0" tIns="0" rIns="0" bIns="0" rtlCol="0" anchor="t"/>
          <a:lstStyle/>
          <a:p>
            <a:pPr algn="l" indent="0" marL="0">
              <a:lnSpc>
                <a:spcPct val="125000"/>
              </a:lnSpc>
              <a:buNone/>
            </a:pPr>
            <a:r>
              <a:rPr lang="en-US" sz="1050" b="1" spc="240" kern="0" dirty="0">
                <a:solidFill>
                  <a:srgbClr val="CA0013"/>
                </a:solidFill>
                <a:latin typeface="Microsoft JhengHei" pitchFamily="34" charset="0"/>
                <a:ea typeface="Microsoft JhengHei" pitchFamily="34" charset="-122"/>
                <a:cs typeface="Microsoft JhengHei" pitchFamily="34" charset="-120"/>
              </a:rPr>
              <a:t>問題三</a:t>
            </a:r>
            <a:endParaRPr lang="en-US" sz="1050" dirty="0"/>
          </a:p>
        </p:txBody>
      </p:sp>
      <p:sp>
        <p:nvSpPr>
          <p:cNvPr id="18" name="Text 16"/>
          <p:cNvSpPr txBox="1"/>
          <p:nvPr/>
        </p:nvSpPr>
        <p:spPr>
          <a:xfrm>
            <a:off x="4587088" y="3995928"/>
            <a:ext cx="3017520" cy="384048"/>
          </a:xfrm>
          <a:prstGeom prst="rect">
            <a:avLst/>
          </a:prstGeom>
          <a:noFill/>
          <a:ln/>
        </p:spPr>
        <p:txBody>
          <a:bodyPr wrap="square" lIns="0" tIns="0" rIns="0" bIns="0" rtlCol="0" anchor="t"/>
          <a:lstStyle/>
          <a:p>
            <a:pPr indent="0" marL="0">
              <a:buNone/>
            </a:pPr>
            <a:r>
              <a:rPr lang="en-US" sz="1800" b="1" dirty="0">
                <a:solidFill>
                  <a:srgbClr val="CA0013"/>
                </a:solidFill>
                <a:latin typeface="Microsoft JhengHei" pitchFamily="34" charset="0"/>
                <a:ea typeface="Microsoft JhengHei" pitchFamily="34" charset="-122"/>
                <a:cs typeface="Microsoft JhengHei" pitchFamily="34" charset="-120"/>
              </a:rPr>
              <a:t>公共房屋與夾心階層</a:t>
            </a:r>
            <a:endParaRPr lang="en-US" sz="1800" dirty="0"/>
          </a:p>
        </p:txBody>
      </p:sp>
      <p:sp>
        <p:nvSpPr>
          <p:cNvPr id="19" name="Text 17"/>
          <p:cNvSpPr txBox="1"/>
          <p:nvPr/>
        </p:nvSpPr>
        <p:spPr>
          <a:xfrm>
            <a:off x="4587088" y="4434840"/>
            <a:ext cx="3017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經屋批次供應；一房不足；夾屋缺位</a:t>
            </a:r>
            <a:endParaRPr lang="en-US" sz="1050" dirty="0"/>
          </a:p>
        </p:txBody>
      </p:sp>
      <p:sp>
        <p:nvSpPr>
          <p:cNvPr id="20" name="Shape 18"/>
          <p:cNvSpPr/>
          <p:nvPr/>
        </p:nvSpPr>
        <p:spPr>
          <a:xfrm>
            <a:off x="4041648" y="2286000"/>
            <a:ext cx="4108399" cy="0"/>
          </a:xfrm>
          <a:prstGeom prst="line">
            <a:avLst/>
          </a:prstGeom>
          <a:noFill/>
          <a:ln w="28575">
            <a:solidFill>
              <a:srgbClr val="CA0013"/>
            </a:solidFill>
            <a:prstDash val="solid"/>
            <a:tailEnd type="triangle"/>
          </a:ln>
        </p:spPr>
      </p:sp>
      <p:sp>
        <p:nvSpPr>
          <p:cNvPr id="21" name="Text 19"/>
          <p:cNvSpPr txBox="1"/>
          <p:nvPr/>
        </p:nvSpPr>
        <p:spPr>
          <a:xfrm>
            <a:off x="4297680" y="1691640"/>
            <a:ext cx="3611880" cy="502920"/>
          </a:xfrm>
          <a:prstGeom prst="rect">
            <a:avLst/>
          </a:prstGeom>
          <a:noFill/>
          <a:ln/>
        </p:spPr>
        <p:txBody>
          <a:bodyPr wrap="square" lIns="0" tIns="0" rIns="0" bIns="0" rtlCol="0" anchor="ctr"/>
          <a:lstStyle/>
          <a:p>
            <a:pPr algn="ct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舊樓租金低，重建後價值由市場決定（本組推論）</a:t>
            </a:r>
            <a:endParaRPr lang="en-US" sz="1050" dirty="0"/>
          </a:p>
        </p:txBody>
      </p:sp>
      <p:sp>
        <p:nvSpPr>
          <p:cNvPr id="22" name="Shape 20"/>
          <p:cNvSpPr/>
          <p:nvPr/>
        </p:nvSpPr>
        <p:spPr>
          <a:xfrm>
            <a:off x="2258568" y="3017520"/>
            <a:ext cx="2099920" cy="1097280"/>
          </a:xfrm>
          <a:prstGeom prst="line">
            <a:avLst/>
          </a:prstGeom>
          <a:noFill/>
          <a:ln w="28575">
            <a:solidFill>
              <a:srgbClr val="CA0013"/>
            </a:solidFill>
            <a:prstDash val="solid"/>
            <a:tailEnd type="triangle"/>
          </a:ln>
        </p:spPr>
      </p:sp>
      <p:sp>
        <p:nvSpPr>
          <p:cNvPr id="23" name="Shape 21"/>
          <p:cNvSpPr/>
          <p:nvPr/>
        </p:nvSpPr>
        <p:spPr>
          <a:xfrm flipH="1">
            <a:off x="7833208" y="3017520"/>
            <a:ext cx="2099920" cy="1097280"/>
          </a:xfrm>
          <a:prstGeom prst="line">
            <a:avLst/>
          </a:prstGeom>
          <a:noFill/>
          <a:ln w="28575">
            <a:solidFill>
              <a:srgbClr val="CA0013"/>
            </a:solidFill>
            <a:prstDash val="solid"/>
            <a:tailEnd type="triangle"/>
          </a:ln>
        </p:spPr>
      </p:sp>
      <p:sp>
        <p:nvSpPr>
          <p:cNvPr id="24" name="Text 22"/>
          <p:cNvSpPr txBox="1"/>
          <p:nvPr/>
        </p:nvSpPr>
        <p:spPr>
          <a:xfrm>
            <a:off x="566928" y="3611880"/>
            <a:ext cx="2743200" cy="86868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買不起私樓，轉向經屋與社屋，輪候壓力增加（本組推論）</a:t>
            </a:r>
            <a:endParaRPr lang="en-US" sz="1050" dirty="0"/>
          </a:p>
        </p:txBody>
      </p:sp>
      <p:sp>
        <p:nvSpPr>
          <p:cNvPr id="25" name="Text 23"/>
          <p:cNvSpPr txBox="1"/>
          <p:nvPr/>
        </p:nvSpPr>
        <p:spPr>
          <a:xfrm>
            <a:off x="9235440" y="3611880"/>
            <a:ext cx="2377440" cy="86868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舊區居民需要置換房、社屋、長者公寓，安置錯配（有數據）</a:t>
            </a:r>
            <a:endParaRPr lang="en-US" sz="1050" dirty="0"/>
          </a:p>
        </p:txBody>
      </p:sp>
      <p:sp>
        <p:nvSpPr>
          <p:cNvPr id="26" name="Shape 24"/>
          <p:cNvSpPr/>
          <p:nvPr/>
        </p:nvSpPr>
        <p:spPr>
          <a:xfrm>
            <a:off x="566928" y="5257800"/>
            <a:ext cx="11057839" cy="18288"/>
          </a:xfrm>
          <a:prstGeom prst="rect">
            <a:avLst/>
          </a:prstGeom>
          <a:solidFill>
            <a:srgbClr val="C72A09"/>
          </a:solidFill>
          <a:ln/>
        </p:spPr>
      </p:sp>
      <p:sp>
        <p:nvSpPr>
          <p:cNvPr id="27" name="Text 25"/>
          <p:cNvSpPr txBox="1"/>
          <p:nvPr/>
        </p:nvSpPr>
        <p:spPr>
          <a:xfrm>
            <a:off x="566928" y="5349240"/>
            <a:ext cx="11057839" cy="365760"/>
          </a:xfrm>
          <a:prstGeom prst="rect">
            <a:avLst/>
          </a:prstGeom>
          <a:noFill/>
          <a:ln/>
        </p:spPr>
        <p:txBody>
          <a:bodyPr wrap="square" lIns="0" tIns="0" rIns="0" bIns="0" rtlCol="0" anchor="ctr"/>
          <a:lstStyle/>
          <a:p>
            <a:pPr indent="0" marL="0">
              <a:buNone/>
            </a:pPr>
            <a:r>
              <a:rPr lang="en-US" sz="1600" b="1" dirty="0">
                <a:solidFill>
                  <a:srgbClr val="CA0013"/>
                </a:solidFill>
                <a:latin typeface="Microsoft JhengHei" pitchFamily="34" charset="0"/>
                <a:ea typeface="Microsoft JhengHei" pitchFamily="34" charset="-122"/>
                <a:cs typeface="Microsoft JhengHei" pitchFamily="34" charset="-120"/>
              </a:rPr>
              <a:t>共同根源：住房主要按支付能力分配，而不是按居住需要分配。</a:t>
            </a:r>
            <a:endParaRPr lang="en-US" sz="1600" dirty="0"/>
          </a:p>
        </p:txBody>
      </p:sp>
      <p:sp>
        <p:nvSpPr>
          <p:cNvPr id="28" name="Text 26"/>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本組整理</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(36)</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第六部分　總結</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因素、理論、措施</a:t>
            </a:r>
            <a:endParaRPr lang="en-US" sz="3400" dirty="0"/>
          </a:p>
        </p:txBody>
      </p:sp>
      <p:sp>
        <p:nvSpPr>
          <p:cNvPr id="8" name="Text 6"/>
          <p:cNvSpPr txBox="1"/>
          <p:nvPr/>
        </p:nvSpPr>
        <p:spPr>
          <a:xfrm>
            <a:off x="566928" y="1600200"/>
            <a:ext cx="3557016"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社會因素</a:t>
            </a:r>
            <a:endParaRPr lang="en-US" sz="1200" dirty="0"/>
          </a:p>
        </p:txBody>
      </p:sp>
      <p:sp>
        <p:nvSpPr>
          <p:cNvPr id="9" name="Shape 7"/>
          <p:cNvSpPr/>
          <p:nvPr/>
        </p:nvSpPr>
        <p:spPr>
          <a:xfrm>
            <a:off x="566928" y="2002536"/>
            <a:ext cx="3557016" cy="12802"/>
          </a:xfrm>
          <a:prstGeom prst="rect">
            <a:avLst/>
          </a:prstGeom>
          <a:solidFill>
            <a:srgbClr val="C72A09"/>
          </a:solidFill>
          <a:ln/>
        </p:spPr>
      </p:sp>
      <p:sp>
        <p:nvSpPr>
          <p:cNvPr id="10" name="Text 8"/>
          <p:cNvSpPr txBox="1"/>
          <p:nvPr/>
        </p:nvSpPr>
        <p:spPr>
          <a:xfrm>
            <a:off x="566928" y="2130552"/>
            <a:ext cx="3557016"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經濟：收入與資產分配</a:t>
            </a:r>
            <a:endParaRPr lang="en-US" sz="1200" dirty="0"/>
          </a:p>
        </p:txBody>
      </p:sp>
      <p:sp>
        <p:nvSpPr>
          <p:cNvPr id="11" name="Shape 9"/>
          <p:cNvSpPr/>
          <p:nvPr/>
        </p:nvSpPr>
        <p:spPr>
          <a:xfrm>
            <a:off x="566928" y="2587752"/>
            <a:ext cx="3557016" cy="12802"/>
          </a:xfrm>
          <a:prstGeom prst="rect">
            <a:avLst/>
          </a:prstGeom>
          <a:solidFill>
            <a:srgbClr val="C72A09"/>
          </a:solidFill>
          <a:ln/>
        </p:spPr>
      </p:sp>
      <p:sp>
        <p:nvSpPr>
          <p:cNvPr id="12" name="Text 10"/>
          <p:cNvSpPr txBox="1"/>
          <p:nvPr/>
        </p:nvSpPr>
        <p:spPr>
          <a:xfrm>
            <a:off x="566928" y="2697480"/>
            <a:ext cx="3557016"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政策與法律：門檻、成數、批次供應</a:t>
            </a:r>
            <a:endParaRPr lang="en-US" sz="1200" dirty="0"/>
          </a:p>
        </p:txBody>
      </p:sp>
      <p:sp>
        <p:nvSpPr>
          <p:cNvPr id="13" name="Shape 11"/>
          <p:cNvSpPr/>
          <p:nvPr/>
        </p:nvSpPr>
        <p:spPr>
          <a:xfrm>
            <a:off x="566928" y="3154680"/>
            <a:ext cx="3557016" cy="12802"/>
          </a:xfrm>
          <a:prstGeom prst="rect">
            <a:avLst/>
          </a:prstGeom>
          <a:solidFill>
            <a:srgbClr val="C72A09"/>
          </a:solidFill>
          <a:ln/>
        </p:spPr>
      </p:sp>
      <p:sp>
        <p:nvSpPr>
          <p:cNvPr id="14" name="Text 12"/>
          <p:cNvSpPr txBox="1"/>
          <p:nvPr/>
        </p:nvSpPr>
        <p:spPr>
          <a:xfrm>
            <a:off x="566928" y="3264408"/>
            <a:ext cx="3557016"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社會人口：老化、家庭縮小</a:t>
            </a:r>
            <a:endParaRPr lang="en-US" sz="1200" dirty="0"/>
          </a:p>
        </p:txBody>
      </p:sp>
      <p:sp>
        <p:nvSpPr>
          <p:cNvPr id="15" name="Shape 13"/>
          <p:cNvSpPr/>
          <p:nvPr/>
        </p:nvSpPr>
        <p:spPr>
          <a:xfrm>
            <a:off x="566928" y="3721608"/>
            <a:ext cx="3557016" cy="12802"/>
          </a:xfrm>
          <a:prstGeom prst="rect">
            <a:avLst/>
          </a:prstGeom>
          <a:solidFill>
            <a:srgbClr val="C72A09"/>
          </a:solidFill>
          <a:ln/>
        </p:spPr>
      </p:sp>
      <p:sp>
        <p:nvSpPr>
          <p:cNvPr id="16" name="Text 14"/>
          <p:cNvSpPr txBox="1"/>
          <p:nvPr/>
        </p:nvSpPr>
        <p:spPr>
          <a:xfrm>
            <a:off x="566928" y="3831336"/>
            <a:ext cx="3557016"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地理與物理：土地稀缺、樓齡</a:t>
            </a:r>
            <a:endParaRPr lang="en-US" sz="1200" dirty="0"/>
          </a:p>
        </p:txBody>
      </p:sp>
      <p:sp>
        <p:nvSpPr>
          <p:cNvPr id="17" name="Shape 15"/>
          <p:cNvSpPr/>
          <p:nvPr/>
        </p:nvSpPr>
        <p:spPr>
          <a:xfrm>
            <a:off x="566928" y="4288536"/>
            <a:ext cx="3557016" cy="12802"/>
          </a:xfrm>
          <a:prstGeom prst="rect">
            <a:avLst/>
          </a:prstGeom>
          <a:solidFill>
            <a:srgbClr val="C72A09"/>
          </a:solidFill>
          <a:ln/>
        </p:spPr>
      </p:sp>
      <p:sp>
        <p:nvSpPr>
          <p:cNvPr id="18" name="Text 16"/>
          <p:cNvSpPr txBox="1"/>
          <p:nvPr/>
        </p:nvSpPr>
        <p:spPr>
          <a:xfrm>
            <a:off x="4315968" y="1600200"/>
            <a:ext cx="3557016"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馬克思理論</a:t>
            </a:r>
            <a:endParaRPr lang="en-US" sz="1200" dirty="0"/>
          </a:p>
        </p:txBody>
      </p:sp>
      <p:sp>
        <p:nvSpPr>
          <p:cNvPr id="19" name="Shape 17"/>
          <p:cNvSpPr/>
          <p:nvPr/>
        </p:nvSpPr>
        <p:spPr>
          <a:xfrm>
            <a:off x="4315968" y="2002536"/>
            <a:ext cx="3557016" cy="12802"/>
          </a:xfrm>
          <a:prstGeom prst="rect">
            <a:avLst/>
          </a:prstGeom>
          <a:solidFill>
            <a:srgbClr val="C72A09"/>
          </a:solidFill>
          <a:ln/>
        </p:spPr>
      </p:sp>
      <p:sp>
        <p:nvSpPr>
          <p:cNvPr id="20" name="Text 18"/>
          <p:cNvSpPr txBox="1"/>
          <p:nvPr/>
        </p:nvSpPr>
        <p:spPr>
          <a:xfrm>
            <a:off x="4315968" y="2130552"/>
            <a:ext cx="3557016"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商品化：居所變成資產</a:t>
            </a:r>
            <a:endParaRPr lang="en-US" sz="1200" dirty="0"/>
          </a:p>
        </p:txBody>
      </p:sp>
      <p:sp>
        <p:nvSpPr>
          <p:cNvPr id="21" name="Shape 19"/>
          <p:cNvSpPr/>
          <p:nvPr/>
        </p:nvSpPr>
        <p:spPr>
          <a:xfrm>
            <a:off x="4315968" y="2587752"/>
            <a:ext cx="3557016" cy="12802"/>
          </a:xfrm>
          <a:prstGeom prst="rect">
            <a:avLst/>
          </a:prstGeom>
          <a:solidFill>
            <a:srgbClr val="C72A09"/>
          </a:solidFill>
          <a:ln/>
        </p:spPr>
      </p:sp>
      <p:sp>
        <p:nvSpPr>
          <p:cNvPr id="22" name="Text 20"/>
          <p:cNvSpPr txBox="1"/>
          <p:nvPr/>
        </p:nvSpPr>
        <p:spPr>
          <a:xfrm>
            <a:off x="4315968" y="2697480"/>
            <a:ext cx="3557016"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階級：業權人與租戶的分界</a:t>
            </a:r>
            <a:endParaRPr lang="en-US" sz="1200" dirty="0"/>
          </a:p>
        </p:txBody>
      </p:sp>
      <p:sp>
        <p:nvSpPr>
          <p:cNvPr id="23" name="Shape 21"/>
          <p:cNvSpPr/>
          <p:nvPr/>
        </p:nvSpPr>
        <p:spPr>
          <a:xfrm>
            <a:off x="4315968" y="3154680"/>
            <a:ext cx="3557016" cy="12802"/>
          </a:xfrm>
          <a:prstGeom prst="rect">
            <a:avLst/>
          </a:prstGeom>
          <a:solidFill>
            <a:srgbClr val="C72A09"/>
          </a:solidFill>
          <a:ln/>
        </p:spPr>
      </p:sp>
      <p:sp>
        <p:nvSpPr>
          <p:cNvPr id="24" name="Text 22"/>
          <p:cNvSpPr txBox="1"/>
          <p:nvPr/>
        </p:nvSpPr>
        <p:spPr>
          <a:xfrm>
            <a:off x="4315968" y="3264408"/>
            <a:ext cx="3557016"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國家：提供與調節，有邊界</a:t>
            </a:r>
            <a:endParaRPr lang="en-US" sz="1200" dirty="0"/>
          </a:p>
        </p:txBody>
      </p:sp>
      <p:sp>
        <p:nvSpPr>
          <p:cNvPr id="25" name="Shape 23"/>
          <p:cNvSpPr/>
          <p:nvPr/>
        </p:nvSpPr>
        <p:spPr>
          <a:xfrm>
            <a:off x="4315968" y="3721608"/>
            <a:ext cx="3557016" cy="12802"/>
          </a:xfrm>
          <a:prstGeom prst="rect">
            <a:avLst/>
          </a:prstGeom>
          <a:solidFill>
            <a:srgbClr val="C72A09"/>
          </a:solidFill>
          <a:ln/>
        </p:spPr>
      </p:sp>
      <p:sp>
        <p:nvSpPr>
          <p:cNvPr id="26" name="Text 24"/>
          <p:cNvSpPr txBox="1"/>
          <p:nvPr/>
        </p:nvSpPr>
        <p:spPr>
          <a:xfrm>
            <a:off x="8065008" y="1600200"/>
            <a:ext cx="3557016"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優先措施</a:t>
            </a:r>
            <a:endParaRPr lang="en-US" sz="1200" dirty="0"/>
          </a:p>
        </p:txBody>
      </p:sp>
      <p:sp>
        <p:nvSpPr>
          <p:cNvPr id="27" name="Shape 25"/>
          <p:cNvSpPr/>
          <p:nvPr/>
        </p:nvSpPr>
        <p:spPr>
          <a:xfrm>
            <a:off x="8065008" y="2002536"/>
            <a:ext cx="3557016" cy="12802"/>
          </a:xfrm>
          <a:prstGeom prst="rect">
            <a:avLst/>
          </a:prstGeom>
          <a:solidFill>
            <a:srgbClr val="C72A09"/>
          </a:solidFill>
          <a:ln/>
        </p:spPr>
      </p:sp>
      <p:sp>
        <p:nvSpPr>
          <p:cNvPr id="28" name="Text 26"/>
          <p:cNvSpPr txBox="1"/>
          <p:nvPr/>
        </p:nvSpPr>
        <p:spPr>
          <a:xfrm>
            <a:off x="8065008" y="2130552"/>
            <a:ext cx="3557016"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一　首置支援與負擔指標</a:t>
            </a:r>
            <a:endParaRPr lang="en-US" sz="1200" dirty="0"/>
          </a:p>
        </p:txBody>
      </p:sp>
      <p:sp>
        <p:nvSpPr>
          <p:cNvPr id="29" name="Shape 27"/>
          <p:cNvSpPr/>
          <p:nvPr/>
        </p:nvSpPr>
        <p:spPr>
          <a:xfrm>
            <a:off x="8065008" y="2587752"/>
            <a:ext cx="3557016" cy="12802"/>
          </a:xfrm>
          <a:prstGeom prst="rect">
            <a:avLst/>
          </a:prstGeom>
          <a:solidFill>
            <a:srgbClr val="C72A09"/>
          </a:solidFill>
          <a:ln/>
        </p:spPr>
      </p:sp>
      <p:sp>
        <p:nvSpPr>
          <p:cNvPr id="30" name="Text 28"/>
          <p:cNvSpPr txBox="1"/>
          <p:nvPr/>
        </p:nvSpPr>
        <p:spPr>
          <a:xfrm>
            <a:off x="8065008" y="2697480"/>
            <a:ext cx="3557016"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二　重啟租金津貼</a:t>
            </a:r>
            <a:endParaRPr lang="en-US" sz="1200" dirty="0"/>
          </a:p>
        </p:txBody>
      </p:sp>
      <p:sp>
        <p:nvSpPr>
          <p:cNvPr id="31" name="Shape 29"/>
          <p:cNvSpPr/>
          <p:nvPr/>
        </p:nvSpPr>
        <p:spPr>
          <a:xfrm>
            <a:off x="8065008" y="3154680"/>
            <a:ext cx="3557016" cy="12802"/>
          </a:xfrm>
          <a:prstGeom prst="rect">
            <a:avLst/>
          </a:prstGeom>
          <a:solidFill>
            <a:srgbClr val="C72A09"/>
          </a:solidFill>
          <a:ln/>
        </p:spPr>
      </p:sp>
      <p:sp>
        <p:nvSpPr>
          <p:cNvPr id="32" name="Text 30"/>
          <p:cNvSpPr txBox="1"/>
          <p:nvPr/>
        </p:nvSpPr>
        <p:spPr>
          <a:xfrm>
            <a:off x="8065008" y="3264408"/>
            <a:ext cx="3557016"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三　舊樓分級公開、維修優先</a:t>
            </a:r>
            <a:endParaRPr lang="en-US" sz="1200" dirty="0"/>
          </a:p>
        </p:txBody>
      </p:sp>
      <p:sp>
        <p:nvSpPr>
          <p:cNvPr id="33" name="Shape 31"/>
          <p:cNvSpPr/>
          <p:nvPr/>
        </p:nvSpPr>
        <p:spPr>
          <a:xfrm>
            <a:off x="8065008" y="3721608"/>
            <a:ext cx="3557016" cy="12802"/>
          </a:xfrm>
          <a:prstGeom prst="rect">
            <a:avLst/>
          </a:prstGeom>
          <a:solidFill>
            <a:srgbClr val="C72A09"/>
          </a:solidFill>
          <a:ln/>
        </p:spPr>
      </p:sp>
      <p:sp>
        <p:nvSpPr>
          <p:cNvPr id="34" name="Text 32"/>
          <p:cNvSpPr txBox="1"/>
          <p:nvPr/>
        </p:nvSpPr>
        <p:spPr>
          <a:xfrm>
            <a:off x="8065008" y="3831336"/>
            <a:ext cx="3557016"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四　經屋恆常申請、夾屋時間表</a:t>
            </a:r>
            <a:endParaRPr lang="en-US" sz="1200" dirty="0"/>
          </a:p>
        </p:txBody>
      </p:sp>
      <p:sp>
        <p:nvSpPr>
          <p:cNvPr id="35" name="Shape 33"/>
          <p:cNvSpPr/>
          <p:nvPr/>
        </p:nvSpPr>
        <p:spPr>
          <a:xfrm>
            <a:off x="8065008" y="4288536"/>
            <a:ext cx="3557016" cy="12802"/>
          </a:xfrm>
          <a:prstGeom prst="rect">
            <a:avLst/>
          </a:prstGeom>
          <a:solidFill>
            <a:srgbClr val="C72A09"/>
          </a:solidFill>
          <a:ln/>
        </p:spPr>
      </p:sp>
      <p:sp>
        <p:nvSpPr>
          <p:cNvPr id="36" name="Shape 34"/>
          <p:cNvSpPr/>
          <p:nvPr/>
        </p:nvSpPr>
        <p:spPr>
          <a:xfrm>
            <a:off x="566928" y="4709160"/>
            <a:ext cx="11057839" cy="18288"/>
          </a:xfrm>
          <a:prstGeom prst="rect">
            <a:avLst/>
          </a:prstGeom>
          <a:solidFill>
            <a:srgbClr val="C72A09"/>
          </a:solidFill>
          <a:ln/>
        </p:spPr>
      </p:sp>
      <p:sp>
        <p:nvSpPr>
          <p:cNvPr id="37" name="Text 35"/>
          <p:cNvSpPr txBox="1"/>
          <p:nvPr/>
        </p:nvSpPr>
        <p:spPr>
          <a:xfrm>
            <a:off x="566928" y="4828032"/>
            <a:ext cx="11057839" cy="411480"/>
          </a:xfrm>
          <a:prstGeom prst="rect">
            <a:avLst/>
          </a:prstGeom>
          <a:noFill/>
          <a:ln/>
        </p:spPr>
        <p:txBody>
          <a:bodyPr wrap="square" lIns="0" tIns="0" rIns="0" bIns="0" rtlCol="0" anchor="ctr"/>
          <a:lstStyle/>
          <a:p>
            <a:pPr indent="0" marL="0">
              <a:buNone/>
            </a:pPr>
            <a:r>
              <a:rPr lang="en-US" sz="1800" b="1" dirty="0">
                <a:solidFill>
                  <a:srgbClr val="CA0013"/>
                </a:solidFill>
                <a:latin typeface="Microsoft JhengHei" pitchFamily="34" charset="0"/>
                <a:ea typeface="Microsoft JhengHei" pitchFamily="34" charset="-122"/>
                <a:cs typeface="Microsoft JhengHei" pitchFamily="34" charset="-120"/>
              </a:rPr>
              <a:t>總量足夠，分配失衡：三個問題共同指向「住房按支付能力分配」。</a:t>
            </a:r>
            <a:endParaRPr lang="en-US" sz="1800" dirty="0"/>
          </a:p>
        </p:txBody>
      </p:sp>
      <p:sp>
        <p:nvSpPr>
          <p:cNvPr id="38" name="Text 36"/>
          <p:cNvSpPr txBox="1"/>
          <p:nvPr/>
        </p:nvSpPr>
        <p:spPr>
          <a:xfrm>
            <a:off x="566928" y="5285232"/>
            <a:ext cx="11057839" cy="365760"/>
          </a:xfrm>
          <a:prstGeom prst="rect">
            <a:avLst/>
          </a:prstGeom>
          <a:noFill/>
          <a:ln/>
        </p:spPr>
        <p:txBody>
          <a:bodyPr wrap="square" lIns="0" tIns="0" rIns="0" bIns="0" rtlCol="0" anchor="ctr"/>
          <a:lstStyle/>
          <a:p>
            <a:pPr indent="0" marL="0">
              <a:buNone/>
            </a:pPr>
            <a:r>
              <a:rPr lang="en-US" sz="1200" dirty="0">
                <a:solidFill>
                  <a:srgbClr val="CA0013"/>
                </a:solidFill>
                <a:latin typeface="Microsoft JhengHei" pitchFamily="34" charset="0"/>
                <a:ea typeface="Microsoft JhengHei" pitchFamily="34" charset="-122"/>
                <a:cs typeface="Microsoft JhengHei" pitchFamily="34" charset="-120"/>
              </a:rPr>
              <a:t>優先次序（本組判斷）：措施三、四（資料與制度）先於措施一、二（補貼），因補貼容易被價格與租金吸收。</a:t>
            </a:r>
            <a:endParaRPr lang="en-US" sz="1200" dirty="0"/>
          </a:p>
        </p:txBody>
      </p:sp>
      <p:sp>
        <p:nvSpPr>
          <p:cNvPr id="39" name="Text 37"/>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本組整理</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4" name="Text 2"/>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5" name="Image 0" descr="img/image1.png">    </p:cNvPr>
          <p:cNvPicPr>
            <a:picLocks noChangeAspect="1"/>
          </p:cNvPicPr>
          <p:nvPr/>
        </p:nvPicPr>
        <p:blipFill>
          <a:blip r:embed="rId1"/>
          <a:srcRect l="0" r="0" t="0" b="0"/>
          <a:stretch/>
        </p:blipFill>
        <p:spPr>
          <a:xfrm>
            <a:off x="7863840" y="1143000"/>
            <a:ext cx="3840480" cy="4937760"/>
          </a:xfrm>
          <a:prstGeom prst="rect">
            <a:avLst/>
          </a:prstGeom>
        </p:spPr>
      </p:pic>
      <p:sp>
        <p:nvSpPr>
          <p:cNvPr id="6" name="Text 3"/>
          <p:cNvSpPr txBox="1"/>
          <p:nvPr/>
        </p:nvSpPr>
        <p:spPr>
          <a:xfrm>
            <a:off x="566928" y="914400"/>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結語</a:t>
            </a:r>
            <a:endParaRPr lang="en-US" sz="1300" dirty="0"/>
          </a:p>
        </p:txBody>
      </p:sp>
      <p:sp>
        <p:nvSpPr>
          <p:cNvPr id="7" name="Text 4"/>
          <p:cNvSpPr txBox="1"/>
          <p:nvPr/>
        </p:nvSpPr>
        <p:spPr>
          <a:xfrm>
            <a:off x="566928" y="1371600"/>
            <a:ext cx="7315200" cy="2377440"/>
          </a:xfrm>
          <a:prstGeom prst="rect">
            <a:avLst/>
          </a:prstGeom>
          <a:noFill/>
          <a:ln/>
        </p:spPr>
        <p:txBody>
          <a:bodyPr wrap="square" lIns="0" tIns="0" rIns="0" bIns="0" rtlCol="0" anchor="ctr"/>
          <a:lstStyle/>
          <a:p>
            <a:pPr indent="0" marL="0">
              <a:lnSpc>
                <a:spcPct val="98000"/>
              </a:lnSpc>
              <a:buNone/>
            </a:pPr>
            <a:r>
              <a:rPr lang="en-US" sz="6000" b="1" dirty="0">
                <a:solidFill>
                  <a:srgbClr val="CA0013"/>
                </a:solidFill>
                <a:latin typeface="Microsoft JhengHei" pitchFamily="34" charset="0"/>
                <a:ea typeface="Microsoft JhengHei" pitchFamily="34" charset="-122"/>
                <a:cs typeface="Microsoft JhengHei" pitchFamily="34" charset="-120"/>
              </a:rPr>
              <a:t>房子夠，</a:t>
            </a:r>
            <a:endParaRPr lang="en-US" sz="6000" dirty="0"/>
          </a:p>
          <a:p>
            <a:pPr indent="0" marL="0">
              <a:lnSpc>
                <a:spcPct val="98000"/>
              </a:lnSpc>
              <a:buNone/>
            </a:pPr>
            <a:r>
              <a:rPr lang="en-US" sz="6000" b="1" dirty="0">
                <a:solidFill>
                  <a:srgbClr val="CA0013"/>
                </a:solidFill>
                <a:latin typeface="Microsoft JhengHei" pitchFamily="34" charset="0"/>
                <a:ea typeface="Microsoft JhengHei" pitchFamily="34" charset="-122"/>
                <a:cs typeface="Microsoft JhengHei" pitchFamily="34" charset="-120"/>
              </a:rPr>
              <a:t>未必住得到</a:t>
            </a:r>
            <a:endParaRPr lang="en-US" sz="6000" dirty="0"/>
          </a:p>
        </p:txBody>
      </p:sp>
      <p:sp>
        <p:nvSpPr>
          <p:cNvPr id="8" name="Shape 5"/>
          <p:cNvSpPr/>
          <p:nvPr/>
        </p:nvSpPr>
        <p:spPr>
          <a:xfrm>
            <a:off x="566928" y="3977640"/>
            <a:ext cx="7132320" cy="18288"/>
          </a:xfrm>
          <a:prstGeom prst="rect">
            <a:avLst/>
          </a:prstGeom>
          <a:solidFill>
            <a:srgbClr val="C72A09"/>
          </a:solidFill>
          <a:ln/>
        </p:spPr>
      </p:sp>
      <p:sp>
        <p:nvSpPr>
          <p:cNvPr id="9" name="Text 6"/>
          <p:cNvSpPr txBox="1"/>
          <p:nvPr/>
        </p:nvSpPr>
        <p:spPr>
          <a:xfrm>
            <a:off x="566928" y="4160520"/>
            <a:ext cx="6949440" cy="1280160"/>
          </a:xfrm>
          <a:prstGeom prst="rect">
            <a:avLst/>
          </a:prstGeom>
          <a:noFill/>
          <a:ln/>
        </p:spPr>
        <p:txBody>
          <a:bodyPr wrap="square" lIns="0" tIns="0" rIns="0" bIns="0" rtlCol="0" anchor="t"/>
          <a:lstStyle/>
          <a:p>
            <a:pPr indent="0" marL="0">
              <a:lnSpc>
                <a:spcPct val="150000"/>
              </a:lnSpc>
              <a:buNone/>
            </a:pPr>
            <a:r>
              <a:rPr lang="en-US" sz="1400" dirty="0">
                <a:solidFill>
                  <a:srgbClr val="CA0013"/>
                </a:solidFill>
                <a:latin typeface="Microsoft JhengHei" pitchFamily="34" charset="0"/>
                <a:ea typeface="Microsoft JhengHei" pitchFamily="34" charset="-122"/>
                <a:cs typeface="Microsoft JhengHei" pitchFamily="34" charset="-120"/>
              </a:rPr>
              <a:t>澳門住宅單位比住戶多 35,764 個；2023–2025 年樓價跌 24.1%，租金約升 6%。舊樓等待更新，經屋與夾屋的供應仍未貼近需要。問題不只在數量，更在住房按什麼分配。</a:t>
            </a:r>
            <a:endParaRPr lang="en-US" sz="1400" dirty="0"/>
          </a:p>
        </p:txBody>
      </p:sp>
      <p:sp>
        <p:nvSpPr>
          <p:cNvPr id="10" name="Text 7"/>
          <p:cNvSpPr txBox="1"/>
          <p:nvPr/>
        </p:nvSpPr>
        <p:spPr>
          <a:xfrm>
            <a:off x="566928" y="5532120"/>
            <a:ext cx="64008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多謝各位　歡迎提問</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(38)</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1.jpeg">    </p:cNvPr>
          <p:cNvPicPr>
            <a:picLocks noChangeAspect="1"/>
          </p:cNvPicPr>
          <p:nvPr/>
        </p:nvPicPr>
        <p:blipFill>
          <a:blip r:embed="rId1"/>
          <a:srcRect l="0" r="0" t="0" b="0"/>
          <a:stretch/>
        </p:blipFill>
        <p:spPr>
          <a:xfrm>
            <a:off x="7589520" y="0"/>
            <a:ext cx="4602175" cy="3200400"/>
          </a:xfrm>
          <a:prstGeom prst="rect">
            <a:avLst/>
          </a:prstGeom>
        </p:spPr>
      </p:pic>
      <p:sp>
        <p:nvSpPr>
          <p:cNvPr id="7"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附錄</a:t>
            </a:r>
            <a:endParaRPr lang="en-US" sz="1200" dirty="0"/>
          </a:p>
        </p:txBody>
      </p:sp>
      <p:sp>
        <p:nvSpPr>
          <p:cNvPr id="8" name="Text 5"/>
          <p:cNvSpPr txBox="1"/>
          <p:nvPr/>
        </p:nvSpPr>
        <p:spPr>
          <a:xfrm>
            <a:off x="566928" y="749808"/>
            <a:ext cx="676656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訪問交代</a:t>
            </a:r>
            <a:endParaRPr lang="en-US" sz="3400" dirty="0"/>
          </a:p>
        </p:txBody>
      </p:sp>
      <p:sp>
        <p:nvSpPr>
          <p:cNvPr id="9" name="Text 6"/>
          <p:cNvSpPr txBox="1"/>
          <p:nvPr/>
        </p:nvSpPr>
        <p:spPr>
          <a:xfrm>
            <a:off x="566928" y="1600200"/>
            <a:ext cx="667512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受訪對象</a:t>
            </a:r>
            <a:endParaRPr lang="en-US" sz="1200" dirty="0"/>
          </a:p>
        </p:txBody>
      </p:sp>
      <p:sp>
        <p:nvSpPr>
          <p:cNvPr id="10" name="Shape 7"/>
          <p:cNvSpPr/>
          <p:nvPr/>
        </p:nvSpPr>
        <p:spPr>
          <a:xfrm>
            <a:off x="566928" y="2002536"/>
            <a:ext cx="6675120" cy="12802"/>
          </a:xfrm>
          <a:prstGeom prst="rect">
            <a:avLst/>
          </a:prstGeom>
          <a:solidFill>
            <a:srgbClr val="C72A09"/>
          </a:solidFill>
          <a:ln/>
        </p:spPr>
      </p:sp>
      <p:sp>
        <p:nvSpPr>
          <p:cNvPr id="11" name="Text 8"/>
          <p:cNvSpPr txBox="1"/>
          <p:nvPr/>
        </p:nvSpPr>
        <p:spPr>
          <a:xfrm>
            <a:off x="566928" y="2130552"/>
            <a:ext cx="2269541" cy="365760"/>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受訪者一</a:t>
            </a:r>
            <a:endParaRPr lang="en-US" sz="1200" dirty="0"/>
          </a:p>
        </p:txBody>
      </p:sp>
      <p:sp>
        <p:nvSpPr>
          <p:cNvPr id="12" name="Text 9"/>
          <p:cNvSpPr txBox="1"/>
          <p:nvPr/>
        </p:nvSpPr>
        <p:spPr>
          <a:xfrm>
            <a:off x="2936596" y="2130552"/>
            <a:ext cx="4305452" cy="365760"/>
          </a:xfrm>
          <a:prstGeom prst="rect">
            <a:avLst/>
          </a:prstGeom>
          <a:noFill/>
          <a:ln/>
        </p:spPr>
        <p:txBody>
          <a:bodyPr wrap="square" lIns="0" tIns="0" rIns="0" bIns="0" rtlCol="0" anchor="t"/>
          <a:lstStyle/>
          <a:p>
            <a:pPr indent="0" marL="0">
              <a:lnSpc>
                <a:spcPct val="130000"/>
              </a:lnSpc>
              <a:buNone/>
            </a:pPr>
            <a:r>
              <a:rPr lang="en-US" sz="1200" dirty="0">
                <a:solidFill>
                  <a:srgbClr val="CA0013"/>
                </a:solidFill>
                <a:latin typeface="Microsoft JhengHei" pitchFamily="34" charset="0"/>
                <a:ea typeface="Microsoft JhengHei" pitchFamily="34" charset="-122"/>
                <a:cs typeface="Microsoft JhengHei" pitchFamily="34" charset="-120"/>
              </a:rPr>
              <a:t>＿＿＿＿＿＿　職銜與機構</a:t>
            </a:r>
            <a:endParaRPr lang="en-US" sz="1200" dirty="0"/>
          </a:p>
        </p:txBody>
      </p:sp>
      <p:sp>
        <p:nvSpPr>
          <p:cNvPr id="13" name="Shape 10"/>
          <p:cNvSpPr/>
          <p:nvPr/>
        </p:nvSpPr>
        <p:spPr>
          <a:xfrm>
            <a:off x="566928" y="2478024"/>
            <a:ext cx="6675120" cy="12802"/>
          </a:xfrm>
          <a:prstGeom prst="rect">
            <a:avLst/>
          </a:prstGeom>
          <a:solidFill>
            <a:srgbClr val="C72A09"/>
          </a:solidFill>
          <a:ln/>
        </p:spPr>
      </p:sp>
      <p:sp>
        <p:nvSpPr>
          <p:cNvPr id="14" name="Text 11"/>
          <p:cNvSpPr txBox="1"/>
          <p:nvPr/>
        </p:nvSpPr>
        <p:spPr>
          <a:xfrm>
            <a:off x="566928" y="2587752"/>
            <a:ext cx="2269541" cy="365760"/>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受訪者二</a:t>
            </a:r>
            <a:endParaRPr lang="en-US" sz="1200" dirty="0"/>
          </a:p>
        </p:txBody>
      </p:sp>
      <p:sp>
        <p:nvSpPr>
          <p:cNvPr id="15" name="Text 12"/>
          <p:cNvSpPr txBox="1"/>
          <p:nvPr/>
        </p:nvSpPr>
        <p:spPr>
          <a:xfrm>
            <a:off x="2936596" y="2587752"/>
            <a:ext cx="4305452" cy="365760"/>
          </a:xfrm>
          <a:prstGeom prst="rect">
            <a:avLst/>
          </a:prstGeom>
          <a:noFill/>
          <a:ln/>
        </p:spPr>
        <p:txBody>
          <a:bodyPr wrap="square" lIns="0" tIns="0" rIns="0" bIns="0" rtlCol="0" anchor="t"/>
          <a:lstStyle/>
          <a:p>
            <a:pPr indent="0" marL="0">
              <a:lnSpc>
                <a:spcPct val="130000"/>
              </a:lnSpc>
              <a:buNone/>
            </a:pPr>
            <a:r>
              <a:rPr lang="en-US" sz="1200" dirty="0">
                <a:solidFill>
                  <a:srgbClr val="CA0013"/>
                </a:solidFill>
                <a:latin typeface="Microsoft JhengHei" pitchFamily="34" charset="0"/>
                <a:ea typeface="Microsoft JhengHei" pitchFamily="34" charset="-122"/>
                <a:cs typeface="Microsoft JhengHei" pitchFamily="34" charset="-120"/>
              </a:rPr>
              <a:t>＿＿＿＿＿＿　職銜與機構</a:t>
            </a:r>
            <a:endParaRPr lang="en-US" sz="1200" dirty="0"/>
          </a:p>
        </p:txBody>
      </p:sp>
      <p:sp>
        <p:nvSpPr>
          <p:cNvPr id="16" name="Shape 13"/>
          <p:cNvSpPr/>
          <p:nvPr/>
        </p:nvSpPr>
        <p:spPr>
          <a:xfrm>
            <a:off x="566928" y="2935224"/>
            <a:ext cx="6675120" cy="12802"/>
          </a:xfrm>
          <a:prstGeom prst="rect">
            <a:avLst/>
          </a:prstGeom>
          <a:solidFill>
            <a:srgbClr val="C72A09"/>
          </a:solidFill>
          <a:ln/>
        </p:spPr>
      </p:sp>
      <p:sp>
        <p:nvSpPr>
          <p:cNvPr id="17" name="Text 14"/>
          <p:cNvSpPr txBox="1"/>
          <p:nvPr/>
        </p:nvSpPr>
        <p:spPr>
          <a:xfrm>
            <a:off x="566928" y="3044952"/>
            <a:ext cx="2269541" cy="365760"/>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訪問日期</a:t>
            </a:r>
            <a:endParaRPr lang="en-US" sz="1200" dirty="0"/>
          </a:p>
        </p:txBody>
      </p:sp>
      <p:sp>
        <p:nvSpPr>
          <p:cNvPr id="18" name="Text 15"/>
          <p:cNvSpPr txBox="1"/>
          <p:nvPr/>
        </p:nvSpPr>
        <p:spPr>
          <a:xfrm>
            <a:off x="2936596" y="3044952"/>
            <a:ext cx="4305452" cy="365760"/>
          </a:xfrm>
          <a:prstGeom prst="rect">
            <a:avLst/>
          </a:prstGeom>
          <a:noFill/>
          <a:ln/>
        </p:spPr>
        <p:txBody>
          <a:bodyPr wrap="square" lIns="0" tIns="0" rIns="0" bIns="0" rtlCol="0" anchor="t"/>
          <a:lstStyle/>
          <a:p>
            <a:pPr indent="0" marL="0">
              <a:lnSpc>
                <a:spcPct val="130000"/>
              </a:lnSpc>
              <a:buNone/>
            </a:pPr>
            <a:r>
              <a:rPr lang="en-US" sz="1200" dirty="0">
                <a:solidFill>
                  <a:srgbClr val="CA0013"/>
                </a:solidFill>
                <a:latin typeface="Microsoft JhengHei" pitchFamily="34" charset="0"/>
                <a:ea typeface="Microsoft JhengHei" pitchFamily="34" charset="-122"/>
                <a:cs typeface="Microsoft JhengHei" pitchFamily="34" charset="-120"/>
              </a:rPr>
              <a:t>＿＿＿＿＿＿　方式：＿＿＿＿</a:t>
            </a:r>
            <a:endParaRPr lang="en-US" sz="1200" dirty="0"/>
          </a:p>
        </p:txBody>
      </p:sp>
      <p:sp>
        <p:nvSpPr>
          <p:cNvPr id="19" name="Shape 16"/>
          <p:cNvSpPr/>
          <p:nvPr/>
        </p:nvSpPr>
        <p:spPr>
          <a:xfrm>
            <a:off x="566928" y="3392424"/>
            <a:ext cx="6675120" cy="12802"/>
          </a:xfrm>
          <a:prstGeom prst="rect">
            <a:avLst/>
          </a:prstGeom>
          <a:solidFill>
            <a:srgbClr val="C72A09"/>
          </a:solidFill>
          <a:ln/>
        </p:spPr>
      </p:sp>
      <p:sp>
        <p:nvSpPr>
          <p:cNvPr id="20" name="Text 17"/>
          <p:cNvSpPr txBox="1"/>
          <p:nvPr/>
        </p:nvSpPr>
        <p:spPr>
          <a:xfrm>
            <a:off x="566928" y="3502152"/>
            <a:ext cx="2269541" cy="365760"/>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引用位置</a:t>
            </a:r>
            <a:endParaRPr lang="en-US" sz="1200" dirty="0"/>
          </a:p>
        </p:txBody>
      </p:sp>
      <p:sp>
        <p:nvSpPr>
          <p:cNvPr id="21" name="Text 18"/>
          <p:cNvSpPr txBox="1"/>
          <p:nvPr/>
        </p:nvSpPr>
        <p:spPr>
          <a:xfrm>
            <a:off x="2936596" y="3502152"/>
            <a:ext cx="4305452" cy="365760"/>
          </a:xfrm>
          <a:prstGeom prst="rect">
            <a:avLst/>
          </a:prstGeom>
          <a:noFill/>
          <a:ln/>
        </p:spPr>
        <p:txBody>
          <a:bodyPr wrap="square" lIns="0" tIns="0" rIns="0" bIns="0" rtlCol="0" anchor="t"/>
          <a:lstStyle/>
          <a:p>
            <a:pPr indent="0" marL="0">
              <a:lnSpc>
                <a:spcPct val="130000"/>
              </a:lnSpc>
              <a:buNone/>
            </a:pPr>
            <a:r>
              <a:rPr lang="en-US" sz="1200" dirty="0">
                <a:solidFill>
                  <a:srgbClr val="CA0013"/>
                </a:solidFill>
                <a:latin typeface="Microsoft JhengHei" pitchFamily="34" charset="0"/>
                <a:ea typeface="Microsoft JhengHei" pitchFamily="34" charset="-122"/>
                <a:cs typeface="Microsoft JhengHei" pitchFamily="34" charset="-120"/>
              </a:rPr>
              <a:t>本簡報第 12、17、20、32 頁的「訪問引用位」</a:t>
            </a:r>
            <a:endParaRPr lang="en-US" sz="1200" dirty="0"/>
          </a:p>
        </p:txBody>
      </p:sp>
      <p:sp>
        <p:nvSpPr>
          <p:cNvPr id="22" name="Shape 19"/>
          <p:cNvSpPr/>
          <p:nvPr/>
        </p:nvSpPr>
        <p:spPr>
          <a:xfrm>
            <a:off x="566928" y="3849624"/>
            <a:ext cx="6675120" cy="12802"/>
          </a:xfrm>
          <a:prstGeom prst="rect">
            <a:avLst/>
          </a:prstGeom>
          <a:solidFill>
            <a:srgbClr val="C72A09"/>
          </a:solidFill>
          <a:ln/>
        </p:spPr>
      </p:sp>
      <p:sp>
        <p:nvSpPr>
          <p:cNvPr id="23" name="Shape 20"/>
          <p:cNvSpPr/>
          <p:nvPr/>
        </p:nvSpPr>
        <p:spPr>
          <a:xfrm>
            <a:off x="566928" y="4526280"/>
            <a:ext cx="6675120" cy="18288"/>
          </a:xfrm>
          <a:prstGeom prst="rect">
            <a:avLst/>
          </a:prstGeom>
          <a:solidFill>
            <a:srgbClr val="C72A09"/>
          </a:solidFill>
          <a:ln/>
        </p:spPr>
      </p:sp>
      <p:sp>
        <p:nvSpPr>
          <p:cNvPr id="24" name="Text 21"/>
          <p:cNvSpPr txBox="1"/>
          <p:nvPr/>
        </p:nvSpPr>
        <p:spPr>
          <a:xfrm>
            <a:off x="566928" y="4663440"/>
            <a:ext cx="667512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交代方式</a:t>
            </a:r>
            <a:endParaRPr lang="en-US" sz="1200" dirty="0"/>
          </a:p>
        </p:txBody>
      </p:sp>
      <p:sp>
        <p:nvSpPr>
          <p:cNvPr id="25" name="Text 22"/>
          <p:cNvSpPr txBox="1"/>
          <p:nvPr/>
        </p:nvSpPr>
        <p:spPr>
          <a:xfrm>
            <a:off x="566928" y="4983480"/>
            <a:ext cx="6675120" cy="731520"/>
          </a:xfrm>
          <a:prstGeom prst="rect">
            <a:avLst/>
          </a:prstGeom>
          <a:noFill/>
          <a:ln/>
        </p:spPr>
        <p:txBody>
          <a:bodyPr wrap="square" lIns="0" tIns="0" rIns="0" bIns="0" rtlCol="0" anchor="t"/>
          <a:lstStyle/>
          <a:p>
            <a:pPr indent="0" marL="0">
              <a:lnSpc>
                <a:spcPct val="140000"/>
              </a:lnSpc>
              <a:buNone/>
            </a:pPr>
            <a:r>
              <a:rPr lang="en-US" sz="1150" dirty="0">
                <a:solidFill>
                  <a:srgbClr val="CA0013"/>
                </a:solidFill>
                <a:latin typeface="Microsoft JhengHei" pitchFamily="34" charset="0"/>
                <a:ea typeface="Microsoft JhengHei" pitchFamily="34" charset="-122"/>
                <a:cs typeface="Microsoft JhengHei" pitchFamily="34" charset="-120"/>
              </a:rPr>
              <a:t>願意公開身份者附相片一張及 2–3 行背景介紹；不願公開身份者仍須說明其工作及相關性。</a:t>
            </a:r>
            <a:endParaRPr lang="en-US" sz="1150" dirty="0"/>
          </a:p>
        </p:txBody>
      </p:sp>
      <p:sp>
        <p:nvSpPr>
          <p:cNvPr id="26" name="Text 23"/>
          <p:cNvSpPr txBox="1"/>
          <p:nvPr/>
        </p:nvSpPr>
        <p:spPr>
          <a:xfrm>
            <a:off x="7772400" y="3657600"/>
            <a:ext cx="384048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訪問技巧</a:t>
            </a:r>
            <a:endParaRPr lang="en-US" sz="1200" dirty="0"/>
          </a:p>
        </p:txBody>
      </p:sp>
      <p:sp>
        <p:nvSpPr>
          <p:cNvPr id="27" name="Text 24"/>
          <p:cNvSpPr txBox="1"/>
          <p:nvPr/>
        </p:nvSpPr>
        <p:spPr>
          <a:xfrm>
            <a:off x="7772400" y="4023360"/>
            <a:ext cx="3840480" cy="1737360"/>
          </a:xfrm>
          <a:prstGeom prst="rect">
            <a:avLst/>
          </a:prstGeom>
          <a:noFill/>
          <a:ln/>
        </p:spPr>
        <p:txBody>
          <a:bodyPr wrap="square" lIns="0" tIns="0" rIns="0" bIns="0" rtlCol="0" anchor="t"/>
          <a:lstStyle/>
          <a:p>
            <a:pPr indent="0" marL="0">
              <a:lnSpc>
                <a:spcPct val="140000"/>
              </a:lnSpc>
              <a:buNone/>
            </a:pPr>
            <a:r>
              <a:rPr lang="en-US" sz="1150" dirty="0">
                <a:solidFill>
                  <a:srgbClr val="CA0013"/>
                </a:solidFill>
                <a:latin typeface="Microsoft JhengHei" pitchFamily="34" charset="0"/>
                <a:ea typeface="Microsoft JhengHei" pitchFamily="34" charset="-122"/>
                <a:cs typeface="Microsoft JhengHei" pitchFamily="34" charset="-120"/>
              </a:rPr>
              <a:t>受訪者不是社會學家，不問馬克思理論。若受訪者談的是個人經驗，先抽出社會結構成分再使用，不可原話照搬當作社會因素。</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(39)</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附錄</a:t>
            </a:r>
            <a:endParaRPr lang="en-US" sz="1200" dirty="0"/>
          </a:p>
        </p:txBody>
      </p:sp>
      <p:sp>
        <p:nvSpPr>
          <p:cNvPr id="7" name="Text 5"/>
          <p:cNvSpPr txBox="1"/>
          <p:nvPr/>
        </p:nvSpPr>
        <p:spPr>
          <a:xfrm>
            <a:off x="566928" y="749808"/>
            <a:ext cx="676656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參考文獻</a:t>
            </a:r>
            <a:endParaRPr lang="en-US" sz="3400" dirty="0"/>
          </a:p>
        </p:txBody>
      </p:sp>
      <p:sp>
        <p:nvSpPr>
          <p:cNvPr id="8" name="Text 6"/>
          <p:cNvSpPr txBox="1"/>
          <p:nvPr/>
        </p:nvSpPr>
        <p:spPr>
          <a:xfrm>
            <a:off x="566928" y="1554480"/>
            <a:ext cx="534924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中文　政府統計與官方文件</a:t>
            </a:r>
            <a:endParaRPr lang="en-US" sz="1150" dirty="0"/>
          </a:p>
        </p:txBody>
      </p:sp>
      <p:sp>
        <p:nvSpPr>
          <p:cNvPr id="9" name="Shape 7"/>
          <p:cNvSpPr/>
          <p:nvPr/>
        </p:nvSpPr>
        <p:spPr>
          <a:xfrm>
            <a:off x="566928" y="1883664"/>
            <a:ext cx="5349240" cy="18288"/>
          </a:xfrm>
          <a:prstGeom prst="rect">
            <a:avLst/>
          </a:prstGeom>
          <a:solidFill>
            <a:srgbClr val="C72A09"/>
          </a:solidFill>
          <a:ln/>
        </p:spPr>
      </p:sp>
      <p:sp>
        <p:nvSpPr>
          <p:cNvPr id="10" name="Text 8"/>
          <p:cNvSpPr txBox="1"/>
          <p:nvPr/>
        </p:nvSpPr>
        <p:spPr>
          <a:xfrm>
            <a:off x="566928" y="1956816"/>
            <a:ext cx="5349240" cy="338328"/>
          </a:xfrm>
          <a:prstGeom prst="rect">
            <a:avLst/>
          </a:prstGeom>
          <a:noFill/>
          <a:ln/>
        </p:spPr>
        <p:txBody>
          <a:bodyPr wrap="square" lIns="0" tIns="0" rIns="0" bIns="0" rtlCol="0" anchor="t"/>
          <a:lstStyle/>
          <a:p>
            <a:pPr indent="0" marL="0">
              <a:lnSpc>
                <a:spcPct val="120000"/>
              </a:lnSpc>
              <a:buNone/>
            </a:pPr>
            <a:r>
              <a:rPr lang="en-US" sz="900" dirty="0">
                <a:solidFill>
                  <a:srgbClr val="CA0013"/>
                </a:solidFill>
                <a:latin typeface="Microsoft JhengHei" pitchFamily="34" charset="0"/>
                <a:ea typeface="Microsoft JhengHei" pitchFamily="34" charset="-122"/>
                <a:cs typeface="Microsoft JhengHei" pitchFamily="34" charset="-120"/>
              </a:rPr>
              <a:t>政策研究和區域發展局（2022）。《澳門特別行政區居住用途房屋政策研究》。</a:t>
            </a:r>
            <a:endParaRPr lang="en-US" sz="900" dirty="0"/>
          </a:p>
        </p:txBody>
      </p:sp>
      <p:sp>
        <p:nvSpPr>
          <p:cNvPr id="11" name="Shape 9"/>
          <p:cNvSpPr/>
          <p:nvPr/>
        </p:nvSpPr>
        <p:spPr>
          <a:xfrm>
            <a:off x="566928" y="2340864"/>
            <a:ext cx="5349240" cy="12802"/>
          </a:xfrm>
          <a:prstGeom prst="rect">
            <a:avLst/>
          </a:prstGeom>
          <a:solidFill>
            <a:srgbClr val="C72A09"/>
          </a:solidFill>
          <a:ln/>
        </p:spPr>
      </p:sp>
      <p:sp>
        <p:nvSpPr>
          <p:cNvPr id="12" name="Text 10"/>
          <p:cNvSpPr txBox="1"/>
          <p:nvPr/>
        </p:nvSpPr>
        <p:spPr>
          <a:xfrm>
            <a:off x="566928" y="2359152"/>
            <a:ext cx="5349240" cy="338328"/>
          </a:xfrm>
          <a:prstGeom prst="rect">
            <a:avLst/>
          </a:prstGeom>
          <a:noFill/>
          <a:ln/>
        </p:spPr>
        <p:txBody>
          <a:bodyPr wrap="square" lIns="0" tIns="0" rIns="0" bIns="0" rtlCol="0" anchor="t"/>
          <a:lstStyle/>
          <a:p>
            <a:pPr indent="0" marL="0">
              <a:lnSpc>
                <a:spcPct val="120000"/>
              </a:lnSpc>
              <a:buNone/>
            </a:pPr>
            <a:r>
              <a:rPr lang="en-US" sz="900" dirty="0">
                <a:solidFill>
                  <a:srgbClr val="CA0013"/>
                </a:solidFill>
                <a:latin typeface="Microsoft JhengHei" pitchFamily="34" charset="0"/>
                <a:ea typeface="Microsoft JhengHei" pitchFamily="34" charset="-122"/>
                <a:cs typeface="Microsoft JhengHei" pitchFamily="34" charset="-120"/>
              </a:rPr>
              <a:t>政策研究和區域發展局委託、澳門大學執行（2022）。《澳門未來房屋需求研究：五大類房屋需求估計摘要文本》。</a:t>
            </a:r>
            <a:endParaRPr lang="en-US" sz="900" dirty="0"/>
          </a:p>
        </p:txBody>
      </p:sp>
      <p:sp>
        <p:nvSpPr>
          <p:cNvPr id="13" name="Shape 11"/>
          <p:cNvSpPr/>
          <p:nvPr/>
        </p:nvSpPr>
        <p:spPr>
          <a:xfrm>
            <a:off x="566928" y="2743200"/>
            <a:ext cx="5349240" cy="12802"/>
          </a:xfrm>
          <a:prstGeom prst="rect">
            <a:avLst/>
          </a:prstGeom>
          <a:solidFill>
            <a:srgbClr val="C72A09"/>
          </a:solidFill>
          <a:ln/>
        </p:spPr>
      </p:sp>
      <p:sp>
        <p:nvSpPr>
          <p:cNvPr id="14" name="Text 12"/>
          <p:cNvSpPr txBox="1"/>
          <p:nvPr/>
        </p:nvSpPr>
        <p:spPr>
          <a:xfrm>
            <a:off x="566928" y="2761488"/>
            <a:ext cx="5349240" cy="338328"/>
          </a:xfrm>
          <a:prstGeom prst="rect">
            <a:avLst/>
          </a:prstGeom>
          <a:noFill/>
          <a:ln/>
        </p:spPr>
        <p:txBody>
          <a:bodyPr wrap="square" lIns="0" tIns="0" rIns="0" bIns="0" rtlCol="0" anchor="t"/>
          <a:lstStyle/>
          <a:p>
            <a:pPr indent="0" marL="0">
              <a:lnSpc>
                <a:spcPct val="120000"/>
              </a:lnSpc>
              <a:buNone/>
            </a:pPr>
            <a:r>
              <a:rPr lang="en-US" sz="900" dirty="0">
                <a:solidFill>
                  <a:srgbClr val="CA0013"/>
                </a:solidFill>
                <a:latin typeface="Microsoft JhengHei" pitchFamily="34" charset="0"/>
                <a:ea typeface="Microsoft JhengHei" pitchFamily="34" charset="-122"/>
                <a:cs typeface="Microsoft JhengHei" pitchFamily="34" charset="-120"/>
              </a:rPr>
              <a:t>第 18/2022 號法律《都市更新法律制度》。《澳門特別行政區公報》第 I 組第 52 期，2022-12-28。</a:t>
            </a:r>
            <a:endParaRPr lang="en-US" sz="900" dirty="0"/>
          </a:p>
        </p:txBody>
      </p:sp>
      <p:sp>
        <p:nvSpPr>
          <p:cNvPr id="15" name="Shape 13"/>
          <p:cNvSpPr/>
          <p:nvPr/>
        </p:nvSpPr>
        <p:spPr>
          <a:xfrm>
            <a:off x="566928" y="3145536"/>
            <a:ext cx="5349240" cy="12802"/>
          </a:xfrm>
          <a:prstGeom prst="rect">
            <a:avLst/>
          </a:prstGeom>
          <a:solidFill>
            <a:srgbClr val="C72A09"/>
          </a:solidFill>
          <a:ln/>
        </p:spPr>
      </p:sp>
      <p:sp>
        <p:nvSpPr>
          <p:cNvPr id="16" name="Text 14"/>
          <p:cNvSpPr txBox="1"/>
          <p:nvPr/>
        </p:nvSpPr>
        <p:spPr>
          <a:xfrm>
            <a:off x="566928" y="3163824"/>
            <a:ext cx="5349240" cy="338328"/>
          </a:xfrm>
          <a:prstGeom prst="rect">
            <a:avLst/>
          </a:prstGeom>
          <a:noFill/>
          <a:ln/>
        </p:spPr>
        <p:txBody>
          <a:bodyPr wrap="square" lIns="0" tIns="0" rIns="0" bIns="0" rtlCol="0" anchor="t"/>
          <a:lstStyle/>
          <a:p>
            <a:pPr indent="0" marL="0">
              <a:lnSpc>
                <a:spcPct val="120000"/>
              </a:lnSpc>
              <a:buNone/>
            </a:pPr>
            <a:r>
              <a:rPr lang="en-US" sz="900" dirty="0">
                <a:solidFill>
                  <a:srgbClr val="CA0013"/>
                </a:solidFill>
                <a:latin typeface="Microsoft JhengHei" pitchFamily="34" charset="0"/>
                <a:ea typeface="Microsoft JhengHei" pitchFamily="34" charset="-122"/>
                <a:cs typeface="Microsoft JhengHei" pitchFamily="34" charset="-120"/>
              </a:rPr>
              <a:t>澳門統計暨普查局（2022–2026）。《私人建築及不動產交易》各年報告；《租金統計：2025 年全年及第四季》。</a:t>
            </a:r>
            <a:endParaRPr lang="en-US" sz="900" dirty="0"/>
          </a:p>
        </p:txBody>
      </p:sp>
      <p:sp>
        <p:nvSpPr>
          <p:cNvPr id="17" name="Shape 15"/>
          <p:cNvSpPr/>
          <p:nvPr/>
        </p:nvSpPr>
        <p:spPr>
          <a:xfrm>
            <a:off x="566928" y="3547872"/>
            <a:ext cx="5349240" cy="12802"/>
          </a:xfrm>
          <a:prstGeom prst="rect">
            <a:avLst/>
          </a:prstGeom>
          <a:solidFill>
            <a:srgbClr val="C72A09"/>
          </a:solidFill>
          <a:ln/>
        </p:spPr>
      </p:sp>
      <p:sp>
        <p:nvSpPr>
          <p:cNvPr id="18" name="Text 16"/>
          <p:cNvSpPr txBox="1"/>
          <p:nvPr/>
        </p:nvSpPr>
        <p:spPr>
          <a:xfrm>
            <a:off x="566928" y="3566160"/>
            <a:ext cx="5349240" cy="338328"/>
          </a:xfrm>
          <a:prstGeom prst="rect">
            <a:avLst/>
          </a:prstGeom>
          <a:noFill/>
          <a:ln/>
        </p:spPr>
        <p:txBody>
          <a:bodyPr wrap="square" lIns="0" tIns="0" rIns="0" bIns="0" rtlCol="0" anchor="t"/>
          <a:lstStyle/>
          <a:p>
            <a:pPr indent="0" marL="0">
              <a:lnSpc>
                <a:spcPct val="120000"/>
              </a:lnSpc>
              <a:buNone/>
            </a:pPr>
            <a:r>
              <a:rPr lang="en-US" sz="900" dirty="0">
                <a:solidFill>
                  <a:srgbClr val="CA0013"/>
                </a:solidFill>
                <a:latin typeface="Microsoft JhengHei" pitchFamily="34" charset="0"/>
                <a:ea typeface="Microsoft JhengHei" pitchFamily="34" charset="-122"/>
                <a:cs typeface="Microsoft JhengHei" pitchFamily="34" charset="-120"/>
              </a:rPr>
              <a:t>澳門統計暨普查局。《就業調查》（2022–2025 年第 4 季）；《住戶收支調查 2023/24》；《2021 人口普查》。</a:t>
            </a:r>
            <a:endParaRPr lang="en-US" sz="900" dirty="0"/>
          </a:p>
        </p:txBody>
      </p:sp>
      <p:sp>
        <p:nvSpPr>
          <p:cNvPr id="19" name="Shape 17"/>
          <p:cNvSpPr/>
          <p:nvPr/>
        </p:nvSpPr>
        <p:spPr>
          <a:xfrm>
            <a:off x="566928" y="3950208"/>
            <a:ext cx="5349240" cy="12802"/>
          </a:xfrm>
          <a:prstGeom prst="rect">
            <a:avLst/>
          </a:prstGeom>
          <a:solidFill>
            <a:srgbClr val="C72A09"/>
          </a:solidFill>
          <a:ln/>
        </p:spPr>
      </p:sp>
      <p:sp>
        <p:nvSpPr>
          <p:cNvPr id="20" name="Text 18"/>
          <p:cNvSpPr txBox="1"/>
          <p:nvPr/>
        </p:nvSpPr>
        <p:spPr>
          <a:xfrm>
            <a:off x="566928" y="3968496"/>
            <a:ext cx="5349240" cy="338328"/>
          </a:xfrm>
          <a:prstGeom prst="rect">
            <a:avLst/>
          </a:prstGeom>
          <a:noFill/>
          <a:ln/>
        </p:spPr>
        <p:txBody>
          <a:bodyPr wrap="square" lIns="0" tIns="0" rIns="0" bIns="0" rtlCol="0" anchor="t"/>
          <a:lstStyle/>
          <a:p>
            <a:pPr indent="0" marL="0">
              <a:lnSpc>
                <a:spcPct val="120000"/>
              </a:lnSpc>
              <a:buNone/>
            </a:pPr>
            <a:r>
              <a:rPr lang="en-US" sz="900" dirty="0">
                <a:solidFill>
                  <a:srgbClr val="CA0013"/>
                </a:solidFill>
                <a:latin typeface="Microsoft JhengHei" pitchFamily="34" charset="0"/>
                <a:ea typeface="Microsoft JhengHei" pitchFamily="34" charset="-122"/>
                <a:cs typeface="Microsoft JhengHei" pitchFamily="34" charset="-120"/>
              </a:rPr>
              <a:t>澳門都市更新股份有限公司（2024-09-20）。〈「祐漢七棟樓群」已全數成立管委會〉。政府新聞局新聞稿。</a:t>
            </a:r>
            <a:endParaRPr lang="en-US" sz="900" dirty="0"/>
          </a:p>
        </p:txBody>
      </p:sp>
      <p:sp>
        <p:nvSpPr>
          <p:cNvPr id="21" name="Shape 19"/>
          <p:cNvSpPr/>
          <p:nvPr/>
        </p:nvSpPr>
        <p:spPr>
          <a:xfrm>
            <a:off x="566928" y="4352544"/>
            <a:ext cx="5349240" cy="12802"/>
          </a:xfrm>
          <a:prstGeom prst="rect">
            <a:avLst/>
          </a:prstGeom>
          <a:solidFill>
            <a:srgbClr val="C72A09"/>
          </a:solidFill>
          <a:ln/>
        </p:spPr>
      </p:sp>
      <p:sp>
        <p:nvSpPr>
          <p:cNvPr id="22" name="Text 20"/>
          <p:cNvSpPr txBox="1"/>
          <p:nvPr/>
        </p:nvSpPr>
        <p:spPr>
          <a:xfrm>
            <a:off x="566928" y="4370832"/>
            <a:ext cx="5349240" cy="338328"/>
          </a:xfrm>
          <a:prstGeom prst="rect">
            <a:avLst/>
          </a:prstGeom>
          <a:noFill/>
          <a:ln/>
        </p:spPr>
        <p:txBody>
          <a:bodyPr wrap="square" lIns="0" tIns="0" rIns="0" bIns="0" rtlCol="0" anchor="t"/>
          <a:lstStyle/>
          <a:p>
            <a:pPr indent="0" marL="0">
              <a:lnSpc>
                <a:spcPct val="120000"/>
              </a:lnSpc>
              <a:buNone/>
            </a:pPr>
            <a:r>
              <a:rPr lang="en-US" sz="900" dirty="0">
                <a:solidFill>
                  <a:srgbClr val="CA0013"/>
                </a:solidFill>
                <a:latin typeface="Microsoft JhengHei" pitchFamily="34" charset="0"/>
                <a:ea typeface="Microsoft JhengHei" pitchFamily="34" charset="-122"/>
                <a:cs typeface="Microsoft JhengHei" pitchFamily="34" charset="-120"/>
              </a:rPr>
              <a:t>教育及青年發展局。《澳門青年指標》（2018–2024 年社會調查）。</a:t>
            </a:r>
            <a:endParaRPr lang="en-US" sz="900" dirty="0"/>
          </a:p>
        </p:txBody>
      </p:sp>
      <p:sp>
        <p:nvSpPr>
          <p:cNvPr id="23" name="Shape 21"/>
          <p:cNvSpPr/>
          <p:nvPr/>
        </p:nvSpPr>
        <p:spPr>
          <a:xfrm>
            <a:off x="566928" y="4754880"/>
            <a:ext cx="5349240" cy="12802"/>
          </a:xfrm>
          <a:prstGeom prst="rect">
            <a:avLst/>
          </a:prstGeom>
          <a:solidFill>
            <a:srgbClr val="C72A09"/>
          </a:solidFill>
          <a:ln/>
        </p:spPr>
      </p:sp>
      <p:sp>
        <p:nvSpPr>
          <p:cNvPr id="24" name="Text 22"/>
          <p:cNvSpPr txBox="1"/>
          <p:nvPr/>
        </p:nvSpPr>
        <p:spPr>
          <a:xfrm>
            <a:off x="566928" y="4773168"/>
            <a:ext cx="5349240" cy="338328"/>
          </a:xfrm>
          <a:prstGeom prst="rect">
            <a:avLst/>
          </a:prstGeom>
          <a:noFill/>
          <a:ln/>
        </p:spPr>
        <p:txBody>
          <a:bodyPr wrap="square" lIns="0" tIns="0" rIns="0" bIns="0" rtlCol="0" anchor="t"/>
          <a:lstStyle/>
          <a:p>
            <a:pPr indent="0" marL="0">
              <a:lnSpc>
                <a:spcPct val="120000"/>
              </a:lnSpc>
              <a:buNone/>
            </a:pPr>
            <a:r>
              <a:rPr lang="en-US" sz="900" dirty="0">
                <a:solidFill>
                  <a:srgbClr val="CA0013"/>
                </a:solidFill>
                <a:latin typeface="Microsoft JhengHei" pitchFamily="34" charset="0"/>
                <a:ea typeface="Microsoft JhengHei" pitchFamily="34" charset="-122"/>
                <a:cs typeface="Microsoft JhengHei" pitchFamily="34" charset="-120"/>
              </a:rPr>
              <a:t>房屋局；金融管理局；土地工務局（2021–2026）。經屋公告、按揭成數公告、殘危樓宇清拆新聞稿。</a:t>
            </a:r>
            <a:endParaRPr lang="en-US" sz="900" dirty="0"/>
          </a:p>
        </p:txBody>
      </p:sp>
      <p:sp>
        <p:nvSpPr>
          <p:cNvPr id="25" name="Shape 23"/>
          <p:cNvSpPr/>
          <p:nvPr/>
        </p:nvSpPr>
        <p:spPr>
          <a:xfrm>
            <a:off x="566928" y="5157216"/>
            <a:ext cx="5349240" cy="12802"/>
          </a:xfrm>
          <a:prstGeom prst="rect">
            <a:avLst/>
          </a:prstGeom>
          <a:solidFill>
            <a:srgbClr val="C72A09"/>
          </a:solidFill>
          <a:ln/>
        </p:spPr>
      </p:sp>
      <p:sp>
        <p:nvSpPr>
          <p:cNvPr id="26" name="Text 24"/>
          <p:cNvSpPr txBox="1"/>
          <p:nvPr/>
        </p:nvSpPr>
        <p:spPr>
          <a:xfrm>
            <a:off x="566928" y="5175504"/>
            <a:ext cx="5349240" cy="338328"/>
          </a:xfrm>
          <a:prstGeom prst="rect">
            <a:avLst/>
          </a:prstGeom>
          <a:noFill/>
          <a:ln/>
        </p:spPr>
        <p:txBody>
          <a:bodyPr wrap="square" lIns="0" tIns="0" rIns="0" bIns="0" rtlCol="0" anchor="t"/>
          <a:lstStyle/>
          <a:p>
            <a:pPr indent="0" marL="0">
              <a:lnSpc>
                <a:spcPct val="120000"/>
              </a:lnSpc>
              <a:buNone/>
            </a:pPr>
            <a:r>
              <a:rPr lang="en-US" sz="900" dirty="0">
                <a:solidFill>
                  <a:srgbClr val="CA0013"/>
                </a:solidFill>
                <a:latin typeface="Microsoft JhengHei" pitchFamily="34" charset="0"/>
                <a:ea typeface="Microsoft JhengHei" pitchFamily="34" charset="-122"/>
                <a:cs typeface="Microsoft JhengHei" pitchFamily="34" charset="-120"/>
              </a:rPr>
              <a:t>高岸聲議員（2026）。〈關於修改暫住房及置換房法律推進都市更新的書面質詢〉；李良汪議員（2025）經屋書面質詢。</a:t>
            </a:r>
            <a:endParaRPr lang="en-US" sz="900" dirty="0"/>
          </a:p>
        </p:txBody>
      </p:sp>
      <p:sp>
        <p:nvSpPr>
          <p:cNvPr id="27" name="Shape 25"/>
          <p:cNvSpPr/>
          <p:nvPr/>
        </p:nvSpPr>
        <p:spPr>
          <a:xfrm>
            <a:off x="566928" y="5559552"/>
            <a:ext cx="5349240" cy="12802"/>
          </a:xfrm>
          <a:prstGeom prst="rect">
            <a:avLst/>
          </a:prstGeom>
          <a:solidFill>
            <a:srgbClr val="C72A09"/>
          </a:solidFill>
          <a:ln/>
        </p:spPr>
      </p:sp>
      <p:sp>
        <p:nvSpPr>
          <p:cNvPr id="28" name="Text 26"/>
          <p:cNvSpPr txBox="1"/>
          <p:nvPr/>
        </p:nvSpPr>
        <p:spPr>
          <a:xfrm>
            <a:off x="6281928" y="1554480"/>
            <a:ext cx="534924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學術與理論</a:t>
            </a:r>
            <a:endParaRPr lang="en-US" sz="1150" dirty="0"/>
          </a:p>
        </p:txBody>
      </p:sp>
      <p:sp>
        <p:nvSpPr>
          <p:cNvPr id="29" name="Shape 27"/>
          <p:cNvSpPr/>
          <p:nvPr/>
        </p:nvSpPr>
        <p:spPr>
          <a:xfrm>
            <a:off x="6281928" y="1883664"/>
            <a:ext cx="5349240" cy="18288"/>
          </a:xfrm>
          <a:prstGeom prst="rect">
            <a:avLst/>
          </a:prstGeom>
          <a:solidFill>
            <a:srgbClr val="C72A09"/>
          </a:solidFill>
          <a:ln/>
        </p:spPr>
      </p:sp>
      <p:sp>
        <p:nvSpPr>
          <p:cNvPr id="30" name="Text 28"/>
          <p:cNvSpPr txBox="1"/>
          <p:nvPr/>
        </p:nvSpPr>
        <p:spPr>
          <a:xfrm>
            <a:off x="6281928" y="1956816"/>
            <a:ext cx="5349240" cy="338328"/>
          </a:xfrm>
          <a:prstGeom prst="rect">
            <a:avLst/>
          </a:prstGeom>
          <a:noFill/>
          <a:ln/>
        </p:spPr>
        <p:txBody>
          <a:bodyPr wrap="square" lIns="0" tIns="0" rIns="0" bIns="0" rtlCol="0" anchor="t"/>
          <a:lstStyle/>
          <a:p>
            <a:pPr indent="0" marL="0">
              <a:lnSpc>
                <a:spcPct val="120000"/>
              </a:lnSpc>
              <a:buNone/>
            </a:pPr>
            <a:r>
              <a:rPr lang="en-US" sz="900" dirty="0">
                <a:solidFill>
                  <a:srgbClr val="CA0013"/>
                </a:solidFill>
                <a:latin typeface="Microsoft JhengHei" pitchFamily="34" charset="0"/>
                <a:ea typeface="Microsoft JhengHei" pitchFamily="34" charset="-122"/>
                <a:cs typeface="Microsoft JhengHei" pitchFamily="34" charset="-120"/>
              </a:rPr>
              <a:t>高武洲（2017）。〈澳門公共房屋在城巿設計方面的關鍵問題〉。《澳門研究》2017 年第 3 期，68–82 頁。</a:t>
            </a:r>
            <a:endParaRPr lang="en-US" sz="900" dirty="0"/>
          </a:p>
        </p:txBody>
      </p:sp>
      <p:sp>
        <p:nvSpPr>
          <p:cNvPr id="31" name="Shape 29"/>
          <p:cNvSpPr/>
          <p:nvPr/>
        </p:nvSpPr>
        <p:spPr>
          <a:xfrm>
            <a:off x="6281928" y="2340864"/>
            <a:ext cx="5349240" cy="12802"/>
          </a:xfrm>
          <a:prstGeom prst="rect">
            <a:avLst/>
          </a:prstGeom>
          <a:solidFill>
            <a:srgbClr val="C72A09"/>
          </a:solidFill>
          <a:ln/>
        </p:spPr>
      </p:sp>
      <p:sp>
        <p:nvSpPr>
          <p:cNvPr id="32" name="Text 30"/>
          <p:cNvSpPr txBox="1"/>
          <p:nvPr/>
        </p:nvSpPr>
        <p:spPr>
          <a:xfrm>
            <a:off x="6281928" y="2359152"/>
            <a:ext cx="5349240" cy="338328"/>
          </a:xfrm>
          <a:prstGeom prst="rect">
            <a:avLst/>
          </a:prstGeom>
          <a:noFill/>
          <a:ln/>
        </p:spPr>
        <p:txBody>
          <a:bodyPr wrap="square" lIns="0" tIns="0" rIns="0" bIns="0" rtlCol="0" anchor="t"/>
          <a:lstStyle/>
          <a:p>
            <a:pPr indent="0" marL="0">
              <a:lnSpc>
                <a:spcPct val="120000"/>
              </a:lnSpc>
              <a:buNone/>
            </a:pPr>
            <a:r>
              <a:rPr lang="en-US" sz="900" dirty="0">
                <a:solidFill>
                  <a:srgbClr val="CA0013"/>
                </a:solidFill>
                <a:latin typeface="Microsoft JhengHei" pitchFamily="34" charset="0"/>
                <a:ea typeface="Microsoft JhengHei" pitchFamily="34" charset="-122"/>
                <a:cs typeface="Microsoft JhengHei" pitchFamily="34" charset="-120"/>
              </a:rPr>
              <a:t>王于漸、郭國全、蔡小慧、黎寧（2010）。《澳門公共房屋政策研究》。香港大學香港經濟研究中心。</a:t>
            </a:r>
            <a:endParaRPr lang="en-US" sz="900" dirty="0"/>
          </a:p>
        </p:txBody>
      </p:sp>
      <p:sp>
        <p:nvSpPr>
          <p:cNvPr id="33" name="Shape 31"/>
          <p:cNvSpPr/>
          <p:nvPr/>
        </p:nvSpPr>
        <p:spPr>
          <a:xfrm>
            <a:off x="6281928" y="2743200"/>
            <a:ext cx="5349240" cy="12802"/>
          </a:xfrm>
          <a:prstGeom prst="rect">
            <a:avLst/>
          </a:prstGeom>
          <a:solidFill>
            <a:srgbClr val="C72A09"/>
          </a:solidFill>
          <a:ln/>
        </p:spPr>
      </p:sp>
      <p:sp>
        <p:nvSpPr>
          <p:cNvPr id="34" name="Text 32"/>
          <p:cNvSpPr txBox="1"/>
          <p:nvPr/>
        </p:nvSpPr>
        <p:spPr>
          <a:xfrm>
            <a:off x="6281928" y="2761488"/>
            <a:ext cx="5349240" cy="338328"/>
          </a:xfrm>
          <a:prstGeom prst="rect">
            <a:avLst/>
          </a:prstGeom>
          <a:noFill/>
          <a:ln/>
        </p:spPr>
        <p:txBody>
          <a:bodyPr wrap="square" lIns="0" tIns="0" rIns="0" bIns="0" rtlCol="0" anchor="t"/>
          <a:lstStyle/>
          <a:p>
            <a:pPr indent="0" marL="0">
              <a:lnSpc>
                <a:spcPct val="120000"/>
              </a:lnSpc>
              <a:buNone/>
            </a:pPr>
            <a:r>
              <a:rPr lang="en-US" sz="900" dirty="0">
                <a:solidFill>
                  <a:srgbClr val="CA0013"/>
                </a:solidFill>
                <a:latin typeface="Microsoft JhengHei" pitchFamily="34" charset="0"/>
                <a:ea typeface="Microsoft JhengHei" pitchFamily="34" charset="-122"/>
                <a:cs typeface="Microsoft JhengHei" pitchFamily="34" charset="-120"/>
              </a:rPr>
              <a:t>澳門大學澳門研究中心（2013）。《房屋政策「澳人澳地」研究報告》。</a:t>
            </a:r>
            <a:endParaRPr lang="en-US" sz="900" dirty="0"/>
          </a:p>
        </p:txBody>
      </p:sp>
      <p:sp>
        <p:nvSpPr>
          <p:cNvPr id="35" name="Shape 33"/>
          <p:cNvSpPr/>
          <p:nvPr/>
        </p:nvSpPr>
        <p:spPr>
          <a:xfrm>
            <a:off x="6281928" y="3145536"/>
            <a:ext cx="5349240" cy="12802"/>
          </a:xfrm>
          <a:prstGeom prst="rect">
            <a:avLst/>
          </a:prstGeom>
          <a:solidFill>
            <a:srgbClr val="C72A09"/>
          </a:solidFill>
          <a:ln/>
        </p:spPr>
      </p:sp>
      <p:sp>
        <p:nvSpPr>
          <p:cNvPr id="36" name="Text 34"/>
          <p:cNvSpPr txBox="1"/>
          <p:nvPr/>
        </p:nvSpPr>
        <p:spPr>
          <a:xfrm>
            <a:off x="6281928" y="3163824"/>
            <a:ext cx="5349240" cy="338328"/>
          </a:xfrm>
          <a:prstGeom prst="rect">
            <a:avLst/>
          </a:prstGeom>
          <a:noFill/>
          <a:ln/>
        </p:spPr>
        <p:txBody>
          <a:bodyPr wrap="square" lIns="0" tIns="0" rIns="0" bIns="0" rtlCol="0" anchor="t"/>
          <a:lstStyle/>
          <a:p>
            <a:pPr indent="0" marL="0">
              <a:lnSpc>
                <a:spcPct val="120000"/>
              </a:lnSpc>
              <a:buNone/>
            </a:pPr>
            <a:r>
              <a:rPr lang="en-US" sz="900" dirty="0">
                <a:solidFill>
                  <a:srgbClr val="CA0013"/>
                </a:solidFill>
                <a:latin typeface="Microsoft JhengHei" pitchFamily="34" charset="0"/>
                <a:ea typeface="Microsoft JhengHei" pitchFamily="34" charset="-122"/>
                <a:cs typeface="Microsoft JhengHei" pitchFamily="34" charset="-120"/>
              </a:rPr>
              <a:t>Chang, H.-C. (2013). Housing affordability in Macau: Evidence and policy. China Economic Journal, 6(1), 46–56.</a:t>
            </a:r>
            <a:endParaRPr lang="en-US" sz="900" dirty="0"/>
          </a:p>
        </p:txBody>
      </p:sp>
      <p:sp>
        <p:nvSpPr>
          <p:cNvPr id="37" name="Shape 35"/>
          <p:cNvSpPr/>
          <p:nvPr/>
        </p:nvSpPr>
        <p:spPr>
          <a:xfrm>
            <a:off x="6281928" y="3547872"/>
            <a:ext cx="5349240" cy="12802"/>
          </a:xfrm>
          <a:prstGeom prst="rect">
            <a:avLst/>
          </a:prstGeom>
          <a:solidFill>
            <a:srgbClr val="C72A09"/>
          </a:solidFill>
          <a:ln/>
        </p:spPr>
      </p:sp>
      <p:sp>
        <p:nvSpPr>
          <p:cNvPr id="38" name="Text 36"/>
          <p:cNvSpPr txBox="1"/>
          <p:nvPr/>
        </p:nvSpPr>
        <p:spPr>
          <a:xfrm>
            <a:off x="6281928" y="3566160"/>
            <a:ext cx="5349240" cy="338328"/>
          </a:xfrm>
          <a:prstGeom prst="rect">
            <a:avLst/>
          </a:prstGeom>
          <a:noFill/>
          <a:ln/>
        </p:spPr>
        <p:txBody>
          <a:bodyPr wrap="square" lIns="0" tIns="0" rIns="0" bIns="0" rtlCol="0" anchor="t"/>
          <a:lstStyle/>
          <a:p>
            <a:pPr indent="0" marL="0">
              <a:lnSpc>
                <a:spcPct val="120000"/>
              </a:lnSpc>
              <a:buNone/>
            </a:pPr>
            <a:r>
              <a:rPr lang="en-US" sz="900" dirty="0">
                <a:solidFill>
                  <a:srgbClr val="CA0013"/>
                </a:solidFill>
                <a:latin typeface="Microsoft JhengHei" pitchFamily="34" charset="0"/>
                <a:ea typeface="Microsoft JhengHei" pitchFamily="34" charset="-122"/>
                <a:cs typeface="Microsoft JhengHei" pitchFamily="34" charset="-120"/>
              </a:rPr>
              <a:t>Engels, F. (1872). The Housing Question. Marx, K. (1867). Capital: A critique of political economy, Vol. 1.</a:t>
            </a:r>
            <a:endParaRPr lang="en-US" sz="900" dirty="0"/>
          </a:p>
        </p:txBody>
      </p:sp>
      <p:sp>
        <p:nvSpPr>
          <p:cNvPr id="39" name="Shape 37"/>
          <p:cNvSpPr/>
          <p:nvPr/>
        </p:nvSpPr>
        <p:spPr>
          <a:xfrm>
            <a:off x="6281928" y="3950208"/>
            <a:ext cx="5349240" cy="12802"/>
          </a:xfrm>
          <a:prstGeom prst="rect">
            <a:avLst/>
          </a:prstGeom>
          <a:solidFill>
            <a:srgbClr val="C72A09"/>
          </a:solidFill>
          <a:ln/>
        </p:spPr>
      </p:sp>
      <p:sp>
        <p:nvSpPr>
          <p:cNvPr id="40" name="Text 38"/>
          <p:cNvSpPr txBox="1"/>
          <p:nvPr/>
        </p:nvSpPr>
        <p:spPr>
          <a:xfrm>
            <a:off x="6281928" y="3968496"/>
            <a:ext cx="5349240" cy="338328"/>
          </a:xfrm>
          <a:prstGeom prst="rect">
            <a:avLst/>
          </a:prstGeom>
          <a:noFill/>
          <a:ln/>
        </p:spPr>
        <p:txBody>
          <a:bodyPr wrap="square" lIns="0" tIns="0" rIns="0" bIns="0" rtlCol="0" anchor="t"/>
          <a:lstStyle/>
          <a:p>
            <a:pPr indent="0" marL="0">
              <a:lnSpc>
                <a:spcPct val="120000"/>
              </a:lnSpc>
              <a:buNone/>
            </a:pPr>
            <a:r>
              <a:rPr lang="en-US" sz="900" dirty="0">
                <a:solidFill>
                  <a:srgbClr val="CA0013"/>
                </a:solidFill>
                <a:latin typeface="Microsoft JhengHei" pitchFamily="34" charset="0"/>
                <a:ea typeface="Microsoft JhengHei" pitchFamily="34" charset="-122"/>
                <a:cs typeface="Microsoft JhengHei" pitchFamily="34" charset="-120"/>
              </a:rPr>
              <a:t>Harvey, D. (1978). The urban process under capitalism: A framework for analysis. IJURR, 2(1–4), 101–131.</a:t>
            </a:r>
            <a:endParaRPr lang="en-US" sz="900" dirty="0"/>
          </a:p>
        </p:txBody>
      </p:sp>
      <p:sp>
        <p:nvSpPr>
          <p:cNvPr id="41" name="Shape 39"/>
          <p:cNvSpPr/>
          <p:nvPr/>
        </p:nvSpPr>
        <p:spPr>
          <a:xfrm>
            <a:off x="6281928" y="4352544"/>
            <a:ext cx="5349240" cy="12802"/>
          </a:xfrm>
          <a:prstGeom prst="rect">
            <a:avLst/>
          </a:prstGeom>
          <a:solidFill>
            <a:srgbClr val="C72A09"/>
          </a:solidFill>
          <a:ln/>
        </p:spPr>
      </p:sp>
      <p:sp>
        <p:nvSpPr>
          <p:cNvPr id="42" name="Text 40"/>
          <p:cNvSpPr txBox="1"/>
          <p:nvPr/>
        </p:nvSpPr>
        <p:spPr>
          <a:xfrm>
            <a:off x="6281928" y="4370832"/>
            <a:ext cx="5349240" cy="338328"/>
          </a:xfrm>
          <a:prstGeom prst="rect">
            <a:avLst/>
          </a:prstGeom>
          <a:noFill/>
          <a:ln/>
        </p:spPr>
        <p:txBody>
          <a:bodyPr wrap="square" lIns="0" tIns="0" rIns="0" bIns="0" rtlCol="0" anchor="t"/>
          <a:lstStyle/>
          <a:p>
            <a:pPr indent="0" marL="0">
              <a:lnSpc>
                <a:spcPct val="120000"/>
              </a:lnSpc>
              <a:buNone/>
            </a:pPr>
            <a:r>
              <a:rPr lang="en-US" sz="900" dirty="0">
                <a:solidFill>
                  <a:srgbClr val="CA0013"/>
                </a:solidFill>
                <a:latin typeface="Microsoft JhengHei" pitchFamily="34" charset="0"/>
                <a:ea typeface="Microsoft JhengHei" pitchFamily="34" charset="-122"/>
                <a:cs typeface="Microsoft JhengHei" pitchFamily="34" charset="-120"/>
              </a:rPr>
              <a:t>Smith, N. (1979). Toward a theory of gentrification: A back to the city movement by capital, not people. JAPA, 45(4), 538–548.</a:t>
            </a:r>
            <a:endParaRPr lang="en-US" sz="900" dirty="0"/>
          </a:p>
        </p:txBody>
      </p:sp>
      <p:sp>
        <p:nvSpPr>
          <p:cNvPr id="43" name="Shape 41"/>
          <p:cNvSpPr/>
          <p:nvPr/>
        </p:nvSpPr>
        <p:spPr>
          <a:xfrm>
            <a:off x="6281928" y="4754880"/>
            <a:ext cx="5349240" cy="12802"/>
          </a:xfrm>
          <a:prstGeom prst="rect">
            <a:avLst/>
          </a:prstGeom>
          <a:solidFill>
            <a:srgbClr val="C72A09"/>
          </a:solidFill>
          <a:ln/>
        </p:spPr>
      </p:sp>
      <p:sp>
        <p:nvSpPr>
          <p:cNvPr id="44" name="Text 42"/>
          <p:cNvSpPr txBox="1"/>
          <p:nvPr/>
        </p:nvSpPr>
        <p:spPr>
          <a:xfrm>
            <a:off x="6281928" y="4773168"/>
            <a:ext cx="5349240" cy="338328"/>
          </a:xfrm>
          <a:prstGeom prst="rect">
            <a:avLst/>
          </a:prstGeom>
          <a:noFill/>
          <a:ln/>
        </p:spPr>
        <p:txBody>
          <a:bodyPr wrap="square" lIns="0" tIns="0" rIns="0" bIns="0" rtlCol="0" anchor="t"/>
          <a:lstStyle/>
          <a:p>
            <a:pPr indent="0" marL="0">
              <a:lnSpc>
                <a:spcPct val="120000"/>
              </a:lnSpc>
              <a:buNone/>
            </a:pPr>
            <a:r>
              <a:rPr lang="en-US" sz="900" dirty="0">
                <a:solidFill>
                  <a:srgbClr val="CA0013"/>
                </a:solidFill>
                <a:latin typeface="Microsoft JhengHei" pitchFamily="34" charset="0"/>
                <a:ea typeface="Microsoft JhengHei" pitchFamily="34" charset="-122"/>
                <a:cs typeface="Microsoft JhengHei" pitchFamily="34" charset="-120"/>
              </a:rPr>
              <a:t>Kan, K. (2019). Accumulation without dispossession? Land commodification and rent extraction in peri-urban China. IJURR, 43(4), 633–648.</a:t>
            </a:r>
            <a:endParaRPr lang="en-US" sz="900" dirty="0"/>
          </a:p>
        </p:txBody>
      </p:sp>
      <p:sp>
        <p:nvSpPr>
          <p:cNvPr id="45" name="Shape 43"/>
          <p:cNvSpPr/>
          <p:nvPr/>
        </p:nvSpPr>
        <p:spPr>
          <a:xfrm>
            <a:off x="6281928" y="5157216"/>
            <a:ext cx="5349240" cy="12802"/>
          </a:xfrm>
          <a:prstGeom prst="rect">
            <a:avLst/>
          </a:prstGeom>
          <a:solidFill>
            <a:srgbClr val="C72A09"/>
          </a:solidFill>
          <a:ln/>
        </p:spPr>
      </p:sp>
      <p:sp>
        <p:nvSpPr>
          <p:cNvPr id="46" name="Text 44"/>
          <p:cNvSpPr txBox="1"/>
          <p:nvPr/>
        </p:nvSpPr>
        <p:spPr>
          <a:xfrm>
            <a:off x="6281928" y="5175504"/>
            <a:ext cx="5349240" cy="338328"/>
          </a:xfrm>
          <a:prstGeom prst="rect">
            <a:avLst/>
          </a:prstGeom>
          <a:noFill/>
          <a:ln/>
        </p:spPr>
        <p:txBody>
          <a:bodyPr wrap="square" lIns="0" tIns="0" rIns="0" bIns="0" rtlCol="0" anchor="t"/>
          <a:lstStyle/>
          <a:p>
            <a:pPr indent="0" marL="0">
              <a:lnSpc>
                <a:spcPct val="120000"/>
              </a:lnSpc>
              <a:buNone/>
            </a:pPr>
            <a:r>
              <a:rPr lang="en-US" sz="900" dirty="0">
                <a:solidFill>
                  <a:srgbClr val="CA0013"/>
                </a:solidFill>
                <a:latin typeface="Microsoft JhengHei" pitchFamily="34" charset="0"/>
                <a:ea typeface="Microsoft JhengHei" pitchFamily="34" charset="-122"/>
                <a:cs typeface="Microsoft JhengHei" pitchFamily="34" charset="-120"/>
              </a:rPr>
              <a:t>Wu, Q., Zhang, X., &amp; Waley, P. (2017). When Neil Smith met Pierre Bourdieu in Nanjing, China: Bringing cultural capital into rent gap theory. Housing Studies, 32(5), 659–677.</a:t>
            </a:r>
            <a:endParaRPr lang="en-US" sz="900" dirty="0"/>
          </a:p>
        </p:txBody>
      </p:sp>
      <p:sp>
        <p:nvSpPr>
          <p:cNvPr id="47" name="Shape 45"/>
          <p:cNvSpPr/>
          <p:nvPr/>
        </p:nvSpPr>
        <p:spPr>
          <a:xfrm>
            <a:off x="6281928" y="5559552"/>
            <a:ext cx="5349240" cy="12802"/>
          </a:xfrm>
          <a:prstGeom prst="rect">
            <a:avLst/>
          </a:prstGeom>
          <a:solidFill>
            <a:srgbClr val="C72A09"/>
          </a:solidFill>
          <a:ln/>
        </p:spPr>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(40)</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420624"/>
            <a:ext cx="1005840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附錄</a:t>
            </a:r>
            <a:endParaRPr lang="en-US" sz="1200" dirty="0"/>
          </a:p>
        </p:txBody>
      </p:sp>
      <p:sp>
        <p:nvSpPr>
          <p:cNvPr id="7" name="Text 5"/>
          <p:cNvSpPr txBox="1"/>
          <p:nvPr/>
        </p:nvSpPr>
        <p:spPr>
          <a:xfrm>
            <a:off x="566928" y="749808"/>
            <a:ext cx="10607040" cy="822960"/>
          </a:xfrm>
          <a:prstGeom prst="rect">
            <a:avLst/>
          </a:prstGeom>
          <a:noFill/>
          <a:ln/>
        </p:spPr>
        <p:txBody>
          <a:bodyPr wrap="square" lIns="0" tIns="0" rIns="0" bIns="0" rtlCol="0" anchor="t"/>
          <a:lstStyle/>
          <a:p>
            <a:pPr algn="l" indent="0" marL="0">
              <a:lnSpc>
                <a:spcPct val="100000"/>
              </a:lnSpc>
              <a:buNone/>
            </a:pPr>
            <a:r>
              <a:rPr lang="en-US" sz="3400" b="1" dirty="0">
                <a:solidFill>
                  <a:srgbClr val="CA0013"/>
                </a:solidFill>
                <a:latin typeface="Microsoft JhengHei" pitchFamily="34" charset="0"/>
                <a:ea typeface="Microsoft JhengHei" pitchFamily="34" charset="-122"/>
                <a:cs typeface="Microsoft JhengHei" pitchFamily="34" charset="-120"/>
              </a:rPr>
              <a:t>數據限制與待補</a:t>
            </a:r>
            <a:endParaRPr lang="en-US" sz="3400" dirty="0"/>
          </a:p>
        </p:txBody>
      </p:sp>
      <p:sp>
        <p:nvSpPr>
          <p:cNvPr id="8" name="Text 6"/>
          <p:cNvSpPr txBox="1"/>
          <p:nvPr/>
        </p:nvSpPr>
        <p:spPr>
          <a:xfrm>
            <a:off x="566928" y="1600200"/>
            <a:ext cx="1437519" cy="64008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已核實</a:t>
            </a:r>
            <a:endParaRPr lang="en-US" sz="1150" dirty="0"/>
          </a:p>
        </p:txBody>
      </p:sp>
      <p:sp>
        <p:nvSpPr>
          <p:cNvPr id="9" name="Text 7"/>
          <p:cNvSpPr txBox="1"/>
          <p:nvPr/>
        </p:nvSpPr>
        <p:spPr>
          <a:xfrm>
            <a:off x="2170315" y="1600200"/>
            <a:ext cx="9454453" cy="64008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樓價（2021–2025）、租金（2024–2025）、經屋 2023 期、都更法條文、按揭成數、祐漢新聞稿：已開原文或官方頁面</a:t>
            </a:r>
            <a:endParaRPr lang="en-US" sz="1150" dirty="0"/>
          </a:p>
        </p:txBody>
      </p:sp>
      <p:sp>
        <p:nvSpPr>
          <p:cNvPr id="10" name="Shape 8"/>
          <p:cNvSpPr/>
          <p:nvPr/>
        </p:nvSpPr>
        <p:spPr>
          <a:xfrm>
            <a:off x="566928" y="2221992"/>
            <a:ext cx="11057839" cy="12802"/>
          </a:xfrm>
          <a:prstGeom prst="rect">
            <a:avLst/>
          </a:prstGeom>
          <a:solidFill>
            <a:srgbClr val="C72A09"/>
          </a:solidFill>
          <a:ln/>
        </p:spPr>
      </p:sp>
      <p:sp>
        <p:nvSpPr>
          <p:cNvPr id="11" name="Text 9"/>
          <p:cNvSpPr txBox="1"/>
          <p:nvPr/>
        </p:nvSpPr>
        <p:spPr>
          <a:xfrm>
            <a:off x="566928" y="2331720"/>
            <a:ext cx="1437519" cy="64008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議員陳述</a:t>
            </a:r>
            <a:endParaRPr lang="en-US" sz="1150" dirty="0"/>
          </a:p>
        </p:txBody>
      </p:sp>
      <p:sp>
        <p:nvSpPr>
          <p:cNvPr id="12" name="Text 10"/>
          <p:cNvSpPr txBox="1"/>
          <p:nvPr/>
        </p:nvSpPr>
        <p:spPr>
          <a:xfrm>
            <a:off x="2170315" y="2331720"/>
            <a:ext cx="9454453" cy="64008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個人申請 2,275 份、置換房 338／2,000+、暫停 5 個地段、「永遠姓經」：議員質詢所述，房屋局原始數據未取得</a:t>
            </a:r>
            <a:endParaRPr lang="en-US" sz="1150" dirty="0"/>
          </a:p>
        </p:txBody>
      </p:sp>
      <p:sp>
        <p:nvSpPr>
          <p:cNvPr id="13" name="Shape 11"/>
          <p:cNvSpPr/>
          <p:nvPr/>
        </p:nvSpPr>
        <p:spPr>
          <a:xfrm>
            <a:off x="566928" y="2953512"/>
            <a:ext cx="11057839" cy="12802"/>
          </a:xfrm>
          <a:prstGeom prst="rect">
            <a:avLst/>
          </a:prstGeom>
          <a:solidFill>
            <a:srgbClr val="C72A09"/>
          </a:solidFill>
          <a:ln/>
        </p:spPr>
      </p:sp>
      <p:sp>
        <p:nvSpPr>
          <p:cNvPr id="14" name="Text 12"/>
          <p:cNvSpPr txBox="1"/>
          <p:nvPr/>
        </p:nvSpPr>
        <p:spPr>
          <a:xfrm>
            <a:off x="566928" y="3063240"/>
            <a:ext cx="1437519" cy="64008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假設與推算</a:t>
            </a:r>
            <a:endParaRPr lang="en-US" sz="1150" dirty="0"/>
          </a:p>
        </p:txBody>
      </p:sp>
      <p:sp>
        <p:nvSpPr>
          <p:cNvPr id="15" name="Text 13"/>
          <p:cNvSpPr txBox="1"/>
          <p:nvPr/>
        </p:nvSpPr>
        <p:spPr>
          <a:xfrm>
            <a:off x="2170315" y="3063240"/>
            <a:ext cx="9454453" cy="64008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月供（30 年、年利率 4%）；樓價收入比（700 呎，兩種收入口徑）；價租比；租隙只作代理指標</a:t>
            </a:r>
            <a:endParaRPr lang="en-US" sz="1150" dirty="0"/>
          </a:p>
        </p:txBody>
      </p:sp>
      <p:sp>
        <p:nvSpPr>
          <p:cNvPr id="16" name="Shape 14"/>
          <p:cNvSpPr/>
          <p:nvPr/>
        </p:nvSpPr>
        <p:spPr>
          <a:xfrm>
            <a:off x="566928" y="3685032"/>
            <a:ext cx="11057839" cy="12802"/>
          </a:xfrm>
          <a:prstGeom prst="rect">
            <a:avLst/>
          </a:prstGeom>
          <a:solidFill>
            <a:srgbClr val="C72A09"/>
          </a:solidFill>
          <a:ln/>
        </p:spPr>
      </p:sp>
      <p:sp>
        <p:nvSpPr>
          <p:cNvPr id="17" name="Text 15"/>
          <p:cNvSpPr txBox="1"/>
          <p:nvPr/>
        </p:nvSpPr>
        <p:spPr>
          <a:xfrm>
            <a:off x="566928" y="3794760"/>
            <a:ext cx="1437519" cy="64008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未核實</a:t>
            </a:r>
            <a:endParaRPr lang="en-US" sz="1150" dirty="0"/>
          </a:p>
        </p:txBody>
      </p:sp>
      <p:sp>
        <p:nvSpPr>
          <p:cNvPr id="18" name="Text 16"/>
          <p:cNvSpPr txBox="1"/>
          <p:nvPr/>
        </p:nvSpPr>
        <p:spPr>
          <a:xfrm>
            <a:off x="2170315" y="3794760"/>
            <a:ext cx="9454453" cy="64008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樓齡 30 年以上幢數（4,838／5,173）；「三無」官方定義；印花稅豁免細則；長者公寓 2024-10；2024 年財政儲備 6,162.1 億元</a:t>
            </a:r>
            <a:endParaRPr lang="en-US" sz="1150" dirty="0"/>
          </a:p>
        </p:txBody>
      </p:sp>
      <p:sp>
        <p:nvSpPr>
          <p:cNvPr id="19" name="Shape 17"/>
          <p:cNvSpPr/>
          <p:nvPr/>
        </p:nvSpPr>
        <p:spPr>
          <a:xfrm>
            <a:off x="566928" y="4416552"/>
            <a:ext cx="11057839" cy="12802"/>
          </a:xfrm>
          <a:prstGeom prst="rect">
            <a:avLst/>
          </a:prstGeom>
          <a:solidFill>
            <a:srgbClr val="C72A09"/>
          </a:solidFill>
          <a:ln/>
        </p:spPr>
      </p:sp>
      <p:sp>
        <p:nvSpPr>
          <p:cNvPr id="20" name="Text 18"/>
          <p:cNvSpPr txBox="1"/>
          <p:nvPr/>
        </p:nvSpPr>
        <p:spPr>
          <a:xfrm>
            <a:off x="566928" y="4526280"/>
            <a:ext cx="1437519" cy="640080"/>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缺口</a:t>
            </a:r>
            <a:endParaRPr lang="en-US" sz="1150" dirty="0"/>
          </a:p>
        </p:txBody>
      </p:sp>
      <p:sp>
        <p:nvSpPr>
          <p:cNvPr id="21" name="Text 19"/>
          <p:cNvSpPr txBox="1"/>
          <p:nvPr/>
        </p:nvSpPr>
        <p:spPr>
          <a:xfrm>
            <a:off x="2170315" y="4526280"/>
            <a:ext cx="9454453" cy="640080"/>
          </a:xfrm>
          <a:prstGeom prst="rect">
            <a:avLst/>
          </a:prstGeom>
          <a:noFill/>
          <a:ln/>
        </p:spPr>
        <p:txBody>
          <a:bodyPr wrap="square" lIns="0" tIns="0" rIns="0" bIns="0" rtlCol="0" anchor="t"/>
          <a:lstStyle/>
          <a:p>
            <a:pPr indent="0" marL="0">
              <a:lnSpc>
                <a:spcPct val="130000"/>
              </a:lnSpc>
              <a:buNone/>
            </a:pPr>
            <a:r>
              <a:rPr lang="en-US" sz="1150" dirty="0">
                <a:solidFill>
                  <a:srgbClr val="CA0013"/>
                </a:solidFill>
                <a:latin typeface="Microsoft JhengHei" pitchFamily="34" charset="0"/>
                <a:ea typeface="Microsoft JhengHei" pitchFamily="34" charset="-122"/>
                <a:cs typeface="Microsoft JhengHei" pitchFamily="34" charset="-120"/>
              </a:rPr>
              <a:t>2021 年第 4 季收入中位數；住戶收入中位數；2021–2022 年官方租金；舊樓三層歷年序列；房屋局 2023 年期原始數據</a:t>
            </a:r>
            <a:endParaRPr lang="en-US" sz="1150" dirty="0"/>
          </a:p>
        </p:txBody>
      </p:sp>
      <p:sp>
        <p:nvSpPr>
          <p:cNvPr id="22" name="Shape 20"/>
          <p:cNvSpPr/>
          <p:nvPr/>
        </p:nvSpPr>
        <p:spPr>
          <a:xfrm>
            <a:off x="566928" y="5148072"/>
            <a:ext cx="11057839" cy="12802"/>
          </a:xfrm>
          <a:prstGeom prst="rect">
            <a:avLst/>
          </a:prstGeom>
          <a:solidFill>
            <a:srgbClr val="C72A09"/>
          </a:solidFill>
          <a:ln/>
        </p:spPr>
      </p:sp>
      <p:sp>
        <p:nvSpPr>
          <p:cNvPr id="23" name="Text 21"/>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本組整理</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澳門房屋問題 — 馬克思理論視角（v2）</dc:title>
  <dc:subject>PptxGenJS Presentation</dc:subject>
  <dc:creator>SOCI2101 小組</dc:creator>
  <cp:lastModifiedBy>SOCI2101 小組</cp:lastModifiedBy>
  <cp:revision>1</cp:revision>
  <dcterms:created xsi:type="dcterms:W3CDTF">2026-09-30T07:47:07Z</dcterms:created>
  <dcterms:modified xsi:type="dcterms:W3CDTF">2026-09-30T07:47:07Z</dcterms:modified>
</cp:coreProperties>
</file>